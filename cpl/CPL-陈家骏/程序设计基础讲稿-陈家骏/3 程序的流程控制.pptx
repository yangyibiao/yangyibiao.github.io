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00"/>
  </p:notesMasterIdLst>
  <p:sldIdLst>
    <p:sldId id="295" r:id="rId2"/>
    <p:sldId id="258" r:id="rId3"/>
    <p:sldId id="330" r:id="rId4"/>
    <p:sldId id="357" r:id="rId5"/>
    <p:sldId id="332" r:id="rId6"/>
    <p:sldId id="331" r:id="rId7"/>
    <p:sldId id="336" r:id="rId8"/>
    <p:sldId id="296" r:id="rId9"/>
    <p:sldId id="365" r:id="rId10"/>
    <p:sldId id="259" r:id="rId11"/>
    <p:sldId id="314" r:id="rId12"/>
    <p:sldId id="260" r:id="rId13"/>
    <p:sldId id="335" r:id="rId14"/>
    <p:sldId id="313" r:id="rId15"/>
    <p:sldId id="261" r:id="rId16"/>
    <p:sldId id="289" r:id="rId17"/>
    <p:sldId id="358" r:id="rId18"/>
    <p:sldId id="345" r:id="rId19"/>
    <p:sldId id="262" r:id="rId20"/>
    <p:sldId id="263" r:id="rId21"/>
    <p:sldId id="264" r:id="rId22"/>
    <p:sldId id="265" r:id="rId23"/>
    <p:sldId id="298" r:id="rId24"/>
    <p:sldId id="267" r:id="rId25"/>
    <p:sldId id="306" r:id="rId26"/>
    <p:sldId id="268" r:id="rId27"/>
    <p:sldId id="322" r:id="rId28"/>
    <p:sldId id="271" r:id="rId29"/>
    <p:sldId id="346" r:id="rId30"/>
    <p:sldId id="363" r:id="rId31"/>
    <p:sldId id="269" r:id="rId32"/>
    <p:sldId id="275" r:id="rId33"/>
    <p:sldId id="338" r:id="rId34"/>
    <p:sldId id="359" r:id="rId35"/>
    <p:sldId id="339" r:id="rId36"/>
    <p:sldId id="270" r:id="rId37"/>
    <p:sldId id="333" r:id="rId38"/>
    <p:sldId id="334" r:id="rId39"/>
    <p:sldId id="344" r:id="rId40"/>
    <p:sldId id="307" r:id="rId41"/>
    <p:sldId id="273" r:id="rId42"/>
    <p:sldId id="290" r:id="rId43"/>
    <p:sldId id="274" r:id="rId44"/>
    <p:sldId id="291" r:id="rId45"/>
    <p:sldId id="256" r:id="rId46"/>
    <p:sldId id="278" r:id="rId47"/>
    <p:sldId id="325" r:id="rId48"/>
    <p:sldId id="326" r:id="rId49"/>
    <p:sldId id="327" r:id="rId50"/>
    <p:sldId id="367" r:id="rId51"/>
    <p:sldId id="366" r:id="rId52"/>
    <p:sldId id="317" r:id="rId53"/>
    <p:sldId id="279" r:id="rId54"/>
    <p:sldId id="292" r:id="rId55"/>
    <p:sldId id="293" r:id="rId56"/>
    <p:sldId id="294" r:id="rId57"/>
    <p:sldId id="328" r:id="rId58"/>
    <p:sldId id="348" r:id="rId59"/>
    <p:sldId id="280" r:id="rId60"/>
    <p:sldId id="323" r:id="rId61"/>
    <p:sldId id="347" r:id="rId62"/>
    <p:sldId id="349" r:id="rId63"/>
    <p:sldId id="308" r:id="rId64"/>
    <p:sldId id="353" r:id="rId65"/>
    <p:sldId id="354" r:id="rId66"/>
    <p:sldId id="355" r:id="rId67"/>
    <p:sldId id="360" r:id="rId68"/>
    <p:sldId id="309" r:id="rId69"/>
    <p:sldId id="310" r:id="rId70"/>
    <p:sldId id="368" r:id="rId71"/>
    <p:sldId id="369" r:id="rId72"/>
    <p:sldId id="370" r:id="rId73"/>
    <p:sldId id="371" r:id="rId74"/>
    <p:sldId id="340" r:id="rId75"/>
    <p:sldId id="341" r:id="rId76"/>
    <p:sldId id="342" r:id="rId77"/>
    <p:sldId id="356" r:id="rId78"/>
    <p:sldId id="282" r:id="rId79"/>
    <p:sldId id="318" r:id="rId80"/>
    <p:sldId id="319" r:id="rId81"/>
    <p:sldId id="321" r:id="rId82"/>
    <p:sldId id="372" r:id="rId83"/>
    <p:sldId id="361" r:id="rId84"/>
    <p:sldId id="364" r:id="rId85"/>
    <p:sldId id="284" r:id="rId86"/>
    <p:sldId id="316" r:id="rId87"/>
    <p:sldId id="301" r:id="rId88"/>
    <p:sldId id="350" r:id="rId89"/>
    <p:sldId id="285" r:id="rId90"/>
    <p:sldId id="304" r:id="rId91"/>
    <p:sldId id="302" r:id="rId92"/>
    <p:sldId id="351" r:id="rId93"/>
    <p:sldId id="352" r:id="rId94"/>
    <p:sldId id="283" r:id="rId95"/>
    <p:sldId id="288" r:id="rId96"/>
    <p:sldId id="362" r:id="rId97"/>
    <p:sldId id="300" r:id="rId98"/>
    <p:sldId id="305" r:id="rId99"/>
  </p:sldIdLst>
  <p:sldSz cx="9144000" cy="6858000" type="screen4x3"/>
  <p:notesSz cx="6858000" cy="9144000"/>
  <p:defaultTextStyle>
    <a:defPPr>
      <a:defRPr lang="zh-CN"/>
    </a:defPPr>
    <a:lvl1pPr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1pPr>
    <a:lvl2pPr marL="4572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2pPr>
    <a:lvl3pPr marL="9144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3pPr>
    <a:lvl4pPr marL="13716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4pPr>
    <a:lvl5pPr marL="1828800" algn="l" rtl="0" fontAlgn="base">
      <a:lnSpc>
        <a:spcPct val="90000"/>
      </a:lnSpc>
      <a:spcBef>
        <a:spcPct val="20000"/>
      </a:spcBef>
      <a:spcAft>
        <a:spcPct val="0"/>
      </a:spcAft>
      <a:buChar char="•"/>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5pPr>
    <a:lvl6pPr marL="2286000" algn="l" defTabSz="914400" rtl="0" eaLnBrk="1" latinLnBrk="0" hangingPunct="1">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6pPr>
    <a:lvl7pPr marL="2743200" algn="l" defTabSz="914400" rtl="0" eaLnBrk="1" latinLnBrk="0" hangingPunct="1">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7pPr>
    <a:lvl8pPr marL="3200400" algn="l" defTabSz="914400" rtl="0" eaLnBrk="1" latinLnBrk="0" hangingPunct="1">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8pPr>
    <a:lvl9pPr marL="3657600" algn="l" defTabSz="914400" rtl="0" eaLnBrk="1" latinLnBrk="0" hangingPunct="1">
      <a:defRPr kern="1200">
        <a:solidFill>
          <a:schemeClr val="tx1"/>
        </a:solidFill>
        <a:effectLst>
          <a:outerShdw blurRad="38100" dist="38100" dir="2700000" algn="tl">
            <a:srgbClr val="000000">
              <a:alpha val="43137"/>
            </a:srgbClr>
          </a:outerShdw>
        </a:effectLst>
        <a:latin typeface="Verdana" pitchFamily="34"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9" autoAdjust="0"/>
    <p:restoredTop sz="94617" autoAdjust="0"/>
  </p:normalViewPr>
  <p:slideViewPr>
    <p:cSldViewPr>
      <p:cViewPr varScale="1">
        <p:scale>
          <a:sx n="104" d="100"/>
          <a:sy n="104" d="100"/>
        </p:scale>
        <p:origin x="1208"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53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2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kumimoji="1" sz="1200">
                <a:effectLst/>
                <a:latin typeface="Times New Roman" pitchFamily="18" charset="0"/>
              </a:defRPr>
            </a:lvl1pPr>
          </a:lstStyle>
          <a:p>
            <a:pPr>
              <a:defRPr/>
            </a:pPr>
            <a:endParaRPr lang="en-US" altLang="zh-CN"/>
          </a:p>
        </p:txBody>
      </p:sp>
      <p:sp>
        <p:nvSpPr>
          <p:cNvPr id="22528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kumimoji="1" sz="1200">
                <a:effectLst/>
                <a:latin typeface="Times New Roman" pitchFamily="18" charset="0"/>
              </a:defRPr>
            </a:lvl1pPr>
          </a:lstStyle>
          <a:p>
            <a:pPr>
              <a:defRPr/>
            </a:pPr>
            <a:endParaRPr lang="en-US" altLang="zh-CN"/>
          </a:p>
        </p:txBody>
      </p:sp>
      <p:sp>
        <p:nvSpPr>
          <p:cNvPr id="675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2528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2528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kumimoji="1" sz="1200">
                <a:effectLst/>
                <a:latin typeface="Times New Roman" pitchFamily="18" charset="0"/>
              </a:defRPr>
            </a:lvl1pPr>
          </a:lstStyle>
          <a:p>
            <a:pPr>
              <a:defRPr/>
            </a:pPr>
            <a:endParaRPr lang="en-US" altLang="zh-CN"/>
          </a:p>
        </p:txBody>
      </p:sp>
      <p:sp>
        <p:nvSpPr>
          <p:cNvPr id="22528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kumimoji="1" sz="1200">
                <a:effectLst/>
                <a:latin typeface="Times New Roman" pitchFamily="18" charset="0"/>
              </a:defRPr>
            </a:lvl1pPr>
          </a:lstStyle>
          <a:p>
            <a:pPr>
              <a:defRPr/>
            </a:pPr>
            <a:fld id="{EEF7E74D-710C-468D-B3BC-0A34DB8DB4D4}" type="slidenum">
              <a:rPr lang="en-US" altLang="zh-CN"/>
              <a:pPr>
                <a:defRPr/>
              </a:pPr>
              <a:t>‹#›</a:t>
            </a:fld>
            <a:endParaRPr lang="en-US" altLang="zh-CN"/>
          </a:p>
        </p:txBody>
      </p:sp>
    </p:spTree>
    <p:extLst>
      <p:ext uri="{BB962C8B-B14F-4D97-AF65-F5344CB8AC3E}">
        <p14:creationId xmlns:p14="http://schemas.microsoft.com/office/powerpoint/2010/main" val="8522450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30000"/>
              </a:spcBef>
              <a:defRPr sz="1200">
                <a:solidFill>
                  <a:schemeClr val="tx1"/>
                </a:solidFill>
                <a:latin typeface="Arial" charset="0"/>
                <a:ea typeface="宋体" charset="-122"/>
              </a:defRPr>
            </a:lvl1pPr>
            <a:lvl2pPr marL="742950" indent="-285750" algn="l" eaLnBrk="0" hangingPunct="0">
              <a:spcBef>
                <a:spcPct val="30000"/>
              </a:spcBef>
              <a:defRPr sz="1200">
                <a:solidFill>
                  <a:schemeClr val="tx1"/>
                </a:solidFill>
                <a:latin typeface="Arial" charset="0"/>
                <a:ea typeface="宋体" charset="-122"/>
              </a:defRPr>
            </a:lvl2pPr>
            <a:lvl3pPr marL="1143000" indent="-228600" algn="l" eaLnBrk="0" hangingPunct="0">
              <a:spcBef>
                <a:spcPct val="30000"/>
              </a:spcBef>
              <a:defRPr sz="1200">
                <a:solidFill>
                  <a:schemeClr val="tx1"/>
                </a:solidFill>
                <a:latin typeface="Arial" charset="0"/>
                <a:ea typeface="宋体" charset="-122"/>
              </a:defRPr>
            </a:lvl3pPr>
            <a:lvl4pPr marL="1600200" indent="-228600" algn="l" eaLnBrk="0" hangingPunct="0">
              <a:spcBef>
                <a:spcPct val="30000"/>
              </a:spcBef>
              <a:defRPr sz="1200">
                <a:solidFill>
                  <a:schemeClr val="tx1"/>
                </a:solidFill>
                <a:latin typeface="Arial" charset="0"/>
                <a:ea typeface="宋体" charset="-122"/>
              </a:defRPr>
            </a:lvl4pPr>
            <a:lvl5pPr marL="2057400" indent="-228600" algn="l" eaLnBrk="0" hangingPunct="0">
              <a:spcBef>
                <a:spcPct val="30000"/>
              </a:spcBef>
              <a:defRPr sz="1200">
                <a:solidFill>
                  <a:schemeClr val="tx1"/>
                </a:solidFill>
                <a:latin typeface="Arial" charset="0"/>
                <a:ea typeface="宋体" charset="-122"/>
              </a:defRPr>
            </a:lvl5pPr>
            <a:lvl6pPr marL="2514600" indent="-228600" eaLnBrk="0" fontAlgn="base" hangingPunct="0">
              <a:spcBef>
                <a:spcPct val="30000"/>
              </a:spcBef>
              <a:spcAft>
                <a:spcPct val="0"/>
              </a:spcAft>
              <a:defRPr sz="1200">
                <a:solidFill>
                  <a:schemeClr val="tx1"/>
                </a:solidFill>
                <a:latin typeface="Arial" charset="0"/>
                <a:ea typeface="宋体" charset="-122"/>
              </a:defRPr>
            </a:lvl6pPr>
            <a:lvl7pPr marL="2971800" indent="-228600" eaLnBrk="0" fontAlgn="base" hangingPunct="0">
              <a:spcBef>
                <a:spcPct val="30000"/>
              </a:spcBef>
              <a:spcAft>
                <a:spcPct val="0"/>
              </a:spcAft>
              <a:defRPr sz="1200">
                <a:solidFill>
                  <a:schemeClr val="tx1"/>
                </a:solidFill>
                <a:latin typeface="Arial" charset="0"/>
                <a:ea typeface="宋体" charset="-122"/>
              </a:defRPr>
            </a:lvl7pPr>
            <a:lvl8pPr marL="3429000" indent="-228600" eaLnBrk="0" fontAlgn="base" hangingPunct="0">
              <a:spcBef>
                <a:spcPct val="30000"/>
              </a:spcBef>
              <a:spcAft>
                <a:spcPct val="0"/>
              </a:spcAft>
              <a:defRPr sz="1200">
                <a:solidFill>
                  <a:schemeClr val="tx1"/>
                </a:solidFill>
                <a:latin typeface="Arial" charset="0"/>
                <a:ea typeface="宋体" charset="-122"/>
              </a:defRPr>
            </a:lvl8pPr>
            <a:lvl9pPr marL="3886200" indent="-228600" eaLnBrk="0" fontAlgn="base" hangingPunct="0">
              <a:spcBef>
                <a:spcPct val="30000"/>
              </a:spcBef>
              <a:spcAft>
                <a:spcPct val="0"/>
              </a:spcAft>
              <a:defRPr sz="1200">
                <a:solidFill>
                  <a:schemeClr val="tx1"/>
                </a:solidFill>
                <a:latin typeface="Arial" charset="0"/>
                <a:ea typeface="宋体" charset="-122"/>
              </a:defRPr>
            </a:lvl9pPr>
          </a:lstStyle>
          <a:p>
            <a:pPr algn="r" eaLnBrk="1" hangingPunct="1">
              <a:spcBef>
                <a:spcPct val="0"/>
              </a:spcBef>
            </a:pPr>
            <a:fld id="{A9C38CCC-32A5-4F18-A8A0-E75E0F8854C4}" type="slidenum">
              <a:rPr lang="en-US" altLang="zh-CN" smtClean="0"/>
              <a:pPr algn="r" eaLnBrk="1" hangingPunct="1">
                <a:spcBef>
                  <a:spcPct val="0"/>
                </a:spcBef>
              </a:pPr>
              <a:t>18</a:t>
            </a:fld>
            <a:endParaRPr lang="en-US" altLang="zh-CN" smtClean="0"/>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8763" cy="6851650"/>
            <a:chOff x="1" y="0"/>
            <a:chExt cx="5763" cy="4316"/>
          </a:xfrm>
        </p:grpSpPr>
        <p:sp>
          <p:nvSpPr>
            <p:cNvPr id="5" name="Freeform 3"/>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6" name="Freeform 4"/>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7" name="Freeform 5"/>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8" name="Group 6"/>
            <p:cNvGrpSpPr>
              <a:grpSpLocks/>
            </p:cNvGrpSpPr>
            <p:nvPr/>
          </p:nvGrpSpPr>
          <p:grpSpPr bwMode="auto">
            <a:xfrm>
              <a:off x="288" y="0"/>
              <a:ext cx="5098" cy="4316"/>
              <a:chOff x="288" y="0"/>
              <a:chExt cx="5098" cy="4316"/>
            </a:xfrm>
          </p:grpSpPr>
          <p:sp>
            <p:nvSpPr>
              <p:cNvPr id="28" name="Freeform 7"/>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29" name="Freeform 8"/>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0" name="Freeform 9"/>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1" name="Freeform 10"/>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2" name="Freeform 11"/>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3" name="Freeform 12"/>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4" name="Freeform 13"/>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5" name="Freeform 14"/>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6" name="Freeform 15"/>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7" name="Freeform 16"/>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8" name="Freeform 17"/>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39" name="Freeform 18"/>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0" name="Freeform 19"/>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9" name="Freeform 20"/>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0" name="Freeform 21"/>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1" name="Freeform 22"/>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2" name="Freeform 23"/>
            <p:cNvSpPr>
              <a:spLocks/>
            </p:cNvSpPr>
            <p:nvPr/>
          </p:nvSpPr>
          <p:spPr bwMode="hidden">
            <a:xfrm>
              <a:off x="5041" y="0"/>
              <a:ext cx="719" cy="845"/>
            </a:xfrm>
            <a:custGeom>
              <a:avLst/>
              <a:gdLst>
                <a:gd name="T0" fmla="*/ 717 w 717"/>
                <a:gd name="T1" fmla="*/ 845 h 845"/>
                <a:gd name="T2" fmla="*/ 717 w 717"/>
                <a:gd name="T3" fmla="*/ 821 h 845"/>
                <a:gd name="T4" fmla="*/ 574 w 717"/>
                <a:gd name="T5" fmla="*/ 605 h 845"/>
                <a:gd name="T6" fmla="*/ 406 w 717"/>
                <a:gd name="T7" fmla="*/ 396 h 845"/>
                <a:gd name="T8" fmla="*/ 221 w 717"/>
                <a:gd name="T9" fmla="*/ 192 h 845"/>
                <a:gd name="T10" fmla="*/ 17 w 717"/>
                <a:gd name="T11" fmla="*/ 0 h 845"/>
                <a:gd name="T12" fmla="*/ 0 w 717"/>
                <a:gd name="T13" fmla="*/ 0 h 845"/>
                <a:gd name="T14" fmla="*/ 209 w 717"/>
                <a:gd name="T15" fmla="*/ 198 h 845"/>
                <a:gd name="T16" fmla="*/ 400 w 717"/>
                <a:gd name="T17" fmla="*/ 408 h 845"/>
                <a:gd name="T18" fmla="*/ 568 w 717"/>
                <a:gd name="T19" fmla="*/ 623 h 845"/>
                <a:gd name="T20" fmla="*/ 717 w 717"/>
                <a:gd name="T21" fmla="*/ 845 h 845"/>
                <a:gd name="T22" fmla="*/ 717 w 717"/>
                <a:gd name="T23" fmla="*/ 845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3" name="Freeform 24"/>
            <p:cNvSpPr>
              <a:spLocks/>
            </p:cNvSpPr>
            <p:nvPr/>
          </p:nvSpPr>
          <p:spPr bwMode="hidden">
            <a:xfrm>
              <a:off x="5352" y="0"/>
              <a:ext cx="408" cy="414"/>
            </a:xfrm>
            <a:custGeom>
              <a:avLst/>
              <a:gdLst>
                <a:gd name="T0" fmla="*/ 407 w 407"/>
                <a:gd name="T1" fmla="*/ 414 h 414"/>
                <a:gd name="T2" fmla="*/ 407 w 407"/>
                <a:gd name="T3" fmla="*/ 396 h 414"/>
                <a:gd name="T4" fmla="*/ 222 w 407"/>
                <a:gd name="T5" fmla="*/ 192 h 414"/>
                <a:gd name="T6" fmla="*/ 12 w 407"/>
                <a:gd name="T7" fmla="*/ 0 h 414"/>
                <a:gd name="T8" fmla="*/ 0 w 407"/>
                <a:gd name="T9" fmla="*/ 0 h 414"/>
                <a:gd name="T10" fmla="*/ 108 w 407"/>
                <a:gd name="T11" fmla="*/ 102 h 414"/>
                <a:gd name="T12" fmla="*/ 216 w 407"/>
                <a:gd name="T13" fmla="*/ 204 h 414"/>
                <a:gd name="T14" fmla="*/ 407 w 407"/>
                <a:gd name="T15" fmla="*/ 414 h 414"/>
                <a:gd name="T16" fmla="*/ 407 w 407"/>
                <a:gd name="T17"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4" name="Freeform 25"/>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5" name="Freeform 26"/>
            <p:cNvSpPr>
              <a:spLocks/>
            </p:cNvSpPr>
            <p:nvPr/>
          </p:nvSpPr>
          <p:spPr bwMode="hidden">
            <a:xfrm>
              <a:off x="6" y="0"/>
              <a:ext cx="588" cy="599"/>
            </a:xfrm>
            <a:custGeom>
              <a:avLst/>
              <a:gdLst>
                <a:gd name="T0" fmla="*/ 586 w 586"/>
                <a:gd name="T1" fmla="*/ 0 h 599"/>
                <a:gd name="T2" fmla="*/ 568 w 586"/>
                <a:gd name="T3" fmla="*/ 0 h 599"/>
                <a:gd name="T4" fmla="*/ 407 w 586"/>
                <a:gd name="T5" fmla="*/ 132 h 599"/>
                <a:gd name="T6" fmla="*/ 257 w 586"/>
                <a:gd name="T7" fmla="*/ 270 h 599"/>
                <a:gd name="T8" fmla="*/ 120 w 586"/>
                <a:gd name="T9" fmla="*/ 420 h 599"/>
                <a:gd name="T10" fmla="*/ 0 w 586"/>
                <a:gd name="T11" fmla="*/ 575 h 599"/>
                <a:gd name="T12" fmla="*/ 0 w 586"/>
                <a:gd name="T13" fmla="*/ 599 h 599"/>
                <a:gd name="T14" fmla="*/ 120 w 586"/>
                <a:gd name="T15" fmla="*/ 432 h 599"/>
                <a:gd name="T16" fmla="*/ 257 w 586"/>
                <a:gd name="T17" fmla="*/ 282 h 599"/>
                <a:gd name="T18" fmla="*/ 413 w 586"/>
                <a:gd name="T19" fmla="*/ 138 h 599"/>
                <a:gd name="T20" fmla="*/ 586 w 586"/>
                <a:gd name="T21" fmla="*/ 0 h 599"/>
                <a:gd name="T22" fmla="*/ 586 w 586"/>
                <a:gd name="T23"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6" name="Freeform 27"/>
            <p:cNvSpPr>
              <a:spLocks/>
            </p:cNvSpPr>
            <p:nvPr/>
          </p:nvSpPr>
          <p:spPr bwMode="hidden">
            <a:xfrm>
              <a:off x="6" y="0"/>
              <a:ext cx="270" cy="252"/>
            </a:xfrm>
            <a:custGeom>
              <a:avLst/>
              <a:gdLst>
                <a:gd name="T0" fmla="*/ 269 w 269"/>
                <a:gd name="T1" fmla="*/ 0 h 252"/>
                <a:gd name="T2" fmla="*/ 2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69 w 269"/>
                <a:gd name="T15" fmla="*/ 0 h 252"/>
                <a:gd name="T16" fmla="*/ 269 w 269"/>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17" name="Line 28"/>
            <p:cNvSpPr>
              <a:spLocks noChangeShapeType="1"/>
            </p:cNvSpPr>
            <p:nvPr/>
          </p:nvSpPr>
          <p:spPr bwMode="hidden">
            <a:xfrm>
              <a:off x="1" y="2749"/>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8" name="Line 29"/>
            <p:cNvSpPr>
              <a:spLocks noChangeShapeType="1"/>
            </p:cNvSpPr>
            <p:nvPr/>
          </p:nvSpPr>
          <p:spPr bwMode="hidden">
            <a:xfrm>
              <a:off x="1" y="2356"/>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9" name="Line 30"/>
            <p:cNvSpPr>
              <a:spLocks noChangeShapeType="1"/>
            </p:cNvSpPr>
            <p:nvPr/>
          </p:nvSpPr>
          <p:spPr bwMode="hidden">
            <a:xfrm>
              <a:off x="1" y="3142"/>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nvGrpSpPr>
            <p:cNvPr id="20" name="Group 31"/>
            <p:cNvGrpSpPr>
              <a:grpSpLocks/>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22" name="Line 38"/>
            <p:cNvSpPr>
              <a:spLocks noChangeShapeType="1"/>
            </p:cNvSpPr>
            <p:nvPr/>
          </p:nvSpPr>
          <p:spPr bwMode="hidden">
            <a:xfrm>
              <a:off x="1" y="3535"/>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44071" name="Rectangle 39"/>
          <p:cNvSpPr>
            <a:spLocks noGrp="1" noChangeArrowheads="1"/>
          </p:cNvSpPr>
          <p:nvPr>
            <p:ph type="ctrTitle" sz="quarter"/>
          </p:nvPr>
        </p:nvSpPr>
        <p:spPr>
          <a:xfrm>
            <a:off x="685800" y="1692275"/>
            <a:ext cx="7772400" cy="1736725"/>
          </a:xfrm>
        </p:spPr>
        <p:txBody>
          <a:bodyPr anchor="b"/>
          <a:lstStyle>
            <a:lvl1pPr>
              <a:defRPr sz="5400"/>
            </a:lvl1pPr>
          </a:lstStyle>
          <a:p>
            <a:pPr lvl="0"/>
            <a:r>
              <a:rPr lang="zh-CN" altLang="en-US" noProof="0" smtClean="0"/>
              <a:t>单击此处编辑母版标题样式</a:t>
            </a:r>
          </a:p>
        </p:txBody>
      </p:sp>
      <p:sp>
        <p:nvSpPr>
          <p:cNvPr id="44072"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41" name="Rectangle 41"/>
          <p:cNvSpPr>
            <a:spLocks noGrp="1" noChangeArrowheads="1"/>
          </p:cNvSpPr>
          <p:nvPr>
            <p:ph type="dt" sz="quarter" idx="10"/>
          </p:nvPr>
        </p:nvSpPr>
        <p:spPr/>
        <p:txBody>
          <a:bodyPr/>
          <a:lstStyle>
            <a:lvl1pPr>
              <a:defRPr/>
            </a:lvl1pPr>
          </a:lstStyle>
          <a:p>
            <a:pPr>
              <a:defRPr/>
            </a:pPr>
            <a:endParaRPr lang="en-US" altLang="zh-CN"/>
          </a:p>
        </p:txBody>
      </p:sp>
      <p:sp>
        <p:nvSpPr>
          <p:cNvPr id="42" name="Rectangle 42"/>
          <p:cNvSpPr>
            <a:spLocks noGrp="1" noChangeArrowheads="1"/>
          </p:cNvSpPr>
          <p:nvPr>
            <p:ph type="ftr" sz="quarter" idx="11"/>
          </p:nvPr>
        </p:nvSpPr>
        <p:spPr/>
        <p:txBody>
          <a:bodyPr/>
          <a:lstStyle>
            <a:lvl1pPr>
              <a:defRPr/>
            </a:lvl1pPr>
          </a:lstStyle>
          <a:p>
            <a:pPr>
              <a:defRPr/>
            </a:pPr>
            <a:endParaRPr lang="en-US" altLang="zh-CN"/>
          </a:p>
        </p:txBody>
      </p:sp>
      <p:sp>
        <p:nvSpPr>
          <p:cNvPr id="43" name="Rectangle 43"/>
          <p:cNvSpPr>
            <a:spLocks noGrp="1" noChangeArrowheads="1"/>
          </p:cNvSpPr>
          <p:nvPr>
            <p:ph type="sldNum" sz="quarter" idx="12"/>
          </p:nvPr>
        </p:nvSpPr>
        <p:spPr/>
        <p:txBody>
          <a:bodyPr/>
          <a:lstStyle>
            <a:lvl1pPr>
              <a:defRPr/>
            </a:lvl1pPr>
          </a:lstStyle>
          <a:p>
            <a:pPr>
              <a:defRPr/>
            </a:pPr>
            <a:fld id="{12E93308-959B-4C1D-B938-1827CF6E702F}" type="slidenum">
              <a:rPr lang="en-US" altLang="zh-CN"/>
              <a:pPr>
                <a:defRPr/>
              </a:pPr>
              <a:t>‹#›</a:t>
            </a:fld>
            <a:endParaRPr lang="en-US" altLang="zh-CN"/>
          </a:p>
        </p:txBody>
      </p:sp>
    </p:spTree>
    <p:extLst>
      <p:ext uri="{BB962C8B-B14F-4D97-AF65-F5344CB8AC3E}">
        <p14:creationId xmlns:p14="http://schemas.microsoft.com/office/powerpoint/2010/main" val="29970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BE3E8A01-0439-48A4-B538-24575353788B}" type="slidenum">
              <a:rPr lang="en-US" altLang="zh-CN"/>
              <a:pPr>
                <a:defRPr/>
              </a:pPr>
              <a:t>‹#›</a:t>
            </a:fld>
            <a:endParaRPr lang="en-US" altLang="zh-CN"/>
          </a:p>
        </p:txBody>
      </p:sp>
    </p:spTree>
    <p:extLst>
      <p:ext uri="{BB962C8B-B14F-4D97-AF65-F5344CB8AC3E}">
        <p14:creationId xmlns:p14="http://schemas.microsoft.com/office/powerpoint/2010/main" val="367437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3D69FBC7-24DF-4F62-A9BF-3BB0B02C0F19}" type="slidenum">
              <a:rPr lang="en-US" altLang="zh-CN"/>
              <a:pPr>
                <a:defRPr/>
              </a:pPr>
              <a:t>‹#›</a:t>
            </a:fld>
            <a:endParaRPr lang="en-US" altLang="zh-CN"/>
          </a:p>
        </p:txBody>
      </p:sp>
    </p:spTree>
    <p:extLst>
      <p:ext uri="{BB962C8B-B14F-4D97-AF65-F5344CB8AC3E}">
        <p14:creationId xmlns:p14="http://schemas.microsoft.com/office/powerpoint/2010/main" val="757927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7BEFD84A-E8F5-460B-93A6-EB59A64ED012}" type="slidenum">
              <a:rPr lang="en-US" altLang="zh-CN"/>
              <a:pPr>
                <a:defRPr/>
              </a:pPr>
              <a:t>‹#›</a:t>
            </a:fld>
            <a:endParaRPr lang="en-US" altLang="zh-CN"/>
          </a:p>
        </p:txBody>
      </p:sp>
    </p:spTree>
    <p:extLst>
      <p:ext uri="{BB962C8B-B14F-4D97-AF65-F5344CB8AC3E}">
        <p14:creationId xmlns:p14="http://schemas.microsoft.com/office/powerpoint/2010/main" val="21143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p:cNvSpPr>
            <a:spLocks noGrp="1" noChangeArrowheads="1"/>
          </p:cNvSpPr>
          <p:nvPr>
            <p:ph type="sldNum" sz="quarter" idx="12"/>
          </p:nvPr>
        </p:nvSpPr>
        <p:spPr>
          <a:ln/>
        </p:spPr>
        <p:txBody>
          <a:bodyPr/>
          <a:lstStyle>
            <a:lvl1pPr>
              <a:defRPr/>
            </a:lvl1pPr>
          </a:lstStyle>
          <a:p>
            <a:pPr>
              <a:defRPr/>
            </a:pPr>
            <a:fld id="{18DEA786-A293-48BC-B9A8-C871E611F89A}" type="slidenum">
              <a:rPr lang="en-US" altLang="zh-CN"/>
              <a:pPr>
                <a:defRPr/>
              </a:pPr>
              <a:t>‹#›</a:t>
            </a:fld>
            <a:endParaRPr lang="en-US" altLang="zh-CN"/>
          </a:p>
        </p:txBody>
      </p:sp>
    </p:spTree>
    <p:extLst>
      <p:ext uri="{BB962C8B-B14F-4D97-AF65-F5344CB8AC3E}">
        <p14:creationId xmlns:p14="http://schemas.microsoft.com/office/powerpoint/2010/main" val="3281182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p:cNvSpPr>
            <a:spLocks noGrp="1" noChangeArrowheads="1"/>
          </p:cNvSpPr>
          <p:nvPr>
            <p:ph type="sldNum" sz="quarter" idx="12"/>
          </p:nvPr>
        </p:nvSpPr>
        <p:spPr>
          <a:ln/>
        </p:spPr>
        <p:txBody>
          <a:bodyPr/>
          <a:lstStyle>
            <a:lvl1pPr>
              <a:defRPr/>
            </a:lvl1pPr>
          </a:lstStyle>
          <a:p>
            <a:pPr>
              <a:defRPr/>
            </a:pPr>
            <a:fld id="{35A4F805-5BA9-4D6D-A534-CEA9394EEE0D}" type="slidenum">
              <a:rPr lang="en-US" altLang="zh-CN"/>
              <a:pPr>
                <a:defRPr/>
              </a:pPr>
              <a:t>‹#›</a:t>
            </a:fld>
            <a:endParaRPr lang="en-US" altLang="zh-CN"/>
          </a:p>
        </p:txBody>
      </p:sp>
    </p:spTree>
    <p:extLst>
      <p:ext uri="{BB962C8B-B14F-4D97-AF65-F5344CB8AC3E}">
        <p14:creationId xmlns:p14="http://schemas.microsoft.com/office/powerpoint/2010/main" val="60613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p:cNvSpPr>
            <a:spLocks noGrp="1" noChangeArrowheads="1"/>
          </p:cNvSpPr>
          <p:nvPr>
            <p:ph type="sldNum" sz="quarter" idx="12"/>
          </p:nvPr>
        </p:nvSpPr>
        <p:spPr>
          <a:ln/>
        </p:spPr>
        <p:txBody>
          <a:bodyPr/>
          <a:lstStyle>
            <a:lvl1pPr>
              <a:defRPr/>
            </a:lvl1pPr>
          </a:lstStyle>
          <a:p>
            <a:pPr>
              <a:defRPr/>
            </a:pPr>
            <a:fld id="{480BC0F3-55A4-432C-A9D6-66D3950F40AB}" type="slidenum">
              <a:rPr lang="en-US" altLang="zh-CN"/>
              <a:pPr>
                <a:defRPr/>
              </a:pPr>
              <a:t>‹#›</a:t>
            </a:fld>
            <a:endParaRPr lang="en-US" altLang="zh-CN"/>
          </a:p>
        </p:txBody>
      </p:sp>
    </p:spTree>
    <p:extLst>
      <p:ext uri="{BB962C8B-B14F-4D97-AF65-F5344CB8AC3E}">
        <p14:creationId xmlns:p14="http://schemas.microsoft.com/office/powerpoint/2010/main" val="2520678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46C34EDD-8DDC-4E4F-9DBB-3740607BCA99}" type="slidenum">
              <a:rPr lang="en-US" altLang="zh-CN"/>
              <a:pPr>
                <a:defRPr/>
              </a:pPr>
              <a:t>‹#›</a:t>
            </a:fld>
            <a:endParaRPr lang="en-US" altLang="zh-CN"/>
          </a:p>
        </p:txBody>
      </p:sp>
    </p:spTree>
    <p:extLst>
      <p:ext uri="{BB962C8B-B14F-4D97-AF65-F5344CB8AC3E}">
        <p14:creationId xmlns:p14="http://schemas.microsoft.com/office/powerpoint/2010/main" val="1642709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3A0250E7-D322-477E-AEEC-22940C55A1E9}" type="slidenum">
              <a:rPr lang="en-US" altLang="zh-CN"/>
              <a:pPr>
                <a:defRPr/>
              </a:pPr>
              <a:t>‹#›</a:t>
            </a:fld>
            <a:endParaRPr lang="en-US" altLang="zh-CN"/>
          </a:p>
        </p:txBody>
      </p:sp>
    </p:spTree>
    <p:extLst>
      <p:ext uri="{BB962C8B-B14F-4D97-AF65-F5344CB8AC3E}">
        <p14:creationId xmlns:p14="http://schemas.microsoft.com/office/powerpoint/2010/main" val="2839101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A48E9BA2-503B-4F99-93A8-778005499283}" type="slidenum">
              <a:rPr lang="en-US" altLang="zh-CN"/>
              <a:pPr>
                <a:defRPr/>
              </a:pPr>
              <a:t>‹#›</a:t>
            </a:fld>
            <a:endParaRPr lang="en-US" altLang="zh-CN"/>
          </a:p>
        </p:txBody>
      </p:sp>
    </p:spTree>
    <p:extLst>
      <p:ext uri="{BB962C8B-B14F-4D97-AF65-F5344CB8AC3E}">
        <p14:creationId xmlns:p14="http://schemas.microsoft.com/office/powerpoint/2010/main" val="171112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p:cNvSpPr>
            <a:spLocks noGrp="1" noChangeArrowheads="1"/>
          </p:cNvSpPr>
          <p:nvPr>
            <p:ph type="sldNum" sz="quarter" idx="12"/>
          </p:nvPr>
        </p:nvSpPr>
        <p:spPr>
          <a:ln/>
        </p:spPr>
        <p:txBody>
          <a:bodyPr/>
          <a:lstStyle>
            <a:lvl1pPr>
              <a:defRPr/>
            </a:lvl1pPr>
          </a:lstStyle>
          <a:p>
            <a:pPr>
              <a:defRPr/>
            </a:pPr>
            <a:fld id="{3C753772-CDF8-49C4-AF97-BAAECE6C9913}" type="slidenum">
              <a:rPr lang="en-US" altLang="zh-CN"/>
              <a:pPr>
                <a:defRPr/>
              </a:pPr>
              <a:t>‹#›</a:t>
            </a:fld>
            <a:endParaRPr lang="en-US" altLang="zh-CN"/>
          </a:p>
        </p:txBody>
      </p:sp>
    </p:spTree>
    <p:extLst>
      <p:ext uri="{BB962C8B-B14F-4D97-AF65-F5344CB8AC3E}">
        <p14:creationId xmlns:p14="http://schemas.microsoft.com/office/powerpoint/2010/main" val="2399077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p:cNvSpPr>
            <a:spLocks noGrp="1" noChangeArrowheads="1"/>
          </p:cNvSpPr>
          <p:nvPr>
            <p:ph type="sldNum" sz="quarter" idx="12"/>
          </p:nvPr>
        </p:nvSpPr>
        <p:spPr>
          <a:ln/>
        </p:spPr>
        <p:txBody>
          <a:bodyPr/>
          <a:lstStyle>
            <a:lvl1pPr>
              <a:defRPr/>
            </a:lvl1pPr>
          </a:lstStyle>
          <a:p>
            <a:pPr>
              <a:defRPr/>
            </a:pPr>
            <a:fld id="{741FFB5E-82D9-4A22-905E-96E87E453B96}" type="slidenum">
              <a:rPr lang="en-US" altLang="zh-CN"/>
              <a:pPr>
                <a:defRPr/>
              </a:pPr>
              <a:t>‹#›</a:t>
            </a:fld>
            <a:endParaRPr lang="en-US" altLang="zh-CN"/>
          </a:p>
        </p:txBody>
      </p:sp>
    </p:spTree>
    <p:extLst>
      <p:ext uri="{BB962C8B-B14F-4D97-AF65-F5344CB8AC3E}">
        <p14:creationId xmlns:p14="http://schemas.microsoft.com/office/powerpoint/2010/main" val="944071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chemeClr val="bg1">
                <a:lumMod val="50000"/>
              </a:schemeClr>
            </a:gs>
            <a:gs pos="100000">
              <a:schemeClr val="bg2">
                <a:lumMod val="50000"/>
              </a:schemeClr>
            </a:gs>
          </a:gsLst>
          <a:lin ang="5400000" scaled="1"/>
          <a:tileRect/>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588" y="0"/>
            <a:ext cx="9148762" cy="6851650"/>
            <a:chOff x="1" y="0"/>
            <a:chExt cx="5763" cy="4316"/>
          </a:xfrm>
        </p:grpSpPr>
        <p:sp>
          <p:nvSpPr>
            <p:cNvPr id="43011" name="Freeform 3"/>
            <p:cNvSpPr>
              <a:spLocks/>
            </p:cNvSpPr>
            <p:nvPr/>
          </p:nvSpPr>
          <p:spPr bwMode="hidden">
            <a:xfrm>
              <a:off x="5045" y="2626"/>
              <a:ext cx="719" cy="1690"/>
            </a:xfrm>
            <a:custGeom>
              <a:avLst/>
              <a:gdLst>
                <a:gd name="T0" fmla="*/ 717 w 717"/>
                <a:gd name="T1" fmla="*/ 72 h 1690"/>
                <a:gd name="T2" fmla="*/ 717 w 717"/>
                <a:gd name="T3" fmla="*/ 0 h 1690"/>
                <a:gd name="T4" fmla="*/ 699 w 717"/>
                <a:gd name="T5" fmla="*/ 101 h 1690"/>
                <a:gd name="T6" fmla="*/ 675 w 717"/>
                <a:gd name="T7" fmla="*/ 209 h 1690"/>
                <a:gd name="T8" fmla="*/ 627 w 717"/>
                <a:gd name="T9" fmla="*/ 389 h 1690"/>
                <a:gd name="T10" fmla="*/ 574 w 717"/>
                <a:gd name="T11" fmla="*/ 569 h 1690"/>
                <a:gd name="T12" fmla="*/ 502 w 717"/>
                <a:gd name="T13" fmla="*/ 749 h 1690"/>
                <a:gd name="T14" fmla="*/ 424 w 717"/>
                <a:gd name="T15" fmla="*/ 935 h 1690"/>
                <a:gd name="T16" fmla="*/ 334 w 717"/>
                <a:gd name="T17" fmla="*/ 1121 h 1690"/>
                <a:gd name="T18" fmla="*/ 233 w 717"/>
                <a:gd name="T19" fmla="*/ 1312 h 1690"/>
                <a:gd name="T20" fmla="*/ 125 w 717"/>
                <a:gd name="T21" fmla="*/ 1498 h 1690"/>
                <a:gd name="T22" fmla="*/ 0 w 717"/>
                <a:gd name="T23" fmla="*/ 1690 h 1690"/>
                <a:gd name="T24" fmla="*/ 11 w 717"/>
                <a:gd name="T25" fmla="*/ 1690 h 1690"/>
                <a:gd name="T26" fmla="*/ 137 w 717"/>
                <a:gd name="T27" fmla="*/ 1498 h 1690"/>
                <a:gd name="T28" fmla="*/ 245 w 717"/>
                <a:gd name="T29" fmla="*/ 1312 h 1690"/>
                <a:gd name="T30" fmla="*/ 346 w 717"/>
                <a:gd name="T31" fmla="*/ 1121 h 1690"/>
                <a:gd name="T32" fmla="*/ 436 w 717"/>
                <a:gd name="T33" fmla="*/ 935 h 1690"/>
                <a:gd name="T34" fmla="*/ 514 w 717"/>
                <a:gd name="T35" fmla="*/ 749 h 1690"/>
                <a:gd name="T36" fmla="*/ 585 w 717"/>
                <a:gd name="T37" fmla="*/ 569 h 1690"/>
                <a:gd name="T38" fmla="*/ 639 w 717"/>
                <a:gd name="T39" fmla="*/ 389 h 1690"/>
                <a:gd name="T40" fmla="*/ 687 w 717"/>
                <a:gd name="T41" fmla="*/ 209 h 1690"/>
                <a:gd name="T42" fmla="*/ 705 w 717"/>
                <a:gd name="T43" fmla="*/ 143 h 1690"/>
                <a:gd name="T44" fmla="*/ 717 w 717"/>
                <a:gd name="T45" fmla="*/ 72 h 1690"/>
                <a:gd name="T46" fmla="*/ 717 w 717"/>
                <a:gd name="T47" fmla="*/ 72 h 1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12" name="Freeform 4"/>
            <p:cNvSpPr>
              <a:spLocks/>
            </p:cNvSpPr>
            <p:nvPr/>
          </p:nvSpPr>
          <p:spPr bwMode="hidden">
            <a:xfrm>
              <a:off x="5386" y="3794"/>
              <a:ext cx="378" cy="522"/>
            </a:xfrm>
            <a:custGeom>
              <a:avLst/>
              <a:gdLst>
                <a:gd name="T0" fmla="*/ 377 w 377"/>
                <a:gd name="T1" fmla="*/ 0 h 522"/>
                <a:gd name="T2" fmla="*/ 293 w 377"/>
                <a:gd name="T3" fmla="*/ 132 h 522"/>
                <a:gd name="T4" fmla="*/ 204 w 377"/>
                <a:gd name="T5" fmla="*/ 264 h 522"/>
                <a:gd name="T6" fmla="*/ 102 w 377"/>
                <a:gd name="T7" fmla="*/ 396 h 522"/>
                <a:gd name="T8" fmla="*/ 0 w 377"/>
                <a:gd name="T9" fmla="*/ 522 h 522"/>
                <a:gd name="T10" fmla="*/ 12 w 377"/>
                <a:gd name="T11" fmla="*/ 522 h 522"/>
                <a:gd name="T12" fmla="*/ 114 w 377"/>
                <a:gd name="T13" fmla="*/ 402 h 522"/>
                <a:gd name="T14" fmla="*/ 204 w 377"/>
                <a:gd name="T15" fmla="*/ 282 h 522"/>
                <a:gd name="T16" fmla="*/ 377 w 377"/>
                <a:gd name="T17" fmla="*/ 24 h 522"/>
                <a:gd name="T18" fmla="*/ 377 w 377"/>
                <a:gd name="T19" fmla="*/ 0 h 522"/>
                <a:gd name="T20" fmla="*/ 377 w 377"/>
                <a:gd name="T21"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13" name="Freeform 5"/>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nvGrpSpPr>
            <p:cNvPr id="1035" name="Group 6"/>
            <p:cNvGrpSpPr>
              <a:grpSpLocks/>
            </p:cNvGrpSpPr>
            <p:nvPr/>
          </p:nvGrpSpPr>
          <p:grpSpPr bwMode="auto">
            <a:xfrm>
              <a:off x="288" y="0"/>
              <a:ext cx="5098" cy="4316"/>
              <a:chOff x="288" y="0"/>
              <a:chExt cx="5098" cy="4316"/>
            </a:xfrm>
          </p:grpSpPr>
          <p:sp>
            <p:nvSpPr>
              <p:cNvPr id="43015" name="Freeform 7"/>
              <p:cNvSpPr>
                <a:spLocks/>
              </p:cNvSpPr>
              <p:nvPr userDrawn="1"/>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Lst>
                <a:ahLst/>
                <a:cxnLst>
                  <a:cxn ang="0">
                    <a:pos x="T0" y="T1"/>
                  </a:cxn>
                  <a:cxn ang="0">
                    <a:pos x="T2" y="T3"/>
                  </a:cxn>
                  <a:cxn ang="0">
                    <a:pos x="T4" y="T5"/>
                  </a:cxn>
                  <a:cxn ang="0">
                    <a:pos x="T6" y="T7"/>
                  </a:cxn>
                  <a:cxn ang="0">
                    <a:pos x="T8" y="T9"/>
                  </a:cxn>
                  <a:cxn ang="0">
                    <a:pos x="T10" y="T11"/>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16" name="Freeform 8"/>
              <p:cNvSpPr>
                <a:spLocks/>
              </p:cNvSpPr>
              <p:nvPr userDrawn="1"/>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17" name="Freeform 9"/>
              <p:cNvSpPr>
                <a:spLocks/>
              </p:cNvSpPr>
              <p:nvPr userDrawn="1"/>
            </p:nvSpPr>
            <p:spPr bwMode="hidden">
              <a:xfrm>
                <a:off x="3358" y="0"/>
                <a:ext cx="337" cy="4316"/>
              </a:xfrm>
              <a:custGeom>
                <a:avLst/>
                <a:gdLst>
                  <a:gd name="T0" fmla="*/ 329 w 335"/>
                  <a:gd name="T1" fmla="*/ 2014 h 4316"/>
                  <a:gd name="T2" fmla="*/ 317 w 335"/>
                  <a:gd name="T3" fmla="*/ 1726 h 4316"/>
                  <a:gd name="T4" fmla="*/ 293 w 335"/>
                  <a:gd name="T5" fmla="*/ 1445 h 4316"/>
                  <a:gd name="T6" fmla="*/ 263 w 335"/>
                  <a:gd name="T7" fmla="*/ 1175 h 4316"/>
                  <a:gd name="T8" fmla="*/ 228 w 335"/>
                  <a:gd name="T9" fmla="*/ 917 h 4316"/>
                  <a:gd name="T10" fmla="*/ 186 w 335"/>
                  <a:gd name="T11" fmla="*/ 665 h 4316"/>
                  <a:gd name="T12" fmla="*/ 132 w 335"/>
                  <a:gd name="T13" fmla="*/ 432 h 4316"/>
                  <a:gd name="T14" fmla="*/ 78 w 335"/>
                  <a:gd name="T15" fmla="*/ 204 h 4316"/>
                  <a:gd name="T16" fmla="*/ 12 w 335"/>
                  <a:gd name="T17" fmla="*/ 0 h 4316"/>
                  <a:gd name="T18" fmla="*/ 0 w 335"/>
                  <a:gd name="T19" fmla="*/ 0 h 4316"/>
                  <a:gd name="T20" fmla="*/ 66 w 335"/>
                  <a:gd name="T21" fmla="*/ 204 h 4316"/>
                  <a:gd name="T22" fmla="*/ 120 w 335"/>
                  <a:gd name="T23" fmla="*/ 432 h 4316"/>
                  <a:gd name="T24" fmla="*/ 174 w 335"/>
                  <a:gd name="T25" fmla="*/ 665 h 4316"/>
                  <a:gd name="T26" fmla="*/ 216 w 335"/>
                  <a:gd name="T27" fmla="*/ 917 h 4316"/>
                  <a:gd name="T28" fmla="*/ 251 w 335"/>
                  <a:gd name="T29" fmla="*/ 1175 h 4316"/>
                  <a:gd name="T30" fmla="*/ 281 w 335"/>
                  <a:gd name="T31" fmla="*/ 1445 h 4316"/>
                  <a:gd name="T32" fmla="*/ 305 w 335"/>
                  <a:gd name="T33" fmla="*/ 1726 h 4316"/>
                  <a:gd name="T34" fmla="*/ 317 w 335"/>
                  <a:gd name="T35" fmla="*/ 2014 h 4316"/>
                  <a:gd name="T36" fmla="*/ 323 w 335"/>
                  <a:gd name="T37" fmla="*/ 2314 h 4316"/>
                  <a:gd name="T38" fmla="*/ 317 w 335"/>
                  <a:gd name="T39" fmla="*/ 2608 h 4316"/>
                  <a:gd name="T40" fmla="*/ 305 w 335"/>
                  <a:gd name="T41" fmla="*/ 2907 h 4316"/>
                  <a:gd name="T42" fmla="*/ 281 w 335"/>
                  <a:gd name="T43" fmla="*/ 3201 h 4316"/>
                  <a:gd name="T44" fmla="*/ 257 w 335"/>
                  <a:gd name="T45" fmla="*/ 3489 h 4316"/>
                  <a:gd name="T46" fmla="*/ 216 w 335"/>
                  <a:gd name="T47" fmla="*/ 3777 h 4316"/>
                  <a:gd name="T48" fmla="*/ 174 w 335"/>
                  <a:gd name="T49" fmla="*/ 4052 h 4316"/>
                  <a:gd name="T50" fmla="*/ 120 w 335"/>
                  <a:gd name="T51" fmla="*/ 4316 h 4316"/>
                  <a:gd name="T52" fmla="*/ 132 w 335"/>
                  <a:gd name="T53" fmla="*/ 4316 h 4316"/>
                  <a:gd name="T54" fmla="*/ 186 w 335"/>
                  <a:gd name="T55" fmla="*/ 4052 h 4316"/>
                  <a:gd name="T56" fmla="*/ 228 w 335"/>
                  <a:gd name="T57" fmla="*/ 3777 h 4316"/>
                  <a:gd name="T58" fmla="*/ 269 w 335"/>
                  <a:gd name="T59" fmla="*/ 3489 h 4316"/>
                  <a:gd name="T60" fmla="*/ 293 w 335"/>
                  <a:gd name="T61" fmla="*/ 3201 h 4316"/>
                  <a:gd name="T62" fmla="*/ 317 w 335"/>
                  <a:gd name="T63" fmla="*/ 2907 h 4316"/>
                  <a:gd name="T64" fmla="*/ 329 w 335"/>
                  <a:gd name="T65" fmla="*/ 2608 h 4316"/>
                  <a:gd name="T66" fmla="*/ 335 w 335"/>
                  <a:gd name="T67" fmla="*/ 2314 h 4316"/>
                  <a:gd name="T68" fmla="*/ 329 w 335"/>
                  <a:gd name="T69" fmla="*/ 2014 h 4316"/>
                  <a:gd name="T70" fmla="*/ 329 w 335"/>
                  <a:gd name="T71" fmla="*/ 201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18" name="Freeform 10"/>
              <p:cNvSpPr>
                <a:spLocks/>
              </p:cNvSpPr>
              <p:nvPr userDrawn="1"/>
            </p:nvSpPr>
            <p:spPr bwMode="hidden">
              <a:xfrm>
                <a:off x="3676" y="0"/>
                <a:ext cx="427" cy="4316"/>
              </a:xfrm>
              <a:custGeom>
                <a:avLst/>
                <a:gdLst>
                  <a:gd name="T0" fmla="*/ 413 w 425"/>
                  <a:gd name="T1" fmla="*/ 1924 h 4316"/>
                  <a:gd name="T2" fmla="*/ 395 w 425"/>
                  <a:gd name="T3" fmla="*/ 1690 h 4316"/>
                  <a:gd name="T4" fmla="*/ 365 w 425"/>
                  <a:gd name="T5" fmla="*/ 1457 h 4316"/>
                  <a:gd name="T6" fmla="*/ 329 w 425"/>
                  <a:gd name="T7" fmla="*/ 1229 h 4316"/>
                  <a:gd name="T8" fmla="*/ 281 w 425"/>
                  <a:gd name="T9" fmla="*/ 1001 h 4316"/>
                  <a:gd name="T10" fmla="*/ 227 w 425"/>
                  <a:gd name="T11" fmla="*/ 761 h 4316"/>
                  <a:gd name="T12" fmla="*/ 162 w 425"/>
                  <a:gd name="T13" fmla="*/ 522 h 4316"/>
                  <a:gd name="T14" fmla="*/ 90 w 425"/>
                  <a:gd name="T15" fmla="*/ 270 h 4316"/>
                  <a:gd name="T16" fmla="*/ 12 w 425"/>
                  <a:gd name="T17" fmla="*/ 0 h 4316"/>
                  <a:gd name="T18" fmla="*/ 0 w 425"/>
                  <a:gd name="T19" fmla="*/ 0 h 4316"/>
                  <a:gd name="T20" fmla="*/ 84 w 425"/>
                  <a:gd name="T21" fmla="*/ 270 h 4316"/>
                  <a:gd name="T22" fmla="*/ 156 w 425"/>
                  <a:gd name="T23" fmla="*/ 522 h 4316"/>
                  <a:gd name="T24" fmla="*/ 216 w 425"/>
                  <a:gd name="T25" fmla="*/ 767 h 4316"/>
                  <a:gd name="T26" fmla="*/ 275 w 425"/>
                  <a:gd name="T27" fmla="*/ 1001 h 4316"/>
                  <a:gd name="T28" fmla="*/ 317 w 425"/>
                  <a:gd name="T29" fmla="*/ 1235 h 4316"/>
                  <a:gd name="T30" fmla="*/ 353 w 425"/>
                  <a:gd name="T31" fmla="*/ 1463 h 4316"/>
                  <a:gd name="T32" fmla="*/ 383 w 425"/>
                  <a:gd name="T33" fmla="*/ 1690 h 4316"/>
                  <a:gd name="T34" fmla="*/ 401 w 425"/>
                  <a:gd name="T35" fmla="*/ 1924 h 4316"/>
                  <a:gd name="T36" fmla="*/ 413 w 425"/>
                  <a:gd name="T37" fmla="*/ 2188 h 4316"/>
                  <a:gd name="T38" fmla="*/ 407 w 425"/>
                  <a:gd name="T39" fmla="*/ 2458 h 4316"/>
                  <a:gd name="T40" fmla="*/ 395 w 425"/>
                  <a:gd name="T41" fmla="*/ 2733 h 4316"/>
                  <a:gd name="T42" fmla="*/ 365 w 425"/>
                  <a:gd name="T43" fmla="*/ 3021 h 4316"/>
                  <a:gd name="T44" fmla="*/ 329 w 425"/>
                  <a:gd name="T45" fmla="*/ 3321 h 4316"/>
                  <a:gd name="T46" fmla="*/ 275 w 425"/>
                  <a:gd name="T47" fmla="*/ 3639 h 4316"/>
                  <a:gd name="T48" fmla="*/ 204 w 425"/>
                  <a:gd name="T49" fmla="*/ 3968 h 4316"/>
                  <a:gd name="T50" fmla="*/ 126 w 425"/>
                  <a:gd name="T51" fmla="*/ 4316 h 4316"/>
                  <a:gd name="T52" fmla="*/ 138 w 425"/>
                  <a:gd name="T53" fmla="*/ 4316 h 4316"/>
                  <a:gd name="T54" fmla="*/ 216 w 425"/>
                  <a:gd name="T55" fmla="*/ 3968 h 4316"/>
                  <a:gd name="T56" fmla="*/ 287 w 425"/>
                  <a:gd name="T57" fmla="*/ 3639 h 4316"/>
                  <a:gd name="T58" fmla="*/ 341 w 425"/>
                  <a:gd name="T59" fmla="*/ 3321 h 4316"/>
                  <a:gd name="T60" fmla="*/ 377 w 425"/>
                  <a:gd name="T61" fmla="*/ 3021 h 4316"/>
                  <a:gd name="T62" fmla="*/ 407 w 425"/>
                  <a:gd name="T63" fmla="*/ 2733 h 4316"/>
                  <a:gd name="T64" fmla="*/ 419 w 425"/>
                  <a:gd name="T65" fmla="*/ 2458 h 4316"/>
                  <a:gd name="T66" fmla="*/ 425 w 425"/>
                  <a:gd name="T67" fmla="*/ 2188 h 4316"/>
                  <a:gd name="T68" fmla="*/ 413 w 425"/>
                  <a:gd name="T69" fmla="*/ 1924 h 4316"/>
                  <a:gd name="T70" fmla="*/ 413 w 425"/>
                  <a:gd name="T71" fmla="*/ 1924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19" name="Freeform 11"/>
              <p:cNvSpPr>
                <a:spLocks/>
              </p:cNvSpPr>
              <p:nvPr userDrawn="1"/>
            </p:nvSpPr>
            <p:spPr bwMode="hidden">
              <a:xfrm>
                <a:off x="3946" y="0"/>
                <a:ext cx="558" cy="4316"/>
              </a:xfrm>
              <a:custGeom>
                <a:avLst/>
                <a:gdLst>
                  <a:gd name="T0" fmla="*/ 556 w 556"/>
                  <a:gd name="T1" fmla="*/ 2020 h 4316"/>
                  <a:gd name="T2" fmla="*/ 538 w 556"/>
                  <a:gd name="T3" fmla="*/ 1732 h 4316"/>
                  <a:gd name="T4" fmla="*/ 503 w 556"/>
                  <a:gd name="T5" fmla="*/ 1445 h 4316"/>
                  <a:gd name="T6" fmla="*/ 455 w 556"/>
                  <a:gd name="T7" fmla="*/ 1175 h 4316"/>
                  <a:gd name="T8" fmla="*/ 395 w 556"/>
                  <a:gd name="T9" fmla="*/ 911 h 4316"/>
                  <a:gd name="T10" fmla="*/ 317 w 556"/>
                  <a:gd name="T11" fmla="*/ 659 h 4316"/>
                  <a:gd name="T12" fmla="*/ 228 w 556"/>
                  <a:gd name="T13" fmla="*/ 426 h 4316"/>
                  <a:gd name="T14" fmla="*/ 126 w 556"/>
                  <a:gd name="T15" fmla="*/ 204 h 4316"/>
                  <a:gd name="T16" fmla="*/ 12 w 556"/>
                  <a:gd name="T17" fmla="*/ 0 h 4316"/>
                  <a:gd name="T18" fmla="*/ 0 w 556"/>
                  <a:gd name="T19" fmla="*/ 0 h 4316"/>
                  <a:gd name="T20" fmla="*/ 114 w 556"/>
                  <a:gd name="T21" fmla="*/ 204 h 4316"/>
                  <a:gd name="T22" fmla="*/ 216 w 556"/>
                  <a:gd name="T23" fmla="*/ 426 h 4316"/>
                  <a:gd name="T24" fmla="*/ 305 w 556"/>
                  <a:gd name="T25" fmla="*/ 659 h 4316"/>
                  <a:gd name="T26" fmla="*/ 383 w 556"/>
                  <a:gd name="T27" fmla="*/ 911 h 4316"/>
                  <a:gd name="T28" fmla="*/ 443 w 556"/>
                  <a:gd name="T29" fmla="*/ 1175 h 4316"/>
                  <a:gd name="T30" fmla="*/ 491 w 556"/>
                  <a:gd name="T31" fmla="*/ 1445 h 4316"/>
                  <a:gd name="T32" fmla="*/ 526 w 556"/>
                  <a:gd name="T33" fmla="*/ 1732 h 4316"/>
                  <a:gd name="T34" fmla="*/ 544 w 556"/>
                  <a:gd name="T35" fmla="*/ 2020 h 4316"/>
                  <a:gd name="T36" fmla="*/ 544 w 556"/>
                  <a:gd name="T37" fmla="*/ 2326 h 4316"/>
                  <a:gd name="T38" fmla="*/ 532 w 556"/>
                  <a:gd name="T39" fmla="*/ 2632 h 4316"/>
                  <a:gd name="T40" fmla="*/ 503 w 556"/>
                  <a:gd name="T41" fmla="*/ 2931 h 4316"/>
                  <a:gd name="T42" fmla="*/ 455 w 556"/>
                  <a:gd name="T43" fmla="*/ 3225 h 4316"/>
                  <a:gd name="T44" fmla="*/ 389 w 556"/>
                  <a:gd name="T45" fmla="*/ 3513 h 4316"/>
                  <a:gd name="T46" fmla="*/ 311 w 556"/>
                  <a:gd name="T47" fmla="*/ 3788 h 4316"/>
                  <a:gd name="T48" fmla="*/ 216 w 556"/>
                  <a:gd name="T49" fmla="*/ 4058 h 4316"/>
                  <a:gd name="T50" fmla="*/ 102 w 556"/>
                  <a:gd name="T51" fmla="*/ 4316 h 4316"/>
                  <a:gd name="T52" fmla="*/ 114 w 556"/>
                  <a:gd name="T53" fmla="*/ 4316 h 4316"/>
                  <a:gd name="T54" fmla="*/ 228 w 556"/>
                  <a:gd name="T55" fmla="*/ 4058 h 4316"/>
                  <a:gd name="T56" fmla="*/ 323 w 556"/>
                  <a:gd name="T57" fmla="*/ 3788 h 4316"/>
                  <a:gd name="T58" fmla="*/ 401 w 556"/>
                  <a:gd name="T59" fmla="*/ 3513 h 4316"/>
                  <a:gd name="T60" fmla="*/ 467 w 556"/>
                  <a:gd name="T61" fmla="*/ 3225 h 4316"/>
                  <a:gd name="T62" fmla="*/ 515 w 556"/>
                  <a:gd name="T63" fmla="*/ 2931 h 4316"/>
                  <a:gd name="T64" fmla="*/ 544 w 556"/>
                  <a:gd name="T65" fmla="*/ 2632 h 4316"/>
                  <a:gd name="T66" fmla="*/ 556 w 556"/>
                  <a:gd name="T67" fmla="*/ 2326 h 4316"/>
                  <a:gd name="T68" fmla="*/ 556 w 556"/>
                  <a:gd name="T69" fmla="*/ 2020 h 4316"/>
                  <a:gd name="T70" fmla="*/ 556 w 556"/>
                  <a:gd name="T71" fmla="*/ 202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0" name="Freeform 12"/>
              <p:cNvSpPr>
                <a:spLocks/>
              </p:cNvSpPr>
              <p:nvPr userDrawn="1"/>
            </p:nvSpPr>
            <p:spPr bwMode="hidden">
              <a:xfrm>
                <a:off x="4246" y="0"/>
                <a:ext cx="690" cy="4316"/>
              </a:xfrm>
              <a:custGeom>
                <a:avLst/>
                <a:gdLst>
                  <a:gd name="T0" fmla="*/ 688 w 688"/>
                  <a:gd name="T1" fmla="*/ 2086 h 4316"/>
                  <a:gd name="T2" fmla="*/ 670 w 688"/>
                  <a:gd name="T3" fmla="*/ 1810 h 4316"/>
                  <a:gd name="T4" fmla="*/ 634 w 688"/>
                  <a:gd name="T5" fmla="*/ 1541 h 4316"/>
                  <a:gd name="T6" fmla="*/ 574 w 688"/>
                  <a:gd name="T7" fmla="*/ 1271 h 4316"/>
                  <a:gd name="T8" fmla="*/ 497 w 688"/>
                  <a:gd name="T9" fmla="*/ 1007 h 4316"/>
                  <a:gd name="T10" fmla="*/ 401 w 688"/>
                  <a:gd name="T11" fmla="*/ 749 h 4316"/>
                  <a:gd name="T12" fmla="*/ 293 w 688"/>
                  <a:gd name="T13" fmla="*/ 492 h 4316"/>
                  <a:gd name="T14" fmla="*/ 162 w 688"/>
                  <a:gd name="T15" fmla="*/ 240 h 4316"/>
                  <a:gd name="T16" fmla="*/ 12 w 688"/>
                  <a:gd name="T17" fmla="*/ 0 h 4316"/>
                  <a:gd name="T18" fmla="*/ 0 w 688"/>
                  <a:gd name="T19" fmla="*/ 0 h 4316"/>
                  <a:gd name="T20" fmla="*/ 150 w 688"/>
                  <a:gd name="T21" fmla="*/ 240 h 4316"/>
                  <a:gd name="T22" fmla="*/ 281 w 688"/>
                  <a:gd name="T23" fmla="*/ 492 h 4316"/>
                  <a:gd name="T24" fmla="*/ 389 w 688"/>
                  <a:gd name="T25" fmla="*/ 749 h 4316"/>
                  <a:gd name="T26" fmla="*/ 485 w 688"/>
                  <a:gd name="T27" fmla="*/ 1007 h 4316"/>
                  <a:gd name="T28" fmla="*/ 562 w 688"/>
                  <a:gd name="T29" fmla="*/ 1271 h 4316"/>
                  <a:gd name="T30" fmla="*/ 622 w 688"/>
                  <a:gd name="T31" fmla="*/ 1541 h 4316"/>
                  <a:gd name="T32" fmla="*/ 658 w 688"/>
                  <a:gd name="T33" fmla="*/ 1810 h 4316"/>
                  <a:gd name="T34" fmla="*/ 676 w 688"/>
                  <a:gd name="T35" fmla="*/ 2086 h 4316"/>
                  <a:gd name="T36" fmla="*/ 676 w 688"/>
                  <a:gd name="T37" fmla="*/ 2368 h 4316"/>
                  <a:gd name="T38" fmla="*/ 658 w 688"/>
                  <a:gd name="T39" fmla="*/ 2650 h 4316"/>
                  <a:gd name="T40" fmla="*/ 616 w 688"/>
                  <a:gd name="T41" fmla="*/ 2931 h 4316"/>
                  <a:gd name="T42" fmla="*/ 556 w 688"/>
                  <a:gd name="T43" fmla="*/ 3213 h 4316"/>
                  <a:gd name="T44" fmla="*/ 473 w 688"/>
                  <a:gd name="T45" fmla="*/ 3495 h 4316"/>
                  <a:gd name="T46" fmla="*/ 371 w 688"/>
                  <a:gd name="T47" fmla="*/ 3777 h 4316"/>
                  <a:gd name="T48" fmla="*/ 251 w 688"/>
                  <a:gd name="T49" fmla="*/ 4046 h 4316"/>
                  <a:gd name="T50" fmla="*/ 114 w 688"/>
                  <a:gd name="T51" fmla="*/ 4316 h 4316"/>
                  <a:gd name="T52" fmla="*/ 126 w 688"/>
                  <a:gd name="T53" fmla="*/ 4316 h 4316"/>
                  <a:gd name="T54" fmla="*/ 263 w 688"/>
                  <a:gd name="T55" fmla="*/ 4046 h 4316"/>
                  <a:gd name="T56" fmla="*/ 383 w 688"/>
                  <a:gd name="T57" fmla="*/ 3777 h 4316"/>
                  <a:gd name="T58" fmla="*/ 485 w 688"/>
                  <a:gd name="T59" fmla="*/ 3495 h 4316"/>
                  <a:gd name="T60" fmla="*/ 568 w 688"/>
                  <a:gd name="T61" fmla="*/ 3219 h 4316"/>
                  <a:gd name="T62" fmla="*/ 628 w 688"/>
                  <a:gd name="T63" fmla="*/ 2937 h 4316"/>
                  <a:gd name="T64" fmla="*/ 670 w 688"/>
                  <a:gd name="T65" fmla="*/ 2656 h 4316"/>
                  <a:gd name="T66" fmla="*/ 688 w 688"/>
                  <a:gd name="T67" fmla="*/ 2368 h 4316"/>
                  <a:gd name="T68" fmla="*/ 688 w 688"/>
                  <a:gd name="T69" fmla="*/ 2086 h 4316"/>
                  <a:gd name="T70" fmla="*/ 688 w 688"/>
                  <a:gd name="T71" fmla="*/ 208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1" name="Freeform 13"/>
              <p:cNvSpPr>
                <a:spLocks/>
              </p:cNvSpPr>
              <p:nvPr userDrawn="1"/>
            </p:nvSpPr>
            <p:spPr bwMode="hidden">
              <a:xfrm>
                <a:off x="4522" y="0"/>
                <a:ext cx="864" cy="4316"/>
              </a:xfrm>
              <a:custGeom>
                <a:avLst/>
                <a:gdLst>
                  <a:gd name="T0" fmla="*/ 855 w 861"/>
                  <a:gd name="T1" fmla="*/ 2128 h 4316"/>
                  <a:gd name="T2" fmla="*/ 831 w 861"/>
                  <a:gd name="T3" fmla="*/ 1834 h 4316"/>
                  <a:gd name="T4" fmla="*/ 808 w 861"/>
                  <a:gd name="T5" fmla="*/ 1684 h 4316"/>
                  <a:gd name="T6" fmla="*/ 784 w 861"/>
                  <a:gd name="T7" fmla="*/ 1541 h 4316"/>
                  <a:gd name="T8" fmla="*/ 748 w 861"/>
                  <a:gd name="T9" fmla="*/ 1397 h 4316"/>
                  <a:gd name="T10" fmla="*/ 712 w 861"/>
                  <a:gd name="T11" fmla="*/ 1253 h 4316"/>
                  <a:gd name="T12" fmla="*/ 664 w 861"/>
                  <a:gd name="T13" fmla="*/ 1115 h 4316"/>
                  <a:gd name="T14" fmla="*/ 610 w 861"/>
                  <a:gd name="T15" fmla="*/ 977 h 4316"/>
                  <a:gd name="T16" fmla="*/ 491 w 861"/>
                  <a:gd name="T17" fmla="*/ 719 h 4316"/>
                  <a:gd name="T18" fmla="*/ 353 w 861"/>
                  <a:gd name="T19" fmla="*/ 468 h 4316"/>
                  <a:gd name="T20" fmla="*/ 192 w 861"/>
                  <a:gd name="T21" fmla="*/ 228 h 4316"/>
                  <a:gd name="T22" fmla="*/ 12 w 861"/>
                  <a:gd name="T23" fmla="*/ 0 h 4316"/>
                  <a:gd name="T24" fmla="*/ 0 w 861"/>
                  <a:gd name="T25" fmla="*/ 0 h 4316"/>
                  <a:gd name="T26" fmla="*/ 180 w 861"/>
                  <a:gd name="T27" fmla="*/ 228 h 4316"/>
                  <a:gd name="T28" fmla="*/ 341 w 861"/>
                  <a:gd name="T29" fmla="*/ 468 h 4316"/>
                  <a:gd name="T30" fmla="*/ 479 w 861"/>
                  <a:gd name="T31" fmla="*/ 719 h 4316"/>
                  <a:gd name="T32" fmla="*/ 598 w 861"/>
                  <a:gd name="T33" fmla="*/ 983 h 4316"/>
                  <a:gd name="T34" fmla="*/ 652 w 861"/>
                  <a:gd name="T35" fmla="*/ 1121 h 4316"/>
                  <a:gd name="T36" fmla="*/ 700 w 861"/>
                  <a:gd name="T37" fmla="*/ 1259 h 4316"/>
                  <a:gd name="T38" fmla="*/ 736 w 861"/>
                  <a:gd name="T39" fmla="*/ 1403 h 4316"/>
                  <a:gd name="T40" fmla="*/ 772 w 861"/>
                  <a:gd name="T41" fmla="*/ 1547 h 4316"/>
                  <a:gd name="T42" fmla="*/ 802 w 861"/>
                  <a:gd name="T43" fmla="*/ 1690 h 4316"/>
                  <a:gd name="T44" fmla="*/ 819 w 861"/>
                  <a:gd name="T45" fmla="*/ 1834 h 4316"/>
                  <a:gd name="T46" fmla="*/ 837 w 861"/>
                  <a:gd name="T47" fmla="*/ 1984 h 4316"/>
                  <a:gd name="T48" fmla="*/ 843 w 861"/>
                  <a:gd name="T49" fmla="*/ 2128 h 4316"/>
                  <a:gd name="T50" fmla="*/ 849 w 861"/>
                  <a:gd name="T51" fmla="*/ 2278 h 4316"/>
                  <a:gd name="T52" fmla="*/ 843 w 861"/>
                  <a:gd name="T53" fmla="*/ 2428 h 4316"/>
                  <a:gd name="T54" fmla="*/ 831 w 861"/>
                  <a:gd name="T55" fmla="*/ 2572 h 4316"/>
                  <a:gd name="T56" fmla="*/ 819 w 861"/>
                  <a:gd name="T57" fmla="*/ 2721 h 4316"/>
                  <a:gd name="T58" fmla="*/ 796 w 861"/>
                  <a:gd name="T59" fmla="*/ 2865 h 4316"/>
                  <a:gd name="T60" fmla="*/ 766 w 861"/>
                  <a:gd name="T61" fmla="*/ 3015 h 4316"/>
                  <a:gd name="T62" fmla="*/ 724 w 861"/>
                  <a:gd name="T63" fmla="*/ 3159 h 4316"/>
                  <a:gd name="T64" fmla="*/ 682 w 861"/>
                  <a:gd name="T65" fmla="*/ 3303 h 4316"/>
                  <a:gd name="T66" fmla="*/ 586 w 861"/>
                  <a:gd name="T67" fmla="*/ 3567 h 4316"/>
                  <a:gd name="T68" fmla="*/ 473 w 861"/>
                  <a:gd name="T69" fmla="*/ 3824 h 4316"/>
                  <a:gd name="T70" fmla="*/ 335 w 861"/>
                  <a:gd name="T71" fmla="*/ 4076 h 4316"/>
                  <a:gd name="T72" fmla="*/ 180 w 861"/>
                  <a:gd name="T73" fmla="*/ 4316 h 4316"/>
                  <a:gd name="T74" fmla="*/ 192 w 861"/>
                  <a:gd name="T75" fmla="*/ 4316 h 4316"/>
                  <a:gd name="T76" fmla="*/ 347 w 861"/>
                  <a:gd name="T77" fmla="*/ 4076 h 4316"/>
                  <a:gd name="T78" fmla="*/ 485 w 861"/>
                  <a:gd name="T79" fmla="*/ 3824 h 4316"/>
                  <a:gd name="T80" fmla="*/ 598 w 861"/>
                  <a:gd name="T81" fmla="*/ 3573 h 4316"/>
                  <a:gd name="T82" fmla="*/ 694 w 861"/>
                  <a:gd name="T83" fmla="*/ 3309 h 4316"/>
                  <a:gd name="T84" fmla="*/ 736 w 861"/>
                  <a:gd name="T85" fmla="*/ 3165 h 4316"/>
                  <a:gd name="T86" fmla="*/ 778 w 861"/>
                  <a:gd name="T87" fmla="*/ 3021 h 4316"/>
                  <a:gd name="T88" fmla="*/ 808 w 861"/>
                  <a:gd name="T89" fmla="*/ 2871 h 4316"/>
                  <a:gd name="T90" fmla="*/ 831 w 861"/>
                  <a:gd name="T91" fmla="*/ 2727 h 4316"/>
                  <a:gd name="T92" fmla="*/ 843 w 861"/>
                  <a:gd name="T93" fmla="*/ 2578 h 4316"/>
                  <a:gd name="T94" fmla="*/ 855 w 861"/>
                  <a:gd name="T95" fmla="*/ 2428 h 4316"/>
                  <a:gd name="T96" fmla="*/ 861 w 861"/>
                  <a:gd name="T97" fmla="*/ 2278 h 4316"/>
                  <a:gd name="T98" fmla="*/ 855 w 861"/>
                  <a:gd name="T99" fmla="*/ 2128 h 4316"/>
                  <a:gd name="T100" fmla="*/ 855 w 861"/>
                  <a:gd name="T101" fmla="*/ 212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2" name="Freeform 14"/>
              <p:cNvSpPr>
                <a:spLocks/>
              </p:cNvSpPr>
              <p:nvPr userDrawn="1"/>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77 w 149"/>
                  <a:gd name="T9" fmla="*/ 791 h 4316"/>
                  <a:gd name="T10" fmla="*/ 83 w 149"/>
                  <a:gd name="T11" fmla="*/ 671 h 4316"/>
                  <a:gd name="T12" fmla="*/ 95 w 149"/>
                  <a:gd name="T13" fmla="*/ 557 h 4316"/>
                  <a:gd name="T14" fmla="*/ 107 w 149"/>
                  <a:gd name="T15" fmla="*/ 444 h 4316"/>
                  <a:gd name="T16" fmla="*/ 113 w 149"/>
                  <a:gd name="T17" fmla="*/ 342 h 4316"/>
                  <a:gd name="T18" fmla="*/ 125 w 149"/>
                  <a:gd name="T19" fmla="*/ 246 h 4316"/>
                  <a:gd name="T20" fmla="*/ 131 w 149"/>
                  <a:gd name="T21" fmla="*/ 156 h 4316"/>
                  <a:gd name="T22" fmla="*/ 143 w 149"/>
                  <a:gd name="T23" fmla="*/ 72 h 4316"/>
                  <a:gd name="T24" fmla="*/ 149 w 149"/>
                  <a:gd name="T25" fmla="*/ 0 h 4316"/>
                  <a:gd name="T26" fmla="*/ 137 w 149"/>
                  <a:gd name="T27" fmla="*/ 0 h 4316"/>
                  <a:gd name="T28" fmla="*/ 131 w 149"/>
                  <a:gd name="T29" fmla="*/ 72 h 4316"/>
                  <a:gd name="T30" fmla="*/ 119 w 149"/>
                  <a:gd name="T31" fmla="*/ 156 h 4316"/>
                  <a:gd name="T32" fmla="*/ 113 w 149"/>
                  <a:gd name="T33" fmla="*/ 246 h 4316"/>
                  <a:gd name="T34" fmla="*/ 101 w 149"/>
                  <a:gd name="T35" fmla="*/ 342 h 4316"/>
                  <a:gd name="T36" fmla="*/ 95 w 149"/>
                  <a:gd name="T37" fmla="*/ 444 h 4316"/>
                  <a:gd name="T38" fmla="*/ 83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89 w 149"/>
                  <a:gd name="T65" fmla="*/ 4058 h 4316"/>
                  <a:gd name="T66" fmla="*/ 125 w 149"/>
                  <a:gd name="T67" fmla="*/ 4316 h 4316"/>
                  <a:gd name="T68" fmla="*/ 137 w 149"/>
                  <a:gd name="T69" fmla="*/ 4316 h 4316"/>
                  <a:gd name="T70" fmla="*/ 101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3" name="Freeform 15"/>
              <p:cNvSpPr>
                <a:spLocks/>
              </p:cNvSpPr>
              <p:nvPr userDrawn="1"/>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2 w 299"/>
                  <a:gd name="T11" fmla="*/ 641 h 4316"/>
                  <a:gd name="T12" fmla="*/ 209 w 299"/>
                  <a:gd name="T13" fmla="*/ 408 h 4316"/>
                  <a:gd name="T14" fmla="*/ 251 w 299"/>
                  <a:gd name="T15" fmla="*/ 192 h 4316"/>
                  <a:gd name="T16" fmla="*/ 299 w 299"/>
                  <a:gd name="T17" fmla="*/ 0 h 4316"/>
                  <a:gd name="T18" fmla="*/ 287 w 299"/>
                  <a:gd name="T19" fmla="*/ 0 h 4316"/>
                  <a:gd name="T20" fmla="*/ 239 w 299"/>
                  <a:gd name="T21" fmla="*/ 192 h 4316"/>
                  <a:gd name="T22" fmla="*/ 198 w 299"/>
                  <a:gd name="T23" fmla="*/ 408 h 4316"/>
                  <a:gd name="T24" fmla="*/ 156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3 w 299"/>
                  <a:gd name="T49" fmla="*/ 4064 h 4316"/>
                  <a:gd name="T50" fmla="*/ 275 w 299"/>
                  <a:gd name="T51" fmla="*/ 4316 h 4316"/>
                  <a:gd name="T52" fmla="*/ 287 w 299"/>
                  <a:gd name="T53" fmla="*/ 4316 h 4316"/>
                  <a:gd name="T54" fmla="*/ 215 w 299"/>
                  <a:gd name="T55" fmla="*/ 4064 h 4316"/>
                  <a:gd name="T56" fmla="*/ 156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4" name="Freeform 16"/>
              <p:cNvSpPr>
                <a:spLocks/>
              </p:cNvSpPr>
              <p:nvPr userDrawn="1"/>
            </p:nvSpPr>
            <p:spPr bwMode="hidden">
              <a:xfrm>
                <a:off x="1566" y="0"/>
                <a:ext cx="425" cy="4316"/>
              </a:xfrm>
              <a:custGeom>
                <a:avLst/>
                <a:gdLst>
                  <a:gd name="T0" fmla="*/ 424 w 424"/>
                  <a:gd name="T1" fmla="*/ 0 h 4316"/>
                  <a:gd name="T2" fmla="*/ 412 w 424"/>
                  <a:gd name="T3" fmla="*/ 0 h 4316"/>
                  <a:gd name="T4" fmla="*/ 316 w 424"/>
                  <a:gd name="T5" fmla="*/ 222 h 4316"/>
                  <a:gd name="T6" fmla="*/ 239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69 w 424"/>
                  <a:gd name="T33" fmla="*/ 4058 h 4316"/>
                  <a:gd name="T34" fmla="*/ 346 w 424"/>
                  <a:gd name="T35" fmla="*/ 4316 h 4316"/>
                  <a:gd name="T36" fmla="*/ 358 w 424"/>
                  <a:gd name="T37" fmla="*/ 4316 h 4316"/>
                  <a:gd name="T38" fmla="*/ 281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45 w 424"/>
                  <a:gd name="T65" fmla="*/ 462 h 4316"/>
                  <a:gd name="T66" fmla="*/ 328 w 424"/>
                  <a:gd name="T67" fmla="*/ 222 h 4316"/>
                  <a:gd name="T68" fmla="*/ 424 w 424"/>
                  <a:gd name="T69" fmla="*/ 0 h 4316"/>
                  <a:gd name="T70" fmla="*/ 424 w 424"/>
                  <a:gd name="T71" fmla="*/ 0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5" name="Freeform 17"/>
              <p:cNvSpPr>
                <a:spLocks/>
              </p:cNvSpPr>
              <p:nvPr userDrawn="1"/>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35 w 574"/>
                  <a:gd name="T13" fmla="*/ 480 h 4316"/>
                  <a:gd name="T14" fmla="*/ 449 w 574"/>
                  <a:gd name="T15" fmla="*/ 234 h 4316"/>
                  <a:gd name="T16" fmla="*/ 574 w 574"/>
                  <a:gd name="T17" fmla="*/ 0 h 4316"/>
                  <a:gd name="T18" fmla="*/ 562 w 574"/>
                  <a:gd name="T19" fmla="*/ 0 h 4316"/>
                  <a:gd name="T20" fmla="*/ 437 w 574"/>
                  <a:gd name="T21" fmla="*/ 234 h 4316"/>
                  <a:gd name="T22" fmla="*/ 323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1 w 574"/>
                  <a:gd name="T49" fmla="*/ 4070 h 4316"/>
                  <a:gd name="T50" fmla="*/ 484 w 574"/>
                  <a:gd name="T51" fmla="*/ 4316 h 4316"/>
                  <a:gd name="T52" fmla="*/ 496 w 574"/>
                  <a:gd name="T53" fmla="*/ 4316 h 4316"/>
                  <a:gd name="T54" fmla="*/ 383 w 574"/>
                  <a:gd name="T55" fmla="*/ 4070 h 4316"/>
                  <a:gd name="T56" fmla="*/ 287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6" name="Freeform 18"/>
              <p:cNvSpPr>
                <a:spLocks/>
              </p:cNvSpPr>
              <p:nvPr userDrawn="1"/>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15 w 735"/>
                  <a:gd name="T9" fmla="*/ 941 h 4316"/>
                  <a:gd name="T10" fmla="*/ 316 w 735"/>
                  <a:gd name="T11" fmla="*/ 689 h 4316"/>
                  <a:gd name="T12" fmla="*/ 442 w 735"/>
                  <a:gd name="T13" fmla="*/ 444 h 4316"/>
                  <a:gd name="T14" fmla="*/ 580 w 735"/>
                  <a:gd name="T15" fmla="*/ 216 h 4316"/>
                  <a:gd name="T16" fmla="*/ 735 w 735"/>
                  <a:gd name="T17" fmla="*/ 0 h 4316"/>
                  <a:gd name="T18" fmla="*/ 723 w 735"/>
                  <a:gd name="T19" fmla="*/ 0 h 4316"/>
                  <a:gd name="T20" fmla="*/ 568 w 735"/>
                  <a:gd name="T21" fmla="*/ 210 h 4316"/>
                  <a:gd name="T22" fmla="*/ 430 w 735"/>
                  <a:gd name="T23" fmla="*/ 438 h 4316"/>
                  <a:gd name="T24" fmla="*/ 311 w 735"/>
                  <a:gd name="T25" fmla="*/ 683 h 4316"/>
                  <a:gd name="T26" fmla="*/ 209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27 w 735"/>
                  <a:gd name="T45" fmla="*/ 3573 h 4316"/>
                  <a:gd name="T46" fmla="*/ 316 w 735"/>
                  <a:gd name="T47" fmla="*/ 3824 h 4316"/>
                  <a:gd name="T48" fmla="*/ 424 w 735"/>
                  <a:gd name="T49" fmla="*/ 4076 h 4316"/>
                  <a:gd name="T50" fmla="*/ 544 w 735"/>
                  <a:gd name="T51" fmla="*/ 4316 h 4316"/>
                  <a:gd name="T52" fmla="*/ 556 w 735"/>
                  <a:gd name="T53" fmla="*/ 4316 h 4316"/>
                  <a:gd name="T54" fmla="*/ 436 w 735"/>
                  <a:gd name="T55" fmla="*/ 4076 h 4316"/>
                  <a:gd name="T56" fmla="*/ 328 w 735"/>
                  <a:gd name="T57" fmla="*/ 3824 h 4316"/>
                  <a:gd name="T58" fmla="*/ 239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7" name="Freeform 19"/>
              <p:cNvSpPr>
                <a:spLocks/>
              </p:cNvSpPr>
              <p:nvPr userDrawn="1"/>
            </p:nvSpPr>
            <p:spPr bwMode="hidden">
              <a:xfrm>
                <a:off x="288" y="0"/>
                <a:ext cx="840" cy="4316"/>
              </a:xfrm>
              <a:custGeom>
                <a:avLst/>
                <a:gdLst>
                  <a:gd name="T0" fmla="*/ 18 w 837"/>
                  <a:gd name="T1" fmla="*/ 1948 h 4316"/>
                  <a:gd name="T2" fmla="*/ 48 w 837"/>
                  <a:gd name="T3" fmla="*/ 1708 h 4316"/>
                  <a:gd name="T4" fmla="*/ 96 w 837"/>
                  <a:gd name="T5" fmla="*/ 1475 h 4316"/>
                  <a:gd name="T6" fmla="*/ 161 w 837"/>
                  <a:gd name="T7" fmla="*/ 1235 h 4316"/>
                  <a:gd name="T8" fmla="*/ 251 w 837"/>
                  <a:gd name="T9" fmla="*/ 995 h 4316"/>
                  <a:gd name="T10" fmla="*/ 365 w 837"/>
                  <a:gd name="T11" fmla="*/ 755 h 4316"/>
                  <a:gd name="T12" fmla="*/ 496 w 837"/>
                  <a:gd name="T13" fmla="*/ 510 h 4316"/>
                  <a:gd name="T14" fmla="*/ 658 w 837"/>
                  <a:gd name="T15" fmla="*/ 258 h 4316"/>
                  <a:gd name="T16" fmla="*/ 741 w 837"/>
                  <a:gd name="T17" fmla="*/ 132 h 4316"/>
                  <a:gd name="T18" fmla="*/ 837 w 837"/>
                  <a:gd name="T19" fmla="*/ 0 h 4316"/>
                  <a:gd name="T20" fmla="*/ 825 w 837"/>
                  <a:gd name="T21" fmla="*/ 0 h 4316"/>
                  <a:gd name="T22" fmla="*/ 729 w 837"/>
                  <a:gd name="T23" fmla="*/ 132 h 4316"/>
                  <a:gd name="T24" fmla="*/ 640 w 837"/>
                  <a:gd name="T25" fmla="*/ 258 h 4316"/>
                  <a:gd name="T26" fmla="*/ 562 w 837"/>
                  <a:gd name="T27" fmla="*/ 384 h 4316"/>
                  <a:gd name="T28" fmla="*/ 484 w 837"/>
                  <a:gd name="T29" fmla="*/ 510 h 4316"/>
                  <a:gd name="T30" fmla="*/ 353 w 837"/>
                  <a:gd name="T31" fmla="*/ 755 h 4316"/>
                  <a:gd name="T32" fmla="*/ 239 w 837"/>
                  <a:gd name="T33" fmla="*/ 995 h 4316"/>
                  <a:gd name="T34" fmla="*/ 150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0 w 837"/>
                  <a:gd name="T51" fmla="*/ 3171 h 4316"/>
                  <a:gd name="T52" fmla="*/ 197 w 837"/>
                  <a:gd name="T53" fmla="*/ 3321 h 4316"/>
                  <a:gd name="T54" fmla="*/ 245 w 837"/>
                  <a:gd name="T55" fmla="*/ 3477 h 4316"/>
                  <a:gd name="T56" fmla="*/ 305 w 837"/>
                  <a:gd name="T57" fmla="*/ 3639 h 4316"/>
                  <a:gd name="T58" fmla="*/ 365 w 837"/>
                  <a:gd name="T59" fmla="*/ 3800 h 4316"/>
                  <a:gd name="T60" fmla="*/ 437 w 837"/>
                  <a:gd name="T61" fmla="*/ 3968 h 4316"/>
                  <a:gd name="T62" fmla="*/ 508 w 837"/>
                  <a:gd name="T63" fmla="*/ 4136 h 4316"/>
                  <a:gd name="T64" fmla="*/ 592 w 837"/>
                  <a:gd name="T65" fmla="*/ 4316 h 4316"/>
                  <a:gd name="T66" fmla="*/ 604 w 837"/>
                  <a:gd name="T67" fmla="*/ 4316 h 4316"/>
                  <a:gd name="T68" fmla="*/ 520 w 837"/>
                  <a:gd name="T69" fmla="*/ 4136 h 4316"/>
                  <a:gd name="T70" fmla="*/ 448 w 837"/>
                  <a:gd name="T71" fmla="*/ 3968 h 4316"/>
                  <a:gd name="T72" fmla="*/ 377 w 837"/>
                  <a:gd name="T73" fmla="*/ 3800 h 4316"/>
                  <a:gd name="T74" fmla="*/ 317 w 837"/>
                  <a:gd name="T75" fmla="*/ 3639 h 4316"/>
                  <a:gd name="T76" fmla="*/ 257 w 837"/>
                  <a:gd name="T77" fmla="*/ 3477 h 4316"/>
                  <a:gd name="T78" fmla="*/ 209 w 837"/>
                  <a:gd name="T79" fmla="*/ 3327 h 4316"/>
                  <a:gd name="T80" fmla="*/ 161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grpSp>
        <p:sp>
          <p:nvSpPr>
            <p:cNvPr id="43028" name="Freeform 20"/>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1 w 604"/>
                <a:gd name="T7" fmla="*/ 576 h 1415"/>
                <a:gd name="T8" fmla="*/ 227 w 604"/>
                <a:gd name="T9" fmla="*/ 744 h 1415"/>
                <a:gd name="T10" fmla="*/ 305 w 604"/>
                <a:gd name="T11" fmla="*/ 917 h 1415"/>
                <a:gd name="T12" fmla="*/ 389 w 604"/>
                <a:gd name="T13" fmla="*/ 1085 h 1415"/>
                <a:gd name="T14" fmla="*/ 484 w 604"/>
                <a:gd name="T15" fmla="*/ 1253 h 1415"/>
                <a:gd name="T16" fmla="*/ 586 w 604"/>
                <a:gd name="T17" fmla="*/ 1415 h 1415"/>
                <a:gd name="T18" fmla="*/ 604 w 604"/>
                <a:gd name="T19" fmla="*/ 1415 h 1415"/>
                <a:gd name="T20" fmla="*/ 496 w 604"/>
                <a:gd name="T21" fmla="*/ 1247 h 1415"/>
                <a:gd name="T22" fmla="*/ 401 w 604"/>
                <a:gd name="T23" fmla="*/ 1073 h 1415"/>
                <a:gd name="T24" fmla="*/ 311 w 604"/>
                <a:gd name="T25" fmla="*/ 899 h 1415"/>
                <a:gd name="T26" fmla="*/ 233 w 604"/>
                <a:gd name="T27" fmla="*/ 720 h 1415"/>
                <a:gd name="T28" fmla="*/ 161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29" name="Freeform 21"/>
            <p:cNvSpPr>
              <a:spLocks/>
            </p:cNvSpPr>
            <p:nvPr/>
          </p:nvSpPr>
          <p:spPr bwMode="hidden">
            <a:xfrm>
              <a:off x="6" y="3890"/>
              <a:ext cx="228" cy="426"/>
            </a:xfrm>
            <a:custGeom>
              <a:avLst/>
              <a:gdLst>
                <a:gd name="T0" fmla="*/ 0 w 227"/>
                <a:gd name="T1" fmla="*/ 30 h 426"/>
                <a:gd name="T2" fmla="*/ 108 w 227"/>
                <a:gd name="T3" fmla="*/ 240 h 426"/>
                <a:gd name="T4" fmla="*/ 215 w 227"/>
                <a:gd name="T5" fmla="*/ 426 h 426"/>
                <a:gd name="T6" fmla="*/ 227 w 227"/>
                <a:gd name="T7" fmla="*/ 426 h 426"/>
                <a:gd name="T8" fmla="*/ 167 w 227"/>
                <a:gd name="T9" fmla="*/ 330 h 426"/>
                <a:gd name="T10" fmla="*/ 114 w 227"/>
                <a:gd name="T11" fmla="*/ 222 h 426"/>
                <a:gd name="T12" fmla="*/ 0 w 227"/>
                <a:gd name="T13" fmla="*/ 0 h 426"/>
                <a:gd name="T14" fmla="*/ 0 w 227"/>
                <a:gd name="T15" fmla="*/ 30 h 426"/>
                <a:gd name="T16" fmla="*/ 0 w 227"/>
                <a:gd name="T17" fmla="*/ 3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0" name="Freeform 22"/>
            <p:cNvSpPr>
              <a:spLocks/>
            </p:cNvSpPr>
            <p:nvPr/>
          </p:nvSpPr>
          <p:spPr bwMode="hidden">
            <a:xfrm>
              <a:off x="4776" y="0"/>
              <a:ext cx="984" cy="1786"/>
            </a:xfrm>
            <a:custGeom>
              <a:avLst/>
              <a:gdLst>
                <a:gd name="T0" fmla="*/ 981 w 981"/>
                <a:gd name="T1" fmla="*/ 1786 h 1786"/>
                <a:gd name="T2" fmla="*/ 981 w 981"/>
                <a:gd name="T3" fmla="*/ 1720 h 1786"/>
                <a:gd name="T4" fmla="*/ 969 w 981"/>
                <a:gd name="T5" fmla="*/ 1666 h 1786"/>
                <a:gd name="T6" fmla="*/ 957 w 981"/>
                <a:gd name="T7" fmla="*/ 1613 h 1786"/>
                <a:gd name="T8" fmla="*/ 921 w 981"/>
                <a:gd name="T9" fmla="*/ 1487 h 1786"/>
                <a:gd name="T10" fmla="*/ 885 w 981"/>
                <a:gd name="T11" fmla="*/ 1361 h 1786"/>
                <a:gd name="T12" fmla="*/ 796 w 981"/>
                <a:gd name="T13" fmla="*/ 1121 h 1786"/>
                <a:gd name="T14" fmla="*/ 682 w 981"/>
                <a:gd name="T15" fmla="*/ 899 h 1786"/>
                <a:gd name="T16" fmla="*/ 562 w 981"/>
                <a:gd name="T17" fmla="*/ 689 h 1786"/>
                <a:gd name="T18" fmla="*/ 431 w 981"/>
                <a:gd name="T19" fmla="*/ 498 h 1786"/>
                <a:gd name="T20" fmla="*/ 293 w 981"/>
                <a:gd name="T21" fmla="*/ 318 h 1786"/>
                <a:gd name="T22" fmla="*/ 150 w 981"/>
                <a:gd name="T23" fmla="*/ 150 h 1786"/>
                <a:gd name="T24" fmla="*/ 12 w 981"/>
                <a:gd name="T25" fmla="*/ 0 h 1786"/>
                <a:gd name="T26" fmla="*/ 0 w 981"/>
                <a:gd name="T27" fmla="*/ 0 h 1786"/>
                <a:gd name="T28" fmla="*/ 138 w 981"/>
                <a:gd name="T29" fmla="*/ 150 h 1786"/>
                <a:gd name="T30" fmla="*/ 275 w 981"/>
                <a:gd name="T31" fmla="*/ 318 h 1786"/>
                <a:gd name="T32" fmla="*/ 413 w 981"/>
                <a:gd name="T33" fmla="*/ 498 h 1786"/>
                <a:gd name="T34" fmla="*/ 545 w 981"/>
                <a:gd name="T35" fmla="*/ 689 h 1786"/>
                <a:gd name="T36" fmla="*/ 670 w 981"/>
                <a:gd name="T37" fmla="*/ 899 h 1786"/>
                <a:gd name="T38" fmla="*/ 778 w 981"/>
                <a:gd name="T39" fmla="*/ 1121 h 1786"/>
                <a:gd name="T40" fmla="*/ 873 w 981"/>
                <a:gd name="T41" fmla="*/ 1361 h 1786"/>
                <a:gd name="T42" fmla="*/ 909 w 981"/>
                <a:gd name="T43" fmla="*/ 1487 h 1786"/>
                <a:gd name="T44" fmla="*/ 945 w 981"/>
                <a:gd name="T45" fmla="*/ 1619 h 1786"/>
                <a:gd name="T46" fmla="*/ 963 w 981"/>
                <a:gd name="T47" fmla="*/ 1702 h 1786"/>
                <a:gd name="T48" fmla="*/ 981 w 981"/>
                <a:gd name="T49" fmla="*/ 1786 h 1786"/>
                <a:gd name="T50" fmla="*/ 981 w 981"/>
                <a:gd name="T51" fmla="*/ 1786 h 1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1" name="Freeform 23"/>
            <p:cNvSpPr>
              <a:spLocks/>
            </p:cNvSpPr>
            <p:nvPr/>
          </p:nvSpPr>
          <p:spPr bwMode="hidden">
            <a:xfrm>
              <a:off x="5041" y="0"/>
              <a:ext cx="719" cy="845"/>
            </a:xfrm>
            <a:custGeom>
              <a:avLst/>
              <a:gdLst>
                <a:gd name="T0" fmla="*/ 717 w 717"/>
                <a:gd name="T1" fmla="*/ 845 h 845"/>
                <a:gd name="T2" fmla="*/ 717 w 717"/>
                <a:gd name="T3" fmla="*/ 821 h 845"/>
                <a:gd name="T4" fmla="*/ 574 w 717"/>
                <a:gd name="T5" fmla="*/ 605 h 845"/>
                <a:gd name="T6" fmla="*/ 406 w 717"/>
                <a:gd name="T7" fmla="*/ 396 h 845"/>
                <a:gd name="T8" fmla="*/ 221 w 717"/>
                <a:gd name="T9" fmla="*/ 192 h 845"/>
                <a:gd name="T10" fmla="*/ 17 w 717"/>
                <a:gd name="T11" fmla="*/ 0 h 845"/>
                <a:gd name="T12" fmla="*/ 0 w 717"/>
                <a:gd name="T13" fmla="*/ 0 h 845"/>
                <a:gd name="T14" fmla="*/ 209 w 717"/>
                <a:gd name="T15" fmla="*/ 198 h 845"/>
                <a:gd name="T16" fmla="*/ 400 w 717"/>
                <a:gd name="T17" fmla="*/ 408 h 845"/>
                <a:gd name="T18" fmla="*/ 568 w 717"/>
                <a:gd name="T19" fmla="*/ 623 h 845"/>
                <a:gd name="T20" fmla="*/ 717 w 717"/>
                <a:gd name="T21" fmla="*/ 845 h 845"/>
                <a:gd name="T22" fmla="*/ 717 w 717"/>
                <a:gd name="T23" fmla="*/ 845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2" name="Freeform 24"/>
            <p:cNvSpPr>
              <a:spLocks/>
            </p:cNvSpPr>
            <p:nvPr/>
          </p:nvSpPr>
          <p:spPr bwMode="hidden">
            <a:xfrm>
              <a:off x="5352" y="0"/>
              <a:ext cx="408" cy="414"/>
            </a:xfrm>
            <a:custGeom>
              <a:avLst/>
              <a:gdLst>
                <a:gd name="T0" fmla="*/ 407 w 407"/>
                <a:gd name="T1" fmla="*/ 414 h 414"/>
                <a:gd name="T2" fmla="*/ 407 w 407"/>
                <a:gd name="T3" fmla="*/ 396 h 414"/>
                <a:gd name="T4" fmla="*/ 222 w 407"/>
                <a:gd name="T5" fmla="*/ 192 h 414"/>
                <a:gd name="T6" fmla="*/ 12 w 407"/>
                <a:gd name="T7" fmla="*/ 0 h 414"/>
                <a:gd name="T8" fmla="*/ 0 w 407"/>
                <a:gd name="T9" fmla="*/ 0 h 414"/>
                <a:gd name="T10" fmla="*/ 108 w 407"/>
                <a:gd name="T11" fmla="*/ 102 h 414"/>
                <a:gd name="T12" fmla="*/ 216 w 407"/>
                <a:gd name="T13" fmla="*/ 204 h 414"/>
                <a:gd name="T14" fmla="*/ 407 w 407"/>
                <a:gd name="T15" fmla="*/ 414 h 414"/>
                <a:gd name="T16" fmla="*/ 407 w 407"/>
                <a:gd name="T17" fmla="*/ 414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3" name="Freeform 25"/>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15 w 855"/>
                <a:gd name="T9" fmla="*/ 827 h 1409"/>
                <a:gd name="T10" fmla="*/ 311 w 855"/>
                <a:gd name="T11" fmla="*/ 647 h 1409"/>
                <a:gd name="T12" fmla="*/ 431 w 855"/>
                <a:gd name="T13" fmla="*/ 474 h 1409"/>
                <a:gd name="T14" fmla="*/ 556 w 855"/>
                <a:gd name="T15" fmla="*/ 312 h 1409"/>
                <a:gd name="T16" fmla="*/ 700 w 855"/>
                <a:gd name="T17" fmla="*/ 150 h 1409"/>
                <a:gd name="T18" fmla="*/ 855 w 855"/>
                <a:gd name="T19" fmla="*/ 0 h 1409"/>
                <a:gd name="T20" fmla="*/ 837 w 855"/>
                <a:gd name="T21" fmla="*/ 0 h 1409"/>
                <a:gd name="T22" fmla="*/ 688 w 855"/>
                <a:gd name="T23" fmla="*/ 144 h 1409"/>
                <a:gd name="T24" fmla="*/ 550 w 855"/>
                <a:gd name="T25" fmla="*/ 300 h 1409"/>
                <a:gd name="T26" fmla="*/ 425 w 855"/>
                <a:gd name="T27" fmla="*/ 462 h 1409"/>
                <a:gd name="T28" fmla="*/ 311 w 855"/>
                <a:gd name="T29" fmla="*/ 629 h 1409"/>
                <a:gd name="T30" fmla="*/ 215 w 855"/>
                <a:gd name="T31" fmla="*/ 803 h 1409"/>
                <a:gd name="T32" fmla="*/ 132 w 855"/>
                <a:gd name="T33" fmla="*/ 983 h 1409"/>
                <a:gd name="T34" fmla="*/ 60 w 855"/>
                <a:gd name="T35" fmla="*/ 1169 h 1409"/>
                <a:gd name="T36" fmla="*/ 0 w 855"/>
                <a:gd name="T37" fmla="*/ 1361 h 1409"/>
                <a:gd name="T38" fmla="*/ 0 w 855"/>
                <a:gd name="T39" fmla="*/ 1361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4" name="Freeform 26"/>
            <p:cNvSpPr>
              <a:spLocks/>
            </p:cNvSpPr>
            <p:nvPr/>
          </p:nvSpPr>
          <p:spPr bwMode="hidden">
            <a:xfrm>
              <a:off x="6" y="0"/>
              <a:ext cx="588" cy="599"/>
            </a:xfrm>
            <a:custGeom>
              <a:avLst/>
              <a:gdLst>
                <a:gd name="T0" fmla="*/ 586 w 586"/>
                <a:gd name="T1" fmla="*/ 0 h 599"/>
                <a:gd name="T2" fmla="*/ 568 w 586"/>
                <a:gd name="T3" fmla="*/ 0 h 599"/>
                <a:gd name="T4" fmla="*/ 407 w 586"/>
                <a:gd name="T5" fmla="*/ 132 h 599"/>
                <a:gd name="T6" fmla="*/ 257 w 586"/>
                <a:gd name="T7" fmla="*/ 270 h 599"/>
                <a:gd name="T8" fmla="*/ 120 w 586"/>
                <a:gd name="T9" fmla="*/ 420 h 599"/>
                <a:gd name="T10" fmla="*/ 0 w 586"/>
                <a:gd name="T11" fmla="*/ 575 h 599"/>
                <a:gd name="T12" fmla="*/ 0 w 586"/>
                <a:gd name="T13" fmla="*/ 599 h 599"/>
                <a:gd name="T14" fmla="*/ 120 w 586"/>
                <a:gd name="T15" fmla="*/ 432 h 599"/>
                <a:gd name="T16" fmla="*/ 257 w 586"/>
                <a:gd name="T17" fmla="*/ 282 h 599"/>
                <a:gd name="T18" fmla="*/ 413 w 586"/>
                <a:gd name="T19" fmla="*/ 138 h 599"/>
                <a:gd name="T20" fmla="*/ 586 w 586"/>
                <a:gd name="T21" fmla="*/ 0 h 599"/>
                <a:gd name="T22" fmla="*/ 586 w 586"/>
                <a:gd name="T23"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5" name="Freeform 27"/>
            <p:cNvSpPr>
              <a:spLocks/>
            </p:cNvSpPr>
            <p:nvPr/>
          </p:nvSpPr>
          <p:spPr bwMode="hidden">
            <a:xfrm>
              <a:off x="6" y="0"/>
              <a:ext cx="270" cy="252"/>
            </a:xfrm>
            <a:custGeom>
              <a:avLst/>
              <a:gdLst>
                <a:gd name="T0" fmla="*/ 269 w 269"/>
                <a:gd name="T1" fmla="*/ 0 h 252"/>
                <a:gd name="T2" fmla="*/ 2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69 w 269"/>
                <a:gd name="T15" fmla="*/ 0 h 252"/>
                <a:gd name="T16" fmla="*/ 269 w 269"/>
                <a:gd name="T17" fmla="*/ 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p>
          </p:txBody>
        </p:sp>
        <p:sp>
          <p:nvSpPr>
            <p:cNvPr id="43036" name="Line 28"/>
            <p:cNvSpPr>
              <a:spLocks noChangeShapeType="1"/>
            </p:cNvSpPr>
            <p:nvPr/>
          </p:nvSpPr>
          <p:spPr bwMode="hidden">
            <a:xfrm>
              <a:off x="1" y="2749"/>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37" name="Line 29"/>
            <p:cNvSpPr>
              <a:spLocks noChangeShapeType="1"/>
            </p:cNvSpPr>
            <p:nvPr/>
          </p:nvSpPr>
          <p:spPr bwMode="hidden">
            <a:xfrm>
              <a:off x="1" y="2356"/>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38" name="Line 30"/>
            <p:cNvSpPr>
              <a:spLocks noChangeShapeType="1"/>
            </p:cNvSpPr>
            <p:nvPr/>
          </p:nvSpPr>
          <p:spPr bwMode="hidden">
            <a:xfrm>
              <a:off x="1" y="3142"/>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nvGrpSpPr>
            <p:cNvPr id="1047" name="Group 31"/>
            <p:cNvGrpSpPr>
              <a:grpSpLocks/>
            </p:cNvGrpSpPr>
            <p:nvPr/>
          </p:nvGrpSpPr>
          <p:grpSpPr bwMode="auto">
            <a:xfrm>
              <a:off x="1" y="392"/>
              <a:ext cx="5758" cy="1571"/>
              <a:chOff x="1" y="392"/>
              <a:chExt cx="5758" cy="1571"/>
            </a:xfrm>
          </p:grpSpPr>
          <p:sp>
            <p:nvSpPr>
              <p:cNvPr id="43040" name="Line 32"/>
              <p:cNvSpPr>
                <a:spLocks noChangeShapeType="1"/>
              </p:cNvSpPr>
              <p:nvPr userDrawn="1"/>
            </p:nvSpPr>
            <p:spPr bwMode="hidden">
              <a:xfrm>
                <a:off x="1" y="784"/>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1"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2"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3"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4" name="Line 36"/>
              <p:cNvSpPr>
                <a:spLocks noChangeShapeType="1"/>
              </p:cNvSpPr>
              <p:nvPr userDrawn="1"/>
            </p:nvSpPr>
            <p:spPr bwMode="hidden">
              <a:xfrm>
                <a:off x="1" y="392"/>
                <a:ext cx="5758" cy="0"/>
              </a:xfrm>
              <a:prstGeom prst="line">
                <a:avLst/>
              </a:prstGeom>
              <a:noFill/>
              <a:ln w="1587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43045" name="Line 37"/>
            <p:cNvSpPr>
              <a:spLocks noChangeShapeType="1"/>
            </p:cNvSpPr>
            <p:nvPr/>
          </p:nvSpPr>
          <p:spPr bwMode="hidden">
            <a:xfrm>
              <a:off x="1" y="3928"/>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43046" name="Line 38"/>
            <p:cNvSpPr>
              <a:spLocks noChangeShapeType="1"/>
            </p:cNvSpPr>
            <p:nvPr/>
          </p:nvSpPr>
          <p:spPr bwMode="hidden">
            <a:xfrm>
              <a:off x="1" y="3535"/>
              <a:ext cx="5758" cy="0"/>
            </a:xfrm>
            <a:prstGeom prst="line">
              <a:avLst/>
            </a:prstGeom>
            <a:noFill/>
            <a:ln w="158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grpSp>
      <p:sp>
        <p:nvSpPr>
          <p:cNvPr id="43047" name="Rectangle 39"/>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zh-CN" altLang="en-US" smtClean="0"/>
              <a:t>单击此处编辑母版标题样式</a:t>
            </a:r>
          </a:p>
        </p:txBody>
      </p:sp>
      <p:sp>
        <p:nvSpPr>
          <p:cNvPr id="43048" name="Rectangle 40"/>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000">
                <a:effectLst>
                  <a:outerShdw blurRad="38100" dist="38100" dir="2700000" algn="tl">
                    <a:srgbClr val="000000"/>
                  </a:outerShdw>
                </a:effectLst>
              </a:defRPr>
            </a:lvl1pPr>
          </a:lstStyle>
          <a:p>
            <a:pPr>
              <a:defRPr/>
            </a:pPr>
            <a:endParaRPr lang="en-US" altLang="zh-CN"/>
          </a:p>
        </p:txBody>
      </p:sp>
      <p:sp>
        <p:nvSpPr>
          <p:cNvPr id="43049" name="Rectangle 41"/>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FontTx/>
              <a:buNone/>
              <a:defRPr sz="1000">
                <a:effectLst>
                  <a:outerShdw blurRad="38100" dist="38100" dir="2700000" algn="tl">
                    <a:srgbClr val="000000"/>
                  </a:outerShdw>
                </a:effectLst>
              </a:defRPr>
            </a:lvl1pPr>
          </a:lstStyle>
          <a:p>
            <a:pPr>
              <a:defRPr/>
            </a:pPr>
            <a:endParaRPr lang="en-US" altLang="zh-CN"/>
          </a:p>
        </p:txBody>
      </p:sp>
      <p:sp>
        <p:nvSpPr>
          <p:cNvPr id="43050" name="Rectangle 42"/>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000">
                <a:effectLst>
                  <a:outerShdw blurRad="38100" dist="38100" dir="2700000" algn="tl">
                    <a:srgbClr val="000000"/>
                  </a:outerShdw>
                </a:effectLst>
              </a:defRPr>
            </a:lvl1pPr>
          </a:lstStyle>
          <a:p>
            <a:pPr>
              <a:defRPr/>
            </a:pPr>
            <a:fld id="{60022EA5-BCB1-4E27-AB11-9E2E08807EAD}" type="slidenum">
              <a:rPr lang="en-US" altLang="zh-CN"/>
              <a:pPr>
                <a:defRPr/>
              </a:pPr>
              <a:t>‹#›</a:t>
            </a:fld>
            <a:endParaRPr lang="en-US" altLang="zh-CN"/>
          </a:p>
        </p:txBody>
      </p:sp>
      <p:sp>
        <p:nvSpPr>
          <p:cNvPr id="43051" name="Rectangle 4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cSld>
  <p:clrMap bg1="dk2" tx1="lt1" bg2="dk1" tx2="lt2" accent1="accent1" accent2="accent2" accent3="accent3" accent4="accent4" accent5="accent5" accent6="accent6" hlink="hlink" folHlink="folHlink"/>
  <p:sldLayoutIdLst>
    <p:sldLayoutId id="2147483743"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Lst>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charset="-122"/>
        </a:defRPr>
      </a:lvl9pPr>
    </p:titleStyle>
    <p:body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26"/>
          <p:cNvSpPr>
            <a:spLocks noGrp="1" noChangeArrowheads="1"/>
          </p:cNvSpPr>
          <p:nvPr>
            <p:ph type="ctrTitle"/>
          </p:nvPr>
        </p:nvSpPr>
        <p:spPr/>
        <p:txBody>
          <a:bodyPr/>
          <a:lstStyle/>
          <a:p>
            <a:pPr eaLnBrk="1" hangingPunct="1">
              <a:defRPr/>
            </a:pPr>
            <a:r>
              <a:rPr lang="zh-CN" altLang="en-US" sz="4800" dirty="0" smtClean="0"/>
              <a:t>程序的流程控制</a:t>
            </a:r>
            <a:br>
              <a:rPr lang="zh-CN" altLang="en-US" sz="4800" dirty="0" smtClean="0"/>
            </a:br>
            <a:r>
              <a:rPr lang="en-US" altLang="zh-CN" sz="4800" dirty="0" smtClean="0"/>
              <a:t>— </a:t>
            </a:r>
            <a:r>
              <a:rPr lang="zh-CN" altLang="en-US" sz="4800" dirty="0" smtClean="0"/>
              <a:t>语句</a:t>
            </a:r>
          </a:p>
        </p:txBody>
      </p:sp>
      <p:sp>
        <p:nvSpPr>
          <p:cNvPr id="52227" name="Rectangle 1027"/>
          <p:cNvSpPr>
            <a:spLocks noGrp="1" noChangeArrowheads="1"/>
          </p:cNvSpPr>
          <p:nvPr>
            <p:ph type="subTitle" idx="1"/>
          </p:nvPr>
        </p:nvSpPr>
        <p:spPr/>
        <p:txBody>
          <a:bodyPr/>
          <a:lstStyle/>
          <a:p>
            <a:pPr eaLnBrk="1" hangingPunct="1">
              <a:defRPr/>
            </a:pPr>
            <a:endParaRPr lang="zh-CN" altLang="zh-CN"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5800" y="381000"/>
            <a:ext cx="7772400" cy="1143000"/>
          </a:xfrm>
        </p:spPr>
        <p:txBody>
          <a:bodyPr/>
          <a:lstStyle/>
          <a:p>
            <a:pPr eaLnBrk="1" hangingPunct="1">
              <a:defRPr/>
            </a:pPr>
            <a:r>
              <a:rPr lang="zh-CN" altLang="en-US" smtClean="0"/>
              <a:t>主要内容</a:t>
            </a:r>
            <a:endParaRPr lang="zh-CN" altLang="en-US" dirty="0" smtClean="0"/>
          </a:p>
        </p:txBody>
      </p:sp>
      <p:sp>
        <p:nvSpPr>
          <p:cNvPr id="4099" name="Rectangle 3"/>
          <p:cNvSpPr>
            <a:spLocks noGrp="1" noChangeArrowheads="1"/>
          </p:cNvSpPr>
          <p:nvPr>
            <p:ph type="body" idx="1"/>
          </p:nvPr>
        </p:nvSpPr>
        <p:spPr>
          <a:xfrm>
            <a:off x="685800" y="1906488"/>
            <a:ext cx="7772400" cy="4114800"/>
          </a:xfrm>
        </p:spPr>
        <p:txBody>
          <a:bodyPr/>
          <a:lstStyle/>
          <a:p>
            <a:pPr eaLnBrk="1" hangingPunct="1">
              <a:defRPr/>
            </a:pPr>
            <a:r>
              <a:rPr lang="zh-CN" altLang="en-US" dirty="0" smtClean="0"/>
              <a:t>流程控制概述</a:t>
            </a:r>
          </a:p>
          <a:p>
            <a:pPr eaLnBrk="1" hangingPunct="1">
              <a:defRPr/>
            </a:pPr>
            <a:r>
              <a:rPr lang="zh-CN" altLang="en-US" dirty="0" smtClean="0"/>
              <a:t>顺序执行</a:t>
            </a:r>
          </a:p>
          <a:p>
            <a:pPr eaLnBrk="1" hangingPunct="1">
              <a:defRPr/>
            </a:pPr>
            <a:r>
              <a:rPr lang="zh-CN" altLang="en-US" dirty="0" smtClean="0"/>
              <a:t>选择执行</a:t>
            </a:r>
          </a:p>
          <a:p>
            <a:pPr eaLnBrk="1" hangingPunct="1">
              <a:defRPr/>
            </a:pPr>
            <a:r>
              <a:rPr lang="zh-CN" altLang="en-US" smtClean="0"/>
              <a:t>循环执行（问题求解的迭代法和穷举法）</a:t>
            </a:r>
            <a:endParaRPr lang="zh-CN" altLang="en-US" dirty="0" smtClean="0"/>
          </a:p>
          <a:p>
            <a:pPr eaLnBrk="1" hangingPunct="1">
              <a:defRPr/>
            </a:pPr>
            <a:r>
              <a:rPr lang="zh-CN" altLang="en-US" dirty="0" smtClean="0"/>
              <a:t>无条件转移</a:t>
            </a:r>
          </a:p>
          <a:p>
            <a:pPr eaLnBrk="1" hangingPunct="1">
              <a:defRPr/>
            </a:pPr>
            <a:r>
              <a:rPr lang="zh-CN" altLang="en-US" dirty="0" smtClean="0"/>
              <a:t>程序设计风格与结构化程序设计</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115888"/>
            <a:ext cx="8229600" cy="1139825"/>
          </a:xfrm>
        </p:spPr>
        <p:txBody>
          <a:bodyPr/>
          <a:lstStyle/>
          <a:p>
            <a:pPr eaLnBrk="1" hangingPunct="1">
              <a:defRPr/>
            </a:pPr>
            <a:r>
              <a:rPr lang="zh-CN" altLang="en-US" dirty="0" smtClean="0"/>
              <a:t>流程控制概述</a:t>
            </a:r>
          </a:p>
        </p:txBody>
      </p:sp>
      <p:sp>
        <p:nvSpPr>
          <p:cNvPr id="90115" name="Rectangle 3"/>
          <p:cNvSpPr>
            <a:spLocks noGrp="1" noChangeArrowheads="1"/>
          </p:cNvSpPr>
          <p:nvPr>
            <p:ph type="body" idx="1"/>
          </p:nvPr>
        </p:nvSpPr>
        <p:spPr>
          <a:xfrm>
            <a:off x="395536" y="1628800"/>
            <a:ext cx="8435280" cy="4248472"/>
          </a:xfrm>
        </p:spPr>
        <p:txBody>
          <a:bodyPr>
            <a:normAutofit/>
          </a:bodyPr>
          <a:lstStyle/>
          <a:p>
            <a:pPr marL="0" indent="0" eaLnBrk="1" hangingPunct="1">
              <a:lnSpc>
                <a:spcPct val="120000"/>
              </a:lnSpc>
              <a:buNone/>
              <a:defRPr/>
            </a:pPr>
            <a:r>
              <a:rPr lang="en-US" altLang="zh-CN" b="1" dirty="0" smtClean="0"/>
              <a:t>	</a:t>
            </a:r>
            <a:r>
              <a:rPr lang="zh-CN" altLang="en-US" sz="4000" dirty="0" smtClean="0"/>
              <a:t>程序 </a:t>
            </a:r>
            <a:r>
              <a:rPr lang="en-US" altLang="zh-CN" sz="4000" dirty="0"/>
              <a:t>= </a:t>
            </a:r>
            <a:r>
              <a:rPr lang="zh-CN" altLang="en-US" sz="4000" dirty="0">
                <a:solidFill>
                  <a:srgbClr val="FFC000"/>
                </a:solidFill>
              </a:rPr>
              <a:t>算法</a:t>
            </a:r>
            <a:r>
              <a:rPr lang="zh-CN" altLang="en-US" sz="4000" dirty="0"/>
              <a:t> </a:t>
            </a:r>
            <a:r>
              <a:rPr lang="en-US" altLang="zh-CN" sz="4000" dirty="0"/>
              <a:t>+ </a:t>
            </a:r>
            <a:r>
              <a:rPr lang="zh-CN" altLang="en-US" sz="4000" dirty="0"/>
              <a:t>数据结构</a:t>
            </a:r>
            <a:endParaRPr lang="en-US" altLang="zh-CN" sz="4000" dirty="0" smtClean="0"/>
          </a:p>
          <a:p>
            <a:pPr eaLnBrk="1" hangingPunct="1">
              <a:lnSpc>
                <a:spcPct val="120000"/>
              </a:lnSpc>
              <a:defRPr/>
            </a:pPr>
            <a:r>
              <a:rPr lang="zh-CN" altLang="en-US" dirty="0" smtClean="0"/>
              <a:t>用计算机程序来解决实际问题，在程序中，</a:t>
            </a:r>
            <a:endParaRPr lang="en-US" altLang="zh-CN" dirty="0" smtClean="0"/>
          </a:p>
          <a:p>
            <a:pPr lvl="1" eaLnBrk="1" hangingPunct="1">
              <a:lnSpc>
                <a:spcPct val="120000"/>
              </a:lnSpc>
              <a:defRPr/>
            </a:pPr>
            <a:r>
              <a:rPr lang="zh-CN" altLang="en-US" dirty="0" smtClean="0"/>
              <a:t>除了要把反映问题本质的数据描述出来之外，</a:t>
            </a:r>
            <a:endParaRPr lang="en-US" altLang="zh-CN" dirty="0" smtClean="0"/>
          </a:p>
          <a:p>
            <a:pPr lvl="1" eaLnBrk="1" hangingPunct="1">
              <a:lnSpc>
                <a:spcPct val="120000"/>
              </a:lnSpc>
              <a:defRPr/>
            </a:pPr>
            <a:r>
              <a:rPr lang="zh-CN" altLang="en-US" dirty="0" smtClean="0"/>
              <a:t>还要对这些数据的加工处理过程</a:t>
            </a:r>
            <a:r>
              <a:rPr lang="zh-CN" altLang="en-US" dirty="0"/>
              <a:t>（算法）</a:t>
            </a:r>
            <a:r>
              <a:rPr lang="zh-CN" altLang="en-US" dirty="0" smtClean="0"/>
              <a:t>进行描述。</a:t>
            </a:r>
            <a:endParaRPr lang="en-US" altLang="zh-CN" dirty="0" smtClean="0"/>
          </a:p>
        </p:txBody>
      </p:sp>
    </p:spTree>
    <p:extLst>
      <p:ext uri="{BB962C8B-B14F-4D97-AF65-F5344CB8AC3E}">
        <p14:creationId xmlns:p14="http://schemas.microsoft.com/office/powerpoint/2010/main" val="22228637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51520" y="1600200"/>
            <a:ext cx="8686800" cy="4530725"/>
          </a:xfrm>
        </p:spPr>
        <p:txBody>
          <a:bodyPr>
            <a:normAutofit fontScale="92500"/>
          </a:bodyPr>
          <a:lstStyle/>
          <a:p>
            <a:pPr eaLnBrk="1" hangingPunct="1">
              <a:lnSpc>
                <a:spcPct val="120000"/>
              </a:lnSpc>
              <a:defRPr/>
            </a:pPr>
            <a:r>
              <a:rPr lang="zh-CN" altLang="en-US" dirty="0"/>
              <a:t>表达式构成了数据处理的基本单位</a:t>
            </a:r>
            <a:r>
              <a:rPr lang="zh-CN" altLang="en-US" dirty="0" smtClean="0"/>
              <a:t>。在一个程序中往往有</a:t>
            </a:r>
            <a:r>
              <a:rPr lang="zh-CN" altLang="en-US" dirty="0"/>
              <a:t>多个表达式需要</a:t>
            </a:r>
            <a:r>
              <a:rPr lang="zh-CN" altLang="en-US" dirty="0" smtClean="0"/>
              <a:t>计算，这是会面临： </a:t>
            </a:r>
            <a:endParaRPr lang="zh-CN" altLang="en-US" dirty="0"/>
          </a:p>
          <a:p>
            <a:pPr lvl="1" eaLnBrk="1" hangingPunct="1">
              <a:lnSpc>
                <a:spcPct val="120000"/>
              </a:lnSpc>
              <a:defRPr/>
            </a:pPr>
            <a:r>
              <a:rPr lang="zh-CN" altLang="en-US" dirty="0"/>
              <a:t>有的表达式要先计算，有的要后计算（有先后次序）</a:t>
            </a:r>
          </a:p>
          <a:p>
            <a:pPr lvl="1" eaLnBrk="1" hangingPunct="1">
              <a:lnSpc>
                <a:spcPct val="120000"/>
              </a:lnSpc>
              <a:defRPr/>
            </a:pPr>
            <a:r>
              <a:rPr lang="zh-CN" altLang="en-US" dirty="0"/>
              <a:t>根据不同的情况计算不同的表达式</a:t>
            </a:r>
          </a:p>
          <a:p>
            <a:pPr lvl="1" eaLnBrk="1" hangingPunct="1">
              <a:lnSpc>
                <a:spcPct val="120000"/>
              </a:lnSpc>
              <a:defRPr/>
            </a:pPr>
            <a:r>
              <a:rPr lang="zh-CN" altLang="en-US" dirty="0"/>
              <a:t>一个或几个表达式需要重复计算多次</a:t>
            </a:r>
            <a:r>
              <a:rPr lang="zh-CN" altLang="en-US" dirty="0" smtClean="0"/>
              <a:t>（表达式中每次</a:t>
            </a:r>
            <a:r>
              <a:rPr lang="zh-CN" altLang="en-US" dirty="0"/>
              <a:t>用到的数据有所不同）</a:t>
            </a:r>
            <a:endParaRPr lang="en-US" altLang="zh-CN" dirty="0"/>
          </a:p>
          <a:p>
            <a:pPr eaLnBrk="1" hangingPunct="1">
              <a:lnSpc>
                <a:spcPct val="120000"/>
              </a:lnSpc>
              <a:defRPr/>
            </a:pPr>
            <a:r>
              <a:rPr lang="zh-CN" altLang="en-US" dirty="0"/>
              <a:t>上述情况属于程序的</a:t>
            </a:r>
            <a:r>
              <a:rPr lang="zh-CN" altLang="en-US" dirty="0">
                <a:solidFill>
                  <a:srgbClr val="FFC000"/>
                </a:solidFill>
              </a:rPr>
              <a:t>流程控制</a:t>
            </a:r>
            <a:r>
              <a:rPr lang="zh-CN" altLang="en-US" dirty="0"/>
              <a:t>，对程序流程的描述称作为</a:t>
            </a:r>
            <a:r>
              <a:rPr lang="zh-CN" altLang="en-US" dirty="0">
                <a:solidFill>
                  <a:srgbClr val="FFC000"/>
                </a:solidFill>
              </a:rPr>
              <a:t>算法</a:t>
            </a:r>
            <a:r>
              <a:rPr lang="zh-CN" altLang="en-US" dirty="0"/>
              <a:t>。</a:t>
            </a:r>
          </a:p>
          <a:p>
            <a:endParaRPr lang="zh-CN" altLang="en-US" dirty="0"/>
          </a:p>
        </p:txBody>
      </p:sp>
    </p:spTree>
    <p:extLst>
      <p:ext uri="{BB962C8B-B14F-4D97-AF65-F5344CB8AC3E}">
        <p14:creationId xmlns:p14="http://schemas.microsoft.com/office/powerpoint/2010/main" val="16191603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程序流程图</a:t>
            </a:r>
            <a:endParaRPr lang="zh-CN" altLang="en-US" dirty="0"/>
          </a:p>
        </p:txBody>
      </p:sp>
      <p:sp>
        <p:nvSpPr>
          <p:cNvPr id="3" name="内容占位符 2"/>
          <p:cNvSpPr>
            <a:spLocks noGrp="1"/>
          </p:cNvSpPr>
          <p:nvPr>
            <p:ph idx="1"/>
          </p:nvPr>
        </p:nvSpPr>
        <p:spPr>
          <a:xfrm>
            <a:off x="457200" y="1888232"/>
            <a:ext cx="8229600" cy="3340968"/>
          </a:xfrm>
        </p:spPr>
        <p:txBody>
          <a:bodyPr>
            <a:normAutofit fontScale="92500"/>
          </a:bodyPr>
          <a:lstStyle/>
          <a:p>
            <a:pPr eaLnBrk="1" hangingPunct="1">
              <a:lnSpc>
                <a:spcPct val="110000"/>
              </a:lnSpc>
            </a:pPr>
            <a:r>
              <a:rPr lang="zh-CN" altLang="en-US" dirty="0"/>
              <a:t>在设计大型、复杂程序的</a:t>
            </a:r>
            <a:r>
              <a:rPr lang="zh-CN" altLang="en-US" dirty="0" smtClean="0"/>
              <a:t>流程时</a:t>
            </a:r>
            <a:r>
              <a:rPr lang="zh-CN" altLang="en-US" dirty="0"/>
              <a:t>，为了便于设计和理解，</a:t>
            </a:r>
            <a:r>
              <a:rPr lang="zh-CN" altLang="en-US" dirty="0" smtClean="0"/>
              <a:t>往往</a:t>
            </a:r>
            <a:endParaRPr lang="en-US" altLang="zh-CN" dirty="0" smtClean="0"/>
          </a:p>
          <a:p>
            <a:pPr lvl="1" eaLnBrk="1" hangingPunct="1">
              <a:lnSpc>
                <a:spcPct val="110000"/>
              </a:lnSpc>
            </a:pPr>
            <a:r>
              <a:rPr lang="zh-CN" altLang="en-US" dirty="0" smtClean="0"/>
              <a:t>在</a:t>
            </a:r>
            <a:r>
              <a:rPr lang="zh-CN" altLang="en-US" dirty="0"/>
              <a:t>编制程序前先用</a:t>
            </a:r>
            <a:r>
              <a:rPr lang="zh-CN" altLang="en-US" dirty="0" smtClean="0"/>
              <a:t>某种不</a:t>
            </a:r>
            <a:r>
              <a:rPr lang="zh-CN" altLang="en-US" dirty="0"/>
              <a:t>依赖于具体程序设计语言</a:t>
            </a:r>
            <a:r>
              <a:rPr lang="zh-CN" altLang="en-US" dirty="0" smtClean="0"/>
              <a:t>的</a:t>
            </a:r>
            <a:r>
              <a:rPr lang="zh-CN" altLang="en-US" dirty="0" smtClean="0">
                <a:solidFill>
                  <a:srgbClr val="FFC000"/>
                </a:solidFill>
              </a:rPr>
              <a:t>抽象形式</a:t>
            </a:r>
            <a:r>
              <a:rPr lang="zh-CN" altLang="en-US" dirty="0" smtClean="0"/>
              <a:t>来对</a:t>
            </a:r>
            <a:r>
              <a:rPr lang="zh-CN" altLang="en-US" dirty="0"/>
              <a:t>程序的流程进行</a:t>
            </a:r>
            <a:r>
              <a:rPr lang="zh-CN" altLang="en-US" dirty="0" smtClean="0"/>
              <a:t>描述；</a:t>
            </a:r>
            <a:endParaRPr lang="en-US" altLang="zh-CN" dirty="0" smtClean="0"/>
          </a:p>
          <a:p>
            <a:pPr lvl="1" eaLnBrk="1" hangingPunct="1">
              <a:lnSpc>
                <a:spcPct val="110000"/>
              </a:lnSpc>
            </a:pPr>
            <a:r>
              <a:rPr lang="zh-CN" altLang="en-US" dirty="0" smtClean="0"/>
              <a:t>然后</a:t>
            </a:r>
            <a:r>
              <a:rPr lang="zh-CN" altLang="en-US" dirty="0"/>
              <a:t>再用某种</a:t>
            </a:r>
            <a:r>
              <a:rPr lang="zh-CN" altLang="en-US" dirty="0" smtClean="0"/>
              <a:t>编程语言来写出相应的程序代码。</a:t>
            </a:r>
            <a:endParaRPr lang="en-US" altLang="zh-CN" dirty="0" smtClean="0"/>
          </a:p>
          <a:p>
            <a:pPr eaLnBrk="1" hangingPunct="1">
              <a:lnSpc>
                <a:spcPct val="110000"/>
              </a:lnSpc>
            </a:pPr>
            <a:r>
              <a:rPr lang="zh-CN" altLang="en-US" dirty="0" smtClean="0">
                <a:solidFill>
                  <a:srgbClr val="FFC000"/>
                </a:solidFill>
              </a:rPr>
              <a:t>程序流程图</a:t>
            </a:r>
            <a:r>
              <a:rPr lang="zh-CN" altLang="en-US" dirty="0" smtClean="0"/>
              <a:t>就是一种描述程序流程的抽象形式。</a:t>
            </a:r>
            <a:endParaRPr lang="zh-CN" altLang="en-US" dirty="0"/>
          </a:p>
        </p:txBody>
      </p:sp>
    </p:spTree>
    <p:extLst>
      <p:ext uri="{BB962C8B-B14F-4D97-AF65-F5344CB8AC3E}">
        <p14:creationId xmlns:p14="http://schemas.microsoft.com/office/powerpoint/2010/main" val="761213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990947"/>
          </a:xfrm>
        </p:spPr>
        <p:txBody>
          <a:bodyPr>
            <a:normAutofit fontScale="90000"/>
          </a:bodyPr>
          <a:lstStyle/>
          <a:p>
            <a:r>
              <a:rPr lang="zh-CN" altLang="en-US" dirty="0"/>
              <a:t>判断</a:t>
            </a:r>
            <a:r>
              <a:rPr lang="en-US" altLang="zh-CN" dirty="0" smtClean="0"/>
              <a:t>N</a:t>
            </a:r>
            <a:r>
              <a:rPr lang="zh-CN" altLang="en-US" dirty="0" smtClean="0"/>
              <a:t>（</a:t>
            </a:r>
            <a:r>
              <a:rPr lang="en-US" altLang="zh-CN" dirty="0" smtClean="0"/>
              <a:t>&gt;2</a:t>
            </a:r>
            <a:r>
              <a:rPr lang="zh-CN" altLang="en-US" dirty="0" smtClean="0"/>
              <a:t>）是否</a:t>
            </a:r>
            <a:r>
              <a:rPr lang="zh-CN" altLang="en-US" dirty="0"/>
              <a:t>为素数（质数）</a:t>
            </a:r>
            <a:r>
              <a:rPr lang="zh-CN" altLang="en-US" dirty="0" smtClean="0"/>
              <a:t>的程序</a:t>
            </a:r>
            <a:r>
              <a:rPr lang="zh-CN" altLang="en-US" dirty="0"/>
              <a:t>流程图</a:t>
            </a:r>
          </a:p>
        </p:txBody>
      </p:sp>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029" y="1689695"/>
            <a:ext cx="4867275" cy="461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55424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032248"/>
            <a:ext cx="8229600" cy="2620888"/>
          </a:xfrm>
        </p:spPr>
        <p:txBody>
          <a:bodyPr>
            <a:normAutofit fontScale="92500"/>
          </a:bodyPr>
          <a:lstStyle/>
          <a:p>
            <a:r>
              <a:rPr lang="zh-CN" altLang="en-US" dirty="0" smtClean="0"/>
              <a:t>本课程介绍程序设计的基础内容，所</a:t>
            </a:r>
            <a:r>
              <a:rPr lang="zh-CN" altLang="en-US" dirty="0"/>
              <a:t>涉及的问题都不是很</a:t>
            </a:r>
            <a:r>
              <a:rPr lang="zh-CN" altLang="en-US" dirty="0" smtClean="0"/>
              <a:t>复杂。</a:t>
            </a:r>
            <a:endParaRPr lang="en-US" altLang="zh-CN" dirty="0" smtClean="0"/>
          </a:p>
          <a:p>
            <a:r>
              <a:rPr lang="zh-CN" altLang="en-US" dirty="0" smtClean="0"/>
              <a:t>在进行程序流程设计时没有采用流程图，而是在对问题进行分析和给出基本解决思路的基础上，直接写出带有详细注释的程序代码。</a:t>
            </a:r>
            <a:endParaRPr lang="zh-CN" altLang="en-US" dirty="0"/>
          </a:p>
        </p:txBody>
      </p:sp>
    </p:spTree>
    <p:extLst>
      <p:ext uri="{BB962C8B-B14F-4D97-AF65-F5344CB8AC3E}">
        <p14:creationId xmlns:p14="http://schemas.microsoft.com/office/powerpoint/2010/main" val="16997791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3"/>
          <p:cNvSpPr>
            <a:spLocks noGrp="1" noChangeArrowheads="1"/>
          </p:cNvSpPr>
          <p:nvPr>
            <p:ph type="body" idx="1"/>
          </p:nvPr>
        </p:nvSpPr>
        <p:spPr>
          <a:xfrm>
            <a:off x="323528" y="1340768"/>
            <a:ext cx="8507288" cy="5328320"/>
          </a:xfrm>
        </p:spPr>
        <p:txBody>
          <a:bodyPr>
            <a:normAutofit lnSpcReduction="10000"/>
          </a:bodyPr>
          <a:lstStyle/>
          <a:p>
            <a:pPr eaLnBrk="1" hangingPunct="1">
              <a:defRPr/>
            </a:pPr>
            <a:r>
              <a:rPr lang="zh-CN" altLang="en-US" dirty="0" smtClean="0"/>
              <a:t>在程序中，流程控制是用</a:t>
            </a:r>
            <a:r>
              <a:rPr lang="zh-CN" altLang="en-US" dirty="0" smtClean="0">
                <a:solidFill>
                  <a:srgbClr val="FFC000"/>
                </a:solidFill>
              </a:rPr>
              <a:t>语句</a:t>
            </a:r>
            <a:r>
              <a:rPr lang="zh-CN" altLang="en-US" dirty="0" smtClean="0"/>
              <a:t>来实现的，它指定了表达式的计算次序。</a:t>
            </a:r>
            <a:endParaRPr lang="en-US" altLang="zh-CN" dirty="0" smtClean="0"/>
          </a:p>
          <a:p>
            <a:pPr eaLnBrk="1" hangingPunct="1">
              <a:defRPr/>
            </a:pPr>
            <a:r>
              <a:rPr lang="zh-CN" altLang="en-US" dirty="0" smtClean="0"/>
              <a:t>流程控制语句包括：</a:t>
            </a:r>
          </a:p>
          <a:p>
            <a:pPr lvl="1" eaLnBrk="1" hangingPunct="1">
              <a:defRPr/>
            </a:pPr>
            <a:r>
              <a:rPr lang="zh-CN" altLang="en-US" dirty="0" smtClean="0">
                <a:solidFill>
                  <a:srgbClr val="FFC000"/>
                </a:solidFill>
              </a:rPr>
              <a:t>顺序执行</a:t>
            </a:r>
            <a:r>
              <a:rPr lang="zh-CN" altLang="en-US" dirty="0" smtClean="0"/>
              <a:t>语句</a:t>
            </a:r>
            <a:endParaRPr lang="en-US" altLang="zh-CN" dirty="0" smtClean="0"/>
          </a:p>
          <a:p>
            <a:pPr lvl="2" eaLnBrk="1" hangingPunct="1">
              <a:defRPr/>
            </a:pPr>
            <a:r>
              <a:rPr lang="zh-CN" altLang="en-US" dirty="0" smtClean="0"/>
              <a:t>不改变程序执行的流程，按书写次序依次执行。</a:t>
            </a:r>
          </a:p>
          <a:p>
            <a:pPr lvl="1" eaLnBrk="1" hangingPunct="1">
              <a:defRPr/>
            </a:pPr>
            <a:r>
              <a:rPr lang="zh-CN" altLang="en-US" dirty="0" smtClean="0">
                <a:solidFill>
                  <a:srgbClr val="FFC000"/>
                </a:solidFill>
              </a:rPr>
              <a:t>选择执行</a:t>
            </a:r>
            <a:r>
              <a:rPr lang="zh-CN" altLang="en-US" dirty="0" smtClean="0"/>
              <a:t>语句</a:t>
            </a:r>
            <a:endParaRPr lang="en-US" altLang="zh-CN" dirty="0" smtClean="0"/>
          </a:p>
          <a:p>
            <a:pPr lvl="2" eaLnBrk="1" hangingPunct="1">
              <a:defRPr/>
            </a:pPr>
            <a:r>
              <a:rPr lang="zh-CN" altLang="en-US" dirty="0" smtClean="0"/>
              <a:t>根据条件选择某些语句执行。</a:t>
            </a:r>
          </a:p>
          <a:p>
            <a:pPr lvl="1" eaLnBrk="1" hangingPunct="1">
              <a:defRPr/>
            </a:pPr>
            <a:r>
              <a:rPr lang="zh-CN" altLang="en-US" dirty="0" smtClean="0">
                <a:solidFill>
                  <a:srgbClr val="FFC000"/>
                </a:solidFill>
              </a:rPr>
              <a:t>循环执行</a:t>
            </a:r>
            <a:r>
              <a:rPr lang="zh-CN" altLang="en-US" dirty="0" smtClean="0"/>
              <a:t>语句</a:t>
            </a:r>
            <a:endParaRPr lang="en-US" altLang="zh-CN" dirty="0" smtClean="0"/>
          </a:p>
          <a:p>
            <a:pPr lvl="2" eaLnBrk="1" hangingPunct="1">
              <a:defRPr/>
            </a:pPr>
            <a:r>
              <a:rPr lang="zh-CN" altLang="en-US" dirty="0" smtClean="0"/>
              <a:t>重复执行某些语句直到某个条件不满足为止。</a:t>
            </a:r>
            <a:endParaRPr lang="en-US" altLang="zh-CN" dirty="0" smtClean="0"/>
          </a:p>
          <a:p>
            <a:pPr lvl="1" eaLnBrk="1" hangingPunct="1">
              <a:defRPr/>
            </a:pPr>
            <a:r>
              <a:rPr lang="zh-CN" altLang="en-US" dirty="0" smtClean="0">
                <a:solidFill>
                  <a:srgbClr val="FFC000"/>
                </a:solidFill>
              </a:rPr>
              <a:t>无条件转移</a:t>
            </a:r>
            <a:r>
              <a:rPr lang="zh-CN" altLang="en-US" dirty="0" smtClean="0"/>
              <a:t>语句</a:t>
            </a:r>
            <a:endParaRPr lang="en-US" altLang="zh-CN" dirty="0" smtClean="0"/>
          </a:p>
          <a:p>
            <a:pPr lvl="2" eaLnBrk="1" hangingPunct="1">
              <a:defRPr/>
            </a:pPr>
            <a:r>
              <a:rPr lang="zh-CN" altLang="en-US" dirty="0" smtClean="0"/>
              <a:t>无条件转移到程序中某个语句执行。</a:t>
            </a:r>
            <a:endParaRPr lang="en-US" altLang="zh-CN" dirty="0" smtClean="0"/>
          </a:p>
        </p:txBody>
      </p:sp>
      <p:sp>
        <p:nvSpPr>
          <p:cNvPr id="3" name="Rectangle 2"/>
          <p:cNvSpPr>
            <a:spLocks noGrp="1" noChangeArrowheads="1"/>
          </p:cNvSpPr>
          <p:nvPr>
            <p:ph type="title"/>
          </p:nvPr>
        </p:nvSpPr>
        <p:spPr>
          <a:xfrm>
            <a:off x="457200" y="115888"/>
            <a:ext cx="8229600" cy="1139825"/>
          </a:xfrm>
        </p:spPr>
        <p:txBody>
          <a:bodyPr/>
          <a:lstStyle/>
          <a:p>
            <a:pPr eaLnBrk="1" hangingPunct="1">
              <a:defRPr/>
            </a:pPr>
            <a:r>
              <a:rPr lang="zh-CN" altLang="en-US" dirty="0" smtClean="0"/>
              <a:t>语句</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eaLnBrk="1" hangingPunct="1">
              <a:defRPr/>
            </a:pPr>
            <a:r>
              <a:rPr lang="zh-CN" altLang="en-US" dirty="0"/>
              <a:t>从语法上，语句又可以分成：</a:t>
            </a:r>
            <a:endParaRPr lang="en-US" altLang="zh-CN" dirty="0"/>
          </a:p>
          <a:p>
            <a:pPr lvl="1" eaLnBrk="1" hangingPunct="1">
              <a:defRPr/>
            </a:pPr>
            <a:r>
              <a:rPr lang="zh-CN" altLang="en-US" dirty="0">
                <a:solidFill>
                  <a:srgbClr val="FFC000"/>
                </a:solidFill>
              </a:rPr>
              <a:t>简单语句</a:t>
            </a:r>
            <a:r>
              <a:rPr lang="zh-CN" altLang="en-US" dirty="0"/>
              <a:t>：语句中不包含其它语句。</a:t>
            </a:r>
            <a:endParaRPr lang="en-US" altLang="zh-CN" dirty="0"/>
          </a:p>
          <a:p>
            <a:pPr lvl="1" eaLnBrk="1" hangingPunct="1">
              <a:defRPr/>
            </a:pPr>
            <a:r>
              <a:rPr lang="zh-CN" altLang="en-US" dirty="0">
                <a:solidFill>
                  <a:srgbClr val="FFC000"/>
                </a:solidFill>
              </a:rPr>
              <a:t>结构语句</a:t>
            </a:r>
            <a:r>
              <a:rPr lang="zh-CN" altLang="en-US" dirty="0"/>
              <a:t>：语句中包含其它语句（</a:t>
            </a:r>
            <a:r>
              <a:rPr lang="zh-CN" altLang="en-US" dirty="0">
                <a:solidFill>
                  <a:srgbClr val="FFC000"/>
                </a:solidFill>
              </a:rPr>
              <a:t>子句</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699291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684213" y="0"/>
            <a:ext cx="7793037" cy="1143000"/>
          </a:xfrm>
        </p:spPr>
        <p:txBody>
          <a:bodyPr/>
          <a:lstStyle/>
          <a:p>
            <a:pPr eaLnBrk="1" hangingPunct="1">
              <a:defRPr/>
            </a:pPr>
            <a:r>
              <a:rPr lang="en-US" altLang="zh-CN" smtClean="0"/>
              <a:t>C++</a:t>
            </a:r>
            <a:r>
              <a:rPr lang="zh-CN" altLang="en-US" smtClean="0"/>
              <a:t>语句的分类</a:t>
            </a:r>
          </a:p>
        </p:txBody>
      </p:sp>
      <p:sp>
        <p:nvSpPr>
          <p:cNvPr id="5123" name="Rectangle 3"/>
          <p:cNvSpPr>
            <a:spLocks noChangeArrowheads="1"/>
          </p:cNvSpPr>
          <p:nvPr/>
        </p:nvSpPr>
        <p:spPr bwMode="auto">
          <a:xfrm>
            <a:off x="3538538" y="2195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p>
        </p:txBody>
      </p:sp>
      <p:sp>
        <p:nvSpPr>
          <p:cNvPr id="88065" name="Rectangle 1"/>
          <p:cNvSpPr>
            <a:spLocks noChangeArrowheads="1"/>
          </p:cNvSpPr>
          <p:nvPr/>
        </p:nvSpPr>
        <p:spPr bwMode="auto">
          <a:xfrm>
            <a:off x="0" y="2290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6149" name="Object 0"/>
          <p:cNvGraphicFramePr>
            <a:graphicFrameLocks noChangeAspect="1"/>
          </p:cNvGraphicFramePr>
          <p:nvPr>
            <p:extLst>
              <p:ext uri="{D42A27DB-BD31-4B8C-83A1-F6EECF244321}">
                <p14:modId xmlns:p14="http://schemas.microsoft.com/office/powerpoint/2010/main" val="107618103"/>
              </p:ext>
            </p:extLst>
          </p:nvPr>
        </p:nvGraphicFramePr>
        <p:xfrm>
          <a:off x="2123728" y="1124744"/>
          <a:ext cx="4447951" cy="4989140"/>
        </p:xfrm>
        <a:graphic>
          <a:graphicData uri="http://schemas.openxmlformats.org/presentationml/2006/ole">
            <mc:AlternateContent xmlns:mc="http://schemas.openxmlformats.org/markup-compatibility/2006">
              <mc:Choice xmlns:v="urn:schemas-microsoft-com:vml" Requires="v">
                <p:oleObj spid="_x0000_s6432" name="公式" r:id="rId3" imgW="2412720" imgH="2705040" progId="Equation.3">
                  <p:embed/>
                </p:oleObj>
              </mc:Choice>
              <mc:Fallback>
                <p:oleObj name="公式" r:id="rId3" imgW="2412720" imgH="2705040" progId="Equation.3">
                  <p:embed/>
                  <p:pic>
                    <p:nvPicPr>
                      <p:cNvPr id="0" name="Object 0"/>
                      <p:cNvPicPr>
                        <a:picLocks noChangeAspect="1" noChangeArrowheads="1"/>
                      </p:cNvPicPr>
                      <p:nvPr/>
                    </p:nvPicPr>
                    <p:blipFill>
                      <a:blip r:embed="rId4">
                        <a:grayscl/>
                        <a:biLevel thresh="50000"/>
                      </a:blip>
                      <a:srcRect/>
                      <a:stretch>
                        <a:fillRect/>
                      </a:stretch>
                    </p:blipFill>
                    <p:spPr bwMode="auto">
                      <a:xfrm>
                        <a:off x="2123728" y="1124744"/>
                        <a:ext cx="4447951" cy="4989140"/>
                      </a:xfrm>
                      <a:prstGeom prst="rect">
                        <a:avLst/>
                      </a:prstGeom>
                      <a:solidFill>
                        <a:schemeClr val="tx1"/>
                      </a:solidFill>
                      <a:ln>
                        <a:noFill/>
                      </a:ln>
                      <a:extLst/>
                    </p:spPr>
                  </p:pic>
                </p:oleObj>
              </mc:Fallback>
            </mc:AlternateContent>
          </a:graphicData>
        </a:graphic>
      </p:graphicFrame>
      <p:sp>
        <p:nvSpPr>
          <p:cNvPr id="3" name="TextBox 2"/>
          <p:cNvSpPr txBox="1"/>
          <p:nvPr/>
        </p:nvSpPr>
        <p:spPr>
          <a:xfrm>
            <a:off x="323528" y="6309320"/>
            <a:ext cx="8531503" cy="369332"/>
          </a:xfrm>
          <a:prstGeom prst="rect">
            <a:avLst/>
          </a:prstGeom>
          <a:noFill/>
        </p:spPr>
        <p:txBody>
          <a:bodyPr wrap="none" rtlCol="0">
            <a:spAutoFit/>
          </a:bodyPr>
          <a:lstStyle/>
          <a:p>
            <a:r>
              <a:rPr lang="zh-CN" altLang="en-US" sz="2000" dirty="0" smtClean="0"/>
              <a:t>其中，复合语句、选择语句、循环语句属于结构语句，其它是简单语句。</a:t>
            </a:r>
            <a:endParaRPr lang="zh-CN" alt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zh-CN" altLang="en-US" dirty="0" smtClean="0"/>
              <a:t>顺序执行</a:t>
            </a:r>
          </a:p>
        </p:txBody>
      </p:sp>
      <p:sp>
        <p:nvSpPr>
          <p:cNvPr id="199683" name="Rectangle 3"/>
          <p:cNvSpPr>
            <a:spLocks noGrp="1" noChangeArrowheads="1"/>
          </p:cNvSpPr>
          <p:nvPr>
            <p:ph type="body" idx="1"/>
          </p:nvPr>
        </p:nvSpPr>
        <p:spPr/>
        <p:txBody>
          <a:bodyPr/>
          <a:lstStyle/>
          <a:p>
            <a:pPr eaLnBrk="1" hangingPunct="1">
              <a:defRPr/>
            </a:pPr>
            <a:r>
              <a:rPr lang="zh-CN" altLang="en-US" dirty="0" smtClean="0"/>
              <a:t>顺序执行是指不改变执行流程，按语句的</a:t>
            </a:r>
            <a:r>
              <a:rPr lang="zh-CN" altLang="en-US" dirty="0"/>
              <a:t>书写</a:t>
            </a:r>
            <a:r>
              <a:rPr lang="zh-CN" altLang="en-US" dirty="0" smtClean="0"/>
              <a:t>次序，从</a:t>
            </a:r>
            <a:r>
              <a:rPr lang="zh-CN" altLang="en-US" dirty="0"/>
              <a:t>左到右、</a:t>
            </a:r>
            <a:r>
              <a:rPr lang="zh-CN" altLang="en-US" dirty="0" smtClean="0"/>
              <a:t>从上到下依次执行。</a:t>
            </a:r>
            <a:endParaRPr lang="en-US" altLang="zh-CN" dirty="0" smtClean="0"/>
          </a:p>
          <a:p>
            <a:pPr eaLnBrk="1" hangingPunct="1">
              <a:defRPr/>
            </a:pPr>
            <a:r>
              <a:rPr lang="en-US" altLang="zh-CN" dirty="0" smtClean="0"/>
              <a:t>C++</a:t>
            </a:r>
            <a:r>
              <a:rPr lang="zh-CN" altLang="en-US" dirty="0" smtClean="0"/>
              <a:t>顺序执行语句包括： </a:t>
            </a:r>
          </a:p>
          <a:p>
            <a:pPr lvl="1" eaLnBrk="1" hangingPunct="1">
              <a:defRPr/>
            </a:pPr>
            <a:r>
              <a:rPr lang="zh-CN" altLang="en-US" dirty="0" smtClean="0"/>
              <a:t>表达式语句</a:t>
            </a:r>
          </a:p>
          <a:p>
            <a:pPr lvl="1" eaLnBrk="1" hangingPunct="1">
              <a:defRPr/>
            </a:pPr>
            <a:r>
              <a:rPr lang="zh-CN" altLang="en-US" dirty="0"/>
              <a:t>空语句</a:t>
            </a:r>
          </a:p>
          <a:p>
            <a:pPr lvl="1" eaLnBrk="1" hangingPunct="1">
              <a:defRPr/>
            </a:pPr>
            <a:r>
              <a:rPr lang="zh-CN" altLang="en-US" dirty="0" smtClean="0"/>
              <a:t>复合语句</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defRPr/>
            </a:pPr>
            <a:r>
              <a:rPr lang="en-US" altLang="zh-CN" smtClean="0"/>
              <a:t> </a:t>
            </a:r>
            <a:r>
              <a:rPr lang="zh-CN" altLang="en-US" smtClean="0"/>
              <a:t>表达式语句</a:t>
            </a:r>
          </a:p>
        </p:txBody>
      </p:sp>
      <p:sp>
        <p:nvSpPr>
          <p:cNvPr id="6147" name="Rectangle 3"/>
          <p:cNvSpPr>
            <a:spLocks noGrp="1" noChangeArrowheads="1"/>
          </p:cNvSpPr>
          <p:nvPr>
            <p:ph type="body" idx="1"/>
          </p:nvPr>
        </p:nvSpPr>
        <p:spPr>
          <a:xfrm>
            <a:off x="395288" y="1700213"/>
            <a:ext cx="8353425" cy="4752975"/>
          </a:xfrm>
        </p:spPr>
        <p:txBody>
          <a:bodyPr>
            <a:normAutofit/>
          </a:bodyPr>
          <a:lstStyle/>
          <a:p>
            <a:pPr algn="just" eaLnBrk="1" hangingPunct="1">
              <a:defRPr/>
            </a:pPr>
            <a:r>
              <a:rPr lang="zh-CN" altLang="en-US" sz="2800" dirty="0" smtClean="0"/>
              <a:t>在</a:t>
            </a:r>
            <a:r>
              <a:rPr lang="en-US" altLang="zh-CN" sz="2800" dirty="0" smtClean="0">
                <a:cs typeface="Times New Roman" pitchFamily="18" charset="0"/>
              </a:rPr>
              <a:t>C++</a:t>
            </a:r>
            <a:r>
              <a:rPr lang="zh-CN" altLang="en-US" sz="2800" dirty="0" smtClean="0"/>
              <a:t>表达式的后面加上一个分号“</a:t>
            </a:r>
            <a:r>
              <a:rPr lang="en-US" altLang="zh-CN" sz="2800" dirty="0" smtClean="0"/>
              <a:t>;</a:t>
            </a:r>
            <a:r>
              <a:rPr lang="zh-CN" altLang="en-US" sz="2800" dirty="0" smtClean="0">
                <a:cs typeface="Times New Roman" pitchFamily="18" charset="0"/>
              </a:rPr>
              <a:t>”</a:t>
            </a:r>
            <a:r>
              <a:rPr lang="zh-CN" altLang="en-US" sz="2800" dirty="0" smtClean="0"/>
              <a:t>就可以构成</a:t>
            </a:r>
            <a:r>
              <a:rPr lang="zh-CN" altLang="en-US" sz="2800" dirty="0" smtClean="0">
                <a:solidFill>
                  <a:srgbClr val="FFC000"/>
                </a:solidFill>
              </a:rPr>
              <a:t>表达式语句</a:t>
            </a:r>
            <a:r>
              <a:rPr lang="zh-CN" altLang="en-US" sz="2800" dirty="0" smtClean="0"/>
              <a:t>，其格式为：</a:t>
            </a:r>
            <a:endParaRPr lang="zh-CN" altLang="en-US" sz="2800" dirty="0" smtClean="0">
              <a:cs typeface="Times New Roman" pitchFamily="18" charset="0"/>
            </a:endParaRPr>
          </a:p>
          <a:p>
            <a:pPr lvl="1" eaLnBrk="1" hangingPunct="1">
              <a:lnSpc>
                <a:spcPct val="120000"/>
              </a:lnSpc>
              <a:buFontTx/>
              <a:buNone/>
              <a:defRPr/>
            </a:pPr>
            <a:r>
              <a:rPr lang="en-US" altLang="zh-CN" sz="2400" b="1" dirty="0" smtClean="0">
                <a:latin typeface="Courier New" pitchFamily="49" charset="0"/>
                <a:cs typeface="Courier New" pitchFamily="49" charset="0"/>
              </a:rPr>
              <a:t>    </a:t>
            </a:r>
            <a:r>
              <a:rPr lang="en-US" altLang="zh-CN" sz="2400" dirty="0" smtClean="0">
                <a:latin typeface="Courier New" pitchFamily="49" charset="0"/>
                <a:cs typeface="Courier New" pitchFamily="49" charset="0"/>
              </a:rPr>
              <a:t>&lt;</a:t>
            </a:r>
            <a:r>
              <a:rPr lang="zh-CN" altLang="en-US" sz="2400" dirty="0" smtClean="0">
                <a:latin typeface="宋体" charset="-122"/>
              </a:rPr>
              <a:t>表达式</a:t>
            </a:r>
            <a:r>
              <a:rPr lang="en-US" altLang="zh-CN" sz="2400" dirty="0" smtClean="0">
                <a:latin typeface="Courier New" pitchFamily="49" charset="0"/>
                <a:cs typeface="Courier New" pitchFamily="49" charset="0"/>
              </a:rPr>
              <a:t>&gt;</a:t>
            </a:r>
            <a:r>
              <a:rPr lang="en-US" altLang="zh-CN" sz="2400" b="1" dirty="0" smtClean="0">
                <a:solidFill>
                  <a:srgbClr val="FFC000"/>
                </a:solidFill>
                <a:latin typeface="Courier New" pitchFamily="49" charset="0"/>
                <a:cs typeface="Courier New" pitchFamily="49" charset="0"/>
              </a:rPr>
              <a:t>;</a:t>
            </a:r>
          </a:p>
          <a:p>
            <a:pPr eaLnBrk="1" hangingPunct="1">
              <a:lnSpc>
                <a:spcPct val="90000"/>
              </a:lnSpc>
              <a:defRPr/>
            </a:pPr>
            <a:r>
              <a:rPr lang="zh-CN" altLang="en-US" sz="2800" dirty="0" smtClean="0">
                <a:latin typeface="Courier New" pitchFamily="49" charset="0"/>
              </a:rPr>
              <a:t>例如：</a:t>
            </a:r>
          </a:p>
          <a:p>
            <a:pPr lvl="1" eaLnBrk="1" hangingPunct="1">
              <a:lnSpc>
                <a:spcPct val="90000"/>
              </a:lnSpc>
              <a:defRPr/>
            </a:pPr>
            <a:r>
              <a:rPr lang="en-US" altLang="zh-CN" dirty="0" smtClean="0"/>
              <a:t>a + b * c;</a:t>
            </a:r>
          </a:p>
          <a:p>
            <a:pPr lvl="1" eaLnBrk="1" hangingPunct="1">
              <a:lnSpc>
                <a:spcPct val="90000"/>
              </a:lnSpc>
              <a:defRPr/>
            </a:pPr>
            <a:r>
              <a:rPr lang="en-US" altLang="zh-CN" dirty="0" smtClean="0"/>
              <a:t>a &gt; b ? a: b;</a:t>
            </a:r>
          </a:p>
          <a:p>
            <a:pPr lvl="1" eaLnBrk="1" hangingPunct="1">
              <a:lnSpc>
                <a:spcPct val="90000"/>
              </a:lnSpc>
              <a:defRPr/>
            </a:pPr>
            <a:r>
              <a:rPr lang="en-US" altLang="zh-CN" dirty="0" smtClean="0"/>
              <a:t>a++;</a:t>
            </a:r>
          </a:p>
          <a:p>
            <a:pPr lvl="1" eaLnBrk="1" hangingPunct="1">
              <a:lnSpc>
                <a:spcPct val="90000"/>
              </a:lnSpc>
              <a:defRPr/>
            </a:pPr>
            <a:r>
              <a:rPr lang="en-US" altLang="zh-CN" dirty="0" smtClean="0"/>
              <a:t>x = a + b; </a:t>
            </a:r>
          </a:p>
          <a:p>
            <a:pPr eaLnBrk="1" hangingPunct="1">
              <a:defRPr/>
            </a:pPr>
            <a:r>
              <a:rPr lang="zh-CN" altLang="en-US" sz="2800" smtClean="0"/>
              <a:t>程序执行碰到</a:t>
            </a:r>
            <a:r>
              <a:rPr lang="zh-CN" altLang="en-US" sz="2800" dirty="0" smtClean="0"/>
              <a:t>表达式语句就立即计算它</a:t>
            </a:r>
            <a:r>
              <a:rPr lang="zh-CN" altLang="en-US" sz="2800" smtClean="0"/>
              <a:t>，计算完</a:t>
            </a:r>
            <a:r>
              <a:rPr lang="zh-CN" altLang="en-US" sz="2800" dirty="0" smtClean="0"/>
              <a:t>后将继续执行紧接在后面的下一个语句。</a:t>
            </a:r>
            <a:endParaRPr lang="zh-CN" altLang="en-U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67544" y="56927"/>
            <a:ext cx="8229600" cy="1139825"/>
          </a:xfrm>
        </p:spPr>
        <p:txBody>
          <a:bodyPr/>
          <a:lstStyle/>
          <a:p>
            <a:pPr eaLnBrk="1" hangingPunct="1">
              <a:defRPr/>
            </a:pPr>
            <a:r>
              <a:rPr lang="zh-CN" altLang="en-US" dirty="0" smtClean="0"/>
              <a:t>较常使用的表达式语句 </a:t>
            </a:r>
          </a:p>
        </p:txBody>
      </p:sp>
      <p:sp>
        <p:nvSpPr>
          <p:cNvPr id="91139" name="Rectangle 3"/>
          <p:cNvSpPr>
            <a:spLocks noGrp="1" noChangeArrowheads="1"/>
          </p:cNvSpPr>
          <p:nvPr>
            <p:ph type="body" idx="1"/>
          </p:nvPr>
        </p:nvSpPr>
        <p:spPr>
          <a:xfrm>
            <a:off x="251520" y="1484784"/>
            <a:ext cx="8435280" cy="5112568"/>
          </a:xfrm>
        </p:spPr>
        <p:txBody>
          <a:bodyPr>
            <a:normAutofit lnSpcReduction="10000"/>
          </a:bodyPr>
          <a:lstStyle/>
          <a:p>
            <a:pPr eaLnBrk="1" hangingPunct="1">
              <a:lnSpc>
                <a:spcPct val="90000"/>
              </a:lnSpc>
              <a:defRPr/>
            </a:pPr>
            <a:r>
              <a:rPr lang="zh-CN" altLang="en-US" sz="2800" dirty="0" smtClean="0"/>
              <a:t>语句执行必须留下一些“</a:t>
            </a:r>
            <a:r>
              <a:rPr lang="zh-CN" altLang="en-US" sz="2800" dirty="0" smtClean="0">
                <a:solidFill>
                  <a:srgbClr val="FFC000"/>
                </a:solidFill>
              </a:rPr>
              <a:t>痕迹</a:t>
            </a:r>
            <a:r>
              <a:rPr lang="zh-CN" altLang="en-US" sz="2800" dirty="0" smtClean="0"/>
              <a:t>”！</a:t>
            </a:r>
            <a:endParaRPr lang="en-US" altLang="zh-CN" sz="2800" dirty="0" smtClean="0"/>
          </a:p>
          <a:p>
            <a:pPr lvl="1" eaLnBrk="1" hangingPunct="1">
              <a:lnSpc>
                <a:spcPct val="90000"/>
              </a:lnSpc>
              <a:defRPr/>
            </a:pPr>
            <a:r>
              <a:rPr lang="en-US" altLang="zh-CN" sz="2400" dirty="0" err="1" smtClean="0"/>
              <a:t>a+b</a:t>
            </a:r>
            <a:r>
              <a:rPr lang="en-US" altLang="zh-CN" sz="2400" dirty="0" smtClean="0"/>
              <a:t>; //</a:t>
            </a:r>
            <a:r>
              <a:rPr lang="zh-CN" altLang="en-US" sz="2400" dirty="0" smtClean="0">
                <a:solidFill>
                  <a:srgbClr val="FFC000"/>
                </a:solidFill>
              </a:rPr>
              <a:t>没有意义！</a:t>
            </a:r>
            <a:endParaRPr lang="en-US" altLang="zh-CN" sz="2400" dirty="0" smtClean="0">
              <a:solidFill>
                <a:srgbClr val="FFC000"/>
              </a:solidFill>
            </a:endParaRPr>
          </a:p>
          <a:p>
            <a:pPr eaLnBrk="1" hangingPunct="1">
              <a:lnSpc>
                <a:spcPct val="90000"/>
              </a:lnSpc>
              <a:defRPr/>
            </a:pPr>
            <a:r>
              <a:rPr lang="zh-CN" altLang="en-US" sz="2800" dirty="0" smtClean="0"/>
              <a:t>常用的表达式语句：</a:t>
            </a:r>
            <a:endParaRPr lang="en-US" altLang="zh-CN" sz="2800" dirty="0" smtClean="0"/>
          </a:p>
          <a:p>
            <a:pPr lvl="1" eaLnBrk="1" hangingPunct="1">
              <a:lnSpc>
                <a:spcPct val="90000"/>
              </a:lnSpc>
              <a:defRPr/>
            </a:pPr>
            <a:r>
              <a:rPr lang="zh-CN" altLang="en-US" sz="2400" dirty="0" smtClean="0"/>
              <a:t>赋值</a:t>
            </a:r>
          </a:p>
          <a:p>
            <a:pPr lvl="1" eaLnBrk="1" hangingPunct="1">
              <a:lnSpc>
                <a:spcPct val="90000"/>
              </a:lnSpc>
              <a:defRPr/>
            </a:pPr>
            <a:r>
              <a:rPr lang="zh-CN" altLang="en-US" sz="2400" dirty="0" smtClean="0"/>
              <a:t>自增</a:t>
            </a:r>
            <a:r>
              <a:rPr lang="en-US" altLang="zh-CN" sz="2400" dirty="0" smtClean="0"/>
              <a:t>/</a:t>
            </a:r>
            <a:r>
              <a:rPr lang="zh-CN" altLang="en-US" sz="2400" dirty="0" smtClean="0"/>
              <a:t>自减</a:t>
            </a:r>
          </a:p>
          <a:p>
            <a:pPr lvl="1" eaLnBrk="1" hangingPunct="1">
              <a:lnSpc>
                <a:spcPct val="90000"/>
              </a:lnSpc>
              <a:defRPr/>
            </a:pPr>
            <a:r>
              <a:rPr lang="zh-CN" altLang="en-US" sz="2400" dirty="0"/>
              <a:t>输入</a:t>
            </a:r>
            <a:r>
              <a:rPr lang="en-US" altLang="zh-CN" sz="2400" dirty="0"/>
              <a:t>/</a:t>
            </a:r>
            <a:r>
              <a:rPr lang="zh-CN" altLang="en-US" sz="2400" dirty="0" smtClean="0"/>
              <a:t>输出</a:t>
            </a:r>
            <a:endParaRPr lang="zh-CN" altLang="en-US" sz="2400" dirty="0"/>
          </a:p>
          <a:p>
            <a:pPr lvl="1" eaLnBrk="1" hangingPunct="1">
              <a:lnSpc>
                <a:spcPct val="90000"/>
              </a:lnSpc>
              <a:defRPr/>
            </a:pPr>
            <a:r>
              <a:rPr lang="zh-CN" altLang="en-US" sz="2400" dirty="0" smtClean="0"/>
              <a:t>无返回值的函数调用，等等</a:t>
            </a:r>
          </a:p>
          <a:p>
            <a:pPr eaLnBrk="1" hangingPunct="1">
              <a:lnSpc>
                <a:spcPct val="90000"/>
              </a:lnSpc>
              <a:buFont typeface="Wingdings" pitchFamily="2" charset="2"/>
              <a:buNone/>
              <a:defRPr/>
            </a:pPr>
            <a:r>
              <a:rPr lang="zh-CN" altLang="en-US" sz="2800" dirty="0" smtClean="0"/>
              <a:t>例如</a:t>
            </a:r>
          </a:p>
          <a:p>
            <a:pPr lvl="1" eaLnBrk="1" hangingPunct="1">
              <a:lnSpc>
                <a:spcPct val="90000"/>
              </a:lnSpc>
              <a:defRPr/>
            </a:pPr>
            <a:r>
              <a:rPr lang="en-US" altLang="zh-CN" sz="2400" dirty="0" smtClean="0"/>
              <a:t>x = </a:t>
            </a:r>
            <a:r>
              <a:rPr lang="en-US" altLang="zh-CN" sz="2400" dirty="0" err="1" smtClean="0"/>
              <a:t>a+b</a:t>
            </a:r>
            <a:r>
              <a:rPr lang="en-US" altLang="zh-CN" sz="2400" dirty="0" smtClean="0"/>
              <a:t>;  //</a:t>
            </a:r>
            <a:r>
              <a:rPr lang="zh-CN" altLang="en-US" sz="2400" dirty="0" smtClean="0"/>
              <a:t>赋值</a:t>
            </a:r>
          </a:p>
          <a:p>
            <a:pPr lvl="1" eaLnBrk="1" hangingPunct="1">
              <a:lnSpc>
                <a:spcPct val="90000"/>
              </a:lnSpc>
              <a:defRPr/>
            </a:pPr>
            <a:r>
              <a:rPr lang="en-US" altLang="zh-CN" sz="2400" dirty="0" smtClean="0"/>
              <a:t>x++;  //</a:t>
            </a:r>
            <a:r>
              <a:rPr lang="zh-CN" altLang="en-US" sz="2400" dirty="0" smtClean="0"/>
              <a:t>自增</a:t>
            </a:r>
          </a:p>
          <a:p>
            <a:pPr lvl="1" eaLnBrk="1" hangingPunct="1">
              <a:lnSpc>
                <a:spcPct val="90000"/>
              </a:lnSpc>
              <a:defRPr/>
            </a:pPr>
            <a:r>
              <a:rPr lang="en-US" altLang="zh-CN" sz="2400" dirty="0" err="1"/>
              <a:t>cin</a:t>
            </a:r>
            <a:r>
              <a:rPr lang="en-US" altLang="zh-CN" sz="2400" dirty="0"/>
              <a:t> &gt;&gt; a;  //</a:t>
            </a:r>
            <a:r>
              <a:rPr lang="zh-CN" altLang="en-US" sz="2400" dirty="0"/>
              <a:t>输入</a:t>
            </a:r>
          </a:p>
          <a:p>
            <a:pPr lvl="1" eaLnBrk="1" hangingPunct="1">
              <a:lnSpc>
                <a:spcPct val="90000"/>
              </a:lnSpc>
              <a:defRPr/>
            </a:pPr>
            <a:r>
              <a:rPr lang="en-US" altLang="zh-CN" sz="2400" dirty="0" err="1"/>
              <a:t>cout</a:t>
            </a:r>
            <a:r>
              <a:rPr lang="en-US" altLang="zh-CN" sz="2400" dirty="0"/>
              <a:t> &lt;&lt; b;  //</a:t>
            </a:r>
            <a:r>
              <a:rPr lang="zh-CN" altLang="en-US" sz="2400" dirty="0"/>
              <a:t>输出 </a:t>
            </a:r>
          </a:p>
          <a:p>
            <a:pPr lvl="1" eaLnBrk="1" hangingPunct="1">
              <a:lnSpc>
                <a:spcPct val="90000"/>
              </a:lnSpc>
              <a:defRPr/>
            </a:pPr>
            <a:r>
              <a:rPr lang="en-US" altLang="zh-CN" sz="2400" dirty="0" smtClean="0"/>
              <a:t>f(a);  //</a:t>
            </a:r>
            <a:r>
              <a:rPr lang="zh-CN" altLang="en-US" sz="2400" dirty="0" smtClean="0"/>
              <a:t>无返回值的函数调用</a:t>
            </a:r>
          </a:p>
        </p:txBody>
      </p:sp>
    </p:spTree>
    <p:extLst>
      <p:ext uri="{BB962C8B-B14F-4D97-AF65-F5344CB8AC3E}">
        <p14:creationId xmlns:p14="http://schemas.microsoft.com/office/powerpoint/2010/main" val="12485783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685800" y="0"/>
            <a:ext cx="7772400" cy="1143000"/>
          </a:xfrm>
        </p:spPr>
        <p:txBody>
          <a:bodyPr/>
          <a:lstStyle/>
          <a:p>
            <a:pPr eaLnBrk="1" hangingPunct="1">
              <a:defRPr/>
            </a:pPr>
            <a:r>
              <a:rPr lang="zh-CN" altLang="en-US" smtClean="0"/>
              <a:t>空语句 </a:t>
            </a:r>
          </a:p>
        </p:txBody>
      </p:sp>
      <p:sp>
        <p:nvSpPr>
          <p:cNvPr id="198659" name="Rectangle 3"/>
          <p:cNvSpPr>
            <a:spLocks noGrp="1" noChangeArrowheads="1"/>
          </p:cNvSpPr>
          <p:nvPr>
            <p:ph type="body" idx="1"/>
          </p:nvPr>
        </p:nvSpPr>
        <p:spPr>
          <a:xfrm>
            <a:off x="325438" y="1484313"/>
            <a:ext cx="8639175" cy="5257055"/>
          </a:xfrm>
        </p:spPr>
        <p:txBody>
          <a:bodyPr>
            <a:normAutofit fontScale="77500" lnSpcReduction="20000"/>
          </a:bodyPr>
          <a:lstStyle/>
          <a:p>
            <a:pPr eaLnBrk="1" hangingPunct="1">
              <a:lnSpc>
                <a:spcPct val="110000"/>
              </a:lnSpc>
              <a:defRPr/>
            </a:pPr>
            <a:r>
              <a:rPr lang="zh-CN" altLang="en-US" sz="3600" dirty="0" smtClean="0"/>
              <a:t>根据程序设计的需要，在程序中的某些地方有时需要加上一些空操作，以方便其它流程控制的实现。</a:t>
            </a:r>
          </a:p>
          <a:p>
            <a:pPr eaLnBrk="1" hangingPunct="1">
              <a:lnSpc>
                <a:spcPct val="110000"/>
              </a:lnSpc>
              <a:defRPr/>
            </a:pPr>
            <a:r>
              <a:rPr lang="zh-CN" altLang="en-US" sz="3600" dirty="0"/>
              <a:t>在</a:t>
            </a:r>
            <a:r>
              <a:rPr lang="en-US" altLang="zh-CN" sz="3600" dirty="0"/>
              <a:t>C++</a:t>
            </a:r>
            <a:r>
              <a:rPr lang="zh-CN" altLang="en-US" sz="3600" dirty="0"/>
              <a:t>中，</a:t>
            </a:r>
            <a:r>
              <a:rPr lang="zh-CN" altLang="en-US" sz="3600" dirty="0" smtClean="0"/>
              <a:t>空操作是用</a:t>
            </a:r>
            <a:r>
              <a:rPr lang="zh-CN" altLang="en-US" sz="3600" dirty="0" smtClean="0">
                <a:solidFill>
                  <a:srgbClr val="FFC000"/>
                </a:solidFill>
              </a:rPr>
              <a:t>空语句</a:t>
            </a:r>
            <a:r>
              <a:rPr lang="zh-CN" altLang="en-US" sz="3600" dirty="0" smtClean="0"/>
              <a:t>来表示的，其格式为：</a:t>
            </a:r>
          </a:p>
          <a:p>
            <a:pPr eaLnBrk="1" hangingPunct="1">
              <a:lnSpc>
                <a:spcPct val="110000"/>
              </a:lnSpc>
              <a:buFont typeface="Wingdings" pitchFamily="2" charset="2"/>
              <a:buNone/>
              <a:defRPr/>
            </a:pPr>
            <a:r>
              <a:rPr lang="zh-CN" altLang="en-US" sz="3600" b="1" dirty="0" smtClean="0">
                <a:latin typeface="Courier New" pitchFamily="49" charset="0"/>
                <a:cs typeface="Courier New" pitchFamily="49" charset="0"/>
              </a:rPr>
              <a:t>		</a:t>
            </a:r>
            <a:r>
              <a:rPr lang="en-US" altLang="zh-CN" sz="3600" b="1" dirty="0" smtClean="0">
                <a:solidFill>
                  <a:srgbClr val="FFC000"/>
                </a:solidFill>
                <a:latin typeface="Courier New" pitchFamily="49" charset="0"/>
                <a:cs typeface="Courier New" pitchFamily="49" charset="0"/>
              </a:rPr>
              <a:t>;</a:t>
            </a:r>
          </a:p>
          <a:p>
            <a:pPr eaLnBrk="1" hangingPunct="1">
              <a:lnSpc>
                <a:spcPct val="110000"/>
              </a:lnSpc>
              <a:defRPr/>
            </a:pPr>
            <a:r>
              <a:rPr lang="zh-CN" altLang="en-US" sz="3600" dirty="0" smtClean="0"/>
              <a:t>空语句的作用是用于语法上需要一条语句的地方，而该地方又不需做任何事情。</a:t>
            </a:r>
            <a:endParaRPr lang="en-US" altLang="zh-CN" sz="3600" dirty="0" smtClean="0"/>
          </a:p>
          <a:p>
            <a:pPr eaLnBrk="1" hangingPunct="1">
              <a:lnSpc>
                <a:spcPct val="110000"/>
              </a:lnSpc>
              <a:defRPr/>
            </a:pPr>
            <a:r>
              <a:rPr lang="zh-CN" altLang="en-US" sz="3600" dirty="0" smtClean="0"/>
              <a:t>例如，在下面的分支语句中，第一个分支不做任何事情，但语法上需要一个语句：</a:t>
            </a:r>
            <a:endParaRPr lang="zh-CN" altLang="en-US" sz="3600" dirty="0"/>
          </a:p>
          <a:p>
            <a:pPr marL="457200" lvl="1" indent="0" eaLnBrk="1" hangingPunct="1">
              <a:lnSpc>
                <a:spcPct val="110000"/>
              </a:lnSpc>
              <a:buNone/>
              <a:defRPr/>
            </a:pPr>
            <a:r>
              <a:rPr lang="en-US" altLang="zh-CN" sz="3200" dirty="0"/>
              <a:t>if (a&gt;b)</a:t>
            </a:r>
          </a:p>
          <a:p>
            <a:pPr marL="457200" lvl="1" indent="0" eaLnBrk="1" hangingPunct="1">
              <a:lnSpc>
                <a:spcPct val="110000"/>
              </a:lnSpc>
              <a:buNone/>
              <a:defRPr/>
            </a:pPr>
            <a:r>
              <a:rPr lang="en-US" altLang="zh-CN" sz="3200" dirty="0"/>
              <a:t>  ;     //</a:t>
            </a:r>
            <a:r>
              <a:rPr lang="zh-CN" altLang="en-US" sz="3200" dirty="0"/>
              <a:t>空语句</a:t>
            </a:r>
          </a:p>
          <a:p>
            <a:pPr marL="457200" lvl="1" indent="0" eaLnBrk="1" hangingPunct="1">
              <a:lnSpc>
                <a:spcPct val="110000"/>
              </a:lnSpc>
              <a:buNone/>
              <a:defRPr/>
            </a:pPr>
            <a:r>
              <a:rPr lang="en-US" altLang="zh-CN" sz="3200" dirty="0"/>
              <a:t>else</a:t>
            </a:r>
          </a:p>
          <a:p>
            <a:pPr marL="457200" lvl="1" indent="0" eaLnBrk="1" hangingPunct="1">
              <a:lnSpc>
                <a:spcPct val="110000"/>
              </a:lnSpc>
              <a:buNone/>
              <a:defRPr/>
            </a:pPr>
            <a:r>
              <a:rPr lang="en-US" altLang="zh-CN" sz="3200" dirty="0"/>
              <a:t>  c = a;</a:t>
            </a:r>
          </a:p>
          <a:p>
            <a:pPr eaLnBrk="1" hangingPunct="1">
              <a:lnSpc>
                <a:spcPct val="110000"/>
              </a:lnSpc>
              <a:defRPr/>
            </a:pPr>
            <a:endParaRPr lang="en-US" altLang="zh-CN" sz="36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827088" y="115888"/>
            <a:ext cx="7489825" cy="1139825"/>
          </a:xfrm>
        </p:spPr>
        <p:txBody>
          <a:bodyPr/>
          <a:lstStyle/>
          <a:p>
            <a:pPr eaLnBrk="1" hangingPunct="1">
              <a:defRPr/>
            </a:pPr>
            <a:r>
              <a:rPr lang="zh-CN" altLang="en-US" smtClean="0"/>
              <a:t>复合语句</a:t>
            </a:r>
          </a:p>
        </p:txBody>
      </p:sp>
      <p:sp>
        <p:nvSpPr>
          <p:cNvPr id="7171" name="Rectangle 3"/>
          <p:cNvSpPr>
            <a:spLocks noGrp="1" noChangeArrowheads="1"/>
          </p:cNvSpPr>
          <p:nvPr>
            <p:ph type="body" idx="1"/>
          </p:nvPr>
        </p:nvSpPr>
        <p:spPr>
          <a:xfrm>
            <a:off x="395858" y="1484784"/>
            <a:ext cx="8352606" cy="5113039"/>
          </a:xfrm>
        </p:spPr>
        <p:txBody>
          <a:bodyPr>
            <a:normAutofit/>
          </a:bodyPr>
          <a:lstStyle/>
          <a:p>
            <a:pPr marL="360363" indent="-360363" algn="just" eaLnBrk="1" hangingPunct="1">
              <a:lnSpc>
                <a:spcPct val="120000"/>
              </a:lnSpc>
              <a:defRPr/>
            </a:pPr>
            <a:r>
              <a:rPr lang="zh-CN" altLang="en-US" dirty="0" smtClean="0"/>
              <a:t>可以把一</a:t>
            </a:r>
            <a:r>
              <a:rPr lang="zh-CN" altLang="en-US" dirty="0"/>
              <a:t>个或多个</a:t>
            </a:r>
            <a:r>
              <a:rPr lang="zh-CN" altLang="en-US" dirty="0" smtClean="0"/>
              <a:t>语句用一对</a:t>
            </a:r>
            <a:r>
              <a:rPr lang="zh-CN" altLang="en-US" dirty="0"/>
              <a:t>花括号括</a:t>
            </a:r>
            <a:r>
              <a:rPr lang="zh-CN" altLang="en-US" dirty="0" smtClean="0"/>
              <a:t>起来构成</a:t>
            </a:r>
            <a:r>
              <a:rPr lang="zh-CN" altLang="en-US" dirty="0" smtClean="0">
                <a:solidFill>
                  <a:srgbClr val="FFC000"/>
                </a:solidFill>
              </a:rPr>
              <a:t>复合语句</a:t>
            </a:r>
            <a:r>
              <a:rPr lang="zh-CN" altLang="en-US" dirty="0" smtClean="0"/>
              <a:t>，又称为块（</a:t>
            </a:r>
            <a:r>
              <a:rPr lang="en-US" altLang="zh-CN" dirty="0" smtClean="0">
                <a:latin typeface="宋体" charset="-122"/>
                <a:cs typeface="Times New Roman" pitchFamily="18" charset="0"/>
              </a:rPr>
              <a:t>block</a:t>
            </a:r>
            <a:r>
              <a:rPr lang="zh-CN" altLang="en-US" dirty="0" smtClean="0"/>
              <a:t>），其格式为：</a:t>
            </a:r>
            <a:endParaRPr lang="zh-CN" altLang="en-US" dirty="0" smtClean="0">
              <a:latin typeface="宋体" charset="-122"/>
              <a:cs typeface="Times New Roman" pitchFamily="18" charset="0"/>
            </a:endParaRPr>
          </a:p>
          <a:p>
            <a:pPr marL="360363" indent="-360363" eaLnBrk="1" hangingPunct="1">
              <a:lnSpc>
                <a:spcPct val="120000"/>
              </a:lnSpc>
              <a:buFont typeface="Wingdings" pitchFamily="2" charset="2"/>
              <a:buNone/>
              <a:defRPr/>
            </a:pPr>
            <a:r>
              <a:rPr lang="zh-CN" altLang="en-US" b="1" dirty="0" smtClean="0">
                <a:latin typeface="Courier New" pitchFamily="49" charset="0"/>
                <a:cs typeface="Courier New" pitchFamily="49" charset="0"/>
              </a:rPr>
              <a:t>   </a:t>
            </a:r>
            <a:r>
              <a:rPr lang="zh-CN" altLang="en-US" dirty="0" smtClean="0">
                <a:latin typeface="Courier New" pitchFamily="49" charset="0"/>
                <a:cs typeface="Courier New" pitchFamily="49" charset="0"/>
              </a:rPr>
              <a:t> </a:t>
            </a:r>
            <a:r>
              <a:rPr lang="en-US" altLang="zh-CN" b="1" dirty="0" smtClean="0">
                <a:solidFill>
                  <a:srgbClr val="FFC000"/>
                </a:solidFill>
                <a:latin typeface="Courier New" pitchFamily="49" charset="0"/>
                <a:cs typeface="Courier New" pitchFamily="49" charset="0"/>
              </a:rPr>
              <a:t>{</a:t>
            </a:r>
            <a:r>
              <a:rPr lang="en-US" altLang="zh-CN" dirty="0" smtClean="0">
                <a:latin typeface="Courier New" pitchFamily="49" charset="0"/>
                <a:cs typeface="Courier New" pitchFamily="49" charset="0"/>
              </a:rPr>
              <a:t> &lt;</a:t>
            </a:r>
            <a:r>
              <a:rPr lang="zh-CN" altLang="en-US" dirty="0" smtClean="0">
                <a:latin typeface="宋体" charset="-122"/>
              </a:rPr>
              <a:t>语句序列</a:t>
            </a:r>
            <a:r>
              <a:rPr lang="en-US" altLang="zh-CN" dirty="0" smtClean="0">
                <a:latin typeface="Courier New" pitchFamily="49" charset="0"/>
                <a:cs typeface="Courier New" pitchFamily="49" charset="0"/>
              </a:rPr>
              <a:t>&gt; </a:t>
            </a:r>
            <a:r>
              <a:rPr lang="en-US" altLang="zh-CN" b="1" dirty="0" smtClean="0">
                <a:solidFill>
                  <a:srgbClr val="FFC000"/>
                </a:solidFill>
                <a:latin typeface="Courier New" pitchFamily="49" charset="0"/>
                <a:cs typeface="Courier New" pitchFamily="49" charset="0"/>
              </a:rPr>
              <a:t>}</a:t>
            </a:r>
          </a:p>
          <a:p>
            <a:pPr marL="825500" lvl="1" eaLnBrk="1" hangingPunct="1">
              <a:lnSpc>
                <a:spcPct val="120000"/>
              </a:lnSpc>
              <a:defRPr/>
            </a:pPr>
            <a:r>
              <a:rPr lang="en-US" altLang="zh-CN" dirty="0" smtClean="0"/>
              <a:t>&lt;</a:t>
            </a:r>
            <a:r>
              <a:rPr lang="zh-CN" altLang="en-US" dirty="0" smtClean="0"/>
              <a:t>语句序列</a:t>
            </a:r>
            <a:r>
              <a:rPr lang="en-US" altLang="zh-CN" dirty="0" smtClean="0"/>
              <a:t>&gt;</a:t>
            </a:r>
            <a:r>
              <a:rPr lang="zh-CN" altLang="en-US" dirty="0" smtClean="0"/>
              <a:t>中的语句可以是</a:t>
            </a:r>
            <a:r>
              <a:rPr lang="zh-CN" altLang="en-US" dirty="0" smtClean="0">
                <a:solidFill>
                  <a:schemeClr val="folHlink"/>
                </a:solidFill>
              </a:rPr>
              <a:t>任何</a:t>
            </a:r>
            <a:r>
              <a:rPr lang="zh-CN" altLang="en-US" dirty="0" smtClean="0"/>
              <a:t>的</a:t>
            </a:r>
            <a:r>
              <a:rPr lang="en-US" altLang="zh-CN" dirty="0" smtClean="0"/>
              <a:t>C++</a:t>
            </a:r>
            <a:r>
              <a:rPr lang="zh-CN" altLang="en-US" dirty="0" smtClean="0"/>
              <a:t>语句，其中包括</a:t>
            </a:r>
            <a:r>
              <a:rPr lang="zh-CN" altLang="en-US" dirty="0" smtClean="0">
                <a:solidFill>
                  <a:schemeClr val="folHlink"/>
                </a:solidFill>
              </a:rPr>
              <a:t>数据定义</a:t>
            </a:r>
            <a:r>
              <a:rPr lang="zh-CN" altLang="en-US" dirty="0" smtClean="0"/>
              <a:t>和</a:t>
            </a:r>
            <a:r>
              <a:rPr lang="zh-CN" altLang="en-US" dirty="0" smtClean="0">
                <a:solidFill>
                  <a:schemeClr val="folHlink"/>
                </a:solidFill>
              </a:rPr>
              <a:t>声明</a:t>
            </a:r>
            <a:r>
              <a:rPr lang="zh-CN" altLang="en-US" dirty="0" smtClean="0"/>
              <a:t>语句。</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a:xfrm>
            <a:off x="457200" y="1412776"/>
            <a:ext cx="8229600" cy="5257800"/>
          </a:xfrm>
        </p:spPr>
        <p:txBody>
          <a:bodyPr>
            <a:normAutofit/>
          </a:bodyPr>
          <a:lstStyle/>
          <a:p>
            <a:pPr marL="360363" indent="-360363" eaLnBrk="1" hangingPunct="1">
              <a:lnSpc>
                <a:spcPct val="120000"/>
              </a:lnSpc>
              <a:defRPr/>
            </a:pPr>
            <a:r>
              <a:rPr lang="zh-CN" altLang="en-US" dirty="0" smtClean="0"/>
              <a:t>例如，下面就是一个复合语句：</a:t>
            </a:r>
            <a:endParaRPr lang="en-US" altLang="zh-CN" dirty="0"/>
          </a:p>
          <a:p>
            <a:pPr lvl="1" eaLnBrk="1" hangingPunct="1">
              <a:lnSpc>
                <a:spcPct val="90000"/>
              </a:lnSpc>
              <a:buNone/>
              <a:defRPr/>
            </a:pPr>
            <a:r>
              <a:rPr lang="en-US" altLang="zh-CN" dirty="0" smtClean="0"/>
              <a:t>{</a:t>
            </a:r>
            <a:r>
              <a:rPr lang="en-US" altLang="zh-CN" dirty="0"/>
              <a:t>	</a:t>
            </a:r>
            <a:r>
              <a:rPr lang="en-US" altLang="zh-CN" dirty="0" err="1"/>
              <a:t>int</a:t>
            </a:r>
            <a:r>
              <a:rPr lang="en-US" altLang="zh-CN" dirty="0"/>
              <a:t> </a:t>
            </a:r>
            <a:r>
              <a:rPr lang="en-US" altLang="zh-CN" dirty="0" err="1" smtClean="0"/>
              <a:t>a,b</a:t>
            </a:r>
            <a:r>
              <a:rPr lang="en-GB" altLang="zh-CN" dirty="0" smtClean="0"/>
              <a:t>;  //</a:t>
            </a:r>
            <a:r>
              <a:rPr lang="zh-CN" altLang="en-US" dirty="0" smtClean="0"/>
              <a:t>变量定义</a:t>
            </a:r>
            <a:endParaRPr lang="zh-CN" altLang="en-US" dirty="0"/>
          </a:p>
          <a:p>
            <a:pPr lvl="1" eaLnBrk="1" hangingPunct="1">
              <a:lnSpc>
                <a:spcPct val="90000"/>
              </a:lnSpc>
              <a:buNone/>
              <a:defRPr/>
            </a:pPr>
            <a:r>
              <a:rPr lang="zh-CN" altLang="en-US" dirty="0"/>
              <a:t>	</a:t>
            </a:r>
            <a:r>
              <a:rPr lang="en-US" altLang="zh-CN" dirty="0" err="1"/>
              <a:t>cin</a:t>
            </a:r>
            <a:r>
              <a:rPr lang="en-US" altLang="zh-CN" dirty="0"/>
              <a:t> &gt;&gt; a &gt;&gt; b;</a:t>
            </a:r>
          </a:p>
          <a:p>
            <a:pPr lvl="1" eaLnBrk="1" hangingPunct="1">
              <a:lnSpc>
                <a:spcPct val="90000"/>
              </a:lnSpc>
              <a:buNone/>
              <a:defRPr/>
            </a:pPr>
            <a:r>
              <a:rPr lang="en-US" altLang="zh-CN" dirty="0"/>
              <a:t>	</a:t>
            </a:r>
            <a:r>
              <a:rPr lang="en-US" altLang="zh-CN" dirty="0" err="1"/>
              <a:t>int</a:t>
            </a:r>
            <a:r>
              <a:rPr lang="en-US" altLang="zh-CN" dirty="0"/>
              <a:t> max</a:t>
            </a:r>
            <a:r>
              <a:rPr lang="en-US" altLang="zh-CN" dirty="0" smtClean="0"/>
              <a:t>; //</a:t>
            </a:r>
            <a:r>
              <a:rPr lang="zh-CN" altLang="en-US" dirty="0" smtClean="0"/>
              <a:t>变量定义</a:t>
            </a:r>
            <a:endParaRPr lang="en-US" altLang="zh-CN" dirty="0"/>
          </a:p>
          <a:p>
            <a:pPr lvl="1" eaLnBrk="1" hangingPunct="1">
              <a:lnSpc>
                <a:spcPct val="90000"/>
              </a:lnSpc>
              <a:buNone/>
              <a:defRPr/>
            </a:pPr>
            <a:r>
              <a:rPr lang="en-US" altLang="zh-CN" dirty="0"/>
              <a:t>	max = (a &gt;= b)?</a:t>
            </a:r>
            <a:r>
              <a:rPr lang="en-US" altLang="zh-CN" dirty="0" err="1"/>
              <a:t>a:b</a:t>
            </a:r>
            <a:r>
              <a:rPr lang="en-US" altLang="zh-CN" dirty="0"/>
              <a:t>;</a:t>
            </a:r>
          </a:p>
          <a:p>
            <a:pPr lvl="1" eaLnBrk="1" hangingPunct="1">
              <a:lnSpc>
                <a:spcPct val="90000"/>
              </a:lnSpc>
              <a:buNone/>
              <a:defRPr/>
            </a:pPr>
            <a:r>
              <a:rPr lang="en-US" altLang="zh-CN" dirty="0"/>
              <a:t> 	</a:t>
            </a:r>
            <a:r>
              <a:rPr lang="en-US" altLang="zh-CN" dirty="0" err="1"/>
              <a:t>cout</a:t>
            </a:r>
            <a:r>
              <a:rPr lang="en-US" altLang="zh-CN" dirty="0"/>
              <a:t> &lt;&lt; max &lt;&lt; </a:t>
            </a:r>
            <a:r>
              <a:rPr lang="en-US" altLang="zh-CN" dirty="0" err="1"/>
              <a:t>endl</a:t>
            </a:r>
            <a:r>
              <a:rPr lang="en-US" altLang="zh-CN" dirty="0"/>
              <a:t>;</a:t>
            </a:r>
          </a:p>
          <a:p>
            <a:pPr lvl="1" eaLnBrk="1" hangingPunct="1">
              <a:lnSpc>
                <a:spcPct val="90000"/>
              </a:lnSpc>
              <a:buNone/>
              <a:defRPr/>
            </a:pPr>
            <a:r>
              <a:rPr lang="en-US" altLang="zh-CN" dirty="0" smtClean="0"/>
              <a:t>}</a:t>
            </a:r>
            <a:endParaRPr lang="en-US" altLang="zh-CN" dirty="0"/>
          </a:p>
        </p:txBody>
      </p:sp>
      <p:sp>
        <p:nvSpPr>
          <p:cNvPr id="2" name="标题 1"/>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5760640"/>
          </a:xfrm>
        </p:spPr>
        <p:txBody>
          <a:bodyPr>
            <a:normAutofit fontScale="85000" lnSpcReduction="20000"/>
          </a:bodyPr>
          <a:lstStyle/>
          <a:p>
            <a:pPr marL="360363" indent="-360363" eaLnBrk="1" hangingPunct="1">
              <a:lnSpc>
                <a:spcPct val="120000"/>
              </a:lnSpc>
              <a:defRPr/>
            </a:pPr>
            <a:r>
              <a:rPr lang="zh-CN" altLang="en-US" dirty="0"/>
              <a:t>语法上，复合语句是</a:t>
            </a:r>
            <a:r>
              <a:rPr lang="zh-CN" altLang="en-US" dirty="0">
                <a:solidFill>
                  <a:schemeClr val="folHlink"/>
                </a:solidFill>
              </a:rPr>
              <a:t>一个</a:t>
            </a:r>
            <a:r>
              <a:rPr lang="zh-CN" altLang="en-US" dirty="0"/>
              <a:t>语句（结构语句），在只能出现一个语句的地方，如果需要写多个语句，则可把它们组织成一个复合语句。</a:t>
            </a:r>
            <a:endParaRPr lang="en-US" altLang="zh-CN" dirty="0"/>
          </a:p>
          <a:p>
            <a:pPr marL="360363" indent="-360363" eaLnBrk="1" hangingPunct="1">
              <a:lnSpc>
                <a:spcPct val="120000"/>
              </a:lnSpc>
              <a:defRPr/>
            </a:pPr>
            <a:r>
              <a:rPr lang="zh-CN" altLang="en-US" dirty="0" smtClean="0"/>
              <a:t>复合语句</a:t>
            </a:r>
            <a:r>
              <a:rPr lang="zh-CN" altLang="en-US" dirty="0"/>
              <a:t>一般作为其它结构语句（如选择语句和循环语句）的</a:t>
            </a:r>
            <a:r>
              <a:rPr lang="zh-CN" altLang="en-US" dirty="0">
                <a:solidFill>
                  <a:srgbClr val="FFC000"/>
                </a:solidFill>
              </a:rPr>
              <a:t>子句</a:t>
            </a:r>
            <a:r>
              <a:rPr lang="zh-CN" altLang="en-US" dirty="0"/>
              <a:t>（成分语句）或作为</a:t>
            </a:r>
            <a:r>
              <a:rPr lang="zh-CN" altLang="en-US" dirty="0">
                <a:solidFill>
                  <a:srgbClr val="FFC000"/>
                </a:solidFill>
              </a:rPr>
              <a:t>函数体</a:t>
            </a:r>
            <a:r>
              <a:rPr lang="zh-CN" altLang="en-US" dirty="0" smtClean="0"/>
              <a:t>。</a:t>
            </a:r>
            <a:endParaRPr lang="en-US" altLang="zh-CN" dirty="0" smtClean="0"/>
          </a:p>
          <a:p>
            <a:r>
              <a:rPr lang="zh-CN" altLang="en-US" dirty="0" smtClean="0"/>
              <a:t>例如</a:t>
            </a:r>
            <a:r>
              <a:rPr lang="zh-CN" altLang="en-US" dirty="0"/>
              <a:t>：</a:t>
            </a:r>
          </a:p>
          <a:p>
            <a:pPr marL="457200" lvl="1" indent="0">
              <a:buNone/>
            </a:pPr>
            <a:r>
              <a:rPr lang="en-US" altLang="zh-CN" dirty="0"/>
              <a:t>if (a&gt;b)</a:t>
            </a:r>
          </a:p>
          <a:p>
            <a:pPr marL="457200" lvl="1" indent="0">
              <a:buNone/>
            </a:pPr>
            <a:r>
              <a:rPr lang="en-US" altLang="zh-CN" dirty="0" smtClean="0">
                <a:solidFill>
                  <a:srgbClr val="FFC000"/>
                </a:solidFill>
              </a:rPr>
              <a:t>{</a:t>
            </a:r>
            <a:r>
              <a:rPr lang="en-US" altLang="zh-CN" dirty="0" smtClean="0"/>
              <a:t> x = a;</a:t>
            </a:r>
          </a:p>
          <a:p>
            <a:pPr marL="457200" lvl="1" indent="0">
              <a:buNone/>
            </a:pPr>
            <a:r>
              <a:rPr lang="en-US" altLang="zh-CN" dirty="0"/>
              <a:t> </a:t>
            </a:r>
            <a:r>
              <a:rPr lang="en-US" altLang="zh-CN" dirty="0" smtClean="0"/>
              <a:t>  y = b;</a:t>
            </a:r>
            <a:endParaRPr lang="zh-CN" altLang="en-US" dirty="0"/>
          </a:p>
          <a:p>
            <a:pPr marL="457200" lvl="1" indent="0">
              <a:buNone/>
            </a:pPr>
            <a:r>
              <a:rPr lang="en-US" altLang="zh-CN" dirty="0" smtClean="0">
                <a:solidFill>
                  <a:srgbClr val="FFC000"/>
                </a:solidFill>
              </a:rPr>
              <a:t>}</a:t>
            </a:r>
          </a:p>
          <a:p>
            <a:pPr marL="457200" lvl="1" indent="0">
              <a:buNone/>
            </a:pPr>
            <a:r>
              <a:rPr lang="en-US" altLang="zh-CN" dirty="0" smtClean="0"/>
              <a:t>else</a:t>
            </a:r>
            <a:endParaRPr lang="en-US" altLang="zh-CN" dirty="0"/>
          </a:p>
          <a:p>
            <a:pPr marL="457200" lvl="1" indent="0">
              <a:buNone/>
            </a:pPr>
            <a:r>
              <a:rPr lang="en-US" altLang="zh-CN" dirty="0" smtClean="0">
                <a:solidFill>
                  <a:srgbClr val="FFC000"/>
                </a:solidFill>
              </a:rPr>
              <a:t>{</a:t>
            </a:r>
            <a:r>
              <a:rPr lang="en-US" altLang="zh-CN" dirty="0" smtClean="0"/>
              <a:t> x </a:t>
            </a:r>
            <a:r>
              <a:rPr lang="en-US" altLang="zh-CN" dirty="0"/>
              <a:t>= </a:t>
            </a:r>
            <a:r>
              <a:rPr lang="en-US" altLang="zh-CN" dirty="0" smtClean="0"/>
              <a:t>b;</a:t>
            </a:r>
          </a:p>
          <a:p>
            <a:pPr marL="457200" lvl="1" indent="0">
              <a:buNone/>
            </a:pPr>
            <a:r>
              <a:rPr lang="en-US" altLang="zh-CN" dirty="0"/>
              <a:t> </a:t>
            </a:r>
            <a:r>
              <a:rPr lang="en-US" altLang="zh-CN" dirty="0" smtClean="0"/>
              <a:t>  y = a;</a:t>
            </a:r>
          </a:p>
          <a:p>
            <a:pPr marL="457200" lvl="1" indent="0">
              <a:buNone/>
            </a:pPr>
            <a:r>
              <a:rPr lang="en-US" altLang="zh-CN" dirty="0">
                <a:solidFill>
                  <a:srgbClr val="FFC000"/>
                </a:solidFill>
              </a:rPr>
              <a:t>}</a:t>
            </a:r>
          </a:p>
          <a:p>
            <a:endParaRPr lang="zh-CN" altLang="en-US" dirty="0"/>
          </a:p>
        </p:txBody>
      </p:sp>
      <p:sp>
        <p:nvSpPr>
          <p:cNvPr id="4" name="文本框 3"/>
          <p:cNvSpPr txBox="1"/>
          <p:nvPr/>
        </p:nvSpPr>
        <p:spPr>
          <a:xfrm>
            <a:off x="4716016" y="3284984"/>
            <a:ext cx="3816424" cy="3194721"/>
          </a:xfrm>
          <a:prstGeom prst="rect">
            <a:avLst/>
          </a:prstGeom>
          <a:solidFill>
            <a:schemeClr val="bg2">
              <a:lumMod val="50000"/>
            </a:schemeClr>
          </a:solidFill>
        </p:spPr>
        <p:txBody>
          <a:bodyPr wrap="square" rtlCol="0">
            <a:spAutoFit/>
          </a:bodyPr>
          <a:lstStyle/>
          <a:p>
            <a:pPr marL="357188" lvl="1" indent="-342900"/>
            <a:r>
              <a:rPr lang="zh-CN" altLang="en-US" sz="2400" dirty="0" smtClean="0"/>
              <a:t>下面的语句不符合</a:t>
            </a:r>
            <a:r>
              <a:rPr lang="en-US" altLang="zh-CN" sz="2400" dirty="0" smtClean="0"/>
              <a:t>C++</a:t>
            </a:r>
            <a:r>
              <a:rPr lang="zh-CN" altLang="en-US" sz="2400" dirty="0" smtClean="0"/>
              <a:t>语言的语法：</a:t>
            </a:r>
            <a:endParaRPr lang="en-US" altLang="zh-CN" sz="2400" dirty="0" smtClean="0"/>
          </a:p>
          <a:p>
            <a:pPr marL="457200" lvl="2">
              <a:buNone/>
            </a:pPr>
            <a:r>
              <a:rPr lang="en-US" altLang="zh-CN" sz="2400" dirty="0" smtClean="0"/>
              <a:t>if </a:t>
            </a:r>
            <a:r>
              <a:rPr lang="en-US" altLang="zh-CN" sz="2400" dirty="0"/>
              <a:t>(a&gt;b)</a:t>
            </a:r>
          </a:p>
          <a:p>
            <a:pPr marL="457200" lvl="2">
              <a:buNone/>
            </a:pPr>
            <a:r>
              <a:rPr lang="en-US" altLang="zh-CN" sz="2400" dirty="0" smtClean="0"/>
              <a:t>  </a:t>
            </a:r>
            <a:r>
              <a:rPr lang="en-US" altLang="zh-CN" sz="2400" dirty="0"/>
              <a:t>x = a;</a:t>
            </a:r>
          </a:p>
          <a:p>
            <a:pPr marL="457200" lvl="2">
              <a:buNone/>
            </a:pPr>
            <a:r>
              <a:rPr lang="en-US" altLang="zh-CN" sz="2400" dirty="0"/>
              <a:t>  </a:t>
            </a:r>
            <a:r>
              <a:rPr lang="en-US" altLang="zh-CN" sz="2400" dirty="0" smtClean="0"/>
              <a:t>y </a:t>
            </a:r>
            <a:r>
              <a:rPr lang="en-US" altLang="zh-CN" sz="2400" dirty="0"/>
              <a:t>= b;</a:t>
            </a:r>
            <a:endParaRPr lang="zh-CN" altLang="en-US" sz="2400" dirty="0"/>
          </a:p>
          <a:p>
            <a:pPr marL="457200" lvl="2">
              <a:buNone/>
            </a:pPr>
            <a:r>
              <a:rPr lang="en-US" altLang="zh-CN" sz="2400" dirty="0" smtClean="0"/>
              <a:t>else</a:t>
            </a:r>
            <a:endParaRPr lang="en-US" altLang="zh-CN" sz="2400" dirty="0"/>
          </a:p>
          <a:p>
            <a:pPr marL="457200" lvl="2">
              <a:buNone/>
            </a:pPr>
            <a:r>
              <a:rPr lang="en-US" altLang="zh-CN" sz="2400" dirty="0" smtClean="0"/>
              <a:t>  x </a:t>
            </a:r>
            <a:r>
              <a:rPr lang="en-US" altLang="zh-CN" sz="2400" dirty="0"/>
              <a:t>= b;</a:t>
            </a:r>
          </a:p>
          <a:p>
            <a:pPr marL="457200" lvl="2">
              <a:buNone/>
            </a:pPr>
            <a:r>
              <a:rPr lang="en-US" altLang="zh-CN" sz="2400" dirty="0"/>
              <a:t>  </a:t>
            </a:r>
            <a:r>
              <a:rPr lang="en-US" altLang="zh-CN" sz="2400" dirty="0" smtClean="0"/>
              <a:t>y </a:t>
            </a:r>
            <a:r>
              <a:rPr lang="en-US" altLang="zh-CN" sz="2400" dirty="0"/>
              <a:t>= a</a:t>
            </a:r>
            <a:r>
              <a:rPr lang="en-US" altLang="zh-CN" sz="2400" dirty="0" smtClean="0"/>
              <a:t>;</a:t>
            </a:r>
            <a:endParaRPr lang="en-US" altLang="zh-CN" sz="2400" dirty="0"/>
          </a:p>
        </p:txBody>
      </p:sp>
    </p:spTree>
    <p:extLst>
      <p:ext uri="{BB962C8B-B14F-4D97-AF65-F5344CB8AC3E}">
        <p14:creationId xmlns:p14="http://schemas.microsoft.com/office/powerpoint/2010/main" val="168016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179388" y="548680"/>
            <a:ext cx="8785225" cy="6120408"/>
          </a:xfrm>
        </p:spPr>
        <p:txBody>
          <a:bodyPr/>
          <a:lstStyle/>
          <a:p>
            <a:pPr eaLnBrk="1" hangingPunct="1">
              <a:lnSpc>
                <a:spcPct val="80000"/>
              </a:lnSpc>
              <a:defRPr/>
            </a:pPr>
            <a:r>
              <a:rPr lang="zh-CN" altLang="en-US" sz="2800" dirty="0" smtClean="0"/>
              <a:t>再例如，函数体要求是个复合语句</a:t>
            </a:r>
            <a:endParaRPr lang="en-US" altLang="zh-CN" sz="2800" dirty="0" smtClean="0"/>
          </a:p>
          <a:p>
            <a:pPr eaLnBrk="1" hangingPunct="1">
              <a:lnSpc>
                <a:spcPct val="80000"/>
              </a:lnSpc>
              <a:buFont typeface="Wingdings" pitchFamily="2" charset="2"/>
              <a:buNone/>
              <a:defRPr/>
            </a:pPr>
            <a:endParaRPr lang="en-US" altLang="zh-CN" sz="2400" dirty="0" smtClean="0"/>
          </a:p>
          <a:p>
            <a:pPr eaLnBrk="1" hangingPunct="1">
              <a:lnSpc>
                <a:spcPct val="8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 </a:t>
            </a:r>
            <a:r>
              <a:rPr lang="en-US" altLang="zh-CN" sz="2000" dirty="0" smtClean="0"/>
              <a:t>//</a:t>
            </a:r>
            <a:r>
              <a:rPr lang="zh-CN" altLang="en-US" sz="2000" dirty="0" smtClean="0"/>
              <a:t>对使用的</a:t>
            </a:r>
            <a:r>
              <a:rPr lang="en-US" altLang="zh-CN" sz="2000" dirty="0" smtClean="0"/>
              <a:t>C++</a:t>
            </a:r>
            <a:r>
              <a:rPr lang="zh-CN" altLang="en-US" sz="2000" dirty="0" smtClean="0"/>
              <a:t>标准库中的程序实体进行声明</a:t>
            </a:r>
          </a:p>
          <a:p>
            <a:pPr eaLnBrk="1" hangingPunct="1">
              <a:lnSpc>
                <a:spcPct val="8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 //</a:t>
            </a:r>
            <a:r>
              <a:rPr lang="zh-CN" altLang="en-US" sz="2400" dirty="0" smtClean="0"/>
              <a:t>指定使用标准库的名空间</a:t>
            </a:r>
            <a:r>
              <a:rPr lang="en-US" altLang="zh-CN" sz="2400" dirty="0" err="1" smtClean="0"/>
              <a:t>std</a:t>
            </a:r>
            <a:r>
              <a:rPr lang="zh-CN" altLang="en-US" sz="2400" dirty="0" smtClean="0"/>
              <a:t>。</a:t>
            </a:r>
          </a:p>
          <a:p>
            <a:pPr eaLnBrk="1" hangingPunct="1">
              <a:lnSpc>
                <a:spcPct val="80000"/>
              </a:lnSpc>
              <a:buFont typeface="Wingdings" pitchFamily="2" charset="2"/>
              <a:buNone/>
              <a:defRPr/>
            </a:pPr>
            <a:r>
              <a:rPr lang="en-US" altLang="zh-CN" sz="2400" dirty="0" err="1" smtClean="0"/>
              <a:t>int</a:t>
            </a:r>
            <a:r>
              <a:rPr lang="en-US" altLang="zh-CN" sz="2400" dirty="0" smtClean="0"/>
              <a:t> main() //</a:t>
            </a:r>
            <a:r>
              <a:rPr lang="zh-CN" altLang="en-US" sz="2400" dirty="0" smtClean="0"/>
              <a:t>主函数</a:t>
            </a:r>
          </a:p>
          <a:p>
            <a:pPr eaLnBrk="1" hangingPunct="1">
              <a:lnSpc>
                <a:spcPct val="80000"/>
              </a:lnSpc>
              <a:buFont typeface="Wingdings" pitchFamily="2" charset="2"/>
              <a:buNone/>
              <a:defRPr/>
            </a:pPr>
            <a:r>
              <a:rPr lang="en-US" altLang="zh-CN" sz="2400" dirty="0" smtClean="0">
                <a:solidFill>
                  <a:srgbClr val="FFC000"/>
                </a:solidFill>
              </a:rPr>
              <a:t>{</a:t>
            </a:r>
            <a:r>
              <a:rPr lang="en-US" altLang="zh-CN" sz="2400" dirty="0" smtClean="0"/>
              <a:t>	double r; </a:t>
            </a:r>
            <a:endParaRPr lang="en-US" altLang="zh-CN" sz="2000" dirty="0" smtClean="0"/>
          </a:p>
          <a:p>
            <a:pPr eaLnBrk="1" hangingPunct="1">
              <a:lnSpc>
                <a:spcPct val="8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请输入圆的半径</a:t>
            </a:r>
            <a:r>
              <a:rPr lang="en-US" altLang="zh-CN" sz="2400" dirty="0" smtClean="0"/>
              <a:t>:";</a:t>
            </a:r>
            <a:endParaRPr lang="zh-CN" altLang="en-US" sz="2000" dirty="0" smtClean="0"/>
          </a:p>
          <a:p>
            <a:pPr eaLnBrk="1" hangingPunct="1">
              <a:lnSpc>
                <a:spcPct val="80000"/>
              </a:lnSpc>
              <a:buFont typeface="Wingdings" pitchFamily="2" charset="2"/>
              <a:buNone/>
              <a:defRPr/>
            </a:pPr>
            <a:r>
              <a:rPr lang="zh-CN" altLang="en-US" sz="2400" dirty="0" smtClean="0"/>
              <a:t>	</a:t>
            </a:r>
            <a:r>
              <a:rPr lang="en-US" altLang="zh-CN" sz="2400" dirty="0" err="1" smtClean="0"/>
              <a:t>cin</a:t>
            </a:r>
            <a:r>
              <a:rPr lang="en-US" altLang="zh-CN" sz="2400" dirty="0" smtClean="0"/>
              <a:t> &gt;&gt; r; </a:t>
            </a:r>
            <a:endParaRPr lang="en-US" altLang="zh-CN" sz="2000" dirty="0" smtClean="0"/>
          </a:p>
          <a:p>
            <a:pPr eaLnBrk="1" hangingPunct="1">
              <a:lnSpc>
                <a:spcPct val="80000"/>
              </a:lnSpc>
              <a:buNone/>
              <a:defRPr/>
            </a:pPr>
            <a:r>
              <a:rPr lang="en-US" altLang="zh-CN" sz="2400" dirty="0" smtClean="0"/>
              <a:t>	double </a:t>
            </a:r>
            <a:r>
              <a:rPr lang="en-US" altLang="zh-CN" sz="2400" dirty="0"/>
              <a:t>area, circumference; </a:t>
            </a:r>
            <a:endParaRPr lang="zh-CN" altLang="en-US" sz="2000" dirty="0" smtClean="0"/>
          </a:p>
          <a:p>
            <a:pPr eaLnBrk="1" hangingPunct="1">
              <a:lnSpc>
                <a:spcPct val="80000"/>
              </a:lnSpc>
              <a:buNone/>
              <a:defRPr/>
            </a:pPr>
            <a:r>
              <a:rPr lang="zh-CN" altLang="en-US" sz="2400" dirty="0" smtClean="0"/>
              <a:t>   </a:t>
            </a:r>
            <a:r>
              <a:rPr lang="en-US" altLang="zh-CN" sz="2400" dirty="0" smtClean="0"/>
              <a:t>area = r * r * 3.14; </a:t>
            </a:r>
          </a:p>
          <a:p>
            <a:pPr eaLnBrk="1" hangingPunct="1">
              <a:lnSpc>
                <a:spcPct val="80000"/>
              </a:lnSpc>
              <a:buNone/>
              <a:defRPr/>
            </a:pPr>
            <a:r>
              <a:rPr lang="en-US" altLang="zh-CN" sz="2400" dirty="0"/>
              <a:t>   </a:t>
            </a:r>
            <a:r>
              <a:rPr lang="en-US" altLang="zh-CN" sz="2400" dirty="0" smtClean="0"/>
              <a:t>circumference </a:t>
            </a:r>
            <a:r>
              <a:rPr lang="en-US" altLang="zh-CN" sz="2400" dirty="0"/>
              <a:t>= 2 * r * 3.14;</a:t>
            </a:r>
            <a:endParaRPr lang="zh-CN" altLang="en-US" sz="2400" dirty="0"/>
          </a:p>
          <a:p>
            <a:pPr eaLnBrk="1" hangingPunct="1">
              <a:lnSpc>
                <a:spcPct val="80000"/>
              </a:lnSpc>
              <a:buFont typeface="Wingdings" pitchFamily="2" charset="2"/>
              <a:buNone/>
              <a:defRPr/>
            </a:pPr>
            <a:r>
              <a:rPr lang="zh-CN" altLang="en-US" sz="2400" dirty="0" smtClean="0"/>
              <a:t>	</a:t>
            </a:r>
            <a:r>
              <a:rPr lang="en-US" altLang="zh-CN" sz="2400" dirty="0" err="1" smtClean="0"/>
              <a:t>cout</a:t>
            </a:r>
            <a:r>
              <a:rPr lang="en-US" altLang="zh-CN" sz="2400" dirty="0" smtClean="0"/>
              <a:t> &lt;&lt; "</a:t>
            </a:r>
            <a:r>
              <a:rPr lang="zh-CN" altLang="en-US" sz="2400" dirty="0" smtClean="0"/>
              <a:t>面积等于</a:t>
            </a:r>
            <a:r>
              <a:rPr lang="en-US" altLang="zh-CN" sz="2400" dirty="0" smtClean="0"/>
              <a:t>" &lt;&lt; area &lt;&lt; </a:t>
            </a:r>
            <a:r>
              <a:rPr lang="en-US" altLang="zh-CN" sz="2400" dirty="0" err="1" smtClean="0"/>
              <a:t>endl</a:t>
            </a:r>
            <a:r>
              <a:rPr lang="en-US" altLang="zh-CN" sz="2400" dirty="0" smtClean="0"/>
              <a:t>; </a:t>
            </a:r>
          </a:p>
          <a:p>
            <a:pPr eaLnBrk="1" hangingPunct="1">
              <a:lnSpc>
                <a:spcPct val="80000"/>
              </a:lnSpc>
              <a:buNone/>
              <a:defRPr/>
            </a:pPr>
            <a:r>
              <a:rPr lang="en-US" altLang="zh-CN" sz="1800" dirty="0"/>
              <a:t>	</a:t>
            </a:r>
            <a:r>
              <a:rPr lang="en-US" altLang="zh-CN" sz="2400" dirty="0" err="1"/>
              <a:t>cout</a:t>
            </a:r>
            <a:r>
              <a:rPr lang="en-US" altLang="zh-CN" sz="2400" dirty="0"/>
              <a:t> &lt;&lt; </a:t>
            </a:r>
            <a:r>
              <a:rPr lang="en-US" altLang="zh-CN" sz="2400" dirty="0" smtClean="0"/>
              <a:t>"</a:t>
            </a:r>
            <a:r>
              <a:rPr lang="zh-CN" altLang="en-US" sz="2400" dirty="0" smtClean="0"/>
              <a:t>周长等于</a:t>
            </a:r>
            <a:r>
              <a:rPr lang="en-US" altLang="zh-CN" sz="2400" dirty="0" smtClean="0"/>
              <a:t>" </a:t>
            </a:r>
            <a:r>
              <a:rPr lang="en-US" altLang="zh-CN" sz="2400" dirty="0"/>
              <a:t>&lt;&lt; circumference</a:t>
            </a:r>
            <a:r>
              <a:rPr lang="en-US" altLang="zh-CN" sz="2400" dirty="0" smtClean="0"/>
              <a:t> </a:t>
            </a:r>
            <a:r>
              <a:rPr lang="en-US" altLang="zh-CN" sz="2400" dirty="0"/>
              <a:t>&lt;&lt; </a:t>
            </a:r>
            <a:r>
              <a:rPr lang="en-US" altLang="zh-CN" sz="2400" dirty="0" err="1"/>
              <a:t>endl</a:t>
            </a:r>
            <a:r>
              <a:rPr lang="en-US" altLang="zh-CN" sz="2400" dirty="0"/>
              <a:t>; </a:t>
            </a:r>
          </a:p>
          <a:p>
            <a:pPr eaLnBrk="1" hangingPunct="1">
              <a:lnSpc>
                <a:spcPct val="80000"/>
              </a:lnSpc>
              <a:buFont typeface="Wingdings" pitchFamily="2" charset="2"/>
              <a:buNone/>
              <a:defRPr/>
            </a:pPr>
            <a:r>
              <a:rPr lang="en-US" altLang="zh-CN" sz="2400" dirty="0" smtClean="0"/>
              <a:t>	return 0;</a:t>
            </a:r>
            <a:endParaRPr lang="zh-CN" altLang="en-US" sz="2000" dirty="0" smtClean="0"/>
          </a:p>
          <a:p>
            <a:pPr eaLnBrk="1" hangingPunct="1">
              <a:lnSpc>
                <a:spcPct val="80000"/>
              </a:lnSpc>
              <a:buFont typeface="Wingdings" pitchFamily="2" charset="2"/>
              <a:buNone/>
              <a:defRPr/>
            </a:pPr>
            <a:r>
              <a:rPr lang="en-US" altLang="zh-CN" sz="2400" dirty="0" smtClean="0">
                <a:solidFill>
                  <a:srgbClr val="FFC000"/>
                </a:solidFill>
              </a:rPr>
              <a:t>}</a:t>
            </a:r>
          </a:p>
          <a:p>
            <a:pPr eaLnBrk="1" hangingPunct="1">
              <a:lnSpc>
                <a:spcPct val="80000"/>
              </a:lnSpc>
              <a:buFont typeface="Wingdings" pitchFamily="2" charset="2"/>
              <a:buNone/>
              <a:defRPr/>
            </a:pPr>
            <a:endParaRPr lang="en-US" altLang="zh-CN" sz="2400" dirty="0" smtClean="0"/>
          </a:p>
        </p:txBody>
      </p:sp>
    </p:spTree>
    <p:extLst>
      <p:ext uri="{BB962C8B-B14F-4D97-AF65-F5344CB8AC3E}">
        <p14:creationId xmlns:p14="http://schemas.microsoft.com/office/powerpoint/2010/main" val="10572870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15950" y="115888"/>
            <a:ext cx="7772400" cy="1143000"/>
          </a:xfrm>
        </p:spPr>
        <p:txBody>
          <a:bodyPr/>
          <a:lstStyle/>
          <a:p>
            <a:pPr eaLnBrk="1" hangingPunct="1">
              <a:defRPr/>
            </a:pPr>
            <a:r>
              <a:rPr lang="zh-CN" altLang="en-US" dirty="0" smtClean="0"/>
              <a:t>选择执行</a:t>
            </a:r>
          </a:p>
        </p:txBody>
      </p:sp>
      <p:sp>
        <p:nvSpPr>
          <p:cNvPr id="8195" name="Rectangle 3"/>
          <p:cNvSpPr>
            <a:spLocks noGrp="1" noChangeArrowheads="1"/>
          </p:cNvSpPr>
          <p:nvPr>
            <p:ph type="body" idx="1"/>
          </p:nvPr>
        </p:nvSpPr>
        <p:spPr>
          <a:xfrm>
            <a:off x="395536" y="1600200"/>
            <a:ext cx="8305800" cy="4924425"/>
          </a:xfrm>
        </p:spPr>
        <p:txBody>
          <a:bodyPr/>
          <a:lstStyle/>
          <a:p>
            <a:pPr marL="360363" indent="-360363" algn="just" eaLnBrk="1" hangingPunct="1">
              <a:defRPr/>
            </a:pPr>
            <a:r>
              <a:rPr lang="zh-CN" altLang="en-US" dirty="0" smtClean="0"/>
              <a:t>在程序中，常常要根据不同的情况来选择需要执行的语句，这是通过</a:t>
            </a:r>
            <a:r>
              <a:rPr lang="zh-CN" altLang="en-US" dirty="0" smtClean="0">
                <a:solidFill>
                  <a:srgbClr val="FFC000"/>
                </a:solidFill>
              </a:rPr>
              <a:t>选择语句</a:t>
            </a:r>
            <a:r>
              <a:rPr lang="zh-CN" altLang="en-US" dirty="0" smtClean="0"/>
              <a:t>来完成的。</a:t>
            </a:r>
          </a:p>
          <a:p>
            <a:pPr marL="360363" indent="-360363" algn="just" eaLnBrk="1" hangingPunct="1">
              <a:defRPr/>
            </a:pPr>
            <a:r>
              <a:rPr lang="en-US" altLang="zh-CN" dirty="0" smtClean="0"/>
              <a:t>C++</a:t>
            </a:r>
            <a:r>
              <a:rPr lang="zh-CN" altLang="en-US" dirty="0" smtClean="0"/>
              <a:t>的选择语句包括：</a:t>
            </a:r>
          </a:p>
          <a:p>
            <a:pPr marL="825500" lvl="1" algn="just" eaLnBrk="1" hangingPunct="1">
              <a:defRPr/>
            </a:pPr>
            <a:r>
              <a:rPr lang="en-US" altLang="zh-CN" dirty="0">
                <a:cs typeface="+mn-cs"/>
              </a:rPr>
              <a:t>if</a:t>
            </a:r>
            <a:r>
              <a:rPr lang="zh-CN" altLang="en-US" dirty="0" smtClean="0"/>
              <a:t>语句（两路分支）</a:t>
            </a:r>
            <a:endParaRPr lang="zh-CN" altLang="en-US" dirty="0"/>
          </a:p>
          <a:p>
            <a:pPr marL="825500" lvl="1" algn="just" eaLnBrk="1" hangingPunct="1">
              <a:defRPr/>
            </a:pPr>
            <a:r>
              <a:rPr lang="en-US" altLang="zh-CN" dirty="0">
                <a:cs typeface="+mn-cs"/>
              </a:rPr>
              <a:t>switch</a:t>
            </a:r>
            <a:r>
              <a:rPr lang="zh-CN" altLang="en-US" dirty="0" smtClean="0"/>
              <a:t>语句（多路分支）</a:t>
            </a:r>
            <a:endParaRPr lang="en-US" altLang="zh-CN" dirty="0" smtClean="0"/>
          </a:p>
          <a:p>
            <a:pPr marL="425450" algn="just" eaLnBrk="1" hangingPunct="1">
              <a:defRPr/>
            </a:pPr>
            <a:r>
              <a:rPr lang="zh-CN" altLang="en-US" dirty="0" smtClean="0"/>
              <a:t>语法上，</a:t>
            </a:r>
            <a:r>
              <a:rPr lang="zh-CN" altLang="en-US" dirty="0"/>
              <a:t>选择语句</a:t>
            </a:r>
            <a:r>
              <a:rPr lang="zh-CN" altLang="en-US" dirty="0" smtClean="0"/>
              <a:t>属于</a:t>
            </a:r>
            <a:r>
              <a:rPr lang="zh-CN" altLang="en-US" dirty="0"/>
              <a:t>结构</a:t>
            </a:r>
            <a:r>
              <a:rPr lang="zh-CN" altLang="en-US" dirty="0" smtClean="0"/>
              <a:t>语句。</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4213" y="115888"/>
            <a:ext cx="7772400" cy="1143000"/>
          </a:xfrm>
        </p:spPr>
        <p:txBody>
          <a:bodyPr/>
          <a:lstStyle/>
          <a:p>
            <a:pPr eaLnBrk="1" hangingPunct="1">
              <a:defRPr/>
            </a:pPr>
            <a:r>
              <a:rPr lang="en-US" altLang="zh-CN" smtClean="0"/>
              <a:t> if  </a:t>
            </a:r>
            <a:r>
              <a:rPr lang="zh-CN" altLang="en-US" smtClean="0"/>
              <a:t>语句</a:t>
            </a:r>
          </a:p>
        </p:txBody>
      </p:sp>
      <p:sp>
        <p:nvSpPr>
          <p:cNvPr id="9219" name="Rectangle 3"/>
          <p:cNvSpPr>
            <a:spLocks noGrp="1" noChangeArrowheads="1"/>
          </p:cNvSpPr>
          <p:nvPr>
            <p:ph type="body" idx="1"/>
          </p:nvPr>
        </p:nvSpPr>
        <p:spPr>
          <a:xfrm>
            <a:off x="241176" y="1412776"/>
            <a:ext cx="8579296" cy="4968850"/>
          </a:xfrm>
        </p:spPr>
        <p:txBody>
          <a:bodyPr/>
          <a:lstStyle/>
          <a:p>
            <a:pPr eaLnBrk="1" hangingPunct="1">
              <a:defRPr/>
            </a:pPr>
            <a:r>
              <a:rPr lang="en-US" altLang="zh-CN" sz="2800" dirty="0" smtClean="0">
                <a:solidFill>
                  <a:srgbClr val="FFC000"/>
                </a:solidFill>
              </a:rPr>
              <a:t>if</a:t>
            </a:r>
            <a:r>
              <a:rPr lang="zh-CN" altLang="en-US" sz="2800" dirty="0" smtClean="0">
                <a:solidFill>
                  <a:srgbClr val="FFC000"/>
                </a:solidFill>
              </a:rPr>
              <a:t>语句</a:t>
            </a:r>
            <a:r>
              <a:rPr lang="zh-CN" altLang="en-US" sz="2800" dirty="0" smtClean="0"/>
              <a:t>（又称条件语句）是根据一个条件满足与否来决定：</a:t>
            </a:r>
            <a:endParaRPr lang="en-US" altLang="zh-CN" sz="2800" dirty="0" smtClean="0"/>
          </a:p>
          <a:p>
            <a:pPr lvl="1" eaLnBrk="1" hangingPunct="1">
              <a:defRPr/>
            </a:pPr>
            <a:r>
              <a:rPr lang="zh-CN" altLang="en-US" sz="2400" dirty="0" smtClean="0"/>
              <a:t>是否执行某个语句</a:t>
            </a:r>
            <a:endParaRPr lang="en-US" altLang="zh-CN" sz="2400" dirty="0" smtClean="0"/>
          </a:p>
          <a:p>
            <a:pPr lvl="1" eaLnBrk="1" hangingPunct="1">
              <a:defRPr/>
            </a:pPr>
            <a:r>
              <a:rPr lang="zh-CN" altLang="en-US" sz="2400" dirty="0" smtClean="0"/>
              <a:t>从两个语句中选择一个来执行</a:t>
            </a:r>
          </a:p>
          <a:p>
            <a:pPr eaLnBrk="1" hangingPunct="1">
              <a:defRPr/>
            </a:pPr>
            <a:r>
              <a:rPr lang="en-US" altLang="zh-CN" sz="2800" dirty="0" smtClean="0">
                <a:latin typeface="Verdana" panose="020B0604030504040204" pitchFamily="34" charset="0"/>
                <a:ea typeface="Verdana" panose="020B0604030504040204" pitchFamily="34" charset="0"/>
                <a:cs typeface="Verdana" panose="020B0604030504040204" pitchFamily="34" charset="0"/>
              </a:rPr>
              <a:t>if</a:t>
            </a:r>
            <a:r>
              <a:rPr lang="zh-CN" altLang="en-US" sz="2800" dirty="0" smtClean="0"/>
              <a:t>语句有两种格式：</a:t>
            </a:r>
            <a:endParaRPr lang="zh-CN" altLang="en-US" sz="2800" dirty="0" smtClean="0">
              <a:latin typeface="宋体" charset="-122"/>
              <a:cs typeface="Times New Roman" pitchFamily="18" charset="0"/>
            </a:endParaRPr>
          </a:p>
          <a:p>
            <a:pPr lvl="1" algn="just" eaLnBrk="1" hangingPunct="1">
              <a:defRPr/>
            </a:pPr>
            <a:r>
              <a:rPr lang="en-US" altLang="zh-CN" sz="2400" b="1" dirty="0" smtClean="0">
                <a:solidFill>
                  <a:srgbClr val="FFC000"/>
                </a:solidFill>
                <a:cs typeface="Times New Roman" pitchFamily="18" charset="0"/>
              </a:rPr>
              <a:t>if (</a:t>
            </a:r>
            <a:r>
              <a:rPr lang="en-US" altLang="zh-CN" sz="2400" dirty="0" smtClean="0">
                <a:cs typeface="Times New Roman" pitchFamily="18" charset="0"/>
              </a:rPr>
              <a:t>&lt;</a:t>
            </a:r>
            <a:r>
              <a:rPr lang="zh-CN" altLang="en-US" sz="2400" dirty="0" smtClean="0"/>
              <a:t>表达式</a:t>
            </a:r>
            <a:r>
              <a:rPr lang="en-US" altLang="zh-CN" sz="2400" dirty="0" smtClean="0">
                <a:cs typeface="Times New Roman" pitchFamily="18" charset="0"/>
              </a:rPr>
              <a:t>&gt;</a:t>
            </a:r>
            <a:r>
              <a:rPr lang="en-US" altLang="zh-CN" sz="2400" b="1" dirty="0" smtClean="0">
                <a:solidFill>
                  <a:srgbClr val="FFC000"/>
                </a:solidFill>
                <a:cs typeface="Times New Roman" pitchFamily="18" charset="0"/>
              </a:rPr>
              <a:t>)</a:t>
            </a:r>
            <a:r>
              <a:rPr lang="en-US" altLang="zh-CN" sz="2400" dirty="0" smtClean="0">
                <a:cs typeface="Times New Roman" pitchFamily="18" charset="0"/>
              </a:rPr>
              <a:t> &lt;</a:t>
            </a:r>
            <a:r>
              <a:rPr lang="zh-CN" altLang="en-US" sz="2400" dirty="0" smtClean="0"/>
              <a:t>语句</a:t>
            </a:r>
            <a:r>
              <a:rPr lang="en-US" altLang="zh-CN" sz="2400" dirty="0" smtClean="0">
                <a:cs typeface="Times New Roman" pitchFamily="18" charset="0"/>
              </a:rPr>
              <a:t>&gt;</a:t>
            </a:r>
          </a:p>
          <a:p>
            <a:pPr lvl="1" algn="just" eaLnBrk="1" hangingPunct="1">
              <a:defRPr/>
            </a:pPr>
            <a:r>
              <a:rPr lang="en-US" altLang="zh-CN" sz="2400" b="1" dirty="0" smtClean="0">
                <a:solidFill>
                  <a:srgbClr val="FFC000"/>
                </a:solidFill>
                <a:cs typeface="Times New Roman" pitchFamily="18" charset="0"/>
              </a:rPr>
              <a:t>if (</a:t>
            </a:r>
            <a:r>
              <a:rPr lang="en-US" altLang="zh-CN" sz="2400" dirty="0" smtClean="0">
                <a:cs typeface="Times New Roman" pitchFamily="18" charset="0"/>
              </a:rPr>
              <a:t>&lt;</a:t>
            </a:r>
            <a:r>
              <a:rPr lang="zh-CN" altLang="en-US" sz="2400" dirty="0" smtClean="0"/>
              <a:t>表达式</a:t>
            </a:r>
            <a:r>
              <a:rPr lang="en-US" altLang="zh-CN" sz="2400" dirty="0" smtClean="0">
                <a:cs typeface="Times New Roman" pitchFamily="18" charset="0"/>
              </a:rPr>
              <a:t>&gt;</a:t>
            </a:r>
            <a:r>
              <a:rPr lang="en-US" altLang="zh-CN" sz="2400" b="1" dirty="0" smtClean="0">
                <a:solidFill>
                  <a:srgbClr val="FFC000"/>
                </a:solidFill>
                <a:cs typeface="Times New Roman" pitchFamily="18" charset="0"/>
              </a:rPr>
              <a:t>)</a:t>
            </a:r>
            <a:r>
              <a:rPr lang="en-US" altLang="zh-CN" sz="2400" dirty="0" smtClean="0">
                <a:solidFill>
                  <a:srgbClr val="FFC000"/>
                </a:solidFill>
                <a:cs typeface="Times New Roman" pitchFamily="18" charset="0"/>
              </a:rPr>
              <a:t> </a:t>
            </a:r>
            <a:r>
              <a:rPr lang="en-US" altLang="zh-CN" sz="2400" dirty="0" smtClean="0">
                <a:cs typeface="Times New Roman" pitchFamily="18" charset="0"/>
              </a:rPr>
              <a:t>&lt;</a:t>
            </a:r>
            <a:r>
              <a:rPr lang="zh-CN" altLang="en-US" sz="2400" dirty="0" smtClean="0"/>
              <a:t>语句</a:t>
            </a:r>
            <a:r>
              <a:rPr lang="en-US" altLang="zh-CN" sz="2400" dirty="0" smtClean="0">
                <a:cs typeface="Times New Roman" pitchFamily="18" charset="0"/>
              </a:rPr>
              <a:t>1&gt; </a:t>
            </a:r>
            <a:r>
              <a:rPr lang="en-US" altLang="zh-CN" sz="2400" b="1" dirty="0" smtClean="0">
                <a:solidFill>
                  <a:srgbClr val="FFC000"/>
                </a:solidFill>
                <a:cs typeface="Times New Roman" pitchFamily="18" charset="0"/>
              </a:rPr>
              <a:t>else</a:t>
            </a:r>
            <a:r>
              <a:rPr lang="en-US" altLang="zh-CN" sz="2400" dirty="0" smtClean="0">
                <a:cs typeface="Times New Roman" pitchFamily="18" charset="0"/>
              </a:rPr>
              <a:t> &lt;</a:t>
            </a:r>
            <a:r>
              <a:rPr lang="zh-CN" altLang="en-US" sz="2400" dirty="0" smtClean="0"/>
              <a:t>语句</a:t>
            </a:r>
            <a:r>
              <a:rPr lang="en-US" altLang="zh-CN" sz="2400" dirty="0" smtClean="0">
                <a:cs typeface="Times New Roman" pitchFamily="18" charset="0"/>
              </a:rPr>
              <a:t>2&gt;</a:t>
            </a:r>
          </a:p>
          <a:p>
            <a:pPr marL="990600" lvl="2" algn="just" eaLnBrk="1" hangingPunct="1">
              <a:defRPr/>
            </a:pPr>
            <a:r>
              <a:rPr lang="en-US" altLang="zh-CN" sz="2000" dirty="0" smtClean="0">
                <a:cs typeface="Times New Roman" pitchFamily="18" charset="0"/>
              </a:rPr>
              <a:t>&lt;</a:t>
            </a:r>
            <a:r>
              <a:rPr lang="zh-CN" altLang="en-US" sz="2000" dirty="0" smtClean="0"/>
              <a:t>表达式</a:t>
            </a:r>
            <a:r>
              <a:rPr lang="en-US" altLang="zh-CN" sz="2000" dirty="0" smtClean="0">
                <a:cs typeface="Times New Roman" pitchFamily="18" charset="0"/>
              </a:rPr>
              <a:t>&gt;</a:t>
            </a:r>
            <a:r>
              <a:rPr lang="zh-CN" altLang="en-US" sz="2000" dirty="0">
                <a:cs typeface="Times New Roman" pitchFamily="18" charset="0"/>
              </a:rPr>
              <a:t>表示</a:t>
            </a:r>
            <a:r>
              <a:rPr lang="zh-CN" altLang="en-US" sz="2000" dirty="0" smtClean="0">
                <a:cs typeface="Times New Roman" pitchFamily="18" charset="0"/>
              </a:rPr>
              <a:t>条件，它可以是任意的</a:t>
            </a:r>
            <a:r>
              <a:rPr lang="en-US" altLang="zh-CN" sz="2000" dirty="0" smtClean="0">
                <a:cs typeface="Times New Roman" pitchFamily="18" charset="0"/>
              </a:rPr>
              <a:t>C++</a:t>
            </a:r>
            <a:r>
              <a:rPr lang="zh-CN" altLang="en-US" sz="2000" dirty="0" smtClean="0">
                <a:cs typeface="Times New Roman" pitchFamily="18" charset="0"/>
              </a:rPr>
              <a:t>表达式，通常为</a:t>
            </a:r>
            <a:r>
              <a:rPr lang="zh-CN" altLang="en-US" sz="2000" dirty="0" smtClean="0">
                <a:solidFill>
                  <a:srgbClr val="FFC000"/>
                </a:solidFill>
                <a:cs typeface="Times New Roman" pitchFamily="18" charset="0"/>
              </a:rPr>
              <a:t>关系或逻辑表达式</a:t>
            </a:r>
            <a:endParaRPr lang="en-US" altLang="zh-CN" sz="2000" dirty="0" smtClean="0">
              <a:cs typeface="Times New Roman" pitchFamily="18" charset="0"/>
            </a:endParaRPr>
          </a:p>
          <a:p>
            <a:pPr marL="990600" lvl="2" algn="just" eaLnBrk="1" hangingPunct="1">
              <a:defRPr/>
            </a:pPr>
            <a:r>
              <a:rPr lang="en-US" altLang="zh-CN" sz="2000" dirty="0" smtClean="0">
                <a:cs typeface="Times New Roman" pitchFamily="18" charset="0"/>
              </a:rPr>
              <a:t>&lt;</a:t>
            </a:r>
            <a:r>
              <a:rPr lang="zh-CN" altLang="en-US" sz="2000" dirty="0" smtClean="0">
                <a:cs typeface="Times New Roman" pitchFamily="18" charset="0"/>
              </a:rPr>
              <a:t>语句</a:t>
            </a:r>
            <a:r>
              <a:rPr lang="en-US" altLang="zh-CN" sz="2000" dirty="0" smtClean="0">
                <a:cs typeface="Times New Roman" pitchFamily="18" charset="0"/>
              </a:rPr>
              <a:t>&gt;</a:t>
            </a:r>
            <a:r>
              <a:rPr lang="zh-CN" altLang="en-US" sz="2000" dirty="0" smtClean="0">
                <a:cs typeface="Times New Roman" pitchFamily="18" charset="0"/>
              </a:rPr>
              <a:t>、</a:t>
            </a:r>
            <a:r>
              <a:rPr lang="en-US" altLang="zh-CN" sz="2000" dirty="0" smtClean="0">
                <a:cs typeface="Times New Roman" pitchFamily="18" charset="0"/>
              </a:rPr>
              <a:t>&lt;</a:t>
            </a:r>
            <a:r>
              <a:rPr lang="zh-CN" altLang="en-US" sz="2000" dirty="0" smtClean="0">
                <a:cs typeface="Times New Roman" pitchFamily="18" charset="0"/>
              </a:rPr>
              <a:t>语句</a:t>
            </a:r>
            <a:r>
              <a:rPr lang="en-US" altLang="zh-CN" sz="2000" dirty="0" smtClean="0">
                <a:cs typeface="Times New Roman" pitchFamily="18" charset="0"/>
              </a:rPr>
              <a:t>1&gt;</a:t>
            </a:r>
            <a:r>
              <a:rPr lang="zh-CN" altLang="en-US" sz="2000" dirty="0" smtClean="0">
                <a:cs typeface="Times New Roman" pitchFamily="18" charset="0"/>
              </a:rPr>
              <a:t>、</a:t>
            </a:r>
            <a:r>
              <a:rPr lang="en-US" altLang="zh-CN" sz="2000" dirty="0" smtClean="0">
                <a:cs typeface="Times New Roman" pitchFamily="18" charset="0"/>
              </a:rPr>
              <a:t>&lt;</a:t>
            </a:r>
            <a:r>
              <a:rPr lang="zh-CN" altLang="en-US" sz="2000" dirty="0" smtClean="0">
                <a:cs typeface="Times New Roman" pitchFamily="18" charset="0"/>
              </a:rPr>
              <a:t>语句</a:t>
            </a:r>
            <a:r>
              <a:rPr lang="en-US" altLang="zh-CN" sz="2000" dirty="0" smtClean="0">
                <a:cs typeface="Times New Roman" pitchFamily="18" charset="0"/>
              </a:rPr>
              <a:t>2&gt;</a:t>
            </a:r>
            <a:r>
              <a:rPr lang="zh-CN" altLang="en-US" sz="2000" dirty="0" smtClean="0">
                <a:cs typeface="Times New Roman" pitchFamily="18" charset="0"/>
              </a:rPr>
              <a:t>是</a:t>
            </a:r>
            <a:r>
              <a:rPr lang="en-US" altLang="zh-CN" sz="2000" dirty="0" smtClean="0">
                <a:cs typeface="Times New Roman" pitchFamily="18" charset="0"/>
              </a:rPr>
              <a:t>if</a:t>
            </a:r>
            <a:r>
              <a:rPr lang="zh-CN" altLang="en-US" sz="2000" dirty="0" smtClean="0">
                <a:cs typeface="Times New Roman" pitchFamily="18" charset="0"/>
              </a:rPr>
              <a:t>语句的</a:t>
            </a:r>
            <a:r>
              <a:rPr lang="zh-CN" altLang="en-US" sz="2000" dirty="0" smtClean="0">
                <a:solidFill>
                  <a:srgbClr val="FFC000"/>
                </a:solidFill>
                <a:cs typeface="Times New Roman" pitchFamily="18" charset="0"/>
              </a:rPr>
              <a:t>成分语句</a:t>
            </a:r>
            <a:r>
              <a:rPr lang="zh-CN" altLang="en-US" sz="2000" dirty="0">
                <a:cs typeface="Times New Roman" pitchFamily="18" charset="0"/>
              </a:rPr>
              <a:t>或</a:t>
            </a:r>
            <a:r>
              <a:rPr lang="zh-CN" altLang="en-US" sz="2000" dirty="0" smtClean="0">
                <a:solidFill>
                  <a:srgbClr val="FFC000"/>
                </a:solidFill>
                <a:cs typeface="Times New Roman" pitchFamily="18" charset="0"/>
              </a:rPr>
              <a:t>子句</a:t>
            </a:r>
            <a:r>
              <a:rPr lang="zh-CN" altLang="en-US" sz="2000" dirty="0" smtClean="0">
                <a:cs typeface="Times New Roman" pitchFamily="18" charset="0"/>
              </a:rPr>
              <a:t>，它们可以是任意的</a:t>
            </a:r>
            <a:r>
              <a:rPr lang="en-US" altLang="zh-CN" sz="2000" dirty="0" smtClean="0">
                <a:cs typeface="Times New Roman" pitchFamily="18" charset="0"/>
              </a:rPr>
              <a:t>C++</a:t>
            </a:r>
            <a:r>
              <a:rPr lang="zh-CN" altLang="en-US" sz="2000" dirty="0" smtClean="0">
                <a:cs typeface="Times New Roman" pitchFamily="18" charset="0"/>
              </a:rPr>
              <a:t>语句，但必须是</a:t>
            </a:r>
            <a:r>
              <a:rPr lang="zh-CN" altLang="en-US" sz="2000" dirty="0" smtClean="0">
                <a:solidFill>
                  <a:srgbClr val="FFC000"/>
                </a:solidFill>
                <a:cs typeface="Times New Roman" pitchFamily="18" charset="0"/>
              </a:rPr>
              <a:t>一个</a:t>
            </a:r>
            <a:r>
              <a:rPr lang="zh-CN" altLang="en-US" sz="2000" dirty="0" smtClean="0">
                <a:cs typeface="Times New Roman" pitchFamily="18" charset="0"/>
              </a:rPr>
              <a:t>语句！（复合语句算一个语句）</a:t>
            </a:r>
            <a:endParaRPr lang="en-US" altLang="zh-CN" sz="2000" dirty="0" smtClean="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4213" y="0"/>
            <a:ext cx="7772400" cy="1143000"/>
          </a:xfrm>
        </p:spPr>
        <p:txBody>
          <a:bodyPr/>
          <a:lstStyle/>
          <a:p>
            <a:pPr eaLnBrk="1" hangingPunct="1">
              <a:defRPr/>
            </a:pPr>
            <a:r>
              <a:rPr lang="en-US" altLang="zh-CN" smtClean="0"/>
              <a:t> if</a:t>
            </a:r>
            <a:r>
              <a:rPr lang="zh-CN" altLang="en-US" smtClean="0"/>
              <a:t>语句的含义</a:t>
            </a:r>
          </a:p>
        </p:txBody>
      </p:sp>
      <p:sp>
        <p:nvSpPr>
          <p:cNvPr id="16388" name="Text Box 4"/>
          <p:cNvSpPr txBox="1">
            <a:spLocks noChangeArrowheads="1"/>
          </p:cNvSpPr>
          <p:nvPr/>
        </p:nvSpPr>
        <p:spPr bwMode="auto">
          <a:xfrm>
            <a:off x="179512" y="1442938"/>
            <a:ext cx="3600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hlink"/>
              </a:buClr>
              <a:buSzPct val="60000"/>
              <a:buFont typeface="Wingdings" pitchFamily="2" charset="2"/>
              <a:buChar char="n"/>
              <a:defRPr sz="3200">
                <a:solidFill>
                  <a:schemeClr val="tx1"/>
                </a:solidFill>
                <a:latin typeface="Verdana" pitchFamily="34" charset="0"/>
                <a:ea typeface="宋体" charset="-122"/>
              </a:defRPr>
            </a:lvl1pPr>
            <a:lvl2pPr marL="742950" indent="-285750" eaLnBrk="0" hangingPunct="0">
              <a:buClr>
                <a:schemeClr val="tx1"/>
              </a:buClr>
              <a:defRPr sz="2800">
                <a:solidFill>
                  <a:schemeClr val="tx1"/>
                </a:solidFill>
                <a:latin typeface="Verdana" pitchFamily="34" charset="0"/>
                <a:ea typeface="宋体" charset="-122"/>
              </a:defRPr>
            </a:lvl2pPr>
            <a:lvl3pPr marL="1143000" indent="-228600" eaLnBrk="0" hangingPunct="0">
              <a:buClr>
                <a:schemeClr val="accent2"/>
              </a:buClr>
              <a:buSzPct val="60000"/>
              <a:buFont typeface="Wingdings" pitchFamily="2" charset="2"/>
              <a:buChar char="n"/>
              <a:defRPr sz="2400">
                <a:solidFill>
                  <a:schemeClr val="tx1"/>
                </a:solidFill>
                <a:latin typeface="Verdana" pitchFamily="34" charset="0"/>
                <a:ea typeface="宋体" charset="-122"/>
              </a:defRPr>
            </a:lvl3pPr>
            <a:lvl4pPr marL="1600200" indent="-228600" eaLnBrk="0" hangingPunct="0">
              <a:buClr>
                <a:schemeClr val="tx2"/>
              </a:buClr>
              <a:defRPr sz="2000">
                <a:solidFill>
                  <a:schemeClr val="tx1"/>
                </a:solidFill>
                <a:latin typeface="Verdana" pitchFamily="34" charset="0"/>
                <a:ea typeface="宋体" charset="-122"/>
              </a:defRPr>
            </a:lvl4pPr>
            <a:lvl5pPr marL="2057400" indent="-228600" eaLnBrk="0" hangingPunct="0">
              <a:buClr>
                <a:schemeClr val="folHlink"/>
              </a:buClr>
              <a:buSzPct val="60000"/>
              <a:buFont typeface="Wingdings" pitchFamily="2" charset="2"/>
              <a:buChar char="n"/>
              <a:defRPr sz="2000">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9pPr>
          </a:lstStyle>
          <a:p>
            <a:pPr marL="4763" lvl="1" indent="0" algn="just" eaLnBrk="1" hangingPunct="1">
              <a:buFontTx/>
              <a:buNone/>
              <a:defRPr/>
            </a:pPr>
            <a:r>
              <a:rPr lang="zh-CN" altLang="en-US" sz="2000" dirty="0" smtClean="0">
                <a:cs typeface="Times New Roman" pitchFamily="18" charset="0"/>
              </a:rPr>
              <a:t>（</a:t>
            </a:r>
            <a:r>
              <a:rPr lang="en-US" altLang="zh-CN" sz="2000" dirty="0" smtClean="0">
                <a:cs typeface="Times New Roman" pitchFamily="18" charset="0"/>
              </a:rPr>
              <a:t>1</a:t>
            </a:r>
            <a:r>
              <a:rPr lang="zh-CN" altLang="en-US" sz="2000" dirty="0" smtClean="0">
                <a:cs typeface="Times New Roman" pitchFamily="18" charset="0"/>
              </a:rPr>
              <a:t>）</a:t>
            </a:r>
            <a:r>
              <a:rPr lang="en-US" altLang="zh-CN" sz="2000" dirty="0" smtClean="0">
                <a:solidFill>
                  <a:srgbClr val="FFC000"/>
                </a:solidFill>
                <a:cs typeface="Times New Roman" pitchFamily="18" charset="0"/>
              </a:rPr>
              <a:t>if </a:t>
            </a:r>
            <a:r>
              <a:rPr lang="en-US" altLang="zh-CN" sz="2000" dirty="0">
                <a:solidFill>
                  <a:srgbClr val="FFC000"/>
                </a:solidFill>
                <a:cs typeface="Times New Roman" pitchFamily="18" charset="0"/>
              </a:rPr>
              <a:t>(</a:t>
            </a:r>
            <a:r>
              <a:rPr lang="en-US" altLang="zh-CN" sz="2000" dirty="0">
                <a:cs typeface="Times New Roman" pitchFamily="18" charset="0"/>
              </a:rPr>
              <a:t>&lt;</a:t>
            </a:r>
            <a:r>
              <a:rPr lang="zh-CN" altLang="en-US" sz="2000" dirty="0"/>
              <a:t>表达式</a:t>
            </a:r>
            <a:r>
              <a:rPr lang="en-US" altLang="zh-CN" sz="2000" dirty="0">
                <a:cs typeface="Times New Roman" pitchFamily="18" charset="0"/>
              </a:rPr>
              <a:t>&gt;</a:t>
            </a:r>
            <a:r>
              <a:rPr lang="en-US" altLang="zh-CN" sz="2000" dirty="0">
                <a:solidFill>
                  <a:srgbClr val="FFC000"/>
                </a:solidFill>
                <a:cs typeface="Times New Roman" pitchFamily="18" charset="0"/>
              </a:rPr>
              <a:t>) </a:t>
            </a:r>
            <a:r>
              <a:rPr lang="en-US" altLang="zh-CN" sz="2000" dirty="0">
                <a:cs typeface="Times New Roman" pitchFamily="18" charset="0"/>
              </a:rPr>
              <a:t>&lt;</a:t>
            </a:r>
            <a:r>
              <a:rPr lang="zh-CN" altLang="en-US" sz="2000" dirty="0"/>
              <a:t>语句</a:t>
            </a:r>
            <a:r>
              <a:rPr lang="en-US" altLang="zh-CN" sz="2000" dirty="0">
                <a:cs typeface="Times New Roman" pitchFamily="18" charset="0"/>
              </a:rPr>
              <a:t>&gt;</a:t>
            </a:r>
          </a:p>
        </p:txBody>
      </p:sp>
      <p:sp>
        <p:nvSpPr>
          <p:cNvPr id="16389" name="Text Box 5"/>
          <p:cNvSpPr txBox="1">
            <a:spLocks noChangeArrowheads="1"/>
          </p:cNvSpPr>
          <p:nvPr/>
        </p:nvSpPr>
        <p:spPr bwMode="auto">
          <a:xfrm>
            <a:off x="3923928" y="1412776"/>
            <a:ext cx="51125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hlink"/>
              </a:buClr>
              <a:buSzPct val="60000"/>
              <a:buFont typeface="Wingdings" pitchFamily="2" charset="2"/>
              <a:buChar char="n"/>
              <a:defRPr sz="3200">
                <a:solidFill>
                  <a:schemeClr val="tx1"/>
                </a:solidFill>
                <a:latin typeface="Verdana" pitchFamily="34" charset="0"/>
                <a:ea typeface="宋体" charset="-122"/>
              </a:defRPr>
            </a:lvl1pPr>
            <a:lvl2pPr marL="742950" indent="-285750" eaLnBrk="0" hangingPunct="0">
              <a:buClr>
                <a:schemeClr val="tx1"/>
              </a:buClr>
              <a:defRPr sz="2800">
                <a:solidFill>
                  <a:schemeClr val="tx1"/>
                </a:solidFill>
                <a:latin typeface="Verdana" pitchFamily="34" charset="0"/>
                <a:ea typeface="宋体" charset="-122"/>
              </a:defRPr>
            </a:lvl2pPr>
            <a:lvl3pPr marL="1143000" indent="-228600" eaLnBrk="0" hangingPunct="0">
              <a:buClr>
                <a:schemeClr val="accent2"/>
              </a:buClr>
              <a:buSzPct val="60000"/>
              <a:buFont typeface="Wingdings" pitchFamily="2" charset="2"/>
              <a:buChar char="n"/>
              <a:defRPr sz="2400">
                <a:solidFill>
                  <a:schemeClr val="tx1"/>
                </a:solidFill>
                <a:latin typeface="Verdana" pitchFamily="34" charset="0"/>
                <a:ea typeface="宋体" charset="-122"/>
              </a:defRPr>
            </a:lvl3pPr>
            <a:lvl4pPr marL="1600200" indent="-228600" eaLnBrk="0" hangingPunct="0">
              <a:buClr>
                <a:schemeClr val="tx2"/>
              </a:buClr>
              <a:defRPr sz="2000">
                <a:solidFill>
                  <a:schemeClr val="tx1"/>
                </a:solidFill>
                <a:latin typeface="Verdana" pitchFamily="34" charset="0"/>
                <a:ea typeface="宋体" charset="-122"/>
              </a:defRPr>
            </a:lvl4pPr>
            <a:lvl5pPr marL="2057400" indent="-228600" eaLnBrk="0" hangingPunct="0">
              <a:buClr>
                <a:schemeClr val="folHlink"/>
              </a:buClr>
              <a:buSzPct val="60000"/>
              <a:buFont typeface="Wingdings" pitchFamily="2" charset="2"/>
              <a:buChar char="n"/>
              <a:defRPr sz="2000">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9pPr>
          </a:lstStyle>
          <a:p>
            <a:pPr eaLnBrk="1" hangingPunct="1">
              <a:lnSpc>
                <a:spcPct val="100000"/>
              </a:lnSpc>
              <a:spcBef>
                <a:spcPct val="50000"/>
              </a:spcBef>
              <a:buClrTx/>
              <a:buSzTx/>
              <a:buFontTx/>
              <a:buNone/>
            </a:pPr>
            <a:r>
              <a:rPr kumimoji="1" lang="zh-CN" altLang="en-US" sz="2000" dirty="0" smtClean="0">
                <a:effectLst/>
                <a:latin typeface="Tahoma" pitchFamily="34" charset="0"/>
              </a:rPr>
              <a:t>（</a:t>
            </a:r>
            <a:r>
              <a:rPr kumimoji="1" lang="en-US" altLang="zh-CN" sz="2000" dirty="0" smtClean="0">
                <a:effectLst/>
                <a:latin typeface="Tahoma" pitchFamily="34" charset="0"/>
              </a:rPr>
              <a:t>2</a:t>
            </a:r>
            <a:r>
              <a:rPr kumimoji="1" lang="zh-CN" altLang="en-US" sz="2000" dirty="0" smtClean="0">
                <a:effectLst/>
                <a:latin typeface="Tahoma" pitchFamily="34" charset="0"/>
              </a:rPr>
              <a:t>）</a:t>
            </a:r>
            <a:r>
              <a:rPr kumimoji="1" lang="en-US" altLang="zh-CN" sz="2000" dirty="0" smtClean="0">
                <a:solidFill>
                  <a:srgbClr val="FFC000"/>
                </a:solidFill>
                <a:effectLst/>
                <a:latin typeface="Tahoma" pitchFamily="34" charset="0"/>
              </a:rPr>
              <a:t>if </a:t>
            </a:r>
            <a:r>
              <a:rPr kumimoji="1" lang="en-US" altLang="zh-CN" sz="2000" dirty="0">
                <a:solidFill>
                  <a:srgbClr val="FFC000"/>
                </a:solidFill>
                <a:effectLst/>
                <a:latin typeface="Tahoma" pitchFamily="34" charset="0"/>
              </a:rPr>
              <a:t>(</a:t>
            </a:r>
            <a:r>
              <a:rPr kumimoji="1" lang="en-US" altLang="zh-CN" sz="2000" dirty="0">
                <a:effectLst/>
                <a:latin typeface="Tahoma" pitchFamily="34" charset="0"/>
              </a:rPr>
              <a:t>&lt;</a:t>
            </a:r>
            <a:r>
              <a:rPr kumimoji="1" lang="zh-CN" altLang="en-US" sz="2000" dirty="0">
                <a:effectLst/>
                <a:latin typeface="Tahoma" pitchFamily="34" charset="0"/>
              </a:rPr>
              <a:t>表达式</a:t>
            </a:r>
            <a:r>
              <a:rPr kumimoji="1" lang="en-US" altLang="zh-CN" sz="2000" dirty="0">
                <a:effectLst/>
                <a:latin typeface="Tahoma" pitchFamily="34" charset="0"/>
              </a:rPr>
              <a:t>&gt;</a:t>
            </a:r>
            <a:r>
              <a:rPr kumimoji="1" lang="en-US" altLang="zh-CN" sz="2000" dirty="0">
                <a:solidFill>
                  <a:srgbClr val="FFC000"/>
                </a:solidFill>
                <a:effectLst/>
                <a:latin typeface="Tahoma" pitchFamily="34" charset="0"/>
              </a:rPr>
              <a:t>) </a:t>
            </a:r>
            <a:r>
              <a:rPr kumimoji="1" lang="en-US" altLang="zh-CN" sz="2000" dirty="0">
                <a:effectLst/>
                <a:latin typeface="Tahoma" pitchFamily="34" charset="0"/>
              </a:rPr>
              <a:t>&lt;</a:t>
            </a:r>
            <a:r>
              <a:rPr kumimoji="1" lang="zh-CN" altLang="en-US" sz="2000" dirty="0">
                <a:effectLst/>
                <a:latin typeface="Tahoma" pitchFamily="34" charset="0"/>
              </a:rPr>
              <a:t>语句</a:t>
            </a:r>
            <a:r>
              <a:rPr kumimoji="1" lang="en-US" altLang="zh-CN" sz="2000" dirty="0">
                <a:effectLst/>
                <a:latin typeface="Tahoma" pitchFamily="34" charset="0"/>
              </a:rPr>
              <a:t>1&gt; </a:t>
            </a:r>
            <a:r>
              <a:rPr kumimoji="1" lang="en-US" altLang="zh-CN" sz="2000" dirty="0">
                <a:solidFill>
                  <a:srgbClr val="FFC000"/>
                </a:solidFill>
                <a:effectLst/>
                <a:latin typeface="Tahoma" pitchFamily="34" charset="0"/>
              </a:rPr>
              <a:t>else</a:t>
            </a:r>
            <a:r>
              <a:rPr kumimoji="1" lang="en-US" altLang="zh-CN" sz="2000" dirty="0">
                <a:effectLst/>
                <a:latin typeface="Tahoma" pitchFamily="34" charset="0"/>
              </a:rPr>
              <a:t> &lt;</a:t>
            </a:r>
            <a:r>
              <a:rPr kumimoji="1" lang="zh-CN" altLang="en-US" sz="2000" dirty="0">
                <a:effectLst/>
                <a:latin typeface="Tahoma" pitchFamily="34" charset="0"/>
              </a:rPr>
              <a:t>语句</a:t>
            </a:r>
            <a:r>
              <a:rPr kumimoji="1" lang="en-US" altLang="zh-CN" sz="2000" dirty="0">
                <a:effectLst/>
                <a:latin typeface="Tahoma" pitchFamily="34" charset="0"/>
              </a:rPr>
              <a:t>2&gt;</a:t>
            </a:r>
            <a:endParaRPr kumimoji="1" lang="zh-CN" altLang="en-US" sz="2000" dirty="0">
              <a:effectLst/>
              <a:latin typeface="Tahoma" pitchFamily="34" charset="0"/>
            </a:endParaRPr>
          </a:p>
        </p:txBody>
      </p:sp>
      <p:pic>
        <p:nvPicPr>
          <p:cNvPr id="3" name="图片 2"/>
          <p:cNvPicPr>
            <a:picLocks noChangeAspect="1"/>
          </p:cNvPicPr>
          <p:nvPr/>
        </p:nvPicPr>
        <p:blipFill>
          <a:blip r:embed="rId2"/>
          <a:stretch>
            <a:fillRect/>
          </a:stretch>
        </p:blipFill>
        <p:spPr>
          <a:xfrm>
            <a:off x="683568" y="2204864"/>
            <a:ext cx="7946388" cy="3384376"/>
          </a:xfrm>
          <a:prstGeom prst="rect">
            <a:avLst/>
          </a:prstGeom>
        </p:spPr>
      </p:pic>
      <p:sp>
        <p:nvSpPr>
          <p:cNvPr id="6" name="Text Box 4"/>
          <p:cNvSpPr txBox="1">
            <a:spLocks noChangeArrowheads="1"/>
          </p:cNvSpPr>
          <p:nvPr/>
        </p:nvSpPr>
        <p:spPr bwMode="auto">
          <a:xfrm>
            <a:off x="179512" y="6011996"/>
            <a:ext cx="86409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hlink"/>
              </a:buClr>
              <a:buSzPct val="60000"/>
              <a:buFont typeface="Wingdings" pitchFamily="2" charset="2"/>
              <a:buChar char="n"/>
              <a:defRPr sz="3200">
                <a:solidFill>
                  <a:schemeClr val="tx1"/>
                </a:solidFill>
                <a:latin typeface="Verdana" pitchFamily="34" charset="0"/>
                <a:ea typeface="宋体" charset="-122"/>
              </a:defRPr>
            </a:lvl1pPr>
            <a:lvl2pPr marL="742950" indent="-285750" eaLnBrk="0" hangingPunct="0">
              <a:buClr>
                <a:schemeClr val="tx1"/>
              </a:buClr>
              <a:defRPr sz="2800">
                <a:solidFill>
                  <a:schemeClr val="tx1"/>
                </a:solidFill>
                <a:latin typeface="Verdana" pitchFamily="34" charset="0"/>
                <a:ea typeface="宋体" charset="-122"/>
              </a:defRPr>
            </a:lvl2pPr>
            <a:lvl3pPr marL="1143000" indent="-228600" eaLnBrk="0" hangingPunct="0">
              <a:buClr>
                <a:schemeClr val="accent2"/>
              </a:buClr>
              <a:buSzPct val="60000"/>
              <a:buFont typeface="Wingdings" pitchFamily="2" charset="2"/>
              <a:buChar char="n"/>
              <a:defRPr sz="2400">
                <a:solidFill>
                  <a:schemeClr val="tx1"/>
                </a:solidFill>
                <a:latin typeface="Verdana" pitchFamily="34" charset="0"/>
                <a:ea typeface="宋体" charset="-122"/>
              </a:defRPr>
            </a:lvl3pPr>
            <a:lvl4pPr marL="1600200" indent="-228600" eaLnBrk="0" hangingPunct="0">
              <a:buClr>
                <a:schemeClr val="tx2"/>
              </a:buClr>
              <a:defRPr sz="2000">
                <a:solidFill>
                  <a:schemeClr val="tx1"/>
                </a:solidFill>
                <a:latin typeface="Verdana" pitchFamily="34" charset="0"/>
                <a:ea typeface="宋体" charset="-122"/>
              </a:defRPr>
            </a:lvl4pPr>
            <a:lvl5pPr marL="2057400" indent="-228600" eaLnBrk="0" hangingPunct="0">
              <a:buClr>
                <a:schemeClr val="folHlink"/>
              </a:buClr>
              <a:buSzPct val="60000"/>
              <a:buFont typeface="Wingdings" pitchFamily="2" charset="2"/>
              <a:buChar char="n"/>
              <a:defRPr sz="2000">
                <a:solidFill>
                  <a:schemeClr val="tx1"/>
                </a:solidFill>
                <a:latin typeface="Verdana"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itchFamily="2" charset="2"/>
              <a:buChar char="n"/>
              <a:defRPr sz="2000">
                <a:solidFill>
                  <a:schemeClr val="tx1"/>
                </a:solidFill>
                <a:latin typeface="Verdana" pitchFamily="34" charset="0"/>
                <a:ea typeface="宋体" charset="-122"/>
              </a:defRPr>
            </a:lvl9pPr>
          </a:lstStyle>
          <a:p>
            <a:pPr marL="347663" lvl="1" indent="-342900" algn="just" eaLnBrk="1" hangingPunct="1">
              <a:defRPr/>
            </a:pPr>
            <a:r>
              <a:rPr lang="en-US" altLang="zh-CN" sz="2000" dirty="0">
                <a:cs typeface="Times New Roman" pitchFamily="18" charset="0"/>
              </a:rPr>
              <a:t>&lt;</a:t>
            </a:r>
            <a:r>
              <a:rPr lang="zh-CN" altLang="en-US" sz="2000" dirty="0">
                <a:cs typeface="Times New Roman" pitchFamily="18" charset="0"/>
              </a:rPr>
              <a:t>语句</a:t>
            </a:r>
            <a:r>
              <a:rPr lang="en-US" altLang="zh-CN" sz="2000" dirty="0">
                <a:cs typeface="Times New Roman" pitchFamily="18" charset="0"/>
              </a:rPr>
              <a:t>&gt;</a:t>
            </a:r>
            <a:r>
              <a:rPr lang="zh-CN" altLang="en-US" sz="2000" dirty="0">
                <a:cs typeface="Times New Roman" pitchFamily="18" charset="0"/>
              </a:rPr>
              <a:t>、</a:t>
            </a:r>
            <a:r>
              <a:rPr lang="en-US" altLang="zh-CN" sz="2000" dirty="0">
                <a:cs typeface="Times New Roman" pitchFamily="18" charset="0"/>
              </a:rPr>
              <a:t>&lt;</a:t>
            </a:r>
            <a:r>
              <a:rPr lang="zh-CN" altLang="en-US" sz="2000" dirty="0">
                <a:cs typeface="Times New Roman" pitchFamily="18" charset="0"/>
              </a:rPr>
              <a:t>语句</a:t>
            </a:r>
            <a:r>
              <a:rPr lang="en-US" altLang="zh-CN" sz="2000" dirty="0">
                <a:cs typeface="Times New Roman" pitchFamily="18" charset="0"/>
              </a:rPr>
              <a:t>1&gt;</a:t>
            </a:r>
            <a:r>
              <a:rPr lang="zh-CN" altLang="en-US" sz="2000" dirty="0">
                <a:cs typeface="Times New Roman" pitchFamily="18" charset="0"/>
              </a:rPr>
              <a:t>、</a:t>
            </a:r>
            <a:r>
              <a:rPr lang="en-US" altLang="zh-CN" sz="2000" dirty="0">
                <a:cs typeface="Times New Roman" pitchFamily="18" charset="0"/>
              </a:rPr>
              <a:t>&lt;</a:t>
            </a:r>
            <a:r>
              <a:rPr lang="zh-CN" altLang="en-US" sz="2000" dirty="0">
                <a:cs typeface="Times New Roman" pitchFamily="18" charset="0"/>
              </a:rPr>
              <a:t>语句</a:t>
            </a:r>
            <a:r>
              <a:rPr lang="en-US" altLang="zh-CN" sz="2000" dirty="0">
                <a:cs typeface="Times New Roman" pitchFamily="18" charset="0"/>
              </a:rPr>
              <a:t>2&gt;</a:t>
            </a:r>
            <a:r>
              <a:rPr lang="zh-CN" altLang="en-US" sz="2000" dirty="0">
                <a:cs typeface="Times New Roman" pitchFamily="18" charset="0"/>
              </a:rPr>
              <a:t>执行完将继续执行接在</a:t>
            </a:r>
            <a:r>
              <a:rPr lang="en-US" altLang="zh-CN" sz="2000" dirty="0">
                <a:cs typeface="Times New Roman" pitchFamily="18" charset="0"/>
              </a:rPr>
              <a:t>if</a:t>
            </a:r>
            <a:r>
              <a:rPr lang="zh-CN" altLang="en-US" sz="2000" dirty="0">
                <a:cs typeface="Times New Roman" pitchFamily="18" charset="0"/>
              </a:rPr>
              <a:t>语句后面的语句</a:t>
            </a:r>
            <a:endParaRPr lang="en-US" altLang="zh-CN" sz="2000" dirty="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1520" y="188640"/>
            <a:ext cx="8604448" cy="926232"/>
          </a:xfrm>
        </p:spPr>
        <p:txBody>
          <a:bodyPr>
            <a:normAutofit fontScale="90000"/>
          </a:bodyPr>
          <a:lstStyle/>
          <a:p>
            <a:pPr algn="l" eaLnBrk="1" hangingPunct="1">
              <a:defRPr/>
            </a:pPr>
            <a:r>
              <a:rPr lang="zh-CN" altLang="en-US" sz="3600" dirty="0" smtClean="0"/>
              <a:t>例：从键盘输入三个数，把其中的最大者输出</a:t>
            </a:r>
          </a:p>
        </p:txBody>
      </p:sp>
      <p:sp>
        <p:nvSpPr>
          <p:cNvPr id="11267" name="Rectangle 3"/>
          <p:cNvSpPr>
            <a:spLocks noGrp="1" noChangeArrowheads="1"/>
          </p:cNvSpPr>
          <p:nvPr>
            <p:ph type="body" idx="1"/>
          </p:nvPr>
        </p:nvSpPr>
        <p:spPr>
          <a:xfrm>
            <a:off x="467544" y="1340768"/>
            <a:ext cx="8041704" cy="5252120"/>
          </a:xfrm>
        </p:spPr>
        <p:txBody>
          <a:bodyPr>
            <a:normAutofit/>
          </a:bodyPr>
          <a:lstStyle/>
          <a:p>
            <a:pPr eaLnBrk="1" hangingPunct="1">
              <a:lnSpc>
                <a:spcPct val="90000"/>
              </a:lnSpc>
              <a:buFont typeface="Wingdings" pitchFamily="2" charset="2"/>
              <a:buNone/>
              <a:defRPr/>
            </a:pPr>
            <a:r>
              <a:rPr lang="en-US" altLang="zh-CN" sz="2000" dirty="0" smtClean="0">
                <a:cs typeface="Courier New" pitchFamily="49" charset="0"/>
              </a:rPr>
              <a:t>#include &lt;</a:t>
            </a:r>
            <a:r>
              <a:rPr lang="en-US" altLang="zh-CN" sz="2000" dirty="0" err="1" smtClean="0">
                <a:cs typeface="Courier New" pitchFamily="49" charset="0"/>
              </a:rPr>
              <a:t>iostream</a:t>
            </a:r>
            <a:r>
              <a:rPr lang="en-US" altLang="zh-CN" sz="2000" dirty="0" smtClean="0">
                <a:cs typeface="Courier New" pitchFamily="49" charset="0"/>
              </a:rPr>
              <a:t>&gt;</a:t>
            </a:r>
          </a:p>
          <a:p>
            <a:pPr eaLnBrk="1" hangingPunct="1">
              <a:lnSpc>
                <a:spcPct val="90000"/>
              </a:lnSpc>
              <a:buFont typeface="Wingdings" pitchFamily="2" charset="2"/>
              <a:buNone/>
              <a:defRPr/>
            </a:pPr>
            <a:r>
              <a:rPr lang="en-US" altLang="zh-CN" sz="2000" dirty="0" smtClean="0">
                <a:cs typeface="Courier New" pitchFamily="49" charset="0"/>
              </a:rPr>
              <a:t>using namespace </a:t>
            </a:r>
            <a:r>
              <a:rPr lang="en-US" altLang="zh-CN" sz="2000" dirty="0" err="1" smtClean="0">
                <a:cs typeface="Courier New" pitchFamily="49" charset="0"/>
              </a:rPr>
              <a:t>std</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err="1" smtClean="0">
                <a:cs typeface="Courier New" pitchFamily="49" charset="0"/>
              </a:rPr>
              <a:t>int</a:t>
            </a:r>
            <a:r>
              <a:rPr lang="en-US" altLang="zh-CN" sz="2000" dirty="0" smtClean="0">
                <a:cs typeface="Courier New" pitchFamily="49" charset="0"/>
              </a:rPr>
              <a:t> main()</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int</a:t>
            </a:r>
            <a:r>
              <a:rPr lang="en-US" altLang="zh-CN" sz="2000" dirty="0" smtClean="0">
                <a:cs typeface="Courier New" pitchFamily="49" charset="0"/>
              </a:rPr>
              <a:t> </a:t>
            </a:r>
            <a:r>
              <a:rPr lang="en-US" altLang="zh-CN" sz="2000" dirty="0" err="1" smtClean="0">
                <a:cs typeface="Courier New" pitchFamily="49" charset="0"/>
              </a:rPr>
              <a:t>a,b,c,max</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请输入三个整数：</a:t>
            </a:r>
            <a:r>
              <a:rPr lang="en-US" altLang="zh-CN" sz="2000" dirty="0" smtClean="0">
                <a:cs typeface="Courier New" pitchFamily="49" charset="0"/>
              </a:rPr>
              <a:t>" &lt;&lt; </a:t>
            </a:r>
            <a:r>
              <a:rPr lang="en-US" altLang="zh-CN" sz="2000" dirty="0" err="1" smtClean="0">
                <a:cs typeface="Courier New" pitchFamily="49" charset="0"/>
              </a:rPr>
              <a:t>endl</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a &gt;&gt; b &gt;&gt; c;</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smtClean="0">
                <a:solidFill>
                  <a:srgbClr val="FFC000"/>
                </a:solidFill>
                <a:cs typeface="Courier New" pitchFamily="49" charset="0"/>
              </a:rPr>
              <a:t>if (a &gt; b)</a:t>
            </a:r>
          </a:p>
          <a:p>
            <a:pPr eaLnBrk="1" hangingPunct="1">
              <a:lnSpc>
                <a:spcPct val="90000"/>
              </a:lnSpc>
              <a:buFont typeface="Wingdings" pitchFamily="2" charset="2"/>
              <a:buNone/>
              <a:defRPr/>
            </a:pPr>
            <a:r>
              <a:rPr lang="en-US" altLang="zh-CN" sz="2000" dirty="0" smtClean="0">
                <a:solidFill>
                  <a:srgbClr val="FFC000"/>
                </a:solidFill>
                <a:cs typeface="Courier New" pitchFamily="49" charset="0"/>
              </a:rPr>
              <a:t>	  max = a;</a:t>
            </a:r>
          </a:p>
          <a:p>
            <a:pPr eaLnBrk="1" hangingPunct="1">
              <a:lnSpc>
                <a:spcPct val="90000"/>
              </a:lnSpc>
              <a:buFont typeface="Wingdings" pitchFamily="2" charset="2"/>
              <a:buNone/>
              <a:defRPr/>
            </a:pPr>
            <a:r>
              <a:rPr lang="en-US" altLang="zh-CN" sz="2000" dirty="0" smtClean="0">
                <a:solidFill>
                  <a:srgbClr val="FFC000"/>
                </a:solidFill>
                <a:cs typeface="Courier New" pitchFamily="49" charset="0"/>
              </a:rPr>
              <a:t>	else</a:t>
            </a:r>
          </a:p>
          <a:p>
            <a:pPr eaLnBrk="1" hangingPunct="1">
              <a:lnSpc>
                <a:spcPct val="90000"/>
              </a:lnSpc>
              <a:buFont typeface="Wingdings" pitchFamily="2" charset="2"/>
              <a:buNone/>
              <a:defRPr/>
            </a:pPr>
            <a:r>
              <a:rPr lang="en-US" altLang="zh-CN" sz="2000" dirty="0" smtClean="0">
                <a:solidFill>
                  <a:srgbClr val="FFC000"/>
                </a:solidFill>
                <a:cs typeface="Courier New" pitchFamily="49" charset="0"/>
              </a:rPr>
              <a:t>	  max = b;</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smtClean="0">
                <a:solidFill>
                  <a:srgbClr val="FFFF00"/>
                </a:solidFill>
                <a:cs typeface="Courier New" pitchFamily="49" charset="0"/>
              </a:rPr>
              <a:t>if (c &gt; max) </a:t>
            </a:r>
          </a:p>
          <a:p>
            <a:pPr eaLnBrk="1" hangingPunct="1">
              <a:lnSpc>
                <a:spcPct val="90000"/>
              </a:lnSpc>
              <a:buFont typeface="Wingdings" pitchFamily="2" charset="2"/>
              <a:buNone/>
              <a:defRPr/>
            </a:pPr>
            <a:r>
              <a:rPr lang="en-US" altLang="zh-CN" sz="2000" dirty="0">
                <a:solidFill>
                  <a:srgbClr val="FFFF00"/>
                </a:solidFill>
                <a:cs typeface="Courier New" pitchFamily="49" charset="0"/>
              </a:rPr>
              <a:t> </a:t>
            </a:r>
            <a:r>
              <a:rPr lang="en-US" altLang="zh-CN" sz="2000" dirty="0" smtClean="0">
                <a:solidFill>
                  <a:srgbClr val="FFFF00"/>
                </a:solidFill>
                <a:cs typeface="Courier New" pitchFamily="49" charset="0"/>
              </a:rPr>
              <a:t>     max = c;</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最大者为：</a:t>
            </a:r>
            <a:r>
              <a:rPr lang="en-US" altLang="zh-CN" sz="2000" dirty="0" smtClean="0">
                <a:cs typeface="Courier New" pitchFamily="49" charset="0"/>
              </a:rPr>
              <a:t>" &lt;&lt; max &lt;&lt; </a:t>
            </a:r>
            <a:r>
              <a:rPr lang="en-US" altLang="zh-CN" sz="2000" dirty="0" err="1" smtClean="0">
                <a:cs typeface="Courier New" pitchFamily="49" charset="0"/>
              </a:rPr>
              <a:t>endl</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smtClean="0">
                <a:cs typeface="Courier New" pitchFamily="49" charset="0"/>
              </a:rPr>
              <a:t>	return 0;</a:t>
            </a:r>
          </a:p>
          <a:p>
            <a:pPr eaLnBrk="1" hangingPunct="1">
              <a:lnSpc>
                <a:spcPct val="90000"/>
              </a:lnSpc>
              <a:buFont typeface="Wingdings" pitchFamily="2" charset="2"/>
              <a:buNone/>
              <a:defRPr/>
            </a:pPr>
            <a:r>
              <a:rPr lang="en-US" altLang="zh-CN" sz="2000" dirty="0" smtClean="0"/>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468313" y="0"/>
            <a:ext cx="8229600" cy="1139825"/>
          </a:xfrm>
        </p:spPr>
        <p:txBody>
          <a:bodyPr/>
          <a:lstStyle/>
          <a:p>
            <a:pPr eaLnBrk="1" hangingPunct="1">
              <a:defRPr/>
            </a:pPr>
            <a:r>
              <a:rPr lang="en-US" altLang="zh-CN" smtClean="0"/>
              <a:t>if</a:t>
            </a:r>
            <a:r>
              <a:rPr lang="zh-CN" altLang="en-US" smtClean="0"/>
              <a:t>语句的锯齿格式</a:t>
            </a:r>
          </a:p>
        </p:txBody>
      </p:sp>
      <p:sp>
        <p:nvSpPr>
          <p:cNvPr id="92163" name="Rectangle 3"/>
          <p:cNvSpPr>
            <a:spLocks noGrp="1" noChangeArrowheads="1"/>
          </p:cNvSpPr>
          <p:nvPr>
            <p:ph type="body" idx="1"/>
          </p:nvPr>
        </p:nvSpPr>
        <p:spPr>
          <a:xfrm>
            <a:off x="313184" y="1268413"/>
            <a:ext cx="8435280" cy="2305050"/>
          </a:xfrm>
        </p:spPr>
        <p:txBody>
          <a:bodyPr>
            <a:normAutofit/>
          </a:bodyPr>
          <a:lstStyle/>
          <a:p>
            <a:pPr algn="just" eaLnBrk="1" hangingPunct="1">
              <a:spcBef>
                <a:spcPct val="45000"/>
              </a:spcBef>
              <a:defRPr/>
            </a:pPr>
            <a:r>
              <a:rPr lang="zh-CN" altLang="en-US" sz="2400" dirty="0" smtClean="0"/>
              <a:t>为了提高程序的易读性，在写</a:t>
            </a:r>
            <a:r>
              <a:rPr lang="en-US" altLang="zh-CN" sz="2400" dirty="0">
                <a:latin typeface="Verdana" panose="020B0604030504040204" pitchFamily="34" charset="0"/>
                <a:ea typeface="Verdana" panose="020B0604030504040204" pitchFamily="34" charset="0"/>
                <a:cs typeface="Verdana" panose="020B0604030504040204" pitchFamily="34" charset="0"/>
              </a:rPr>
              <a:t>if</a:t>
            </a:r>
            <a:r>
              <a:rPr lang="zh-CN" altLang="en-US" sz="2400" dirty="0" smtClean="0"/>
              <a:t>语句时，最好采用</a:t>
            </a:r>
            <a:r>
              <a:rPr lang="zh-CN" altLang="en-US" sz="2400" dirty="0" smtClean="0">
                <a:latin typeface="Arial"/>
              </a:rPr>
              <a:t>“</a:t>
            </a:r>
            <a:r>
              <a:rPr lang="zh-CN" altLang="en-US" sz="2400" dirty="0" smtClean="0"/>
              <a:t>锯齿</a:t>
            </a:r>
            <a:r>
              <a:rPr lang="zh-CN" altLang="en-US" sz="2400" dirty="0" smtClean="0">
                <a:latin typeface="Arial"/>
              </a:rPr>
              <a:t>”</a:t>
            </a:r>
            <a:r>
              <a:rPr lang="zh-CN" altLang="en-US" sz="2400" dirty="0" smtClean="0"/>
              <a:t>格式，即把成分语句往后缩进几列。</a:t>
            </a:r>
          </a:p>
          <a:p>
            <a:pPr algn="just" eaLnBrk="1" hangingPunct="1">
              <a:spcBef>
                <a:spcPct val="45000"/>
              </a:spcBef>
              <a:defRPr/>
            </a:pPr>
            <a:r>
              <a:rPr lang="zh-CN" altLang="en-US" sz="2400" dirty="0" smtClean="0"/>
              <a:t>当</a:t>
            </a:r>
            <a:r>
              <a:rPr lang="en-US" altLang="zh-CN" sz="2400" dirty="0" smtClean="0">
                <a:ea typeface="Verdana" panose="020B0604030504040204" pitchFamily="34" charset="0"/>
                <a:cs typeface="Verdana" panose="020B0604030504040204" pitchFamily="34" charset="0"/>
              </a:rPr>
              <a:t>if</a:t>
            </a:r>
            <a:r>
              <a:rPr lang="zh-CN" altLang="en-US" sz="2400" dirty="0" smtClean="0"/>
              <a:t>语句的</a:t>
            </a:r>
            <a:r>
              <a:rPr lang="en-US" altLang="zh-CN" sz="2400" dirty="0" smtClean="0"/>
              <a:t>else</a:t>
            </a:r>
            <a:r>
              <a:rPr lang="zh-CN" altLang="en-US" sz="2400" dirty="0" smtClean="0"/>
              <a:t>子句也是</a:t>
            </a:r>
            <a:r>
              <a:rPr lang="en-US" altLang="zh-CN" sz="2400" dirty="0" smtClean="0">
                <a:ea typeface="Verdana" panose="020B0604030504040204" pitchFamily="34" charset="0"/>
                <a:cs typeface="Verdana" panose="020B0604030504040204" pitchFamily="34" charset="0"/>
              </a:rPr>
              <a:t>if</a:t>
            </a:r>
            <a:r>
              <a:rPr lang="zh-CN" altLang="en-US" sz="2400" dirty="0" smtClean="0"/>
              <a:t>语句时，为了减少文本的缩进量，可以把下面左边的</a:t>
            </a:r>
            <a:r>
              <a:rPr lang="en-US" altLang="zh-CN" sz="2400" dirty="0" smtClean="0">
                <a:cs typeface="Times New Roman" pitchFamily="18" charset="0"/>
              </a:rPr>
              <a:t>if</a:t>
            </a:r>
            <a:r>
              <a:rPr lang="zh-CN" altLang="en-US" sz="2400" dirty="0" smtClean="0"/>
              <a:t>语句按右边的格式来书写：</a:t>
            </a:r>
            <a:r>
              <a:rPr lang="zh-CN" altLang="en-US" sz="1600" b="1" dirty="0" smtClean="0">
                <a:cs typeface="Courier New" pitchFamily="49" charset="0"/>
              </a:rPr>
              <a:t> </a:t>
            </a:r>
            <a:endParaRPr lang="zh-CN" altLang="en-US" sz="2000" dirty="0" smtClean="0"/>
          </a:p>
        </p:txBody>
      </p:sp>
      <p:sp>
        <p:nvSpPr>
          <p:cNvPr id="196608" name="Text Box 0"/>
          <p:cNvSpPr txBox="1">
            <a:spLocks noChangeArrowheads="1"/>
          </p:cNvSpPr>
          <p:nvPr/>
        </p:nvSpPr>
        <p:spPr bwMode="auto">
          <a:xfrm>
            <a:off x="5508104" y="3140968"/>
            <a:ext cx="1527175" cy="2862322"/>
          </a:xfrm>
          <a:prstGeom prst="rect">
            <a:avLst/>
          </a:prstGeom>
          <a:solidFill>
            <a:schemeClr val="bg1">
              <a:lumMod val="75000"/>
            </a:schemeClr>
          </a:solidFill>
          <a:ln>
            <a:noFill/>
          </a:ln>
          <a:effectLst/>
          <a:extLst/>
        </p:spPr>
        <p:txBody>
          <a:bodyPr>
            <a:spAutoFit/>
          </a:bodyPr>
          <a:lstStyle/>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if</a:t>
            </a:r>
            <a:r>
              <a:rPr lang="en-US" altLang="zh-CN" dirty="0">
                <a:effectLst>
                  <a:outerShdw blurRad="38100" dist="38100" dir="2700000" algn="tl">
                    <a:srgbClr val="000000"/>
                  </a:outerShdw>
                </a:effectLst>
              </a:rPr>
              <a:t> (...)</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else if</a:t>
            </a:r>
            <a:r>
              <a:rPr lang="en-US" altLang="zh-CN" dirty="0">
                <a:effectLst>
                  <a:outerShdw blurRad="38100" dist="38100" dir="2700000" algn="tl">
                    <a:srgbClr val="000000"/>
                  </a:outerShdw>
                </a:effectLst>
              </a:rPr>
              <a:t> (...)</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else if</a:t>
            </a:r>
            <a:r>
              <a:rPr lang="en-US" altLang="zh-CN" dirty="0">
                <a:effectLst>
                  <a:outerShdw blurRad="38100" dist="38100" dir="2700000" algn="tl">
                    <a:srgbClr val="000000"/>
                  </a:outerShdw>
                </a:effectLst>
              </a:rPr>
              <a:t> (...)</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else if</a:t>
            </a:r>
            <a:r>
              <a:rPr lang="en-US" altLang="zh-CN" dirty="0">
                <a:effectLst>
                  <a:outerShdw blurRad="38100" dist="38100" dir="2700000" algn="tl">
                    <a:srgbClr val="000000"/>
                  </a:outerShdw>
                </a:effectLst>
              </a:rPr>
              <a:t> (...)</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else</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a:t>
            </a:r>
            <a:endParaRPr lang="en-US" altLang="zh-CN" dirty="0">
              <a:effectLst>
                <a:outerShdw blurRad="38100" dist="38100" dir="2700000" algn="tl">
                  <a:srgbClr val="000000"/>
                </a:outerShdw>
              </a:effectLst>
            </a:endParaRPr>
          </a:p>
        </p:txBody>
      </p:sp>
      <p:sp>
        <p:nvSpPr>
          <p:cNvPr id="196609" name="Text Box 1"/>
          <p:cNvSpPr txBox="1">
            <a:spLocks noChangeArrowheads="1"/>
          </p:cNvSpPr>
          <p:nvPr/>
        </p:nvSpPr>
        <p:spPr bwMode="auto">
          <a:xfrm>
            <a:off x="1532334" y="3068960"/>
            <a:ext cx="1887538" cy="3693319"/>
          </a:xfrm>
          <a:prstGeom prst="rect">
            <a:avLst/>
          </a:prstGeom>
          <a:solidFill>
            <a:schemeClr val="bg1">
              <a:lumMod val="75000"/>
            </a:schemeClr>
          </a:solidFill>
          <a:ln>
            <a:noFill/>
          </a:ln>
          <a:effectLst/>
          <a:extLst/>
        </p:spPr>
        <p:txBody>
          <a:bodyPr>
            <a:spAutoFit/>
          </a:bodyPr>
          <a:lstStyle/>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if</a:t>
            </a:r>
            <a:r>
              <a:rPr lang="en-US" altLang="zh-CN" dirty="0">
                <a:effectLst>
                  <a:outerShdw blurRad="38100" dist="38100" dir="2700000" algn="tl">
                    <a:srgbClr val="000000"/>
                  </a:outerShdw>
                </a:effectLst>
              </a:rPr>
              <a:t> (...)</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solidFill>
                  <a:srgbClr val="FFC000"/>
                </a:solidFill>
                <a:effectLst>
                  <a:outerShdw blurRad="38100" dist="38100" dir="2700000" algn="tl">
                    <a:srgbClr val="000000"/>
                  </a:outerShdw>
                </a:effectLst>
              </a:rPr>
              <a:t>else</a:t>
            </a:r>
            <a:r>
              <a:rPr lang="en-US" altLang="zh-CN" dirty="0">
                <a:effectLst>
                  <a:outerShdw blurRad="38100" dist="38100" dir="2700000" algn="tl">
                    <a:srgbClr val="000000"/>
                  </a:outerShdw>
                </a:effectLst>
              </a:rPr>
              <a:t> </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r>
              <a:rPr lang="en-US" altLang="zh-CN" dirty="0" smtClean="0">
                <a:solidFill>
                  <a:srgbClr val="FFC000"/>
                </a:solidFill>
                <a:effectLst>
                  <a:outerShdw blurRad="38100" dist="38100" dir="2700000" algn="tl">
                    <a:srgbClr val="000000"/>
                  </a:outerShdw>
                </a:effectLst>
              </a:rPr>
              <a:t>if</a:t>
            </a:r>
            <a:r>
              <a:rPr lang="en-US" altLang="zh-CN" dirty="0" smtClean="0">
                <a:effectLst>
                  <a:outerShdw blurRad="38100" dist="38100" dir="2700000" algn="tl">
                    <a:srgbClr val="000000"/>
                  </a:outerShdw>
                </a:effectLst>
              </a:rPr>
              <a:t> </a:t>
            </a:r>
            <a:r>
              <a:rPr lang="en-US" altLang="zh-CN" dirty="0">
                <a:effectLst>
                  <a:outerShdw blurRad="38100" dist="38100" dir="2700000" algn="tl">
                    <a:srgbClr val="000000"/>
                  </a:outerShdw>
                </a:effectLst>
              </a:rPr>
              <a:t>(...)</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r>
              <a:rPr lang="en-US" altLang="zh-CN" dirty="0" smtClean="0">
                <a:solidFill>
                  <a:srgbClr val="FFC000"/>
                </a:solidFill>
                <a:effectLst>
                  <a:outerShdw blurRad="38100" dist="38100" dir="2700000" algn="tl">
                    <a:srgbClr val="000000"/>
                  </a:outerShdw>
                </a:effectLst>
              </a:rPr>
              <a:t>else</a:t>
            </a:r>
            <a:r>
              <a:rPr lang="en-US" altLang="zh-CN" dirty="0" smtClean="0">
                <a:effectLst>
                  <a:outerShdw blurRad="38100" dist="38100" dir="2700000" algn="tl">
                    <a:srgbClr val="000000"/>
                  </a:outerShdw>
                </a:effectLst>
              </a:rPr>
              <a:t> </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r>
              <a:rPr lang="en-US" altLang="zh-CN" dirty="0" smtClean="0">
                <a:solidFill>
                  <a:srgbClr val="FFC000"/>
                </a:solidFill>
                <a:effectLst>
                  <a:outerShdw blurRad="38100" dist="38100" dir="2700000" algn="tl">
                    <a:srgbClr val="000000"/>
                  </a:outerShdw>
                </a:effectLst>
              </a:rPr>
              <a:t>if</a:t>
            </a:r>
            <a:r>
              <a:rPr lang="en-US" altLang="zh-CN" dirty="0" smtClean="0">
                <a:effectLst>
                  <a:outerShdw blurRad="38100" dist="38100" dir="2700000" algn="tl">
                    <a:srgbClr val="000000"/>
                  </a:outerShdw>
                </a:effectLst>
              </a:rPr>
              <a:t> </a:t>
            </a:r>
            <a:r>
              <a:rPr lang="en-US" altLang="zh-CN" dirty="0">
                <a:effectLst>
                  <a:outerShdw blurRad="38100" dist="38100" dir="2700000" algn="tl">
                    <a:srgbClr val="000000"/>
                  </a:outerShdw>
                </a:effectLst>
              </a:rPr>
              <a:t>(...)</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r>
              <a:rPr lang="en-US" altLang="zh-CN" dirty="0" smtClean="0">
                <a:solidFill>
                  <a:srgbClr val="FFC000"/>
                </a:solidFill>
                <a:effectLst>
                  <a:outerShdw blurRad="38100" dist="38100" dir="2700000" algn="tl">
                    <a:srgbClr val="000000"/>
                  </a:outerShdw>
                </a:effectLst>
              </a:rPr>
              <a:t>else</a:t>
            </a:r>
            <a:r>
              <a:rPr lang="en-US" altLang="zh-CN" dirty="0" smtClean="0">
                <a:effectLst>
                  <a:outerShdw blurRad="38100" dist="38100" dir="2700000" algn="tl">
                    <a:srgbClr val="000000"/>
                  </a:outerShdw>
                </a:effectLst>
              </a:rPr>
              <a:t> </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r>
              <a:rPr lang="en-US" altLang="zh-CN" dirty="0" smtClean="0">
                <a:solidFill>
                  <a:srgbClr val="FFC000"/>
                </a:solidFill>
                <a:effectLst>
                  <a:outerShdw blurRad="38100" dist="38100" dir="2700000" algn="tl">
                    <a:srgbClr val="000000"/>
                  </a:outerShdw>
                </a:effectLst>
              </a:rPr>
              <a:t>if</a:t>
            </a:r>
            <a:r>
              <a:rPr lang="en-US" altLang="zh-CN" dirty="0" smtClean="0">
                <a:effectLst>
                  <a:outerShdw blurRad="38100" dist="38100" dir="2700000" algn="tl">
                    <a:srgbClr val="000000"/>
                  </a:outerShdw>
                </a:effectLst>
              </a:rPr>
              <a:t> </a:t>
            </a:r>
            <a:r>
              <a:rPr lang="en-US" altLang="zh-CN" dirty="0">
                <a:effectLst>
                  <a:outerShdw blurRad="38100" dist="38100" dir="2700000" algn="tl">
                    <a:srgbClr val="000000"/>
                  </a:outerShdw>
                </a:effectLst>
              </a:rPr>
              <a:t>(...)</a:t>
            </a: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endParaRPr lang="en-US" altLang="zh-CN" dirty="0">
              <a:effectLst>
                <a:outerShdw blurRad="38100" dist="38100" dir="2700000" algn="tl">
                  <a:srgbClr val="000000"/>
                </a:outerShdw>
              </a:effectLst>
            </a:endParaRP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r>
              <a:rPr lang="en-US" altLang="zh-CN" dirty="0" smtClean="0">
                <a:solidFill>
                  <a:srgbClr val="FFC000"/>
                </a:solidFill>
                <a:effectLst>
                  <a:outerShdw blurRad="38100" dist="38100" dir="2700000" algn="tl">
                    <a:srgbClr val="000000"/>
                  </a:outerShdw>
                </a:effectLst>
              </a:rPr>
              <a:t>else</a:t>
            </a:r>
            <a:endParaRPr lang="en-US" altLang="zh-CN" dirty="0">
              <a:solidFill>
                <a:srgbClr val="FFC000"/>
              </a:solidFill>
              <a:effectLst>
                <a:outerShdw blurRad="38100" dist="38100" dir="2700000" algn="tl">
                  <a:srgbClr val="000000"/>
                </a:outerShdw>
              </a:effectLst>
            </a:endParaRPr>
          </a:p>
          <a:p>
            <a:pPr>
              <a:lnSpc>
                <a:spcPct val="100000"/>
              </a:lnSpc>
              <a:spcBef>
                <a:spcPts val="0"/>
              </a:spcBef>
              <a:buFontTx/>
              <a:buNone/>
              <a:defRPr/>
            </a:pPr>
            <a:r>
              <a:rPr lang="en-US" altLang="zh-CN" dirty="0">
                <a:effectLst>
                  <a:outerShdw blurRad="38100" dist="38100" dir="2700000" algn="tl">
                    <a:srgbClr val="000000"/>
                  </a:outerShdw>
                </a:effectLst>
              </a:rPr>
              <a:t>            </a:t>
            </a:r>
            <a:r>
              <a:rPr lang="en-US" altLang="zh-CN" dirty="0" smtClean="0">
                <a:effectLst>
                  <a:outerShdw blurRad="38100" dist="38100" dir="2700000" algn="tl">
                    <a:srgbClr val="000000"/>
                  </a:outerShdw>
                </a:effectLst>
              </a:rPr>
              <a:t> ......</a:t>
            </a:r>
            <a:endParaRPr lang="en-US" altLang="zh-CN" dirty="0">
              <a:effectLst>
                <a:outerShdw blurRad="38100" dist="38100" dir="2700000" algn="tl">
                  <a:srgbClr val="000000"/>
                </a:outerShdw>
              </a:effectLs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8600" y="115888"/>
            <a:ext cx="8534400" cy="609600"/>
          </a:xfrm>
        </p:spPr>
        <p:txBody>
          <a:bodyPr/>
          <a:lstStyle/>
          <a:p>
            <a:pPr algn="l" eaLnBrk="1" hangingPunct="1">
              <a:defRPr/>
            </a:pPr>
            <a:r>
              <a:rPr lang="zh-CN" altLang="en-US" sz="2400" dirty="0" smtClean="0">
                <a:latin typeface="宋体" charset="-122"/>
              </a:rPr>
              <a:t>例</a:t>
            </a:r>
            <a:r>
              <a:rPr lang="zh-CN" altLang="en-US" sz="2400" dirty="0" smtClean="0"/>
              <a:t>：</a:t>
            </a:r>
            <a:r>
              <a:rPr lang="zh-CN" altLang="en-US" sz="2400" dirty="0" smtClean="0">
                <a:latin typeface="宋体" charset="-122"/>
              </a:rPr>
              <a:t>从键盘输入一个三角形的三条边，判断其为何种三角形</a:t>
            </a:r>
            <a:r>
              <a:rPr lang="zh-CN" altLang="en-US" sz="3600" dirty="0" smtClean="0"/>
              <a:t> </a:t>
            </a:r>
          </a:p>
        </p:txBody>
      </p:sp>
      <p:sp>
        <p:nvSpPr>
          <p:cNvPr id="13315" name="Rectangle 3"/>
          <p:cNvSpPr>
            <a:spLocks noGrp="1" noChangeArrowheads="1"/>
          </p:cNvSpPr>
          <p:nvPr>
            <p:ph type="body" idx="1"/>
          </p:nvPr>
        </p:nvSpPr>
        <p:spPr>
          <a:xfrm>
            <a:off x="228600" y="914400"/>
            <a:ext cx="8915400" cy="5791200"/>
          </a:xfrm>
        </p:spPr>
        <p:txBody>
          <a:bodyPr/>
          <a:lstStyle/>
          <a:p>
            <a:pPr eaLnBrk="1" hangingPunct="1">
              <a:lnSpc>
                <a:spcPct val="90000"/>
              </a:lnSpc>
              <a:buFont typeface="Wingdings" pitchFamily="2" charset="2"/>
              <a:buNone/>
              <a:defRPr/>
            </a:pPr>
            <a:r>
              <a:rPr lang="en-US" altLang="zh-CN" sz="1800" dirty="0" smtClean="0">
                <a:cs typeface="Courier New" pitchFamily="49" charset="0"/>
              </a:rPr>
              <a:t>#include &lt;</a:t>
            </a:r>
            <a:r>
              <a:rPr lang="en-US" altLang="zh-CN" sz="1800" dirty="0" err="1" smtClean="0">
                <a:cs typeface="Courier New" pitchFamily="49" charset="0"/>
              </a:rPr>
              <a:t>iostream</a:t>
            </a:r>
            <a:r>
              <a:rPr lang="en-US" altLang="zh-CN" sz="1800" dirty="0" smtClean="0">
                <a:cs typeface="Courier New" pitchFamily="49" charset="0"/>
              </a:rPr>
              <a:t>&gt;</a:t>
            </a:r>
          </a:p>
          <a:p>
            <a:pPr eaLnBrk="1" hangingPunct="1">
              <a:lnSpc>
                <a:spcPct val="90000"/>
              </a:lnSpc>
              <a:buFont typeface="Wingdings" pitchFamily="2" charset="2"/>
              <a:buNone/>
              <a:defRPr/>
            </a:pPr>
            <a:r>
              <a:rPr lang="en-US" altLang="zh-CN" sz="1800" dirty="0" smtClean="0">
                <a:cs typeface="Courier New" pitchFamily="49" charset="0"/>
              </a:rPr>
              <a:t>using namespace </a:t>
            </a:r>
            <a:r>
              <a:rPr lang="en-US" altLang="zh-CN" sz="1800" dirty="0" err="1" smtClean="0">
                <a:cs typeface="Courier New" pitchFamily="49" charset="0"/>
              </a:rPr>
              <a:t>std</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err="1" smtClean="0">
                <a:cs typeface="Courier New" pitchFamily="49" charset="0"/>
              </a:rPr>
              <a:t>int</a:t>
            </a:r>
            <a:r>
              <a:rPr lang="en-US" altLang="zh-CN" sz="1800" dirty="0" smtClean="0">
                <a:cs typeface="Courier New" pitchFamily="49" charset="0"/>
              </a:rPr>
              <a:t> main()</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int</a:t>
            </a:r>
            <a:r>
              <a:rPr lang="en-US" altLang="zh-CN" sz="1800" dirty="0" smtClean="0">
                <a:cs typeface="Courier New" pitchFamily="49" charset="0"/>
              </a:rPr>
              <a:t> </a:t>
            </a:r>
            <a:r>
              <a:rPr lang="en-US" altLang="zh-CN" sz="1800" dirty="0" err="1" smtClean="0">
                <a:cs typeface="Courier New" pitchFamily="49" charset="0"/>
              </a:rPr>
              <a:t>a,b,c</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cin</a:t>
            </a:r>
            <a:r>
              <a:rPr lang="en-US" altLang="zh-CN" sz="1800" dirty="0" smtClean="0">
                <a:cs typeface="Courier New" pitchFamily="49" charset="0"/>
              </a:rPr>
              <a:t> &gt;&gt; a &gt;&gt; b &gt;&gt; c;</a:t>
            </a:r>
          </a:p>
          <a:p>
            <a:pPr eaLnBrk="1" hangingPunct="1">
              <a:lnSpc>
                <a:spcPct val="90000"/>
              </a:lnSpc>
              <a:buFont typeface="Wingdings" pitchFamily="2" charset="2"/>
              <a:buNone/>
              <a:defRPr/>
            </a:pPr>
            <a:r>
              <a:rPr lang="en-US" altLang="zh-CN" sz="1800" dirty="0" smtClean="0">
                <a:cs typeface="Courier New" pitchFamily="49" charset="0"/>
              </a:rPr>
              <a:t>	if (</a:t>
            </a:r>
            <a:r>
              <a:rPr lang="en-US" altLang="zh-CN" sz="1800" dirty="0" err="1" smtClean="0">
                <a:cs typeface="Courier New" pitchFamily="49" charset="0"/>
              </a:rPr>
              <a:t>a+b</a:t>
            </a:r>
            <a:r>
              <a:rPr lang="en-US" altLang="zh-CN" sz="1800" dirty="0" smtClean="0">
                <a:cs typeface="Courier New" pitchFamily="49" charset="0"/>
              </a:rPr>
              <a:t> &lt;= c || </a:t>
            </a:r>
            <a:r>
              <a:rPr lang="en-US" altLang="zh-CN" sz="1800" dirty="0" err="1" smtClean="0">
                <a:cs typeface="Courier New" pitchFamily="49" charset="0"/>
              </a:rPr>
              <a:t>b+c</a:t>
            </a:r>
            <a:r>
              <a:rPr lang="en-US" altLang="zh-CN" sz="1800" dirty="0" smtClean="0">
                <a:cs typeface="Courier New" pitchFamily="49" charset="0"/>
              </a:rPr>
              <a:t> &lt;= a || </a:t>
            </a:r>
            <a:r>
              <a:rPr lang="en-US" altLang="zh-CN" sz="1800" dirty="0" err="1" smtClean="0">
                <a:cs typeface="Courier New" pitchFamily="49" charset="0"/>
              </a:rPr>
              <a:t>c+a</a:t>
            </a:r>
            <a:r>
              <a:rPr lang="en-US" altLang="zh-CN" sz="1800" dirty="0" smtClean="0">
                <a:cs typeface="Courier New" pitchFamily="49" charset="0"/>
              </a:rPr>
              <a:t> &lt;= b)</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cout</a:t>
            </a:r>
            <a:r>
              <a:rPr lang="en-US" altLang="zh-CN" sz="1800" dirty="0" smtClean="0">
                <a:cs typeface="Courier New" pitchFamily="49" charset="0"/>
              </a:rPr>
              <a:t> &lt;&lt; "</a:t>
            </a:r>
            <a:r>
              <a:rPr lang="zh-CN" altLang="en-US" sz="1800" dirty="0" smtClean="0"/>
              <a:t>不是三角形</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smtClean="0">
                <a:cs typeface="Courier New" pitchFamily="49" charset="0"/>
              </a:rPr>
              <a:t>	else if (a == b &amp;&amp; b == c)</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cout</a:t>
            </a:r>
            <a:r>
              <a:rPr lang="en-US" altLang="zh-CN" sz="1800" dirty="0" smtClean="0">
                <a:cs typeface="Courier New" pitchFamily="49" charset="0"/>
              </a:rPr>
              <a:t> &lt;&lt; "</a:t>
            </a:r>
            <a:r>
              <a:rPr lang="zh-CN" altLang="en-US" sz="1800" dirty="0" smtClean="0"/>
              <a:t>等边三角形</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smtClean="0">
                <a:cs typeface="Courier New" pitchFamily="49" charset="0"/>
              </a:rPr>
              <a:t>	else if (a == b || b == c || c == a)</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cout</a:t>
            </a:r>
            <a:r>
              <a:rPr lang="en-US" altLang="zh-CN" sz="1800" dirty="0" smtClean="0">
                <a:cs typeface="Courier New" pitchFamily="49" charset="0"/>
              </a:rPr>
              <a:t> &lt;&lt; "</a:t>
            </a:r>
            <a:r>
              <a:rPr lang="zh-CN" altLang="en-US" sz="1800" dirty="0" smtClean="0"/>
              <a:t>等腰三角形</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smtClean="0">
                <a:cs typeface="Courier New" pitchFamily="49" charset="0"/>
              </a:rPr>
              <a:t>	else if (a*</a:t>
            </a:r>
            <a:r>
              <a:rPr lang="en-US" altLang="zh-CN" sz="1800" dirty="0" err="1" smtClean="0">
                <a:cs typeface="Courier New" pitchFamily="49" charset="0"/>
              </a:rPr>
              <a:t>a+b</a:t>
            </a:r>
            <a:r>
              <a:rPr lang="en-US" altLang="zh-CN" sz="1800" dirty="0" smtClean="0">
                <a:cs typeface="Courier New" pitchFamily="49" charset="0"/>
              </a:rPr>
              <a:t>*b == c*c || b*</a:t>
            </a:r>
            <a:r>
              <a:rPr lang="en-US" altLang="zh-CN" sz="1800" dirty="0" err="1" smtClean="0">
                <a:cs typeface="Courier New" pitchFamily="49" charset="0"/>
              </a:rPr>
              <a:t>b+c</a:t>
            </a:r>
            <a:r>
              <a:rPr lang="en-US" altLang="zh-CN" sz="1800" dirty="0" smtClean="0">
                <a:cs typeface="Courier New" pitchFamily="49" charset="0"/>
              </a:rPr>
              <a:t>*c == a*a || c*</a:t>
            </a:r>
            <a:r>
              <a:rPr lang="en-US" altLang="zh-CN" sz="1800" dirty="0" err="1" smtClean="0">
                <a:cs typeface="Courier New" pitchFamily="49" charset="0"/>
              </a:rPr>
              <a:t>c+a</a:t>
            </a:r>
            <a:r>
              <a:rPr lang="en-US" altLang="zh-CN" sz="1800" dirty="0" smtClean="0">
                <a:cs typeface="Courier New" pitchFamily="49" charset="0"/>
              </a:rPr>
              <a:t>*a == b*b)</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cout</a:t>
            </a:r>
            <a:r>
              <a:rPr lang="en-US" altLang="zh-CN" sz="1800" dirty="0" smtClean="0">
                <a:cs typeface="Courier New" pitchFamily="49" charset="0"/>
              </a:rPr>
              <a:t> &lt;&lt; "</a:t>
            </a:r>
            <a:r>
              <a:rPr lang="zh-CN" altLang="en-US" sz="1800" dirty="0" smtClean="0"/>
              <a:t>直角三角形（非等腰）</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smtClean="0">
                <a:cs typeface="Courier New" pitchFamily="49" charset="0"/>
              </a:rPr>
              <a:t>	else</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cout</a:t>
            </a:r>
            <a:r>
              <a:rPr lang="en-US" altLang="zh-CN" sz="1800" dirty="0" smtClean="0">
                <a:cs typeface="Courier New" pitchFamily="49" charset="0"/>
              </a:rPr>
              <a:t> &lt;&lt; "</a:t>
            </a:r>
            <a:r>
              <a:rPr lang="zh-CN" altLang="en-US" sz="1800" dirty="0" smtClean="0"/>
              <a:t>其它三角形</a:t>
            </a:r>
            <a:r>
              <a:rPr lang="en-US" altLang="zh-CN" sz="1800" dirty="0" smtClean="0">
                <a:cs typeface="Courier New" pitchFamily="49" charset="0"/>
              </a:rPr>
              <a:t>";	</a:t>
            </a:r>
          </a:p>
          <a:p>
            <a:pPr eaLnBrk="1" hangingPunct="1">
              <a:lnSpc>
                <a:spcPct val="90000"/>
              </a:lnSpc>
              <a:buFont typeface="Wingdings" pitchFamily="2" charset="2"/>
              <a:buNone/>
              <a:defRPr/>
            </a:pPr>
            <a:r>
              <a:rPr lang="en-US" altLang="zh-CN" sz="1800" dirty="0" smtClean="0">
                <a:cs typeface="Courier New" pitchFamily="49" charset="0"/>
              </a:rPr>
              <a:t>	</a:t>
            </a:r>
            <a:r>
              <a:rPr lang="en-US" altLang="zh-CN" sz="1800" dirty="0" err="1" smtClean="0">
                <a:cs typeface="Courier New" pitchFamily="49" charset="0"/>
              </a:rPr>
              <a:t>cout</a:t>
            </a:r>
            <a:r>
              <a:rPr lang="en-US" altLang="zh-CN" sz="1800" dirty="0" smtClean="0">
                <a:cs typeface="Courier New" pitchFamily="49" charset="0"/>
              </a:rPr>
              <a:t> &lt;&lt; </a:t>
            </a:r>
            <a:r>
              <a:rPr lang="en-US" altLang="zh-CN" sz="1800" dirty="0" err="1" smtClean="0">
                <a:cs typeface="Courier New" pitchFamily="49" charset="0"/>
              </a:rPr>
              <a:t>endl</a:t>
            </a:r>
            <a:r>
              <a:rPr lang="en-US" altLang="zh-CN" sz="1800" dirty="0" smtClean="0">
                <a:cs typeface="Courier New" pitchFamily="49" charset="0"/>
              </a:rPr>
              <a:t>;</a:t>
            </a:r>
          </a:p>
          <a:p>
            <a:pPr eaLnBrk="1" hangingPunct="1">
              <a:lnSpc>
                <a:spcPct val="90000"/>
              </a:lnSpc>
              <a:buFont typeface="Wingdings" pitchFamily="2" charset="2"/>
              <a:buNone/>
              <a:defRPr/>
            </a:pPr>
            <a:r>
              <a:rPr lang="en-US" altLang="zh-CN" sz="1800" dirty="0" smtClean="0">
                <a:cs typeface="Courier New" pitchFamily="49" charset="0"/>
              </a:rPr>
              <a:t>	return 0;</a:t>
            </a:r>
          </a:p>
          <a:p>
            <a:pPr eaLnBrk="1" hangingPunct="1">
              <a:lnSpc>
                <a:spcPct val="90000"/>
              </a:lnSpc>
              <a:buFont typeface="Wingdings" pitchFamily="2" charset="2"/>
              <a:buNone/>
              <a:defRPr/>
            </a:pPr>
            <a:r>
              <a:rPr lang="en-US" altLang="zh-CN" sz="1800" dirty="0" smtClean="0">
                <a:cs typeface="Courier New" pitchFamily="49" charset="0"/>
              </a:rPr>
              <a:t>}</a:t>
            </a:r>
            <a:endParaRPr lang="en-US" altLang="zh-CN" sz="18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457200" y="188640"/>
            <a:ext cx="8229600" cy="1139825"/>
          </a:xfrm>
        </p:spPr>
        <p:txBody>
          <a:bodyPr/>
          <a:lstStyle/>
          <a:p>
            <a:pPr eaLnBrk="1" hangingPunct="1">
              <a:defRPr/>
            </a:pPr>
            <a:r>
              <a:rPr lang="zh-CN" altLang="en-US" dirty="0" smtClean="0"/>
              <a:t>避免不必要的测试</a:t>
            </a:r>
          </a:p>
        </p:txBody>
      </p:sp>
      <p:sp>
        <p:nvSpPr>
          <p:cNvPr id="190467" name="Rectangle 3"/>
          <p:cNvSpPr>
            <a:spLocks noGrp="1" noChangeArrowheads="1"/>
          </p:cNvSpPr>
          <p:nvPr>
            <p:ph type="body" idx="1"/>
          </p:nvPr>
        </p:nvSpPr>
        <p:spPr>
          <a:xfrm>
            <a:off x="251520" y="1489646"/>
            <a:ext cx="8435280" cy="5251722"/>
          </a:xfrm>
        </p:spPr>
        <p:txBody>
          <a:bodyPr>
            <a:normAutofit fontScale="85000" lnSpcReduction="20000"/>
          </a:bodyPr>
          <a:lstStyle/>
          <a:p>
            <a:pPr eaLnBrk="1" hangingPunct="1">
              <a:lnSpc>
                <a:spcPct val="110000"/>
              </a:lnSpc>
              <a:defRPr/>
            </a:pPr>
            <a:r>
              <a:rPr lang="zh-CN" altLang="en-US" sz="2800" dirty="0" smtClean="0"/>
              <a:t>下面程序片段是把数值表示的分数</a:t>
            </a:r>
            <a:r>
              <a:rPr lang="en-US" altLang="zh-CN" sz="2800" dirty="0" smtClean="0"/>
              <a:t>score</a:t>
            </a:r>
            <a:r>
              <a:rPr lang="zh-CN" altLang="en-US" sz="2800" dirty="0" smtClean="0"/>
              <a:t>转成</a:t>
            </a:r>
            <a:r>
              <a:rPr lang="en-US" altLang="zh-CN" sz="2800" dirty="0"/>
              <a:t>"</a:t>
            </a:r>
            <a:r>
              <a:rPr lang="zh-CN" altLang="en-US" sz="2800" dirty="0"/>
              <a:t>优</a:t>
            </a:r>
            <a:r>
              <a:rPr lang="en-US" altLang="zh-CN" sz="2800" dirty="0" smtClean="0"/>
              <a:t>"</a:t>
            </a:r>
            <a:r>
              <a:rPr lang="zh-CN" altLang="en-US" sz="2800" dirty="0" smtClean="0"/>
              <a:t>、</a:t>
            </a:r>
            <a:r>
              <a:rPr lang="en-US" altLang="zh-CN" sz="2800" dirty="0" smtClean="0"/>
              <a:t>"</a:t>
            </a:r>
            <a:r>
              <a:rPr lang="zh-CN" altLang="en-US" sz="2800" dirty="0"/>
              <a:t>良</a:t>
            </a:r>
            <a:r>
              <a:rPr lang="en-US" altLang="zh-CN" sz="2800" dirty="0" smtClean="0"/>
              <a:t>"</a:t>
            </a:r>
            <a:r>
              <a:rPr lang="zh-CN" altLang="en-US" sz="2800" dirty="0" smtClean="0"/>
              <a:t>、</a:t>
            </a:r>
            <a:r>
              <a:rPr lang="en-US" altLang="zh-CN" sz="2800" dirty="0"/>
              <a:t>"</a:t>
            </a:r>
            <a:r>
              <a:rPr lang="zh-CN" altLang="en-US" sz="2800" dirty="0"/>
              <a:t>中</a:t>
            </a:r>
            <a:r>
              <a:rPr lang="en-US" altLang="zh-CN" sz="2800" dirty="0" smtClean="0"/>
              <a:t>"</a:t>
            </a:r>
            <a:r>
              <a:rPr lang="zh-CN" altLang="en-US" sz="2800" dirty="0" smtClean="0"/>
              <a:t>、</a:t>
            </a:r>
            <a:r>
              <a:rPr lang="en-US" altLang="zh-CN" sz="2800" dirty="0" smtClean="0"/>
              <a:t>"</a:t>
            </a:r>
            <a:r>
              <a:rPr lang="zh-CN" altLang="en-US" sz="2800" dirty="0"/>
              <a:t>及格</a:t>
            </a:r>
            <a:r>
              <a:rPr lang="en-US" altLang="zh-CN" sz="2800" dirty="0" smtClean="0"/>
              <a:t>"</a:t>
            </a:r>
            <a:r>
              <a:rPr lang="zh-CN" altLang="en-US" sz="2800" dirty="0" smtClean="0"/>
              <a:t>以及</a:t>
            </a:r>
            <a:r>
              <a:rPr lang="en-US" altLang="zh-CN" sz="2800" dirty="0"/>
              <a:t>"</a:t>
            </a:r>
            <a:r>
              <a:rPr lang="zh-CN" altLang="en-US" sz="2800" dirty="0"/>
              <a:t>不及格</a:t>
            </a:r>
            <a:r>
              <a:rPr lang="en-US" altLang="zh-CN" sz="2800" dirty="0" smtClean="0"/>
              <a:t>"</a:t>
            </a:r>
            <a:r>
              <a:rPr lang="zh-CN" altLang="en-US" sz="2800" dirty="0" smtClean="0"/>
              <a:t>输出</a:t>
            </a:r>
            <a:r>
              <a:rPr lang="en-US" altLang="zh-CN" sz="2800" dirty="0" smtClean="0"/>
              <a:t>:</a:t>
            </a:r>
          </a:p>
          <a:p>
            <a:pPr lvl="1" eaLnBrk="1" hangingPunct="1">
              <a:lnSpc>
                <a:spcPct val="110000"/>
              </a:lnSpc>
              <a:buFont typeface="Wingdings" pitchFamily="2" charset="2"/>
              <a:buNone/>
              <a:defRPr/>
            </a:pPr>
            <a:r>
              <a:rPr lang="en-US" altLang="zh-CN" sz="2400" dirty="0" smtClean="0"/>
              <a:t>if (score &gt;= 90)</a:t>
            </a:r>
          </a:p>
          <a:p>
            <a:pPr lvl="1"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优</a:t>
            </a:r>
            <a:r>
              <a:rPr lang="en-US" altLang="zh-CN" sz="2400" dirty="0" smtClean="0"/>
              <a:t>";</a:t>
            </a:r>
          </a:p>
          <a:p>
            <a:pPr lvl="1" eaLnBrk="1" hangingPunct="1">
              <a:lnSpc>
                <a:spcPct val="110000"/>
              </a:lnSpc>
              <a:buFont typeface="Wingdings" pitchFamily="2" charset="2"/>
              <a:buNone/>
              <a:defRPr/>
            </a:pPr>
            <a:r>
              <a:rPr lang="en-US" altLang="zh-CN" sz="2400" dirty="0" smtClean="0"/>
              <a:t>if (score &gt;= 80 &amp;&amp; score &lt; 90)</a:t>
            </a:r>
          </a:p>
          <a:p>
            <a:pPr lvl="1"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良</a:t>
            </a:r>
            <a:r>
              <a:rPr lang="en-US" altLang="zh-CN" sz="2400" dirty="0" smtClean="0"/>
              <a:t>";</a:t>
            </a:r>
          </a:p>
          <a:p>
            <a:pPr lvl="1" eaLnBrk="1" hangingPunct="1">
              <a:lnSpc>
                <a:spcPct val="110000"/>
              </a:lnSpc>
              <a:buFont typeface="Wingdings" pitchFamily="2" charset="2"/>
              <a:buNone/>
              <a:defRPr/>
            </a:pPr>
            <a:r>
              <a:rPr lang="en-US" altLang="zh-CN" sz="2400" dirty="0" smtClean="0"/>
              <a:t>if (score &gt;= 70 &amp;&amp; score &lt; 80)</a:t>
            </a:r>
          </a:p>
          <a:p>
            <a:pPr lvl="1"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中</a:t>
            </a:r>
            <a:r>
              <a:rPr lang="en-US" altLang="zh-CN" sz="2400" dirty="0" smtClean="0"/>
              <a:t>"; </a:t>
            </a:r>
          </a:p>
          <a:p>
            <a:pPr lvl="1" eaLnBrk="1" hangingPunct="1">
              <a:lnSpc>
                <a:spcPct val="110000"/>
              </a:lnSpc>
              <a:buFont typeface="Wingdings" pitchFamily="2" charset="2"/>
              <a:buNone/>
              <a:defRPr/>
            </a:pPr>
            <a:r>
              <a:rPr lang="en-US" altLang="zh-CN" sz="2400" dirty="0" smtClean="0"/>
              <a:t>if (score &gt;= 60 &amp;&amp; score &lt; 70)</a:t>
            </a:r>
          </a:p>
          <a:p>
            <a:pPr lvl="1"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及格</a:t>
            </a:r>
            <a:r>
              <a:rPr lang="en-US" altLang="zh-CN" sz="2400" dirty="0" smtClean="0"/>
              <a:t>"; </a:t>
            </a:r>
          </a:p>
          <a:p>
            <a:pPr lvl="1" eaLnBrk="1" hangingPunct="1">
              <a:lnSpc>
                <a:spcPct val="110000"/>
              </a:lnSpc>
              <a:buFont typeface="Wingdings" pitchFamily="2" charset="2"/>
              <a:buNone/>
              <a:defRPr/>
            </a:pPr>
            <a:r>
              <a:rPr lang="en-US" altLang="zh-CN" sz="2400" dirty="0" smtClean="0"/>
              <a:t>if (score &lt; 60)</a:t>
            </a:r>
          </a:p>
          <a:p>
            <a:pPr lvl="1"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不及格</a:t>
            </a:r>
            <a:r>
              <a:rPr lang="en-US" altLang="zh-CN" sz="2400" dirty="0" smtClean="0"/>
              <a:t>";</a:t>
            </a:r>
          </a:p>
          <a:p>
            <a:pPr eaLnBrk="1" hangingPunct="1">
              <a:lnSpc>
                <a:spcPct val="110000"/>
              </a:lnSpc>
              <a:defRPr/>
            </a:pPr>
            <a:r>
              <a:rPr lang="zh-CN" altLang="en-US" sz="2800" dirty="0" smtClean="0"/>
              <a:t>上述的流程控制效率不高</a:t>
            </a:r>
            <a:r>
              <a:rPr lang="zh-CN" altLang="en-US" sz="2800" dirty="0"/>
              <a:t>！</a:t>
            </a:r>
            <a:r>
              <a:rPr lang="zh-CN" altLang="en-US" sz="2800" dirty="0" smtClean="0"/>
              <a:t>例如：</a:t>
            </a:r>
            <a:endParaRPr lang="en-US" altLang="zh-CN" sz="2800" dirty="0" smtClean="0"/>
          </a:p>
          <a:p>
            <a:pPr lvl="1" eaLnBrk="1" hangingPunct="1">
              <a:lnSpc>
                <a:spcPct val="110000"/>
              </a:lnSpc>
              <a:defRPr/>
            </a:pPr>
            <a:r>
              <a:rPr lang="zh-CN" altLang="en-US" sz="2400" dirty="0" smtClean="0"/>
              <a:t>当</a:t>
            </a:r>
            <a:r>
              <a:rPr lang="en-US" altLang="zh-CN" sz="2400" dirty="0" smtClean="0"/>
              <a:t>score</a:t>
            </a:r>
            <a:r>
              <a:rPr lang="zh-CN" altLang="en-US" sz="2400" dirty="0" smtClean="0"/>
              <a:t>为</a:t>
            </a:r>
            <a:r>
              <a:rPr lang="en-US" altLang="zh-CN" sz="2400" dirty="0" smtClean="0"/>
              <a:t>95</a:t>
            </a:r>
            <a:r>
              <a:rPr lang="zh-CN" altLang="en-US" sz="2400" dirty="0" smtClean="0"/>
              <a:t>时，除了第一个</a:t>
            </a:r>
            <a:r>
              <a:rPr lang="en-US" altLang="zh-CN" sz="2400" dirty="0" smtClean="0"/>
              <a:t>if</a:t>
            </a:r>
            <a:r>
              <a:rPr lang="zh-CN" altLang="en-US" sz="2400" dirty="0" smtClean="0"/>
              <a:t>语句的条件测试外，其它的</a:t>
            </a:r>
            <a:r>
              <a:rPr lang="en-US" altLang="zh-CN" sz="2400" dirty="0" smtClean="0"/>
              <a:t>if</a:t>
            </a:r>
            <a:r>
              <a:rPr lang="zh-CN" altLang="en-US" sz="2400" dirty="0" smtClean="0"/>
              <a:t>语句的条件测试都是多余的！</a:t>
            </a:r>
            <a:endParaRPr lang="en-US" altLang="zh-CN"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467">
                                            <p:txEl>
                                              <p:pRg st="11" end="11"/>
                                            </p:txEl>
                                          </p:spTgt>
                                        </p:tgtEl>
                                        <p:attrNameLst>
                                          <p:attrName>style.visibility</p:attrName>
                                        </p:attrNameLst>
                                      </p:cBhvr>
                                      <p:to>
                                        <p:strVal val="visible"/>
                                      </p:to>
                                    </p:set>
                                    <p:anim calcmode="lin" valueType="num">
                                      <p:cBhvr additive="base">
                                        <p:cTn id="7" dur="500" fill="hold"/>
                                        <p:tgtEl>
                                          <p:spTgt spid="190467">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467">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0467">
                                            <p:txEl>
                                              <p:pRg st="12" end="12"/>
                                            </p:txEl>
                                          </p:spTgt>
                                        </p:tgtEl>
                                        <p:attrNameLst>
                                          <p:attrName>style.visibility</p:attrName>
                                        </p:attrNameLst>
                                      </p:cBhvr>
                                      <p:to>
                                        <p:strVal val="visible"/>
                                      </p:to>
                                    </p:set>
                                    <p:anim calcmode="lin" valueType="num">
                                      <p:cBhvr additive="base">
                                        <p:cTn id="13" dur="500" fill="hold"/>
                                        <p:tgtEl>
                                          <p:spTgt spid="190467">
                                            <p:txEl>
                                              <p:pRg st="12" end="1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0467">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115888"/>
            <a:ext cx="7772400" cy="998537"/>
          </a:xfrm>
        </p:spPr>
        <p:txBody>
          <a:bodyPr/>
          <a:lstStyle/>
          <a:p>
            <a:pPr algn="l" eaLnBrk="1" hangingPunct="1">
              <a:defRPr/>
            </a:pPr>
            <a:r>
              <a:rPr lang="en-US" altLang="zh-CN" dirty="0" smtClean="0"/>
              <a:t>if </a:t>
            </a:r>
            <a:r>
              <a:rPr lang="zh-CN" altLang="en-US" dirty="0" smtClean="0"/>
              <a:t>语句的歧义问题</a:t>
            </a:r>
          </a:p>
        </p:txBody>
      </p:sp>
      <p:sp>
        <p:nvSpPr>
          <p:cNvPr id="14339" name="Rectangle 3"/>
          <p:cNvSpPr>
            <a:spLocks noGrp="1" noChangeArrowheads="1"/>
          </p:cNvSpPr>
          <p:nvPr>
            <p:ph type="body" idx="1"/>
          </p:nvPr>
        </p:nvSpPr>
        <p:spPr>
          <a:xfrm>
            <a:off x="125413" y="1412875"/>
            <a:ext cx="8839200" cy="5328493"/>
          </a:xfrm>
        </p:spPr>
        <p:txBody>
          <a:bodyPr>
            <a:normAutofit/>
          </a:bodyPr>
          <a:lstStyle/>
          <a:p>
            <a:pPr marL="360363" indent="-360363" eaLnBrk="1" hangingPunct="1">
              <a:defRPr/>
            </a:pPr>
            <a:r>
              <a:rPr lang="zh-CN" altLang="en-US" sz="2800" dirty="0" smtClean="0"/>
              <a:t>由于</a:t>
            </a:r>
            <a:r>
              <a:rPr lang="en-US" altLang="zh-CN" sz="2800" dirty="0" smtClean="0"/>
              <a:t>if</a:t>
            </a:r>
            <a:r>
              <a:rPr lang="zh-CN" altLang="en-US" sz="2800" dirty="0" smtClean="0"/>
              <a:t>语句的子句又可以是</a:t>
            </a:r>
            <a:r>
              <a:rPr lang="en-US" altLang="zh-CN" sz="2800" dirty="0" smtClean="0"/>
              <a:t>if</a:t>
            </a:r>
            <a:r>
              <a:rPr lang="zh-CN" altLang="en-US" sz="2800" dirty="0" smtClean="0"/>
              <a:t>语句，就会面临歧义问题！</a:t>
            </a:r>
            <a:endParaRPr lang="en-US" altLang="zh-CN" sz="2800" dirty="0" smtClean="0"/>
          </a:p>
          <a:p>
            <a:pPr marL="360363" indent="-360363" eaLnBrk="1" hangingPunct="1">
              <a:defRPr/>
            </a:pPr>
            <a:r>
              <a:rPr lang="zh-CN" altLang="en-US" sz="2800" dirty="0" smtClean="0"/>
              <a:t>例如，下面</a:t>
            </a:r>
            <a:r>
              <a:rPr lang="en-US" altLang="zh-CN" sz="2800" dirty="0" smtClean="0"/>
              <a:t>if</a:t>
            </a:r>
            <a:r>
              <a:rPr lang="zh-CN" altLang="en-US" sz="2800" dirty="0" smtClean="0"/>
              <a:t>语句的含义是什么？</a:t>
            </a:r>
          </a:p>
          <a:p>
            <a:pPr marL="360363" indent="-360363" eaLnBrk="1" hangingPunct="1">
              <a:lnSpc>
                <a:spcPct val="150000"/>
              </a:lnSpc>
              <a:buFont typeface="Wingdings" pitchFamily="2" charset="2"/>
              <a:buNone/>
              <a:defRPr/>
            </a:pPr>
            <a:r>
              <a:rPr lang="zh-CN" altLang="en-US" sz="2400" dirty="0" smtClean="0"/>
              <a:t>	 </a:t>
            </a:r>
            <a:r>
              <a:rPr lang="en-US" altLang="zh-CN" sz="2400" dirty="0" smtClean="0">
                <a:solidFill>
                  <a:srgbClr val="FFC000"/>
                </a:solidFill>
              </a:rPr>
              <a:t>if </a:t>
            </a:r>
            <a:r>
              <a:rPr lang="en-US" altLang="zh-CN" sz="2400" dirty="0" smtClean="0"/>
              <a:t>(&lt;</a:t>
            </a:r>
            <a:r>
              <a:rPr lang="zh-CN" altLang="en-US" sz="2400" dirty="0" smtClean="0">
                <a:latin typeface="宋体" charset="-122"/>
              </a:rPr>
              <a:t>表达式</a:t>
            </a:r>
            <a:r>
              <a:rPr lang="en-US" altLang="zh-CN" sz="2400" dirty="0" smtClean="0"/>
              <a:t>1&gt;) </a:t>
            </a:r>
            <a:r>
              <a:rPr lang="en-US" altLang="zh-CN" sz="2400" dirty="0" smtClean="0">
                <a:solidFill>
                  <a:srgbClr val="FFC000"/>
                </a:solidFill>
              </a:rPr>
              <a:t>if </a:t>
            </a:r>
            <a:r>
              <a:rPr lang="en-US" altLang="zh-CN" sz="2400" dirty="0" smtClean="0"/>
              <a:t>(&lt;</a:t>
            </a:r>
            <a:r>
              <a:rPr lang="zh-CN" altLang="en-US" sz="2400" dirty="0" smtClean="0">
                <a:latin typeface="宋体" charset="-122"/>
              </a:rPr>
              <a:t>表达式</a:t>
            </a:r>
            <a:r>
              <a:rPr lang="en-US" altLang="zh-CN" sz="2400" dirty="0" smtClean="0"/>
              <a:t>2&gt;) &lt;</a:t>
            </a:r>
            <a:r>
              <a:rPr lang="zh-CN" altLang="en-US" sz="2400" dirty="0" smtClean="0">
                <a:latin typeface="宋体" charset="-122"/>
              </a:rPr>
              <a:t>语句</a:t>
            </a:r>
            <a:r>
              <a:rPr lang="en-US" altLang="zh-CN" sz="2400" dirty="0" smtClean="0"/>
              <a:t>1&gt; </a:t>
            </a:r>
            <a:r>
              <a:rPr lang="en-US" altLang="zh-CN" sz="2400" dirty="0" smtClean="0">
                <a:solidFill>
                  <a:srgbClr val="FFC000"/>
                </a:solidFill>
              </a:rPr>
              <a:t>else</a:t>
            </a:r>
            <a:r>
              <a:rPr lang="en-US" altLang="zh-CN" sz="2400" dirty="0" smtClean="0"/>
              <a:t> &lt;</a:t>
            </a:r>
            <a:r>
              <a:rPr lang="zh-CN" altLang="en-US" sz="2400" dirty="0" smtClean="0">
                <a:latin typeface="宋体" charset="-122"/>
              </a:rPr>
              <a:t>语句</a:t>
            </a:r>
            <a:r>
              <a:rPr lang="en-US" altLang="zh-CN" sz="2400" dirty="0" smtClean="0"/>
              <a:t>2&gt;</a:t>
            </a:r>
          </a:p>
          <a:p>
            <a:pPr lvl="1" eaLnBrk="1" hangingPunct="1">
              <a:lnSpc>
                <a:spcPct val="90000"/>
              </a:lnSpc>
              <a:defRPr/>
            </a:pPr>
            <a:r>
              <a:rPr lang="zh-CN" altLang="en-US" sz="2400" dirty="0" smtClean="0"/>
              <a:t>它有两种可能的解释：</a:t>
            </a:r>
            <a:endParaRPr lang="en-US" altLang="zh-CN" sz="2400" dirty="0" smtClean="0"/>
          </a:p>
          <a:p>
            <a:pPr marL="984250" lvl="1" indent="-361950" eaLnBrk="1" hangingPunct="1">
              <a:lnSpc>
                <a:spcPct val="90000"/>
              </a:lnSpc>
              <a:buFontTx/>
              <a:buAutoNum type="arabicPeriod"/>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u="sng" dirty="0" smtClean="0">
                <a:solidFill>
                  <a:srgbClr val="92D050"/>
                </a:solidFill>
              </a:rPr>
              <a:t>if</a:t>
            </a:r>
            <a:r>
              <a:rPr lang="en-US" altLang="zh-CN" sz="2000" u="sng" dirty="0" smtClean="0"/>
              <a:t> (&lt;</a:t>
            </a:r>
            <a:r>
              <a:rPr lang="zh-CN" altLang="en-US" sz="2000" u="sng" dirty="0" smtClean="0"/>
              <a:t>表达式</a:t>
            </a:r>
            <a:r>
              <a:rPr lang="en-US" altLang="zh-CN" sz="2000" u="sng" dirty="0" smtClean="0"/>
              <a:t>2&gt;) &lt;</a:t>
            </a:r>
            <a:r>
              <a:rPr lang="zh-CN" altLang="en-US" sz="2000" u="sng" dirty="0" smtClean="0"/>
              <a:t>语句</a:t>
            </a:r>
            <a:r>
              <a:rPr lang="en-US" altLang="zh-CN" sz="2000" u="sng" dirty="0" smtClean="0"/>
              <a:t>1&gt; </a:t>
            </a:r>
            <a:r>
              <a:rPr lang="en-US" altLang="zh-CN" sz="2000" u="sng" dirty="0" smtClean="0">
                <a:solidFill>
                  <a:srgbClr val="92D050"/>
                </a:solidFill>
              </a:rPr>
              <a:t>else</a:t>
            </a:r>
            <a:r>
              <a:rPr lang="en-US" altLang="zh-CN" sz="2000" u="sng" dirty="0" smtClean="0"/>
              <a:t> &lt;</a:t>
            </a:r>
            <a:r>
              <a:rPr lang="zh-CN" altLang="en-US" sz="2000" u="sng" dirty="0" smtClean="0"/>
              <a:t>语句</a:t>
            </a:r>
            <a:r>
              <a:rPr lang="en-US" altLang="zh-CN" sz="2000" u="sng" dirty="0" smtClean="0"/>
              <a:t>2&gt;</a:t>
            </a:r>
          </a:p>
          <a:p>
            <a:pPr marL="984250" lvl="1" indent="-361950" eaLnBrk="1" hangingPunct="1">
              <a:lnSpc>
                <a:spcPct val="90000"/>
              </a:lnSpc>
              <a:buFontTx/>
              <a:buAutoNum type="arabicPeriod"/>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u="sng" dirty="0" smtClean="0">
                <a:solidFill>
                  <a:srgbClr val="92D050"/>
                </a:solidFill>
              </a:rPr>
              <a:t>if</a:t>
            </a:r>
            <a:r>
              <a:rPr lang="en-US" altLang="zh-CN" sz="2000" u="sng" dirty="0" smtClean="0"/>
              <a:t> (&lt;</a:t>
            </a:r>
            <a:r>
              <a:rPr lang="zh-CN" altLang="en-US" sz="2000" u="sng" dirty="0" smtClean="0"/>
              <a:t>表达式</a:t>
            </a:r>
            <a:r>
              <a:rPr lang="en-US" altLang="zh-CN" sz="2000" u="sng" dirty="0" smtClean="0"/>
              <a:t>2&gt;) &lt;</a:t>
            </a:r>
            <a:r>
              <a:rPr lang="zh-CN" altLang="en-US" sz="2000" u="sng" dirty="0" smtClean="0"/>
              <a:t>语句</a:t>
            </a:r>
            <a:r>
              <a:rPr lang="en-US" altLang="zh-CN" sz="2000" u="sng" dirty="0" smtClean="0"/>
              <a:t>1&gt;</a:t>
            </a:r>
            <a:r>
              <a:rPr lang="en-US" altLang="zh-CN" sz="2000" dirty="0" smtClean="0"/>
              <a:t> </a:t>
            </a:r>
            <a:r>
              <a:rPr lang="en-US" altLang="zh-CN" sz="2000" dirty="0" smtClean="0">
                <a:solidFill>
                  <a:srgbClr val="FFC000"/>
                </a:solidFill>
                <a:effectLst/>
              </a:rPr>
              <a:t>else</a:t>
            </a:r>
            <a:r>
              <a:rPr lang="en-US" altLang="zh-CN" sz="2000" dirty="0" smtClean="0">
                <a:effectLst/>
              </a:rPr>
              <a:t> &lt;</a:t>
            </a:r>
            <a:r>
              <a:rPr lang="zh-CN" altLang="en-US" sz="2000" dirty="0" smtClean="0">
                <a:effectLst/>
              </a:rPr>
              <a:t>语句</a:t>
            </a:r>
            <a:r>
              <a:rPr lang="en-US" altLang="zh-CN" sz="2000" dirty="0" smtClean="0">
                <a:effectLst/>
              </a:rPr>
              <a:t>2&gt;</a:t>
            </a:r>
            <a:endParaRPr lang="en-US" altLang="zh-CN" sz="2800" dirty="0" smtClean="0"/>
          </a:p>
          <a:p>
            <a:pPr marL="360363" indent="-360363" eaLnBrk="1" hangingPunct="1">
              <a:defRPr/>
            </a:pPr>
            <a:r>
              <a:rPr lang="en-US" altLang="zh-CN" sz="2800" dirty="0" smtClean="0"/>
              <a:t>C++</a:t>
            </a:r>
            <a:r>
              <a:rPr lang="zh-CN" altLang="en-US" sz="2800" dirty="0" smtClean="0"/>
              <a:t>规定：</a:t>
            </a:r>
            <a:r>
              <a:rPr lang="en-US" altLang="zh-CN" sz="2800" dirty="0" smtClean="0"/>
              <a:t>else</a:t>
            </a:r>
            <a:r>
              <a:rPr lang="zh-CN" altLang="en-US" sz="2800" dirty="0" smtClean="0"/>
              <a:t>子句与它前面最近的、没有</a:t>
            </a:r>
            <a:r>
              <a:rPr lang="en-US" altLang="zh-CN" sz="2800" dirty="0" smtClean="0"/>
              <a:t>else</a:t>
            </a:r>
            <a:r>
              <a:rPr lang="zh-CN" altLang="en-US" sz="2800" dirty="0" smtClean="0"/>
              <a:t>子句的</a:t>
            </a:r>
            <a:r>
              <a:rPr lang="en-US" altLang="zh-CN" sz="2800" dirty="0" smtClean="0"/>
              <a:t>if</a:t>
            </a:r>
            <a:r>
              <a:rPr lang="zh-CN" altLang="en-US" sz="2800" dirty="0" smtClean="0"/>
              <a:t>配对。因此，上面的</a:t>
            </a:r>
            <a:r>
              <a:rPr lang="en-US" altLang="zh-CN" sz="2800" dirty="0" smtClean="0"/>
              <a:t>if</a:t>
            </a:r>
            <a:r>
              <a:rPr lang="zh-CN" altLang="en-US" sz="2800" dirty="0" smtClean="0"/>
              <a:t>语句按</a:t>
            </a:r>
            <a:r>
              <a:rPr lang="en-US" altLang="zh-CN" sz="2800" dirty="0" smtClean="0"/>
              <a:t>1</a:t>
            </a:r>
            <a:r>
              <a:rPr lang="zh-CN" altLang="en-US" sz="2800" dirty="0" smtClean="0"/>
              <a:t>来解释： </a:t>
            </a:r>
          </a:p>
          <a:p>
            <a:pPr marL="984250" lvl="1" indent="-361950" eaLnBrk="1" hangingPunct="1">
              <a:lnSpc>
                <a:spcPct val="90000"/>
              </a:lnSpc>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u="sng" dirty="0" smtClean="0">
                <a:solidFill>
                  <a:srgbClr val="92D050"/>
                </a:solidFill>
              </a:rPr>
              <a:t>if</a:t>
            </a:r>
            <a:r>
              <a:rPr lang="en-US" altLang="zh-CN" sz="2000" u="sng" dirty="0" smtClean="0"/>
              <a:t> (&lt;</a:t>
            </a:r>
            <a:r>
              <a:rPr lang="zh-CN" altLang="en-US" sz="2000" u="sng" dirty="0" smtClean="0"/>
              <a:t>表达式</a:t>
            </a:r>
            <a:r>
              <a:rPr lang="en-US" altLang="zh-CN" sz="2000" u="sng" dirty="0" smtClean="0"/>
              <a:t>2&gt;) &lt;</a:t>
            </a:r>
            <a:r>
              <a:rPr lang="zh-CN" altLang="en-US" sz="2000" u="sng" dirty="0" smtClean="0"/>
              <a:t>语句</a:t>
            </a:r>
            <a:r>
              <a:rPr lang="en-US" altLang="zh-CN" sz="2000" u="sng" dirty="0" smtClean="0"/>
              <a:t>1&gt; </a:t>
            </a:r>
            <a:r>
              <a:rPr lang="en-US" altLang="zh-CN" sz="2000" u="sng" dirty="0" smtClean="0">
                <a:solidFill>
                  <a:srgbClr val="92D050"/>
                </a:solidFill>
              </a:rPr>
              <a:t>else</a:t>
            </a:r>
            <a:r>
              <a:rPr lang="en-US" altLang="zh-CN" sz="2000" u="sng" dirty="0" smtClean="0"/>
              <a:t> &lt;</a:t>
            </a:r>
            <a:r>
              <a:rPr lang="zh-CN" altLang="en-US" sz="2000" u="sng" dirty="0" smtClean="0"/>
              <a:t>语句</a:t>
            </a:r>
            <a:r>
              <a:rPr lang="en-US" altLang="zh-CN" sz="2000" u="sng" dirty="0" smtClean="0"/>
              <a:t>2&gt;</a:t>
            </a:r>
            <a:r>
              <a:rPr lang="en-US" altLang="zh-CN" sz="2000" dirty="0" smtClean="0"/>
              <a:t> </a:t>
            </a:r>
          </a:p>
          <a:p>
            <a:pPr marL="360363" indent="-360363" eaLnBrk="1" hangingPunct="1">
              <a:defRPr/>
            </a:pPr>
            <a:r>
              <a:rPr lang="zh-CN" altLang="en-US" sz="2800" dirty="0" smtClean="0"/>
              <a:t>若要按</a:t>
            </a:r>
            <a:r>
              <a:rPr lang="en-US" altLang="zh-CN" sz="2800" dirty="0" smtClean="0"/>
              <a:t>2</a:t>
            </a:r>
            <a:r>
              <a:rPr lang="zh-CN" altLang="en-US" sz="2800" dirty="0" smtClean="0"/>
              <a:t>来解释，则需要加上花括号（复合语句）：</a:t>
            </a:r>
          </a:p>
          <a:p>
            <a:pPr marL="984250" lvl="1" indent="-361950" eaLnBrk="1" hangingPunct="1">
              <a:lnSpc>
                <a:spcPct val="90000"/>
              </a:lnSpc>
              <a:defRPr/>
            </a:pPr>
            <a:r>
              <a:rPr lang="en-US" altLang="zh-CN" sz="2000" dirty="0" smtClean="0">
                <a:solidFill>
                  <a:srgbClr val="FFC000"/>
                </a:solidFill>
              </a:rPr>
              <a:t>if</a:t>
            </a:r>
            <a:r>
              <a:rPr lang="en-US" altLang="zh-CN" sz="2000" dirty="0" smtClean="0"/>
              <a:t> (&lt;</a:t>
            </a:r>
            <a:r>
              <a:rPr lang="zh-CN" altLang="en-US" sz="2000" dirty="0" smtClean="0"/>
              <a:t>表达式</a:t>
            </a:r>
            <a:r>
              <a:rPr lang="en-US" altLang="zh-CN" sz="2000" dirty="0" smtClean="0"/>
              <a:t>1&gt;) </a:t>
            </a:r>
            <a:r>
              <a:rPr lang="en-US" altLang="zh-CN" sz="2000" dirty="0" smtClean="0">
                <a:solidFill>
                  <a:srgbClr val="FFC000"/>
                </a:solidFill>
              </a:rPr>
              <a:t>{</a:t>
            </a:r>
            <a:r>
              <a:rPr lang="en-US" altLang="zh-CN" sz="2000" dirty="0" smtClean="0"/>
              <a:t> </a:t>
            </a:r>
            <a:r>
              <a:rPr lang="en-US" altLang="zh-CN" sz="2000" dirty="0" smtClean="0">
                <a:solidFill>
                  <a:srgbClr val="92D050"/>
                </a:solidFill>
              </a:rPr>
              <a:t>if</a:t>
            </a:r>
            <a:r>
              <a:rPr lang="en-US" altLang="zh-CN" sz="2000" dirty="0" smtClean="0"/>
              <a:t> (&lt;</a:t>
            </a:r>
            <a:r>
              <a:rPr lang="zh-CN" altLang="en-US" sz="2000" dirty="0" smtClean="0"/>
              <a:t>表达式</a:t>
            </a:r>
            <a:r>
              <a:rPr lang="en-US" altLang="zh-CN" sz="2000" dirty="0" smtClean="0"/>
              <a:t>2&gt;) &lt;</a:t>
            </a:r>
            <a:r>
              <a:rPr lang="zh-CN" altLang="en-US" sz="2000" dirty="0" smtClean="0"/>
              <a:t>语句</a:t>
            </a:r>
            <a:r>
              <a:rPr lang="en-US" altLang="zh-CN" sz="2000" dirty="0" smtClean="0"/>
              <a:t>1&gt; </a:t>
            </a:r>
            <a:r>
              <a:rPr lang="en-US" altLang="zh-CN" sz="2000" dirty="0" smtClean="0">
                <a:solidFill>
                  <a:srgbClr val="FFC000"/>
                </a:solidFill>
              </a:rPr>
              <a:t>}</a:t>
            </a:r>
            <a:r>
              <a:rPr lang="en-US" altLang="zh-CN" sz="2000" dirty="0" smtClean="0"/>
              <a:t> </a:t>
            </a:r>
            <a:r>
              <a:rPr lang="en-US" altLang="zh-CN" sz="2000" dirty="0" smtClean="0">
                <a:solidFill>
                  <a:srgbClr val="FFC000"/>
                </a:solidFill>
              </a:rPr>
              <a:t>else</a:t>
            </a:r>
            <a:r>
              <a:rPr lang="en-US" altLang="zh-CN" sz="2000" dirty="0" smtClean="0"/>
              <a:t> &lt;</a:t>
            </a:r>
            <a:r>
              <a:rPr lang="zh-CN" altLang="en-US" sz="2000" dirty="0" smtClean="0"/>
              <a:t>语句</a:t>
            </a:r>
            <a:r>
              <a:rPr lang="en-US" altLang="zh-CN" sz="2000" dirty="0" smtClean="0"/>
              <a:t>2&gt;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9">
                                            <p:txEl>
                                              <p:pRg st="6" end="6"/>
                                            </p:txEl>
                                          </p:spTgt>
                                        </p:tgtEl>
                                        <p:attrNameLst>
                                          <p:attrName>style.visibility</p:attrName>
                                        </p:attrNameLst>
                                      </p:cBhvr>
                                      <p:to>
                                        <p:strVal val="visible"/>
                                      </p:to>
                                    </p:set>
                                    <p:anim calcmode="lin" valueType="num">
                                      <p:cBhvr additive="base">
                                        <p:cTn id="7" dur="500" fill="hold"/>
                                        <p:tgtEl>
                                          <p:spTgt spid="1433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39">
                                            <p:txEl>
                                              <p:pRg st="7" end="7"/>
                                            </p:txEl>
                                          </p:spTgt>
                                        </p:tgtEl>
                                        <p:attrNameLst>
                                          <p:attrName>style.visibility</p:attrName>
                                        </p:attrNameLst>
                                      </p:cBhvr>
                                      <p:to>
                                        <p:strVal val="visible"/>
                                      </p:to>
                                    </p:set>
                                    <p:anim calcmode="lin" valueType="num">
                                      <p:cBhvr additive="base">
                                        <p:cTn id="11" dur="500" fill="hold"/>
                                        <p:tgtEl>
                                          <p:spTgt spid="14339">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33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339">
                                            <p:txEl>
                                              <p:pRg st="8" end="8"/>
                                            </p:txEl>
                                          </p:spTgt>
                                        </p:tgtEl>
                                        <p:attrNameLst>
                                          <p:attrName>style.visibility</p:attrName>
                                        </p:attrNameLst>
                                      </p:cBhvr>
                                      <p:to>
                                        <p:strVal val="visible"/>
                                      </p:to>
                                    </p:set>
                                    <p:anim calcmode="lin" valueType="num">
                                      <p:cBhvr additive="base">
                                        <p:cTn id="17" dur="500" fill="hold"/>
                                        <p:tgtEl>
                                          <p:spTgt spid="14339">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339">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339">
                                            <p:txEl>
                                              <p:pRg st="9" end="9"/>
                                            </p:txEl>
                                          </p:spTgt>
                                        </p:tgtEl>
                                        <p:attrNameLst>
                                          <p:attrName>style.visibility</p:attrName>
                                        </p:attrNameLst>
                                      </p:cBhvr>
                                      <p:to>
                                        <p:strVal val="visible"/>
                                      </p:to>
                                    </p:set>
                                    <p:anim calcmode="lin" valueType="num">
                                      <p:cBhvr additive="base">
                                        <p:cTn id="21" dur="500" fill="hold"/>
                                        <p:tgtEl>
                                          <p:spTgt spid="14339">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33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smtClean="0"/>
              <a:t>下面程序的结果是什么？</a:t>
            </a:r>
          </a:p>
        </p:txBody>
      </p:sp>
      <p:sp>
        <p:nvSpPr>
          <p:cNvPr id="223235" name="Rectangle 3"/>
          <p:cNvSpPr>
            <a:spLocks noGrp="1" noChangeArrowheads="1"/>
          </p:cNvSpPr>
          <p:nvPr>
            <p:ph type="body" idx="1"/>
          </p:nvPr>
        </p:nvSpPr>
        <p:spPr>
          <a:xfrm>
            <a:off x="457200" y="1600200"/>
            <a:ext cx="8229600" cy="4997152"/>
          </a:xfrm>
        </p:spPr>
        <p:txBody>
          <a:bodyPr>
            <a:normAutofit lnSpcReduction="10000"/>
          </a:bodyPr>
          <a:lstStyle/>
          <a:p>
            <a:pPr lvl="1" eaLnBrk="1" hangingPunct="1">
              <a:buFont typeface="Wingdings" pitchFamily="2" charset="2"/>
              <a:buNone/>
              <a:defRPr/>
            </a:pPr>
            <a:r>
              <a:rPr lang="en-US" altLang="zh-CN" dirty="0" smtClean="0"/>
              <a:t>double average;</a:t>
            </a:r>
          </a:p>
          <a:p>
            <a:pPr lvl="1" eaLnBrk="1" hangingPunct="1">
              <a:buFont typeface="Wingdings" pitchFamily="2" charset="2"/>
              <a:buNone/>
              <a:defRPr/>
            </a:pPr>
            <a:r>
              <a:rPr lang="en-US" altLang="zh-CN" dirty="0" smtClean="0"/>
              <a:t>average = 100.0;</a:t>
            </a:r>
          </a:p>
          <a:p>
            <a:pPr lvl="1" eaLnBrk="1" hangingPunct="1">
              <a:buFont typeface="Wingdings" pitchFamily="2" charset="2"/>
              <a:buNone/>
              <a:defRPr/>
            </a:pPr>
            <a:r>
              <a:rPr lang="en-US" altLang="zh-CN" dirty="0" smtClean="0"/>
              <a:t>if  ( average &gt;= 60.0 )</a:t>
            </a:r>
          </a:p>
          <a:p>
            <a:pPr lvl="1" eaLnBrk="1" hangingPunct="1">
              <a:buFont typeface="Wingdings" pitchFamily="2" charset="2"/>
              <a:buNone/>
              <a:defRPr/>
            </a:pPr>
            <a:r>
              <a:rPr lang="en-US" altLang="zh-CN" dirty="0" smtClean="0"/>
              <a:t>	if ( average &lt; 70.0 )</a:t>
            </a:r>
          </a:p>
          <a:p>
            <a:pPr lvl="1" eaLnBrk="1" hangingPunct="1">
              <a:buFont typeface="Wingdings" pitchFamily="2" charset="2"/>
              <a:buNone/>
              <a:defRPr/>
            </a:pPr>
            <a:r>
              <a:rPr lang="en-US" altLang="zh-CN" dirty="0" smtClean="0"/>
              <a:t>		</a:t>
            </a:r>
            <a:r>
              <a:rPr lang="en-US" altLang="zh-CN" dirty="0" err="1" smtClean="0"/>
              <a:t>cout</a:t>
            </a:r>
            <a:r>
              <a:rPr lang="en-US" altLang="zh-CN" dirty="0" smtClean="0"/>
              <a:t> &lt;&lt; </a:t>
            </a:r>
            <a:r>
              <a:rPr lang="en-GB" altLang="zh-CN" dirty="0" smtClean="0">
                <a:latin typeface="Arial"/>
              </a:rPr>
              <a:t>"</a:t>
            </a:r>
            <a:r>
              <a:rPr lang="en-US" altLang="zh-CN" dirty="0" smtClean="0"/>
              <a:t>Marginal PASS</a:t>
            </a:r>
            <a:r>
              <a:rPr lang="en-GB" altLang="zh-CN" dirty="0" smtClean="0">
                <a:latin typeface="Arial"/>
              </a:rPr>
              <a:t>"</a:t>
            </a:r>
            <a:r>
              <a:rPr lang="en-US" altLang="zh-CN" dirty="0" smtClean="0"/>
              <a:t>;</a:t>
            </a:r>
          </a:p>
          <a:p>
            <a:pPr lvl="1" eaLnBrk="1" hangingPunct="1">
              <a:buFont typeface="Wingdings" pitchFamily="2" charset="2"/>
              <a:buNone/>
              <a:defRPr/>
            </a:pPr>
            <a:r>
              <a:rPr lang="en-US" altLang="zh-CN" dirty="0" smtClean="0"/>
              <a:t>else</a:t>
            </a:r>
          </a:p>
          <a:p>
            <a:pPr lvl="1" eaLnBrk="1" hangingPunct="1">
              <a:buFont typeface="Wingdings" pitchFamily="2" charset="2"/>
              <a:buNone/>
              <a:defRPr/>
            </a:pPr>
            <a:r>
              <a:rPr lang="en-US" altLang="zh-CN" dirty="0" smtClean="0"/>
              <a:t>	</a:t>
            </a:r>
            <a:r>
              <a:rPr lang="en-US" altLang="zh-CN" dirty="0" err="1" smtClean="0"/>
              <a:t>cout</a:t>
            </a:r>
            <a:r>
              <a:rPr lang="en-US" altLang="zh-CN" dirty="0" smtClean="0"/>
              <a:t> &lt;&lt; </a:t>
            </a:r>
            <a:r>
              <a:rPr lang="en-GB" altLang="zh-CN" dirty="0" smtClean="0">
                <a:latin typeface="Arial"/>
              </a:rPr>
              <a:t>"</a:t>
            </a:r>
            <a:r>
              <a:rPr lang="en-US" altLang="zh-CN" dirty="0" smtClean="0"/>
              <a:t>FAIL</a:t>
            </a:r>
            <a:r>
              <a:rPr lang="en-GB" altLang="zh-CN" dirty="0">
                <a:latin typeface="Arial"/>
              </a:rPr>
              <a:t>"</a:t>
            </a:r>
            <a:r>
              <a:rPr lang="en-US" altLang="zh-CN" dirty="0" smtClean="0"/>
              <a:t>;</a:t>
            </a:r>
          </a:p>
          <a:p>
            <a:pPr eaLnBrk="1" hangingPunct="1">
              <a:defRPr/>
            </a:pPr>
            <a:r>
              <a:rPr lang="zh-CN" altLang="en-US" dirty="0" smtClean="0"/>
              <a:t>输出：</a:t>
            </a:r>
            <a:r>
              <a:rPr lang="en-US" altLang="zh-CN" dirty="0" smtClean="0"/>
              <a:t>FAIL</a:t>
            </a:r>
            <a:endParaRPr lang="en-US" altLang="zh-CN" dirty="0"/>
          </a:p>
          <a:p>
            <a:pPr eaLnBrk="1" hangingPunct="1">
              <a:defRPr/>
            </a:pPr>
            <a:r>
              <a:rPr lang="zh-CN" altLang="en-US" dirty="0" smtClean="0">
                <a:solidFill>
                  <a:srgbClr val="FFC000"/>
                </a:solidFill>
              </a:rPr>
              <a:t>结论：</a:t>
            </a:r>
            <a:r>
              <a:rPr lang="zh-CN" altLang="en-US" dirty="0" smtClean="0"/>
              <a:t>程序的含义不受程序书写格式的影响，完全由语法决定！</a:t>
            </a:r>
            <a:endParaRPr lang="en-US" altLang="zh-C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3235">
                                            <p:txEl>
                                              <p:pRg st="7" end="7"/>
                                            </p:txEl>
                                          </p:spTgt>
                                        </p:tgtEl>
                                        <p:attrNameLst>
                                          <p:attrName>style.visibility</p:attrName>
                                        </p:attrNameLst>
                                      </p:cBhvr>
                                      <p:to>
                                        <p:strVal val="visible"/>
                                      </p:to>
                                    </p:set>
                                    <p:anim calcmode="lin" valueType="num">
                                      <p:cBhvr additive="base">
                                        <p:cTn id="7" dur="500" fill="hold"/>
                                        <p:tgtEl>
                                          <p:spTgt spid="223235">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32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3235">
                                            <p:txEl>
                                              <p:pRg st="8" end="8"/>
                                            </p:txEl>
                                          </p:spTgt>
                                        </p:tgtEl>
                                        <p:attrNameLst>
                                          <p:attrName>style.visibility</p:attrName>
                                        </p:attrNameLst>
                                      </p:cBhvr>
                                      <p:to>
                                        <p:strVal val="visible"/>
                                      </p:to>
                                    </p:set>
                                    <p:anim calcmode="lin" valueType="num">
                                      <p:cBhvr additive="base">
                                        <p:cTn id="13" dur="500" fill="hold"/>
                                        <p:tgtEl>
                                          <p:spTgt spid="223235">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32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27088" y="44450"/>
            <a:ext cx="7489825" cy="1139825"/>
          </a:xfrm>
        </p:spPr>
        <p:txBody>
          <a:bodyPr/>
          <a:lstStyle/>
          <a:p>
            <a:pPr eaLnBrk="1" hangingPunct="1">
              <a:defRPr/>
            </a:pPr>
            <a:r>
              <a:rPr lang="en-US" altLang="zh-CN" dirty="0" smtClean="0"/>
              <a:t>switch </a:t>
            </a:r>
            <a:r>
              <a:rPr lang="zh-CN" altLang="en-US" dirty="0" smtClean="0"/>
              <a:t>语句</a:t>
            </a:r>
          </a:p>
        </p:txBody>
      </p:sp>
      <p:sp>
        <p:nvSpPr>
          <p:cNvPr id="17411" name="Rectangle 3"/>
          <p:cNvSpPr>
            <a:spLocks noGrp="1" noChangeArrowheads="1"/>
          </p:cNvSpPr>
          <p:nvPr>
            <p:ph type="body" idx="1"/>
          </p:nvPr>
        </p:nvSpPr>
        <p:spPr>
          <a:xfrm>
            <a:off x="395411" y="1484783"/>
            <a:ext cx="8425061" cy="5257329"/>
          </a:xfrm>
        </p:spPr>
        <p:txBody>
          <a:bodyPr>
            <a:normAutofit fontScale="85000" lnSpcReduction="20000"/>
          </a:bodyPr>
          <a:lstStyle/>
          <a:p>
            <a:pPr eaLnBrk="1" hangingPunct="1">
              <a:lnSpc>
                <a:spcPct val="120000"/>
              </a:lnSpc>
              <a:defRPr/>
            </a:pPr>
            <a:r>
              <a:rPr lang="zh-CN" altLang="en-US" dirty="0" smtClean="0"/>
              <a:t>程序中有时需要根据某个变量的不同取值来执行不同的操作。例如，根据表示一个星期某一天的变量</a:t>
            </a:r>
            <a:r>
              <a:rPr lang="en-US" altLang="zh-CN" dirty="0" smtClean="0"/>
              <a:t>day</a:t>
            </a:r>
            <a:r>
              <a:rPr lang="zh-CN" altLang="en-US" dirty="0" smtClean="0"/>
              <a:t>的值（</a:t>
            </a:r>
            <a:r>
              <a:rPr lang="en-US" altLang="zh-CN" dirty="0" smtClean="0"/>
              <a:t>1~7</a:t>
            </a:r>
            <a:r>
              <a:rPr lang="zh-CN" altLang="en-US" dirty="0" smtClean="0"/>
              <a:t>，周一到周日）来决定做什么。</a:t>
            </a:r>
            <a:endParaRPr lang="en-US" altLang="zh-CN" dirty="0" smtClean="0"/>
          </a:p>
          <a:p>
            <a:pPr eaLnBrk="1" hangingPunct="1">
              <a:lnSpc>
                <a:spcPct val="120000"/>
              </a:lnSpc>
              <a:defRPr/>
            </a:pPr>
            <a:r>
              <a:rPr lang="zh-CN" altLang="en-US" dirty="0" smtClean="0"/>
              <a:t>虽然用嵌套的</a:t>
            </a:r>
            <a:r>
              <a:rPr lang="en-US" altLang="zh-CN" dirty="0" smtClean="0"/>
              <a:t>if</a:t>
            </a:r>
            <a:r>
              <a:rPr lang="zh-CN" altLang="en-US" dirty="0" smtClean="0"/>
              <a:t>语句能够实现，但不简洁。例如，</a:t>
            </a:r>
            <a:endParaRPr lang="en-US" altLang="zh-CN" dirty="0" smtClean="0"/>
          </a:p>
          <a:p>
            <a:pPr marL="457200" lvl="1" indent="0" eaLnBrk="1" hangingPunct="1">
              <a:lnSpc>
                <a:spcPct val="120000"/>
              </a:lnSpc>
              <a:buNone/>
              <a:defRPr/>
            </a:pPr>
            <a:r>
              <a:rPr lang="en-US" altLang="zh-CN" dirty="0" smtClean="0"/>
              <a:t>if (day == 1)</a:t>
            </a:r>
          </a:p>
          <a:p>
            <a:pPr marL="457200" lvl="1" indent="0" eaLnBrk="1" hangingPunct="1">
              <a:lnSpc>
                <a:spcPct val="120000"/>
              </a:lnSpc>
              <a:buNone/>
              <a:defRPr/>
            </a:pPr>
            <a:r>
              <a:rPr lang="en-US" altLang="zh-CN" dirty="0" smtClean="0"/>
              <a:t>  ......</a:t>
            </a:r>
          </a:p>
          <a:p>
            <a:pPr marL="457200" lvl="1" indent="0" eaLnBrk="1" hangingPunct="1">
              <a:lnSpc>
                <a:spcPct val="120000"/>
              </a:lnSpc>
              <a:buNone/>
              <a:defRPr/>
            </a:pPr>
            <a:r>
              <a:rPr lang="en-US" altLang="zh-CN" dirty="0" smtClean="0"/>
              <a:t>else if (day == 2)</a:t>
            </a:r>
          </a:p>
          <a:p>
            <a:pPr marL="457200" lvl="1" indent="0" eaLnBrk="1" hangingPunct="1">
              <a:lnSpc>
                <a:spcPct val="120000"/>
              </a:lnSpc>
              <a:buNone/>
              <a:defRPr/>
            </a:pPr>
            <a:r>
              <a:rPr lang="en-US" altLang="zh-CN" dirty="0" smtClean="0"/>
              <a:t>  ......</a:t>
            </a:r>
          </a:p>
          <a:p>
            <a:pPr marL="457200" lvl="1" indent="0" eaLnBrk="1" hangingPunct="1">
              <a:lnSpc>
                <a:spcPct val="120000"/>
              </a:lnSpc>
              <a:buNone/>
              <a:defRPr/>
            </a:pPr>
            <a:r>
              <a:rPr lang="en-US" altLang="zh-CN" dirty="0" smtClean="0"/>
              <a:t>else if (day == 3)</a:t>
            </a:r>
          </a:p>
          <a:p>
            <a:pPr marL="457200" lvl="1" indent="0" eaLnBrk="1" hangingPunct="1">
              <a:lnSpc>
                <a:spcPct val="120000"/>
              </a:lnSpc>
              <a:buNone/>
              <a:defRPr/>
            </a:pPr>
            <a:r>
              <a:rPr lang="en-US" altLang="zh-CN" dirty="0"/>
              <a:t> </a:t>
            </a:r>
            <a:r>
              <a:rPr lang="en-US" altLang="zh-CN" dirty="0" smtClean="0"/>
              <a:t> ......</a:t>
            </a:r>
          </a:p>
          <a:p>
            <a:pPr marL="457200" lvl="1" indent="0" eaLnBrk="1" hangingPunct="1">
              <a:lnSpc>
                <a:spcPct val="120000"/>
              </a:lnSpc>
              <a:buNone/>
              <a:defRPr/>
            </a:pPr>
            <a:r>
              <a:rPr lang="en-US" altLang="zh-CN" dirty="0" smtClean="0"/>
              <a:t>......</a:t>
            </a:r>
            <a:endParaRPr lang="zh-CN" altLang="en-US"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476672"/>
            <a:ext cx="8435280" cy="6120680"/>
          </a:xfrm>
        </p:spPr>
        <p:txBody>
          <a:bodyPr>
            <a:normAutofit fontScale="77500" lnSpcReduction="20000"/>
          </a:bodyPr>
          <a:lstStyle/>
          <a:p>
            <a:pPr eaLnBrk="1" hangingPunct="1">
              <a:lnSpc>
                <a:spcPct val="120000"/>
              </a:lnSpc>
              <a:defRPr/>
            </a:pPr>
            <a:r>
              <a:rPr lang="en-US" altLang="zh-CN" dirty="0"/>
              <a:t>C++</a:t>
            </a:r>
            <a:r>
              <a:rPr lang="zh-CN" altLang="en-US" dirty="0"/>
              <a:t>提供了一条多路选择语句：</a:t>
            </a:r>
            <a:r>
              <a:rPr lang="en-US" altLang="zh-CN" dirty="0">
                <a:solidFill>
                  <a:srgbClr val="FFC000"/>
                </a:solidFill>
              </a:rPr>
              <a:t>switch</a:t>
            </a:r>
            <a:r>
              <a:rPr lang="zh-CN" altLang="en-US" dirty="0">
                <a:solidFill>
                  <a:srgbClr val="FFC000"/>
                </a:solidFill>
              </a:rPr>
              <a:t>语句</a:t>
            </a:r>
            <a:r>
              <a:rPr lang="zh-CN" altLang="en-US" dirty="0"/>
              <a:t>（又称开关语句），它能根据某个表达式的值在多组语句中选择一组语句来执行。</a:t>
            </a:r>
            <a:endParaRPr lang="en-US" altLang="zh-CN" dirty="0"/>
          </a:p>
          <a:p>
            <a:pPr eaLnBrk="1" hangingPunct="1">
              <a:lnSpc>
                <a:spcPct val="120000"/>
              </a:lnSpc>
              <a:defRPr/>
            </a:pPr>
            <a:r>
              <a:rPr lang="en-US" altLang="zh-CN" dirty="0" smtClean="0"/>
              <a:t>switch</a:t>
            </a:r>
            <a:r>
              <a:rPr lang="zh-CN" altLang="en-US" dirty="0" smtClean="0"/>
              <a:t>语句的格式</a:t>
            </a:r>
            <a:r>
              <a:rPr lang="zh-CN" altLang="en-US" dirty="0"/>
              <a:t>为：</a:t>
            </a:r>
            <a:endParaRPr lang="en-US" altLang="zh-CN" dirty="0"/>
          </a:p>
          <a:p>
            <a:pPr lvl="2" eaLnBrk="1" hangingPunct="1">
              <a:lnSpc>
                <a:spcPct val="120000"/>
              </a:lnSpc>
              <a:buNone/>
              <a:defRPr/>
            </a:pPr>
            <a:r>
              <a:rPr lang="en-US" altLang="zh-CN" sz="2800" b="1" dirty="0">
                <a:solidFill>
                  <a:srgbClr val="FFC000"/>
                </a:solidFill>
              </a:rPr>
              <a:t>switch (</a:t>
            </a:r>
            <a:r>
              <a:rPr lang="en-US" altLang="zh-CN" sz="2800" dirty="0"/>
              <a:t>&lt;</a:t>
            </a:r>
            <a:r>
              <a:rPr lang="zh-CN" altLang="en-US" sz="2800" dirty="0"/>
              <a:t>整型表达式</a:t>
            </a:r>
            <a:r>
              <a:rPr lang="en-US" altLang="zh-CN" sz="2800" dirty="0"/>
              <a:t>&gt;</a:t>
            </a:r>
            <a:r>
              <a:rPr lang="en-US" altLang="zh-CN" sz="2800" b="1" dirty="0">
                <a:solidFill>
                  <a:srgbClr val="FFC000"/>
                </a:solidFill>
              </a:rPr>
              <a:t>)</a:t>
            </a:r>
          </a:p>
          <a:p>
            <a:pPr lvl="2" eaLnBrk="1" hangingPunct="1">
              <a:lnSpc>
                <a:spcPct val="120000"/>
              </a:lnSpc>
              <a:buNone/>
              <a:defRPr/>
            </a:pPr>
            <a:r>
              <a:rPr lang="en-US" altLang="zh-CN" sz="2800" b="1" dirty="0">
                <a:solidFill>
                  <a:srgbClr val="FFC000"/>
                </a:solidFill>
              </a:rPr>
              <a:t>{	case</a:t>
            </a:r>
            <a:r>
              <a:rPr lang="en-US" altLang="zh-CN" sz="2800" dirty="0"/>
              <a:t> &lt;</a:t>
            </a:r>
            <a:r>
              <a:rPr lang="zh-CN" altLang="en-US" sz="2800" dirty="0"/>
              <a:t>整型常量表达式</a:t>
            </a:r>
            <a:r>
              <a:rPr lang="en-US" altLang="zh-CN" sz="2800" dirty="0"/>
              <a:t>1&gt;</a:t>
            </a:r>
            <a:r>
              <a:rPr lang="en-US" altLang="zh-CN" sz="2800" b="1" dirty="0">
                <a:solidFill>
                  <a:srgbClr val="FFC000"/>
                </a:solidFill>
              </a:rPr>
              <a:t>:</a:t>
            </a:r>
            <a:r>
              <a:rPr lang="en-US" altLang="zh-CN" sz="2800" dirty="0"/>
              <a:t> &lt;</a:t>
            </a:r>
            <a:r>
              <a:rPr lang="zh-CN" altLang="en-US" sz="2800" dirty="0"/>
              <a:t>语句序列</a:t>
            </a:r>
            <a:r>
              <a:rPr lang="en-US" altLang="zh-CN" sz="2800" dirty="0"/>
              <a:t>1</a:t>
            </a:r>
            <a:r>
              <a:rPr lang="en-US" altLang="zh-CN" sz="2800" dirty="0" smtClean="0"/>
              <a:t>&gt;</a:t>
            </a:r>
          </a:p>
          <a:p>
            <a:pPr lvl="2" eaLnBrk="1" hangingPunct="1">
              <a:lnSpc>
                <a:spcPct val="120000"/>
              </a:lnSpc>
              <a:buNone/>
              <a:defRPr/>
            </a:pPr>
            <a:r>
              <a:rPr lang="en-US" altLang="zh-CN" sz="2800" dirty="0" smtClean="0"/>
              <a:t>		</a:t>
            </a:r>
            <a:r>
              <a:rPr lang="en-US" altLang="zh-CN" sz="2800" dirty="0"/>
              <a:t>:</a:t>
            </a:r>
          </a:p>
          <a:p>
            <a:pPr lvl="2" eaLnBrk="1" hangingPunct="1">
              <a:lnSpc>
                <a:spcPct val="120000"/>
              </a:lnSpc>
              <a:buNone/>
              <a:defRPr/>
            </a:pPr>
            <a:r>
              <a:rPr lang="en-US" altLang="zh-CN" sz="2800" dirty="0"/>
              <a:t>	</a:t>
            </a:r>
            <a:r>
              <a:rPr lang="en-US" altLang="zh-CN" sz="2800" b="1" dirty="0">
                <a:solidFill>
                  <a:srgbClr val="FFC000"/>
                </a:solidFill>
              </a:rPr>
              <a:t>case</a:t>
            </a:r>
            <a:r>
              <a:rPr lang="en-US" altLang="zh-CN" sz="2800" dirty="0"/>
              <a:t> &lt;</a:t>
            </a:r>
            <a:r>
              <a:rPr lang="zh-CN" altLang="en-US" sz="2800" dirty="0"/>
              <a:t>整型常量表达式</a:t>
            </a:r>
            <a:r>
              <a:rPr lang="en-US" altLang="zh-CN" sz="2800" dirty="0"/>
              <a:t>2&gt;</a:t>
            </a:r>
            <a:r>
              <a:rPr lang="en-US" altLang="zh-CN" sz="2800" b="1" dirty="0">
                <a:solidFill>
                  <a:srgbClr val="FFC000"/>
                </a:solidFill>
              </a:rPr>
              <a:t>:</a:t>
            </a:r>
            <a:r>
              <a:rPr lang="en-US" altLang="zh-CN" sz="2800" dirty="0"/>
              <a:t> &lt;</a:t>
            </a:r>
            <a:r>
              <a:rPr lang="zh-CN" altLang="en-US" sz="2800" dirty="0"/>
              <a:t>语句</a:t>
            </a:r>
            <a:r>
              <a:rPr lang="zh-CN" altLang="en-US" sz="2800" dirty="0" smtClean="0"/>
              <a:t>序列</a:t>
            </a:r>
            <a:r>
              <a:rPr lang="en-US" altLang="zh-CN" sz="2800" dirty="0" err="1" smtClean="0"/>
              <a:t>i</a:t>
            </a:r>
            <a:r>
              <a:rPr lang="en-US" altLang="zh-CN" sz="2800" dirty="0" smtClean="0"/>
              <a:t>&gt;</a:t>
            </a:r>
            <a:endParaRPr lang="en-US" altLang="zh-CN" sz="2800" dirty="0"/>
          </a:p>
          <a:p>
            <a:pPr lvl="2" eaLnBrk="1" hangingPunct="1">
              <a:lnSpc>
                <a:spcPct val="120000"/>
              </a:lnSpc>
              <a:buNone/>
              <a:defRPr/>
            </a:pPr>
            <a:r>
              <a:rPr lang="en-US" altLang="zh-CN" sz="2800" dirty="0"/>
              <a:t>        </a:t>
            </a:r>
            <a:r>
              <a:rPr lang="en-US" altLang="zh-CN" sz="2800" dirty="0" smtClean="0"/>
              <a:t>	:</a:t>
            </a:r>
            <a:endParaRPr lang="en-US" altLang="zh-CN" sz="2800" dirty="0"/>
          </a:p>
          <a:p>
            <a:pPr lvl="2" eaLnBrk="1" hangingPunct="1">
              <a:lnSpc>
                <a:spcPct val="120000"/>
              </a:lnSpc>
              <a:buNone/>
              <a:defRPr/>
            </a:pPr>
            <a:r>
              <a:rPr lang="en-US" altLang="zh-CN" sz="2800" dirty="0"/>
              <a:t>	</a:t>
            </a:r>
            <a:r>
              <a:rPr lang="en-US" altLang="zh-CN" sz="2800" b="1" dirty="0">
                <a:solidFill>
                  <a:srgbClr val="FFC000"/>
                </a:solidFill>
              </a:rPr>
              <a:t>case</a:t>
            </a:r>
            <a:r>
              <a:rPr lang="en-US" altLang="zh-CN" sz="2800" dirty="0"/>
              <a:t> &lt;</a:t>
            </a:r>
            <a:r>
              <a:rPr lang="zh-CN" altLang="en-US" sz="2800" dirty="0"/>
              <a:t>整型常量表达式</a:t>
            </a:r>
            <a:r>
              <a:rPr lang="en-US" altLang="zh-CN" sz="2800" dirty="0"/>
              <a:t>n&gt;</a:t>
            </a:r>
            <a:r>
              <a:rPr lang="en-US" altLang="zh-CN" sz="2800" b="1" dirty="0">
                <a:solidFill>
                  <a:srgbClr val="FFC000"/>
                </a:solidFill>
              </a:rPr>
              <a:t>:</a:t>
            </a:r>
            <a:r>
              <a:rPr lang="en-US" altLang="zh-CN" sz="2800" dirty="0"/>
              <a:t> &lt;</a:t>
            </a:r>
            <a:r>
              <a:rPr lang="zh-CN" altLang="en-US" sz="2800" dirty="0"/>
              <a:t>语句序列</a:t>
            </a:r>
            <a:r>
              <a:rPr lang="en-US" altLang="zh-CN" sz="2800" dirty="0"/>
              <a:t>n&gt;</a:t>
            </a:r>
          </a:p>
          <a:p>
            <a:pPr lvl="2" eaLnBrk="1" hangingPunct="1">
              <a:lnSpc>
                <a:spcPct val="120000"/>
              </a:lnSpc>
              <a:buNone/>
              <a:defRPr/>
            </a:pPr>
            <a:r>
              <a:rPr lang="en-US" altLang="zh-CN" sz="2800" dirty="0"/>
              <a:t>	[</a:t>
            </a:r>
            <a:r>
              <a:rPr lang="en-US" altLang="zh-CN" sz="2800" b="1" dirty="0">
                <a:solidFill>
                  <a:srgbClr val="FFC000"/>
                </a:solidFill>
              </a:rPr>
              <a:t>default:</a:t>
            </a:r>
            <a:r>
              <a:rPr lang="en-US" altLang="zh-CN" sz="2800" dirty="0"/>
              <a:t> &lt;</a:t>
            </a:r>
            <a:r>
              <a:rPr lang="zh-CN" altLang="en-US" sz="2800" dirty="0"/>
              <a:t>语句序列</a:t>
            </a:r>
            <a:r>
              <a:rPr lang="en-US" altLang="zh-CN" sz="2800" dirty="0"/>
              <a:t>n+1&gt;]</a:t>
            </a:r>
            <a:r>
              <a:rPr lang="en-US" altLang="zh-CN" sz="2800" i="1" dirty="0"/>
              <a:t>  </a:t>
            </a:r>
            <a:r>
              <a:rPr lang="en-US" altLang="zh-CN" sz="2800" dirty="0"/>
              <a:t>//</a:t>
            </a:r>
            <a:r>
              <a:rPr lang="zh-CN" altLang="en-US" sz="2800" dirty="0"/>
              <a:t>可以省略</a:t>
            </a:r>
            <a:endParaRPr lang="en-US" altLang="zh-CN" sz="2800" dirty="0"/>
          </a:p>
          <a:p>
            <a:pPr lvl="2" eaLnBrk="1" hangingPunct="1">
              <a:lnSpc>
                <a:spcPct val="120000"/>
              </a:lnSpc>
              <a:buNone/>
              <a:defRPr/>
            </a:pPr>
            <a:r>
              <a:rPr lang="en-US" altLang="zh-CN" sz="2800" b="1" dirty="0">
                <a:solidFill>
                  <a:srgbClr val="FFC000"/>
                </a:solidFill>
              </a:rPr>
              <a:t>}</a:t>
            </a:r>
            <a:r>
              <a:rPr lang="zh-CN" altLang="en-US" b="1" dirty="0">
                <a:solidFill>
                  <a:srgbClr val="FFC000"/>
                </a:solidFill>
              </a:rPr>
              <a:t> </a:t>
            </a:r>
          </a:p>
          <a:p>
            <a:pPr lvl="1" eaLnBrk="1" hangingPunct="1">
              <a:lnSpc>
                <a:spcPct val="120000"/>
              </a:lnSpc>
              <a:defRPr/>
            </a:pPr>
            <a:r>
              <a:rPr lang="en-US" altLang="zh-CN" dirty="0"/>
              <a:t>&lt;</a:t>
            </a:r>
            <a:r>
              <a:rPr lang="zh-CN" altLang="en-US" dirty="0"/>
              <a:t>语句序列</a:t>
            </a:r>
            <a:r>
              <a:rPr lang="en-US" altLang="zh-CN" dirty="0" err="1"/>
              <a:t>i</a:t>
            </a:r>
            <a:r>
              <a:rPr lang="en-US" altLang="zh-CN" dirty="0"/>
              <a:t>&gt;</a:t>
            </a:r>
            <a:r>
              <a:rPr lang="zh-CN" altLang="en-US" dirty="0"/>
              <a:t>由</a:t>
            </a:r>
            <a:r>
              <a:rPr lang="zh-CN" altLang="en-US" dirty="0">
                <a:solidFill>
                  <a:srgbClr val="FFC000"/>
                </a:solidFill>
              </a:rPr>
              <a:t>零个</a:t>
            </a:r>
            <a:r>
              <a:rPr lang="zh-CN" altLang="en-US" dirty="0"/>
              <a:t>或</a:t>
            </a:r>
            <a:r>
              <a:rPr lang="zh-CN" altLang="en-US" dirty="0">
                <a:solidFill>
                  <a:srgbClr val="FFC000"/>
                </a:solidFill>
              </a:rPr>
              <a:t>多个</a:t>
            </a:r>
            <a:r>
              <a:rPr lang="zh-CN" altLang="en-US" dirty="0"/>
              <a:t>语句</a:t>
            </a:r>
            <a:r>
              <a:rPr lang="zh-CN" altLang="en-US" dirty="0" smtClean="0"/>
              <a:t>构成。</a:t>
            </a:r>
            <a:endParaRPr lang="en-US" altLang="zh-CN" dirty="0" smtClean="0"/>
          </a:p>
          <a:p>
            <a:pPr lvl="1" eaLnBrk="1" hangingPunct="1">
              <a:lnSpc>
                <a:spcPct val="120000"/>
              </a:lnSpc>
              <a:defRPr/>
            </a:pPr>
            <a:r>
              <a:rPr lang="en-US" altLang="zh-CN" dirty="0"/>
              <a:t>&lt;</a:t>
            </a:r>
            <a:r>
              <a:rPr lang="zh-CN" altLang="en-US" dirty="0"/>
              <a:t>语句序列</a:t>
            </a:r>
            <a:r>
              <a:rPr lang="en-US" altLang="zh-CN" dirty="0" err="1" smtClean="0"/>
              <a:t>i</a:t>
            </a:r>
            <a:r>
              <a:rPr lang="en-US" altLang="zh-CN" dirty="0" smtClean="0"/>
              <a:t>&gt;</a:t>
            </a:r>
            <a:r>
              <a:rPr lang="zh-CN" altLang="en-US" dirty="0" smtClean="0"/>
              <a:t>中最后</a:t>
            </a:r>
            <a:r>
              <a:rPr lang="zh-CN" altLang="en-US" dirty="0"/>
              <a:t>一个语句</a:t>
            </a:r>
            <a:r>
              <a:rPr lang="zh-CN" altLang="en-US" dirty="0">
                <a:solidFill>
                  <a:srgbClr val="FFC000"/>
                </a:solidFill>
              </a:rPr>
              <a:t>往往</a:t>
            </a:r>
            <a:r>
              <a:rPr lang="zh-CN" altLang="en-US" dirty="0"/>
              <a:t>是一个</a:t>
            </a:r>
            <a:r>
              <a:rPr lang="en-US" altLang="zh-CN" dirty="0" smtClean="0">
                <a:solidFill>
                  <a:srgbClr val="FFC000"/>
                </a:solidFill>
              </a:rPr>
              <a:t>break</a:t>
            </a:r>
            <a:r>
              <a:rPr lang="zh-CN" altLang="en-US" dirty="0"/>
              <a:t>语句。</a:t>
            </a:r>
          </a:p>
          <a:p>
            <a:endParaRPr lang="zh-CN" altLang="en-US" dirty="0"/>
          </a:p>
        </p:txBody>
      </p:sp>
    </p:spTree>
    <p:extLst>
      <p:ext uri="{BB962C8B-B14F-4D97-AF65-F5344CB8AC3E}">
        <p14:creationId xmlns:p14="http://schemas.microsoft.com/office/powerpoint/2010/main" val="21971385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switch</a:t>
            </a:r>
            <a:r>
              <a:rPr lang="zh-CN" altLang="en-US" dirty="0"/>
              <a:t>语句的含义</a:t>
            </a:r>
          </a:p>
        </p:txBody>
      </p:sp>
      <p:sp>
        <p:nvSpPr>
          <p:cNvPr id="3" name="内容占位符 2"/>
          <p:cNvSpPr>
            <a:spLocks noGrp="1"/>
          </p:cNvSpPr>
          <p:nvPr>
            <p:ph idx="1"/>
          </p:nvPr>
        </p:nvSpPr>
        <p:spPr>
          <a:xfrm>
            <a:off x="323528" y="1600200"/>
            <a:ext cx="8496944" cy="4709120"/>
          </a:xfrm>
        </p:spPr>
        <p:txBody>
          <a:bodyPr>
            <a:normAutofit fontScale="92500" lnSpcReduction="10000"/>
          </a:bodyPr>
          <a:lstStyle/>
          <a:p>
            <a:pPr eaLnBrk="1" hangingPunct="1">
              <a:lnSpc>
                <a:spcPct val="120000"/>
              </a:lnSpc>
              <a:defRPr/>
            </a:pPr>
            <a:r>
              <a:rPr lang="en-US" altLang="zh-CN" dirty="0"/>
              <a:t>switch</a:t>
            </a:r>
            <a:r>
              <a:rPr lang="zh-CN" altLang="en-US" dirty="0"/>
              <a:t>语句的含义是：</a:t>
            </a:r>
            <a:endParaRPr lang="en-US" altLang="zh-CN" dirty="0"/>
          </a:p>
          <a:p>
            <a:pPr lvl="1" eaLnBrk="1" hangingPunct="1">
              <a:lnSpc>
                <a:spcPct val="120000"/>
              </a:lnSpc>
              <a:defRPr/>
            </a:pPr>
            <a:r>
              <a:rPr lang="zh-CN" altLang="en-US" dirty="0"/>
              <a:t>先计算</a:t>
            </a:r>
            <a:r>
              <a:rPr lang="en-US" altLang="zh-CN" dirty="0"/>
              <a:t>&lt;</a:t>
            </a:r>
            <a:r>
              <a:rPr lang="zh-CN" altLang="en-US" dirty="0"/>
              <a:t>整型表达式</a:t>
            </a:r>
            <a:r>
              <a:rPr lang="en-US" altLang="zh-CN" dirty="0"/>
              <a:t>&gt;</a:t>
            </a:r>
            <a:r>
              <a:rPr lang="zh-CN" altLang="en-US" dirty="0"/>
              <a:t>的值</a:t>
            </a:r>
            <a:endParaRPr lang="en-US" altLang="zh-CN" dirty="0"/>
          </a:p>
          <a:p>
            <a:pPr lvl="1" eaLnBrk="1" hangingPunct="1">
              <a:lnSpc>
                <a:spcPct val="120000"/>
              </a:lnSpc>
              <a:defRPr/>
            </a:pPr>
            <a:r>
              <a:rPr lang="zh-CN" altLang="en-US" dirty="0"/>
              <a:t>然后执行某个与该值相等的</a:t>
            </a:r>
            <a:r>
              <a:rPr lang="en-US" altLang="zh-CN" dirty="0"/>
              <a:t>case</a:t>
            </a:r>
            <a:r>
              <a:rPr lang="zh-CN" altLang="en-US" dirty="0"/>
              <a:t>分支中的</a:t>
            </a:r>
            <a:r>
              <a:rPr lang="en-US" altLang="zh-CN" dirty="0"/>
              <a:t>&lt;</a:t>
            </a:r>
            <a:r>
              <a:rPr lang="zh-CN" altLang="en-US" dirty="0"/>
              <a:t>语句序列</a:t>
            </a:r>
            <a:r>
              <a:rPr lang="en-US" altLang="zh-CN" dirty="0" err="1"/>
              <a:t>i</a:t>
            </a:r>
            <a:r>
              <a:rPr lang="en-US" altLang="zh-CN" dirty="0"/>
              <a:t>&gt;</a:t>
            </a:r>
            <a:r>
              <a:rPr lang="zh-CN" altLang="en-US" dirty="0"/>
              <a:t>，直到</a:t>
            </a:r>
            <a:r>
              <a:rPr lang="en-US" altLang="zh-CN" dirty="0"/>
              <a:t>break</a:t>
            </a:r>
            <a:r>
              <a:rPr lang="zh-CN" altLang="en-US" dirty="0"/>
              <a:t>结束</a:t>
            </a:r>
            <a:endParaRPr lang="en-US" altLang="zh-CN" dirty="0"/>
          </a:p>
          <a:p>
            <a:pPr lvl="1" eaLnBrk="1" hangingPunct="1">
              <a:lnSpc>
                <a:spcPct val="120000"/>
              </a:lnSpc>
              <a:defRPr/>
            </a:pPr>
            <a:r>
              <a:rPr lang="zh-CN" altLang="en-US" dirty="0"/>
              <a:t>如果没有与该值相等的</a:t>
            </a:r>
            <a:r>
              <a:rPr lang="en-US" altLang="zh-CN" dirty="0"/>
              <a:t>case</a:t>
            </a:r>
            <a:r>
              <a:rPr lang="zh-CN" altLang="en-US" dirty="0"/>
              <a:t>分支，则执行</a:t>
            </a:r>
            <a:r>
              <a:rPr lang="en-US" altLang="zh-CN" dirty="0"/>
              <a:t>default</a:t>
            </a:r>
            <a:r>
              <a:rPr lang="zh-CN" altLang="en-US" dirty="0"/>
              <a:t>分支的</a:t>
            </a:r>
            <a:r>
              <a:rPr lang="en-US" altLang="zh-CN" dirty="0"/>
              <a:t>&lt;</a:t>
            </a:r>
            <a:r>
              <a:rPr lang="zh-CN" altLang="en-US" dirty="0"/>
              <a:t>语句序列</a:t>
            </a:r>
            <a:r>
              <a:rPr lang="en-US" altLang="zh-CN" dirty="0"/>
              <a:t>n+1&gt;</a:t>
            </a:r>
            <a:r>
              <a:rPr lang="zh-CN" altLang="en-US" dirty="0"/>
              <a:t>。如果没有</a:t>
            </a:r>
            <a:r>
              <a:rPr lang="en-US" altLang="zh-CN" dirty="0"/>
              <a:t>default</a:t>
            </a:r>
            <a:r>
              <a:rPr lang="zh-CN" altLang="en-US" dirty="0"/>
              <a:t>分支，则什么也不做</a:t>
            </a:r>
            <a:r>
              <a:rPr lang="zh-CN" altLang="en-US" dirty="0" smtClean="0"/>
              <a:t>。</a:t>
            </a:r>
            <a:endParaRPr lang="en-US" altLang="zh-CN" dirty="0" smtClean="0"/>
          </a:p>
          <a:p>
            <a:pPr eaLnBrk="1" hangingPunct="1">
              <a:lnSpc>
                <a:spcPct val="120000"/>
              </a:lnSpc>
              <a:defRPr/>
            </a:pPr>
            <a:r>
              <a:rPr lang="en-US" altLang="zh-CN" dirty="0" smtClean="0"/>
              <a:t>switch</a:t>
            </a:r>
            <a:r>
              <a:rPr lang="zh-CN" altLang="en-US" dirty="0" smtClean="0"/>
              <a:t>语句执行完后将继续执行紧接在</a:t>
            </a:r>
            <a:r>
              <a:rPr lang="en-US" altLang="zh-CN" dirty="0" smtClean="0"/>
              <a:t>switch</a:t>
            </a:r>
            <a:r>
              <a:rPr lang="zh-CN" altLang="en-US" dirty="0" smtClean="0"/>
              <a:t>语句后面的语句。</a:t>
            </a:r>
            <a:endParaRPr lang="zh-CN" altLang="en-US" dirty="0"/>
          </a:p>
          <a:p>
            <a:endParaRPr lang="zh-CN" altLang="en-US" dirty="0"/>
          </a:p>
        </p:txBody>
      </p:sp>
    </p:spTree>
    <p:extLst>
      <p:ext uri="{BB962C8B-B14F-4D97-AF65-F5344CB8AC3E}">
        <p14:creationId xmlns:p14="http://schemas.microsoft.com/office/powerpoint/2010/main" val="8048379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250825" y="1196975"/>
            <a:ext cx="8664575" cy="5661025"/>
          </a:xfrm>
        </p:spPr>
        <p:txBody>
          <a:bodyPr/>
          <a:lstStyle/>
          <a:p>
            <a:pPr algn="just" eaLnBrk="1" hangingPunct="1">
              <a:lnSpc>
                <a:spcPct val="80000"/>
              </a:lnSpc>
              <a:buFont typeface="Wingdings" pitchFamily="2" charset="2"/>
              <a:buNone/>
              <a:defRPr/>
            </a:pPr>
            <a:r>
              <a:rPr lang="en-US" altLang="zh-CN" sz="2000" dirty="0" smtClean="0">
                <a:cs typeface="Courier New" pitchFamily="49" charset="0"/>
              </a:rPr>
              <a:t>#include &lt;</a:t>
            </a:r>
            <a:r>
              <a:rPr lang="en-US" altLang="zh-CN" sz="2000" dirty="0" err="1" smtClean="0">
                <a:cs typeface="Courier New" pitchFamily="49" charset="0"/>
              </a:rPr>
              <a:t>iostream</a:t>
            </a:r>
            <a:r>
              <a:rPr lang="en-US" altLang="zh-CN" sz="2000" dirty="0" smtClean="0">
                <a:cs typeface="Courier New" pitchFamily="49" charset="0"/>
              </a:rPr>
              <a:t>&gt;</a:t>
            </a:r>
          </a:p>
          <a:p>
            <a:pPr eaLnBrk="1" hangingPunct="1">
              <a:lnSpc>
                <a:spcPct val="80000"/>
              </a:lnSpc>
              <a:buFont typeface="Wingdings" pitchFamily="2" charset="2"/>
              <a:buNone/>
              <a:defRPr/>
            </a:pPr>
            <a:r>
              <a:rPr lang="en-US" altLang="zh-CN" sz="2000" dirty="0" smtClean="0">
                <a:cs typeface="Courier New" pitchFamily="49" charset="0"/>
              </a:rPr>
              <a:t>using namespace </a:t>
            </a:r>
            <a:r>
              <a:rPr lang="en-US" altLang="zh-CN" sz="2000" dirty="0" err="1" smtClean="0">
                <a:cs typeface="Courier New" pitchFamily="49" charset="0"/>
              </a:rPr>
              <a:t>std</a:t>
            </a:r>
            <a:r>
              <a:rPr lang="en-US" altLang="zh-CN" sz="2000" dirty="0" smtClean="0">
                <a:cs typeface="Courier New" pitchFamily="49" charset="0"/>
              </a:rPr>
              <a:t>;</a:t>
            </a:r>
          </a:p>
          <a:p>
            <a:pPr eaLnBrk="1" hangingPunct="1">
              <a:lnSpc>
                <a:spcPct val="80000"/>
              </a:lnSpc>
              <a:buFont typeface="Wingdings" pitchFamily="2" charset="2"/>
              <a:buNone/>
              <a:defRPr/>
            </a:pPr>
            <a:r>
              <a:rPr lang="en-US" altLang="zh-CN" sz="2000" dirty="0" err="1" smtClean="0">
                <a:cs typeface="Courier New" pitchFamily="49" charset="0"/>
              </a:rPr>
              <a:t>int</a:t>
            </a:r>
            <a:r>
              <a:rPr lang="en-US" altLang="zh-CN" sz="2000" dirty="0" smtClean="0">
                <a:cs typeface="Courier New" pitchFamily="49" charset="0"/>
              </a:rPr>
              <a:t> main()</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int</a:t>
            </a:r>
            <a:r>
              <a:rPr lang="en-US" altLang="zh-CN" sz="2000" dirty="0" smtClean="0">
                <a:cs typeface="Courier New" pitchFamily="49" charset="0"/>
              </a:rPr>
              <a:t> day;</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day;</a:t>
            </a:r>
          </a:p>
          <a:p>
            <a:pPr eaLnBrk="1" hangingPunct="1">
              <a:lnSpc>
                <a:spcPct val="80000"/>
              </a:lnSpc>
              <a:buFont typeface="Wingdings" pitchFamily="2" charset="2"/>
              <a:buNone/>
              <a:defRPr/>
            </a:pPr>
            <a:r>
              <a:rPr lang="en-US" altLang="zh-CN" sz="2000" dirty="0" smtClean="0">
                <a:cs typeface="Courier New" pitchFamily="49" charset="0"/>
              </a:rPr>
              <a:t>	switch (day)</a:t>
            </a:r>
          </a:p>
          <a:p>
            <a:pPr eaLnBrk="1" hangingPunct="1">
              <a:lnSpc>
                <a:spcPct val="80000"/>
              </a:lnSpc>
              <a:buFont typeface="Wingdings" pitchFamily="2" charset="2"/>
              <a:buNone/>
              <a:defRPr/>
            </a:pPr>
            <a:r>
              <a:rPr lang="en-US" altLang="zh-CN" sz="2000" dirty="0" smtClean="0">
                <a:cs typeface="Courier New" pitchFamily="49" charset="0"/>
              </a:rPr>
              <a:t>	{ 	case 0: </a:t>
            </a:r>
            <a:r>
              <a:rPr lang="en-US" altLang="zh-CN" sz="2000" dirty="0" err="1" smtClean="0">
                <a:cs typeface="Courier New" pitchFamily="49" charset="0"/>
              </a:rPr>
              <a:t>cout</a:t>
            </a:r>
            <a:r>
              <a:rPr lang="en-US" altLang="zh-CN" sz="2000" dirty="0" smtClean="0">
                <a:cs typeface="Courier New" pitchFamily="49" charset="0"/>
              </a:rPr>
              <a:t> &lt;&lt; "Sunday"; break;</a:t>
            </a:r>
          </a:p>
          <a:p>
            <a:pPr eaLnBrk="1" hangingPunct="1">
              <a:lnSpc>
                <a:spcPct val="80000"/>
              </a:lnSpc>
              <a:buFont typeface="Wingdings" pitchFamily="2" charset="2"/>
              <a:buNone/>
              <a:defRPr/>
            </a:pPr>
            <a:r>
              <a:rPr lang="en-US" altLang="zh-CN" sz="2000" dirty="0" smtClean="0">
                <a:cs typeface="Courier New" pitchFamily="49" charset="0"/>
              </a:rPr>
              <a:t>		case 1: </a:t>
            </a:r>
            <a:r>
              <a:rPr lang="en-US" altLang="zh-CN" sz="2000" dirty="0" err="1" smtClean="0">
                <a:cs typeface="Courier New" pitchFamily="49" charset="0"/>
              </a:rPr>
              <a:t>cout</a:t>
            </a:r>
            <a:r>
              <a:rPr lang="en-US" altLang="zh-CN" sz="2000" dirty="0" smtClean="0">
                <a:cs typeface="Courier New" pitchFamily="49" charset="0"/>
              </a:rPr>
              <a:t> &lt;&lt; "Monday"; break;</a:t>
            </a:r>
          </a:p>
          <a:p>
            <a:pPr eaLnBrk="1" hangingPunct="1">
              <a:lnSpc>
                <a:spcPct val="80000"/>
              </a:lnSpc>
              <a:buFont typeface="Wingdings" pitchFamily="2" charset="2"/>
              <a:buNone/>
              <a:defRPr/>
            </a:pPr>
            <a:r>
              <a:rPr lang="en-US" altLang="zh-CN" sz="2000" dirty="0" smtClean="0">
                <a:cs typeface="Courier New" pitchFamily="49" charset="0"/>
              </a:rPr>
              <a:t>		case 2: </a:t>
            </a:r>
            <a:r>
              <a:rPr lang="en-US" altLang="zh-CN" sz="2000" dirty="0" err="1" smtClean="0">
                <a:cs typeface="Courier New" pitchFamily="49" charset="0"/>
              </a:rPr>
              <a:t>cout</a:t>
            </a:r>
            <a:r>
              <a:rPr lang="en-US" altLang="zh-CN" sz="2000" dirty="0" smtClean="0">
                <a:cs typeface="Courier New" pitchFamily="49" charset="0"/>
              </a:rPr>
              <a:t> &lt;&lt; "Tuesday"; break;</a:t>
            </a:r>
          </a:p>
          <a:p>
            <a:pPr eaLnBrk="1" hangingPunct="1">
              <a:lnSpc>
                <a:spcPct val="80000"/>
              </a:lnSpc>
              <a:buFont typeface="Wingdings" pitchFamily="2" charset="2"/>
              <a:buNone/>
              <a:defRPr/>
            </a:pPr>
            <a:r>
              <a:rPr lang="en-US" altLang="zh-CN" sz="2000" dirty="0" smtClean="0">
                <a:cs typeface="Courier New" pitchFamily="49" charset="0"/>
              </a:rPr>
              <a:t>		case 3: </a:t>
            </a:r>
            <a:r>
              <a:rPr lang="en-US" altLang="zh-CN" sz="2000" dirty="0" err="1" smtClean="0">
                <a:cs typeface="Courier New" pitchFamily="49" charset="0"/>
              </a:rPr>
              <a:t>cout</a:t>
            </a:r>
            <a:r>
              <a:rPr lang="en-US" altLang="zh-CN" sz="2000" dirty="0" smtClean="0">
                <a:cs typeface="Courier New" pitchFamily="49" charset="0"/>
              </a:rPr>
              <a:t> &lt;&lt; "Wednesday"; break;</a:t>
            </a:r>
          </a:p>
          <a:p>
            <a:pPr eaLnBrk="1" hangingPunct="1">
              <a:lnSpc>
                <a:spcPct val="80000"/>
              </a:lnSpc>
              <a:buFont typeface="Wingdings" pitchFamily="2" charset="2"/>
              <a:buNone/>
              <a:defRPr/>
            </a:pPr>
            <a:r>
              <a:rPr lang="en-US" altLang="zh-CN" sz="2000" dirty="0" smtClean="0">
                <a:cs typeface="Courier New" pitchFamily="49" charset="0"/>
              </a:rPr>
              <a:t>		case 4: </a:t>
            </a:r>
            <a:r>
              <a:rPr lang="en-US" altLang="zh-CN" sz="2000" dirty="0" err="1" smtClean="0">
                <a:cs typeface="Courier New" pitchFamily="49" charset="0"/>
              </a:rPr>
              <a:t>cout</a:t>
            </a:r>
            <a:r>
              <a:rPr lang="en-US" altLang="zh-CN" sz="2000" dirty="0" smtClean="0">
                <a:cs typeface="Courier New" pitchFamily="49" charset="0"/>
              </a:rPr>
              <a:t> &lt;&lt; "Thursday"; break;</a:t>
            </a:r>
          </a:p>
          <a:p>
            <a:pPr eaLnBrk="1" hangingPunct="1">
              <a:lnSpc>
                <a:spcPct val="80000"/>
              </a:lnSpc>
              <a:buFont typeface="Wingdings" pitchFamily="2" charset="2"/>
              <a:buNone/>
              <a:defRPr/>
            </a:pPr>
            <a:r>
              <a:rPr lang="en-US" altLang="zh-CN" sz="2000" dirty="0" smtClean="0">
                <a:cs typeface="Courier New" pitchFamily="49" charset="0"/>
              </a:rPr>
              <a:t>		case 5: </a:t>
            </a:r>
            <a:r>
              <a:rPr lang="en-US" altLang="zh-CN" sz="2000" dirty="0" err="1" smtClean="0">
                <a:cs typeface="Courier New" pitchFamily="49" charset="0"/>
              </a:rPr>
              <a:t>cout</a:t>
            </a:r>
            <a:r>
              <a:rPr lang="en-US" altLang="zh-CN" sz="2000" dirty="0" smtClean="0">
                <a:cs typeface="Courier New" pitchFamily="49" charset="0"/>
              </a:rPr>
              <a:t> &lt;&lt; "Friday"; break;</a:t>
            </a:r>
          </a:p>
          <a:p>
            <a:pPr eaLnBrk="1" hangingPunct="1">
              <a:lnSpc>
                <a:spcPct val="80000"/>
              </a:lnSpc>
              <a:buFont typeface="Wingdings" pitchFamily="2" charset="2"/>
              <a:buNone/>
              <a:defRPr/>
            </a:pPr>
            <a:r>
              <a:rPr lang="en-US" altLang="zh-CN" sz="2000" dirty="0" smtClean="0">
                <a:cs typeface="Courier New" pitchFamily="49" charset="0"/>
              </a:rPr>
              <a:t>		case 6: </a:t>
            </a:r>
            <a:r>
              <a:rPr lang="en-US" altLang="zh-CN" sz="2000" dirty="0" err="1" smtClean="0">
                <a:cs typeface="Courier New" pitchFamily="49" charset="0"/>
              </a:rPr>
              <a:t>cout</a:t>
            </a:r>
            <a:r>
              <a:rPr lang="en-US" altLang="zh-CN" sz="2000" dirty="0" smtClean="0">
                <a:cs typeface="Courier New" pitchFamily="49" charset="0"/>
              </a:rPr>
              <a:t> &lt;&lt; "Saturday"; break;</a:t>
            </a:r>
          </a:p>
          <a:p>
            <a:pPr eaLnBrk="1" hangingPunct="1">
              <a:lnSpc>
                <a:spcPct val="80000"/>
              </a:lnSpc>
              <a:buFont typeface="Wingdings" pitchFamily="2" charset="2"/>
              <a:buNone/>
              <a:defRPr/>
            </a:pPr>
            <a:r>
              <a:rPr lang="en-US" altLang="zh-CN" sz="2000" dirty="0" smtClean="0">
                <a:cs typeface="Courier New" pitchFamily="49" charset="0"/>
              </a:rPr>
              <a:t>		default: </a:t>
            </a:r>
            <a:r>
              <a:rPr lang="en-US" altLang="zh-CN" sz="2000" dirty="0" err="1" smtClean="0">
                <a:cs typeface="Courier New" pitchFamily="49" charset="0"/>
              </a:rPr>
              <a:t>cout</a:t>
            </a:r>
            <a:r>
              <a:rPr lang="en-US" altLang="zh-CN" sz="2000" dirty="0" smtClean="0">
                <a:cs typeface="Courier New" pitchFamily="49" charset="0"/>
              </a:rPr>
              <a:t> &lt;&lt; "Input error";</a:t>
            </a:r>
          </a:p>
          <a:p>
            <a:pPr eaLnBrk="1" hangingPunct="1">
              <a:lnSpc>
                <a:spcPct val="80000"/>
              </a:lnSpc>
              <a:buFont typeface="Wingdings" pitchFamily="2" charset="2"/>
              <a:buNone/>
              <a:defRPr/>
            </a:pPr>
            <a:r>
              <a:rPr lang="en-US" altLang="zh-CN" sz="2000" dirty="0" smtClean="0">
                <a:cs typeface="Courier New" pitchFamily="49" charset="0"/>
              </a:rPr>
              <a:t>	}</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en-US" altLang="zh-CN" sz="2000" dirty="0" err="1" smtClean="0">
                <a:cs typeface="Courier New" pitchFamily="49" charset="0"/>
              </a:rPr>
              <a:t>endl</a:t>
            </a:r>
            <a:r>
              <a:rPr lang="en-US" altLang="zh-CN" sz="2000" dirty="0" smtClean="0">
                <a:cs typeface="Courier New" pitchFamily="49" charset="0"/>
              </a:rPr>
              <a:t>;</a:t>
            </a:r>
          </a:p>
          <a:p>
            <a:pPr eaLnBrk="1" hangingPunct="1">
              <a:lnSpc>
                <a:spcPct val="80000"/>
              </a:lnSpc>
              <a:buFont typeface="Wingdings" pitchFamily="2" charset="2"/>
              <a:buNone/>
              <a:defRPr/>
            </a:pPr>
            <a:r>
              <a:rPr lang="en-US" altLang="zh-CN" sz="2000" dirty="0" smtClean="0">
                <a:cs typeface="Courier New" pitchFamily="49" charset="0"/>
              </a:rPr>
              <a:t>	return 0;</a:t>
            </a:r>
          </a:p>
          <a:p>
            <a:pPr eaLnBrk="1" hangingPunct="1">
              <a:lnSpc>
                <a:spcPct val="80000"/>
              </a:lnSpc>
              <a:buFont typeface="Wingdings" pitchFamily="2" charset="2"/>
              <a:buNone/>
              <a:defRPr/>
            </a:pPr>
            <a:r>
              <a:rPr lang="en-US" altLang="zh-CN" sz="2000" dirty="0" smtClean="0">
                <a:cs typeface="Courier New" pitchFamily="49" charset="0"/>
              </a:rPr>
              <a:t>}</a:t>
            </a:r>
            <a:endParaRPr lang="en-US" altLang="zh-CN" sz="2000" dirty="0" smtClean="0"/>
          </a:p>
        </p:txBody>
      </p:sp>
      <p:sp>
        <p:nvSpPr>
          <p:cNvPr id="3" name="标题 2"/>
          <p:cNvSpPr>
            <a:spLocks noGrp="1"/>
          </p:cNvSpPr>
          <p:nvPr>
            <p:ph type="title"/>
          </p:nvPr>
        </p:nvSpPr>
        <p:spPr>
          <a:xfrm>
            <a:off x="323528" y="44624"/>
            <a:ext cx="8507288" cy="1139825"/>
          </a:xfrm>
        </p:spPr>
        <p:txBody>
          <a:bodyPr>
            <a:noAutofit/>
          </a:bodyPr>
          <a:lstStyle/>
          <a:p>
            <a:r>
              <a:rPr lang="zh-CN" altLang="en-US" sz="2800" dirty="0"/>
              <a:t>例：从键盘输入一个星期的某一天（</a:t>
            </a:r>
            <a:r>
              <a:rPr lang="en-US" altLang="zh-CN" sz="2800" dirty="0"/>
              <a:t>0</a:t>
            </a:r>
            <a:r>
              <a:rPr lang="zh-CN" altLang="en-US" sz="2800" dirty="0"/>
              <a:t>：星期天；</a:t>
            </a:r>
            <a:r>
              <a:rPr lang="en-US" altLang="zh-CN" sz="2800" dirty="0"/>
              <a:t>1</a:t>
            </a:r>
            <a:r>
              <a:rPr lang="zh-CN" altLang="en-US" sz="2800" dirty="0"/>
              <a:t>：星期一；</a:t>
            </a:r>
            <a:r>
              <a:rPr lang="en-US" altLang="zh-CN" sz="2800" dirty="0"/>
              <a:t>...</a:t>
            </a:r>
            <a:r>
              <a:rPr lang="zh-CN" altLang="en-US" sz="2800" dirty="0"/>
              <a:t>），然后输出其对应的英语单词</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278160"/>
            <a:ext cx="7772400" cy="990600"/>
          </a:xfrm>
        </p:spPr>
        <p:txBody>
          <a:bodyPr/>
          <a:lstStyle/>
          <a:p>
            <a:pPr eaLnBrk="1" hangingPunct="1">
              <a:defRPr/>
            </a:pPr>
            <a:r>
              <a:rPr lang="en-US" altLang="zh-CN" sz="3600" dirty="0" smtClean="0"/>
              <a:t>switch</a:t>
            </a:r>
            <a:r>
              <a:rPr lang="zh-CN" altLang="en-US" sz="3600" dirty="0" smtClean="0"/>
              <a:t>语句中使用</a:t>
            </a:r>
            <a:r>
              <a:rPr lang="en-US" altLang="zh-CN" sz="3600" dirty="0" smtClean="0"/>
              <a:t>break</a:t>
            </a:r>
            <a:r>
              <a:rPr lang="zh-CN" altLang="en-US" sz="3600" dirty="0" smtClean="0"/>
              <a:t>语句</a:t>
            </a:r>
          </a:p>
        </p:txBody>
      </p:sp>
      <p:sp>
        <p:nvSpPr>
          <p:cNvPr id="21507" name="Rectangle 3"/>
          <p:cNvSpPr>
            <a:spLocks noGrp="1" noChangeArrowheads="1"/>
          </p:cNvSpPr>
          <p:nvPr>
            <p:ph type="body" idx="1"/>
          </p:nvPr>
        </p:nvSpPr>
        <p:spPr>
          <a:xfrm>
            <a:off x="296416" y="1772816"/>
            <a:ext cx="8596064" cy="4536504"/>
          </a:xfrm>
        </p:spPr>
        <p:txBody>
          <a:bodyPr>
            <a:normAutofit/>
          </a:bodyPr>
          <a:lstStyle/>
          <a:p>
            <a:pPr marL="360363" indent="-360363" eaLnBrk="1" hangingPunct="1">
              <a:lnSpc>
                <a:spcPct val="150000"/>
              </a:lnSpc>
              <a:spcBef>
                <a:spcPts val="0"/>
              </a:spcBef>
              <a:spcAft>
                <a:spcPts val="0"/>
              </a:spcAft>
              <a:defRPr/>
            </a:pPr>
            <a:r>
              <a:rPr lang="zh-CN" altLang="en-US" sz="2800" dirty="0" smtClean="0"/>
              <a:t>在执行</a:t>
            </a:r>
            <a:r>
              <a:rPr lang="en-US" altLang="zh-CN" sz="2800" dirty="0" smtClean="0"/>
              <a:t>switch</a:t>
            </a:r>
            <a:r>
              <a:rPr lang="zh-CN" altLang="en-US" sz="2800" dirty="0" smtClean="0"/>
              <a:t>语句的某个分支时，</a:t>
            </a:r>
            <a:endParaRPr lang="en-US" altLang="zh-CN" sz="2800" dirty="0" smtClean="0"/>
          </a:p>
          <a:p>
            <a:pPr marL="760413" lvl="1" indent="-360363" eaLnBrk="1" hangingPunct="1">
              <a:lnSpc>
                <a:spcPct val="150000"/>
              </a:lnSpc>
              <a:spcBef>
                <a:spcPts val="0"/>
              </a:spcBef>
              <a:spcAft>
                <a:spcPts val="0"/>
              </a:spcAft>
              <a:defRPr/>
            </a:pPr>
            <a:r>
              <a:rPr lang="zh-CN" altLang="en-US" sz="2400" dirty="0" smtClean="0"/>
              <a:t>如果分支最后有</a:t>
            </a:r>
            <a:r>
              <a:rPr lang="en-US" altLang="zh-CN" sz="2400" dirty="0" smtClean="0"/>
              <a:t>break</a:t>
            </a:r>
            <a:r>
              <a:rPr lang="zh-CN" altLang="en-US" sz="2400" dirty="0" smtClean="0"/>
              <a:t>语句，就结束该分支的执行。</a:t>
            </a:r>
          </a:p>
          <a:p>
            <a:pPr marL="760413" lvl="1" indent="-360363" eaLnBrk="1" hangingPunct="1">
              <a:lnSpc>
                <a:spcPct val="150000"/>
              </a:lnSpc>
              <a:spcBef>
                <a:spcPts val="0"/>
              </a:spcBef>
              <a:spcAft>
                <a:spcPts val="0"/>
              </a:spcAft>
              <a:defRPr/>
            </a:pPr>
            <a:r>
              <a:rPr lang="zh-CN" altLang="en-US" sz="2400" dirty="0" smtClean="0"/>
              <a:t>如果分支最后没有</a:t>
            </a:r>
            <a:r>
              <a:rPr lang="en-US" altLang="zh-CN" sz="2400" dirty="0" smtClean="0"/>
              <a:t>break</a:t>
            </a:r>
            <a:r>
              <a:rPr lang="zh-CN" altLang="en-US" sz="2400" dirty="0" smtClean="0"/>
              <a:t>语句（最后一个分支除外），则该分支执行完后，将</a:t>
            </a:r>
            <a:r>
              <a:rPr lang="zh-CN" altLang="en-US" sz="2400" dirty="0" smtClean="0">
                <a:solidFill>
                  <a:srgbClr val="FFC000"/>
                </a:solidFill>
              </a:rPr>
              <a:t>继续</a:t>
            </a:r>
            <a:r>
              <a:rPr lang="zh-CN" altLang="en-US" sz="2400" dirty="0" smtClean="0"/>
              <a:t>执行紧接着的</a:t>
            </a:r>
            <a:r>
              <a:rPr lang="zh-CN" altLang="en-US" sz="2400" dirty="0" smtClean="0">
                <a:solidFill>
                  <a:srgbClr val="FFC000"/>
                </a:solidFill>
              </a:rPr>
              <a:t>下一个分支中</a:t>
            </a:r>
            <a:r>
              <a:rPr lang="zh-CN" altLang="en-US" sz="2400" dirty="0" smtClean="0"/>
              <a:t>的语句序列。</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264696"/>
          </a:xfrm>
        </p:spPr>
        <p:txBody>
          <a:bodyPr>
            <a:normAutofit fontScale="62500" lnSpcReduction="20000"/>
          </a:bodyPr>
          <a:lstStyle/>
          <a:p>
            <a:pPr marL="0" indent="0">
              <a:buNone/>
            </a:pPr>
            <a:r>
              <a:rPr lang="en-US" altLang="zh-CN" dirty="0"/>
              <a:t>#include &lt;</a:t>
            </a:r>
            <a:r>
              <a:rPr lang="en-US" altLang="zh-CN" dirty="0" err="1"/>
              <a:t>iostream</a:t>
            </a:r>
            <a:r>
              <a:rPr lang="en-US" altLang="zh-CN" dirty="0"/>
              <a:t>&gt;</a:t>
            </a:r>
          </a:p>
          <a:p>
            <a:pPr marL="0" indent="0">
              <a:buNone/>
            </a:pPr>
            <a:r>
              <a:rPr lang="en-US" altLang="zh-CN" dirty="0"/>
              <a:t>using namespace </a:t>
            </a:r>
            <a:r>
              <a:rPr lang="en-US" altLang="zh-CN" dirty="0" err="1"/>
              <a:t>std</a:t>
            </a:r>
            <a:r>
              <a:rPr lang="en-US" altLang="zh-CN" dirty="0"/>
              <a:t>;</a:t>
            </a:r>
          </a:p>
          <a:p>
            <a:pPr marL="0" indent="0">
              <a:buNone/>
            </a:pPr>
            <a:r>
              <a:rPr lang="en-US" altLang="zh-CN" dirty="0" err="1"/>
              <a:t>int</a:t>
            </a:r>
            <a:r>
              <a:rPr lang="en-US" altLang="zh-CN" dirty="0"/>
              <a:t> main()</a:t>
            </a:r>
          </a:p>
          <a:p>
            <a:pPr marL="0" indent="0">
              <a:buNone/>
            </a:pPr>
            <a:r>
              <a:rPr lang="en-US" altLang="zh-CN" dirty="0"/>
              <a:t>{ </a:t>
            </a:r>
            <a:r>
              <a:rPr lang="en-US" altLang="zh-CN" dirty="0" err="1" smtClean="0"/>
              <a:t>int</a:t>
            </a:r>
            <a:r>
              <a:rPr lang="en-US" altLang="zh-CN" dirty="0" smtClean="0"/>
              <a:t> </a:t>
            </a:r>
            <a:r>
              <a:rPr lang="en-US" altLang="zh-CN" dirty="0"/>
              <a:t>day;</a:t>
            </a:r>
          </a:p>
          <a:p>
            <a:pPr marL="0" indent="0">
              <a:buNone/>
            </a:pPr>
            <a:r>
              <a:rPr lang="en-US" altLang="zh-CN" dirty="0" smtClean="0"/>
              <a:t>   </a:t>
            </a:r>
            <a:r>
              <a:rPr lang="en-US" altLang="zh-CN" dirty="0" err="1" smtClean="0"/>
              <a:t>cin</a:t>
            </a:r>
            <a:r>
              <a:rPr lang="en-US" altLang="zh-CN" dirty="0" smtClean="0"/>
              <a:t> </a:t>
            </a:r>
            <a:r>
              <a:rPr lang="en-US" altLang="zh-CN" dirty="0"/>
              <a:t>&gt;&gt; day;</a:t>
            </a:r>
          </a:p>
          <a:p>
            <a:pPr marL="0" indent="0">
              <a:buNone/>
            </a:pPr>
            <a:r>
              <a:rPr lang="en-US" altLang="zh-CN" dirty="0" smtClean="0"/>
              <a:t>   switch </a:t>
            </a:r>
            <a:r>
              <a:rPr lang="en-US" altLang="zh-CN" dirty="0"/>
              <a:t>(day)</a:t>
            </a:r>
          </a:p>
          <a:p>
            <a:pPr marL="0" indent="0">
              <a:buNone/>
            </a:pPr>
            <a:r>
              <a:rPr lang="en-US" altLang="zh-CN" dirty="0" smtClean="0"/>
              <a:t>   { case </a:t>
            </a:r>
            <a:r>
              <a:rPr lang="en-US" altLang="zh-CN" dirty="0"/>
              <a:t>0: </a:t>
            </a:r>
            <a:r>
              <a:rPr lang="en-US" altLang="zh-CN" dirty="0" err="1"/>
              <a:t>cout</a:t>
            </a:r>
            <a:r>
              <a:rPr lang="en-US" altLang="zh-CN" dirty="0"/>
              <a:t> &lt;&lt; "Sunday"; break;</a:t>
            </a:r>
          </a:p>
          <a:p>
            <a:pPr marL="0" indent="0">
              <a:buNone/>
            </a:pPr>
            <a:r>
              <a:rPr lang="en-US" altLang="zh-CN" dirty="0" smtClean="0"/>
              <a:t>      case </a:t>
            </a:r>
            <a:r>
              <a:rPr lang="en-US" altLang="zh-CN" dirty="0"/>
              <a:t>1: </a:t>
            </a:r>
            <a:r>
              <a:rPr lang="en-US" altLang="zh-CN" dirty="0" err="1"/>
              <a:t>cout</a:t>
            </a:r>
            <a:r>
              <a:rPr lang="en-US" altLang="zh-CN" dirty="0"/>
              <a:t> &lt;&lt; "Monday"; break;</a:t>
            </a:r>
          </a:p>
          <a:p>
            <a:pPr marL="0" indent="0">
              <a:buNone/>
            </a:pPr>
            <a:r>
              <a:rPr lang="en-US" altLang="zh-CN" dirty="0" smtClean="0"/>
              <a:t>      case </a:t>
            </a:r>
            <a:r>
              <a:rPr lang="en-US" altLang="zh-CN" dirty="0"/>
              <a:t>2: </a:t>
            </a:r>
            <a:r>
              <a:rPr lang="en-US" altLang="zh-CN" dirty="0" err="1"/>
              <a:t>cout</a:t>
            </a:r>
            <a:r>
              <a:rPr lang="en-US" altLang="zh-CN" dirty="0"/>
              <a:t> &lt;&lt; "Tuesday"; </a:t>
            </a:r>
            <a:r>
              <a:rPr lang="en-US" altLang="zh-CN" dirty="0" smtClean="0"/>
              <a:t>//</a:t>
            </a:r>
            <a:r>
              <a:rPr lang="zh-CN" altLang="en-US" dirty="0" smtClean="0">
                <a:solidFill>
                  <a:srgbClr val="FFC000"/>
                </a:solidFill>
              </a:rPr>
              <a:t>这里没有写</a:t>
            </a:r>
            <a:r>
              <a:rPr lang="en-US" altLang="zh-CN" dirty="0" smtClean="0">
                <a:solidFill>
                  <a:srgbClr val="FFC000"/>
                </a:solidFill>
              </a:rPr>
              <a:t>break</a:t>
            </a:r>
            <a:endParaRPr lang="en-US" altLang="zh-CN" dirty="0">
              <a:solidFill>
                <a:srgbClr val="FFC000"/>
              </a:solidFill>
            </a:endParaRPr>
          </a:p>
          <a:p>
            <a:pPr marL="0" indent="0">
              <a:buNone/>
            </a:pPr>
            <a:r>
              <a:rPr lang="en-US" altLang="zh-CN" dirty="0" smtClean="0"/>
              <a:t>      case </a:t>
            </a:r>
            <a:r>
              <a:rPr lang="en-US" altLang="zh-CN" dirty="0"/>
              <a:t>3: </a:t>
            </a:r>
            <a:r>
              <a:rPr lang="en-US" altLang="zh-CN" dirty="0" err="1"/>
              <a:t>cout</a:t>
            </a:r>
            <a:r>
              <a:rPr lang="en-US" altLang="zh-CN" dirty="0"/>
              <a:t> &lt;&lt; "Wednesday"; break;</a:t>
            </a:r>
          </a:p>
          <a:p>
            <a:pPr marL="0" indent="0">
              <a:buNone/>
            </a:pPr>
            <a:r>
              <a:rPr lang="en-US" altLang="zh-CN" dirty="0" smtClean="0"/>
              <a:t>      case </a:t>
            </a:r>
            <a:r>
              <a:rPr lang="en-US" altLang="zh-CN" dirty="0"/>
              <a:t>4: </a:t>
            </a:r>
            <a:r>
              <a:rPr lang="en-US" altLang="zh-CN" dirty="0" err="1"/>
              <a:t>cout</a:t>
            </a:r>
            <a:r>
              <a:rPr lang="en-US" altLang="zh-CN" dirty="0"/>
              <a:t> &lt;&lt; "Thursday"; break;</a:t>
            </a:r>
          </a:p>
          <a:p>
            <a:pPr marL="0" indent="0">
              <a:buNone/>
            </a:pPr>
            <a:r>
              <a:rPr lang="en-US" altLang="zh-CN" dirty="0" smtClean="0"/>
              <a:t>      case </a:t>
            </a:r>
            <a:r>
              <a:rPr lang="en-US" altLang="zh-CN" dirty="0"/>
              <a:t>5: </a:t>
            </a:r>
            <a:r>
              <a:rPr lang="en-US" altLang="zh-CN" dirty="0" err="1"/>
              <a:t>cout</a:t>
            </a:r>
            <a:r>
              <a:rPr lang="en-US" altLang="zh-CN" dirty="0"/>
              <a:t> &lt;&lt; "Friday"; break;</a:t>
            </a:r>
          </a:p>
          <a:p>
            <a:pPr marL="0" indent="0">
              <a:buNone/>
            </a:pPr>
            <a:r>
              <a:rPr lang="en-US" altLang="zh-CN" dirty="0" smtClean="0"/>
              <a:t>      case </a:t>
            </a:r>
            <a:r>
              <a:rPr lang="en-US" altLang="zh-CN" dirty="0"/>
              <a:t>6: </a:t>
            </a:r>
            <a:r>
              <a:rPr lang="en-US" altLang="zh-CN" dirty="0" err="1"/>
              <a:t>cout</a:t>
            </a:r>
            <a:r>
              <a:rPr lang="en-US" altLang="zh-CN" dirty="0"/>
              <a:t> &lt;&lt; "Saturday"; break;</a:t>
            </a:r>
          </a:p>
          <a:p>
            <a:pPr marL="0" indent="0">
              <a:buNone/>
            </a:pPr>
            <a:r>
              <a:rPr lang="en-US" altLang="zh-CN" dirty="0" smtClean="0"/>
              <a:t>      default</a:t>
            </a:r>
            <a:r>
              <a:rPr lang="en-US" altLang="zh-CN" dirty="0"/>
              <a:t>: </a:t>
            </a:r>
            <a:r>
              <a:rPr lang="en-US" altLang="zh-CN" dirty="0" err="1"/>
              <a:t>cout</a:t>
            </a:r>
            <a:r>
              <a:rPr lang="en-US" altLang="zh-CN" dirty="0"/>
              <a:t> &lt;&lt; "Input error";</a:t>
            </a:r>
          </a:p>
          <a:p>
            <a:pPr marL="0" indent="0">
              <a:buNone/>
            </a:pPr>
            <a:r>
              <a:rPr lang="en-US" altLang="zh-CN" dirty="0" smtClean="0"/>
              <a:t>    }</a:t>
            </a:r>
            <a:endParaRPr lang="en-US" altLang="zh-CN" dirty="0"/>
          </a:p>
          <a:p>
            <a:pPr marL="0" indent="0">
              <a:buNone/>
            </a:pPr>
            <a:r>
              <a:rPr lang="en-US" altLang="zh-CN" dirty="0" smtClean="0"/>
              <a:t>    </a:t>
            </a:r>
            <a:r>
              <a:rPr lang="en-US" altLang="zh-CN" dirty="0" err="1" smtClean="0"/>
              <a:t>cout</a:t>
            </a:r>
            <a:r>
              <a:rPr lang="en-US" altLang="zh-CN" dirty="0" smtClean="0"/>
              <a:t> &lt;&lt; </a:t>
            </a:r>
            <a:r>
              <a:rPr lang="en-US" altLang="zh-CN" dirty="0" err="1" smtClean="0"/>
              <a:t>endl</a:t>
            </a:r>
            <a:r>
              <a:rPr lang="en-US" altLang="zh-CN" dirty="0" smtClean="0"/>
              <a:t>;</a:t>
            </a:r>
          </a:p>
          <a:p>
            <a:pPr marL="0" indent="0">
              <a:buNone/>
            </a:pPr>
            <a:r>
              <a:rPr lang="en-US" altLang="zh-CN" dirty="0" smtClean="0"/>
              <a:t>    return 0;</a:t>
            </a:r>
          </a:p>
          <a:p>
            <a:pPr marL="0" indent="0">
              <a:buNone/>
            </a:pPr>
            <a:r>
              <a:rPr lang="en-US" altLang="zh-CN" dirty="0" smtClean="0"/>
              <a:t>}</a:t>
            </a:r>
          </a:p>
          <a:p>
            <a:r>
              <a:rPr lang="zh-CN" altLang="en-US" dirty="0" smtClean="0"/>
              <a:t>输入：</a:t>
            </a:r>
            <a:r>
              <a:rPr lang="en-US" altLang="zh-CN" dirty="0" smtClean="0"/>
              <a:t>2</a:t>
            </a:r>
          </a:p>
          <a:p>
            <a:r>
              <a:rPr lang="zh-CN" altLang="en-US" dirty="0" smtClean="0"/>
              <a:t>输出：？</a:t>
            </a:r>
            <a:endParaRPr lang="en-US" altLang="zh-CN" dirty="0"/>
          </a:p>
          <a:p>
            <a:pPr marL="0" indent="0">
              <a:buNone/>
            </a:pPr>
            <a:endParaRPr lang="zh-CN" altLang="en-US" dirty="0"/>
          </a:p>
        </p:txBody>
      </p:sp>
      <p:sp>
        <p:nvSpPr>
          <p:cNvPr id="2" name="TextBox 1"/>
          <p:cNvSpPr txBox="1"/>
          <p:nvPr/>
        </p:nvSpPr>
        <p:spPr>
          <a:xfrm>
            <a:off x="1547664" y="6165304"/>
            <a:ext cx="2526076" cy="341632"/>
          </a:xfrm>
          <a:prstGeom prst="rect">
            <a:avLst/>
          </a:prstGeom>
          <a:solidFill>
            <a:schemeClr val="bg2">
              <a:lumMod val="60000"/>
              <a:lumOff val="40000"/>
            </a:schemeClr>
          </a:solidFill>
        </p:spPr>
        <p:txBody>
          <a:bodyPr wrap="none" rtlCol="0">
            <a:spAutoFit/>
          </a:bodyPr>
          <a:lstStyle/>
          <a:p>
            <a:pPr>
              <a:buNone/>
            </a:pPr>
            <a:r>
              <a:rPr lang="en-US" altLang="zh-CN" dirty="0" err="1" smtClean="0"/>
              <a:t>TuesdayWednesday</a:t>
            </a:r>
            <a:endParaRPr lang="zh-CN" altLang="en-US" dirty="0"/>
          </a:p>
        </p:txBody>
      </p:sp>
    </p:spTree>
    <p:extLst>
      <p:ext uri="{BB962C8B-B14F-4D97-AF65-F5344CB8AC3E}">
        <p14:creationId xmlns:p14="http://schemas.microsoft.com/office/powerpoint/2010/main" val="130073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需要用</a:t>
            </a:r>
            <a:r>
              <a:rPr lang="en-US" altLang="zh-CN" dirty="0" smtClean="0"/>
              <a:t>break</a:t>
            </a:r>
            <a:r>
              <a:rPr lang="zh-CN" altLang="en-US" dirty="0" smtClean="0"/>
              <a:t>来</a:t>
            </a:r>
            <a:r>
              <a:rPr lang="zh-CN" altLang="en-US" dirty="0" smtClean="0">
                <a:solidFill>
                  <a:srgbClr val="FFC000"/>
                </a:solidFill>
              </a:rPr>
              <a:t>显式地</a:t>
            </a:r>
            <a:r>
              <a:rPr lang="zh-CN" altLang="en-US" dirty="0" smtClean="0"/>
              <a:t>结束分支的执行，这为编程带来了灵活性：</a:t>
            </a:r>
            <a:endParaRPr lang="en-US" altLang="zh-CN" dirty="0" smtClean="0"/>
          </a:p>
          <a:p>
            <a:pPr lvl="1"/>
            <a:r>
              <a:rPr lang="zh-CN" altLang="en-US" dirty="0" smtClean="0"/>
              <a:t>如果几个分支要</a:t>
            </a:r>
            <a:r>
              <a:rPr lang="zh-CN" altLang="en-US" dirty="0"/>
              <a:t>执行</a:t>
            </a:r>
            <a:r>
              <a:rPr lang="zh-CN" altLang="en-US" dirty="0" smtClean="0"/>
              <a:t>相同的操作</a:t>
            </a:r>
            <a:r>
              <a:rPr lang="en-US" altLang="zh-CN" dirty="0" smtClean="0"/>
              <a:t> </a:t>
            </a:r>
            <a:r>
              <a:rPr lang="zh-CN" altLang="en-US" dirty="0" smtClean="0"/>
              <a:t>，可以把这几个分支写在一起，除了最后一个分支外，其他分支不要写任何语句。</a:t>
            </a:r>
            <a:endParaRPr lang="zh-CN" altLang="en-US" dirty="0"/>
          </a:p>
        </p:txBody>
      </p:sp>
    </p:spTree>
    <p:extLst>
      <p:ext uri="{BB962C8B-B14F-4D97-AF65-F5344CB8AC3E}">
        <p14:creationId xmlns:p14="http://schemas.microsoft.com/office/powerpoint/2010/main" val="26446955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39825"/>
          </a:xfrm>
        </p:spPr>
        <p:txBody>
          <a:bodyPr/>
          <a:lstStyle/>
          <a:p>
            <a:r>
              <a:rPr lang="zh-CN" altLang="en-US" dirty="0" smtClean="0"/>
              <a:t>例：计算</a:t>
            </a:r>
            <a:r>
              <a:rPr lang="zh-CN" altLang="en-US" dirty="0"/>
              <a:t>某年某月的天数。</a:t>
            </a:r>
          </a:p>
        </p:txBody>
      </p:sp>
      <p:sp>
        <p:nvSpPr>
          <p:cNvPr id="3" name="内容占位符 2"/>
          <p:cNvSpPr>
            <a:spLocks noGrp="1"/>
          </p:cNvSpPr>
          <p:nvPr>
            <p:ph idx="1"/>
          </p:nvPr>
        </p:nvSpPr>
        <p:spPr>
          <a:xfrm>
            <a:off x="107504" y="1124744"/>
            <a:ext cx="8928992" cy="5616624"/>
          </a:xfrm>
        </p:spPr>
        <p:txBody>
          <a:bodyPr>
            <a:normAutofit/>
          </a:bodyPr>
          <a:lstStyle/>
          <a:p>
            <a:pPr marL="0" indent="0" defTabSz="446088">
              <a:lnSpc>
                <a:spcPct val="70000"/>
              </a:lnSpc>
              <a:buNone/>
            </a:pPr>
            <a:r>
              <a:rPr lang="en-US" altLang="zh-CN" sz="1800" dirty="0"/>
              <a:t>#include &lt;</a:t>
            </a:r>
            <a:r>
              <a:rPr lang="en-US" altLang="zh-CN" sz="1800" dirty="0" err="1"/>
              <a:t>iostream</a:t>
            </a:r>
            <a:r>
              <a:rPr lang="en-US" altLang="zh-CN" sz="1800" dirty="0"/>
              <a:t>&gt;</a:t>
            </a:r>
          </a:p>
          <a:p>
            <a:pPr marL="0" indent="0" defTabSz="446088">
              <a:lnSpc>
                <a:spcPct val="70000"/>
              </a:lnSpc>
              <a:buNone/>
            </a:pPr>
            <a:r>
              <a:rPr lang="en-US" altLang="zh-CN" sz="1800" dirty="0"/>
              <a:t>using namespace </a:t>
            </a:r>
            <a:r>
              <a:rPr lang="en-US" altLang="zh-CN" sz="1800" dirty="0" err="1"/>
              <a:t>std</a:t>
            </a:r>
            <a:r>
              <a:rPr lang="en-US" altLang="zh-CN" sz="1800" dirty="0"/>
              <a:t>;</a:t>
            </a:r>
          </a:p>
          <a:p>
            <a:pPr marL="0" indent="0" defTabSz="446088">
              <a:lnSpc>
                <a:spcPct val="70000"/>
              </a:lnSpc>
              <a:buNone/>
            </a:pPr>
            <a:r>
              <a:rPr lang="en-US" altLang="zh-CN" sz="1800" dirty="0" err="1"/>
              <a:t>int</a:t>
            </a:r>
            <a:r>
              <a:rPr lang="en-US" altLang="zh-CN" sz="1800" dirty="0"/>
              <a:t> main()</a:t>
            </a:r>
          </a:p>
          <a:p>
            <a:pPr marL="0" indent="0" defTabSz="446088">
              <a:lnSpc>
                <a:spcPct val="70000"/>
              </a:lnSpc>
              <a:buNone/>
              <a:tabLst>
                <a:tab pos="266700" algn="l"/>
              </a:tabLst>
            </a:pPr>
            <a:r>
              <a:rPr lang="en-US" altLang="zh-CN" sz="1800" dirty="0" smtClean="0"/>
              <a:t>{	</a:t>
            </a:r>
            <a:r>
              <a:rPr lang="en-US" altLang="zh-CN" sz="1800" dirty="0" err="1" smtClean="0"/>
              <a:t>int</a:t>
            </a:r>
            <a:r>
              <a:rPr lang="en-US" altLang="zh-CN" sz="1800" dirty="0" smtClean="0"/>
              <a:t> </a:t>
            </a:r>
            <a:r>
              <a:rPr lang="en-US" altLang="zh-CN" sz="1800" dirty="0" err="1"/>
              <a:t>year,month,days</a:t>
            </a:r>
            <a:r>
              <a:rPr lang="en-US" altLang="zh-CN" sz="1800" dirty="0"/>
              <a:t>;</a:t>
            </a:r>
          </a:p>
          <a:p>
            <a:pPr marL="0" indent="0" defTabSz="446088">
              <a:lnSpc>
                <a:spcPct val="70000"/>
              </a:lnSpc>
              <a:buNone/>
              <a:tabLst>
                <a:tab pos="266700" algn="l"/>
              </a:tabLst>
            </a:pPr>
            <a:r>
              <a:rPr lang="en-US" altLang="zh-CN" sz="1800" dirty="0"/>
              <a:t>	</a:t>
            </a:r>
            <a:r>
              <a:rPr lang="en-US" altLang="zh-CN" sz="1800" dirty="0" err="1"/>
              <a:t>cout</a:t>
            </a:r>
            <a:r>
              <a:rPr lang="en-US" altLang="zh-CN" sz="1800" dirty="0"/>
              <a:t> &lt;&lt; "</a:t>
            </a:r>
            <a:r>
              <a:rPr lang="zh-CN" altLang="en-US" sz="1800" dirty="0"/>
              <a:t>请输入年：</a:t>
            </a:r>
            <a:r>
              <a:rPr lang="en-US" altLang="zh-CN" sz="1800" dirty="0" smtClean="0"/>
              <a:t>";  </a:t>
            </a:r>
            <a:r>
              <a:rPr lang="en-US" altLang="zh-CN" sz="1800" dirty="0" err="1" smtClean="0"/>
              <a:t>cin</a:t>
            </a:r>
            <a:r>
              <a:rPr lang="en-US" altLang="zh-CN" sz="1800" dirty="0" smtClean="0"/>
              <a:t> </a:t>
            </a:r>
            <a:r>
              <a:rPr lang="en-US" altLang="zh-CN" sz="1800" dirty="0"/>
              <a:t>&gt;&gt; </a:t>
            </a:r>
            <a:r>
              <a:rPr lang="en-US" altLang="zh-CN" sz="1800" dirty="0" smtClean="0"/>
              <a:t>year; </a:t>
            </a:r>
          </a:p>
          <a:p>
            <a:pPr marL="0" indent="0" defTabSz="446088">
              <a:lnSpc>
                <a:spcPct val="70000"/>
              </a:lnSpc>
              <a:buNone/>
              <a:tabLst>
                <a:tab pos="266700" algn="l"/>
              </a:tabLst>
            </a:pPr>
            <a:r>
              <a:rPr lang="en-US" altLang="zh-CN" sz="1800" dirty="0"/>
              <a:t> </a:t>
            </a:r>
            <a:r>
              <a:rPr lang="en-US" altLang="zh-CN" sz="1800" dirty="0" smtClean="0"/>
              <a:t>  </a:t>
            </a:r>
            <a:r>
              <a:rPr lang="en-US" altLang="zh-CN" sz="1800" dirty="0" err="1" smtClean="0"/>
              <a:t>cout</a:t>
            </a:r>
            <a:r>
              <a:rPr lang="en-US" altLang="zh-CN" sz="1800" dirty="0" smtClean="0"/>
              <a:t> </a:t>
            </a:r>
            <a:r>
              <a:rPr lang="en-US" altLang="zh-CN" sz="1800" dirty="0"/>
              <a:t>&lt;&lt; "</a:t>
            </a:r>
            <a:r>
              <a:rPr lang="zh-CN" altLang="en-US" sz="1800" dirty="0"/>
              <a:t>请输入月：</a:t>
            </a:r>
            <a:r>
              <a:rPr lang="en-US" altLang="zh-CN" sz="1800" dirty="0" smtClean="0"/>
              <a:t>";  </a:t>
            </a:r>
            <a:r>
              <a:rPr lang="en-US" altLang="zh-CN" sz="1800" dirty="0" err="1" smtClean="0"/>
              <a:t>cin</a:t>
            </a:r>
            <a:r>
              <a:rPr lang="en-US" altLang="zh-CN" sz="1800" dirty="0" smtClean="0"/>
              <a:t> </a:t>
            </a:r>
            <a:r>
              <a:rPr lang="en-US" altLang="zh-CN" sz="1800" dirty="0"/>
              <a:t>&gt;&gt; month;</a:t>
            </a:r>
          </a:p>
          <a:p>
            <a:pPr marL="0" indent="0" defTabSz="446088">
              <a:lnSpc>
                <a:spcPct val="70000"/>
              </a:lnSpc>
              <a:buNone/>
              <a:tabLst>
                <a:tab pos="266700" algn="l"/>
              </a:tabLst>
            </a:pPr>
            <a:r>
              <a:rPr lang="en-US" altLang="zh-CN" sz="1800" dirty="0"/>
              <a:t>	switch (month)</a:t>
            </a:r>
          </a:p>
          <a:p>
            <a:pPr marL="0" indent="0" defTabSz="446088">
              <a:lnSpc>
                <a:spcPct val="70000"/>
              </a:lnSpc>
              <a:buNone/>
              <a:tabLst>
                <a:tab pos="266700" algn="l"/>
              </a:tabLst>
            </a:pPr>
            <a:r>
              <a:rPr lang="en-US" altLang="zh-CN" sz="1800" dirty="0"/>
              <a:t>	</a:t>
            </a:r>
            <a:r>
              <a:rPr lang="en-US" altLang="zh-CN" sz="1800" dirty="0" smtClean="0"/>
              <a:t>{	case </a:t>
            </a:r>
            <a:r>
              <a:rPr lang="en-US" altLang="zh-CN" sz="1800" dirty="0"/>
              <a:t>1:case 3:case 5:case 7:case 8: case 10:case 12:</a:t>
            </a:r>
          </a:p>
          <a:p>
            <a:pPr marL="0" indent="0" defTabSz="446088">
              <a:lnSpc>
                <a:spcPct val="70000"/>
              </a:lnSpc>
              <a:buNone/>
            </a:pPr>
            <a:r>
              <a:rPr lang="en-US" altLang="zh-CN" sz="1800" dirty="0"/>
              <a:t>	</a:t>
            </a:r>
            <a:r>
              <a:rPr lang="en-US" altLang="zh-CN" sz="1800" dirty="0" smtClean="0"/>
              <a:t>	days </a:t>
            </a:r>
            <a:r>
              <a:rPr lang="en-US" altLang="zh-CN" sz="1800" dirty="0"/>
              <a:t>= 31;</a:t>
            </a:r>
          </a:p>
          <a:p>
            <a:pPr marL="0" indent="0" defTabSz="446088">
              <a:lnSpc>
                <a:spcPct val="70000"/>
              </a:lnSpc>
              <a:buNone/>
            </a:pPr>
            <a:r>
              <a:rPr lang="en-US" altLang="zh-CN" sz="1800" dirty="0"/>
              <a:t>		</a:t>
            </a:r>
            <a:r>
              <a:rPr lang="en-US" altLang="zh-CN" sz="1800" dirty="0" smtClean="0"/>
              <a:t>break</a:t>
            </a:r>
            <a:r>
              <a:rPr lang="en-US" altLang="zh-CN" sz="1800" dirty="0"/>
              <a:t>;</a:t>
            </a:r>
          </a:p>
          <a:p>
            <a:pPr marL="0" indent="0" defTabSz="446088">
              <a:lnSpc>
                <a:spcPct val="70000"/>
              </a:lnSpc>
              <a:buNone/>
            </a:pPr>
            <a:r>
              <a:rPr lang="en-US" altLang="zh-CN" sz="1800" dirty="0"/>
              <a:t>	</a:t>
            </a:r>
            <a:r>
              <a:rPr lang="en-US" altLang="zh-CN" sz="1800" dirty="0" smtClean="0"/>
              <a:t>case </a:t>
            </a:r>
            <a:r>
              <a:rPr lang="en-US" altLang="zh-CN" sz="1800" dirty="0"/>
              <a:t>4:case 6:case 9:case 11:</a:t>
            </a:r>
          </a:p>
          <a:p>
            <a:pPr marL="0" indent="0" defTabSz="446088">
              <a:lnSpc>
                <a:spcPct val="70000"/>
              </a:lnSpc>
              <a:buNone/>
            </a:pPr>
            <a:r>
              <a:rPr lang="en-US" altLang="zh-CN" sz="1800" dirty="0"/>
              <a:t>		days = 30;</a:t>
            </a:r>
          </a:p>
          <a:p>
            <a:pPr marL="0" indent="0" defTabSz="446088">
              <a:lnSpc>
                <a:spcPct val="70000"/>
              </a:lnSpc>
              <a:buNone/>
            </a:pPr>
            <a:r>
              <a:rPr lang="en-US" altLang="zh-CN" sz="1800" dirty="0"/>
              <a:t>		break;</a:t>
            </a:r>
          </a:p>
          <a:p>
            <a:pPr marL="0" indent="0" defTabSz="446088">
              <a:lnSpc>
                <a:spcPct val="70000"/>
              </a:lnSpc>
              <a:buNone/>
            </a:pPr>
            <a:r>
              <a:rPr lang="en-US" altLang="zh-CN" sz="1800" dirty="0"/>
              <a:t>	</a:t>
            </a:r>
            <a:r>
              <a:rPr lang="en-US" altLang="zh-CN" sz="1800" dirty="0" smtClean="0"/>
              <a:t>case </a:t>
            </a:r>
            <a:r>
              <a:rPr lang="en-US" altLang="zh-CN" sz="1800" dirty="0"/>
              <a:t>2:</a:t>
            </a:r>
          </a:p>
          <a:p>
            <a:pPr marL="0" indent="0" defTabSz="446088">
              <a:lnSpc>
                <a:spcPct val="70000"/>
              </a:lnSpc>
              <a:buNone/>
            </a:pPr>
            <a:r>
              <a:rPr lang="en-US" altLang="zh-CN" sz="1800" dirty="0"/>
              <a:t>		if (year%400 == 0 || </a:t>
            </a:r>
            <a:r>
              <a:rPr lang="en-US" altLang="zh-CN" sz="1800" dirty="0" smtClean="0"/>
              <a:t>(year%4 </a:t>
            </a:r>
            <a:r>
              <a:rPr lang="en-US" altLang="zh-CN" sz="1800" dirty="0"/>
              <a:t>== 0 &amp;&amp; year%100 != 0</a:t>
            </a:r>
            <a:r>
              <a:rPr lang="en-US" altLang="zh-CN" sz="1800" dirty="0" smtClean="0"/>
              <a:t>))</a:t>
            </a:r>
            <a:endParaRPr lang="en-US" altLang="zh-CN" sz="1800" dirty="0"/>
          </a:p>
          <a:p>
            <a:pPr marL="0" indent="0" defTabSz="446088">
              <a:lnSpc>
                <a:spcPct val="70000"/>
              </a:lnSpc>
              <a:buNone/>
            </a:pPr>
            <a:r>
              <a:rPr lang="en-US" altLang="zh-CN" sz="1800" dirty="0"/>
              <a:t>			days = 29;</a:t>
            </a:r>
          </a:p>
          <a:p>
            <a:pPr marL="0" indent="0" defTabSz="446088">
              <a:lnSpc>
                <a:spcPct val="70000"/>
              </a:lnSpc>
              <a:buNone/>
            </a:pPr>
            <a:r>
              <a:rPr lang="en-US" altLang="zh-CN" sz="1800" dirty="0"/>
              <a:t>		else</a:t>
            </a:r>
          </a:p>
          <a:p>
            <a:pPr marL="0" indent="0" defTabSz="446088">
              <a:lnSpc>
                <a:spcPct val="70000"/>
              </a:lnSpc>
              <a:buNone/>
            </a:pPr>
            <a:r>
              <a:rPr lang="en-US" altLang="zh-CN" sz="1800" dirty="0"/>
              <a:t>			days = 28;</a:t>
            </a:r>
          </a:p>
          <a:p>
            <a:pPr marL="0" indent="0" defTabSz="446088">
              <a:lnSpc>
                <a:spcPct val="70000"/>
              </a:lnSpc>
              <a:buNone/>
              <a:tabLst>
                <a:tab pos="266700" algn="l"/>
              </a:tabLst>
            </a:pPr>
            <a:r>
              <a:rPr lang="en-US" altLang="zh-CN" sz="1800" dirty="0" smtClean="0"/>
              <a:t>	}</a:t>
            </a:r>
            <a:endParaRPr lang="en-US" altLang="zh-CN" sz="1800" dirty="0"/>
          </a:p>
          <a:p>
            <a:pPr marL="0" indent="0" defTabSz="446088">
              <a:lnSpc>
                <a:spcPct val="70000"/>
              </a:lnSpc>
              <a:buNone/>
              <a:tabLst>
                <a:tab pos="266700" algn="l"/>
              </a:tabLst>
            </a:pPr>
            <a:r>
              <a:rPr lang="en-US" altLang="zh-CN" sz="1800" dirty="0"/>
              <a:t>	</a:t>
            </a:r>
            <a:r>
              <a:rPr lang="en-US" altLang="zh-CN" sz="1800" dirty="0" err="1"/>
              <a:t>cout</a:t>
            </a:r>
            <a:r>
              <a:rPr lang="en-US" altLang="zh-CN" sz="1800" dirty="0"/>
              <a:t> &lt;&lt; year &lt;&lt; "</a:t>
            </a:r>
            <a:r>
              <a:rPr lang="zh-CN" altLang="en-US" sz="1800" dirty="0"/>
              <a:t>年</a:t>
            </a:r>
            <a:r>
              <a:rPr lang="en-US" altLang="zh-CN" sz="1800" dirty="0"/>
              <a:t>" &lt;&lt; month &lt;&lt; "</a:t>
            </a:r>
            <a:r>
              <a:rPr lang="zh-CN" altLang="en-US" sz="1800" dirty="0"/>
              <a:t>月的天数是：</a:t>
            </a:r>
            <a:r>
              <a:rPr lang="en-US" altLang="zh-CN" sz="1800" dirty="0"/>
              <a:t>" &lt;&lt; days &lt;&lt; </a:t>
            </a:r>
            <a:r>
              <a:rPr lang="en-US" altLang="zh-CN" sz="1800" dirty="0" err="1"/>
              <a:t>endl</a:t>
            </a:r>
            <a:r>
              <a:rPr lang="en-US" altLang="zh-CN" sz="1800" dirty="0"/>
              <a:t>;</a:t>
            </a:r>
          </a:p>
          <a:p>
            <a:pPr marL="0" indent="0" defTabSz="446088">
              <a:lnSpc>
                <a:spcPct val="70000"/>
              </a:lnSpc>
              <a:buNone/>
              <a:tabLst>
                <a:tab pos="266700" algn="l"/>
              </a:tabLst>
            </a:pPr>
            <a:r>
              <a:rPr lang="en-US" altLang="zh-CN" sz="1800" dirty="0"/>
              <a:t>	return 0;</a:t>
            </a:r>
          </a:p>
          <a:p>
            <a:pPr marL="0" indent="0" defTabSz="446088">
              <a:lnSpc>
                <a:spcPct val="70000"/>
              </a:lnSpc>
              <a:buNone/>
            </a:pPr>
            <a:r>
              <a:rPr lang="en-US" altLang="zh-CN" sz="1800" dirty="0" smtClean="0"/>
              <a:t>}</a:t>
            </a:r>
            <a:endParaRPr lang="en-US" altLang="zh-CN" sz="1800" dirty="0"/>
          </a:p>
        </p:txBody>
      </p:sp>
    </p:spTree>
    <p:extLst>
      <p:ext uri="{BB962C8B-B14F-4D97-AF65-F5344CB8AC3E}">
        <p14:creationId xmlns:p14="http://schemas.microsoft.com/office/powerpoint/2010/main" val="3704648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430560"/>
            <a:ext cx="7772400" cy="838200"/>
          </a:xfrm>
        </p:spPr>
        <p:txBody>
          <a:bodyPr/>
          <a:lstStyle/>
          <a:p>
            <a:pPr eaLnBrk="1" hangingPunct="1">
              <a:defRPr/>
            </a:pPr>
            <a:r>
              <a:rPr lang="zh-CN" altLang="en-US" dirty="0" smtClean="0"/>
              <a:t>循环（重复）执行 </a:t>
            </a:r>
          </a:p>
        </p:txBody>
      </p:sp>
      <p:sp>
        <p:nvSpPr>
          <p:cNvPr id="16387" name="Rectangle 3"/>
          <p:cNvSpPr>
            <a:spLocks noGrp="1" noChangeArrowheads="1"/>
          </p:cNvSpPr>
          <p:nvPr>
            <p:ph type="body" idx="1"/>
          </p:nvPr>
        </p:nvSpPr>
        <p:spPr>
          <a:xfrm>
            <a:off x="250825" y="1772816"/>
            <a:ext cx="8713788" cy="4968552"/>
          </a:xfrm>
        </p:spPr>
        <p:txBody>
          <a:bodyPr>
            <a:normAutofit/>
          </a:bodyPr>
          <a:lstStyle/>
          <a:p>
            <a:pPr eaLnBrk="1" hangingPunct="1">
              <a:defRPr/>
            </a:pPr>
            <a:r>
              <a:rPr lang="zh-CN" altLang="en-US" dirty="0" smtClean="0"/>
              <a:t>如何编程计算</a:t>
            </a:r>
            <a:r>
              <a:rPr lang="en-US" altLang="zh-CN" dirty="0" smtClean="0"/>
              <a:t>n!</a:t>
            </a:r>
            <a:r>
              <a:rPr lang="zh-CN" altLang="en-US" dirty="0" smtClean="0"/>
              <a:t> ？</a:t>
            </a:r>
          </a:p>
          <a:p>
            <a:pPr lvl="1" eaLnBrk="1" hangingPunct="1">
              <a:defRPr/>
            </a:pPr>
            <a:r>
              <a:rPr lang="en-US" altLang="zh-CN" dirty="0" smtClean="0"/>
              <a:t>n!=n*(n-1)*(n-2)*</a:t>
            </a:r>
            <a:r>
              <a:rPr lang="en-US" altLang="zh-CN" dirty="0" smtClean="0">
                <a:solidFill>
                  <a:srgbClr val="FFC000"/>
                </a:solidFill>
              </a:rPr>
              <a:t>...</a:t>
            </a:r>
            <a:r>
              <a:rPr lang="en-US" altLang="zh-CN" dirty="0" smtClean="0"/>
              <a:t>*2*1</a:t>
            </a:r>
          </a:p>
          <a:p>
            <a:pPr lvl="2" eaLnBrk="1" hangingPunct="1">
              <a:defRPr/>
            </a:pPr>
            <a:r>
              <a:rPr lang="en-US" altLang="zh-CN" dirty="0" smtClean="0"/>
              <a:t>C++</a:t>
            </a:r>
            <a:r>
              <a:rPr lang="zh-CN" altLang="en-US" dirty="0" smtClean="0"/>
              <a:t>表达式中不允许有</a:t>
            </a:r>
            <a:r>
              <a:rPr lang="zh-CN" altLang="en-US" dirty="0" smtClean="0">
                <a:latin typeface="Arial"/>
              </a:rPr>
              <a:t>“</a:t>
            </a:r>
            <a:r>
              <a:rPr lang="en-US" altLang="zh-CN" dirty="0" smtClean="0">
                <a:solidFill>
                  <a:schemeClr val="folHlink"/>
                </a:solidFill>
              </a:rPr>
              <a:t>...</a:t>
            </a:r>
            <a:r>
              <a:rPr lang="zh-CN" altLang="en-US" dirty="0" smtClean="0"/>
              <a:t>”</a:t>
            </a:r>
            <a:endParaRPr lang="en-US" altLang="zh-CN" dirty="0" smtClean="0">
              <a:latin typeface="Arial"/>
            </a:endParaRPr>
          </a:p>
          <a:p>
            <a:pPr lvl="2" eaLnBrk="1" hangingPunct="1">
              <a:defRPr/>
            </a:pPr>
            <a:r>
              <a:rPr lang="zh-CN" altLang="en-US" dirty="0" smtClean="0">
                <a:latin typeface="Arial"/>
              </a:rPr>
              <a:t>没有简单的计算公式</a:t>
            </a:r>
            <a:endParaRPr lang="en-US" altLang="zh-CN" dirty="0" smtClean="0"/>
          </a:p>
          <a:p>
            <a:pPr eaLnBrk="1" hangingPunct="1">
              <a:defRPr/>
            </a:pPr>
            <a:r>
              <a:rPr lang="zh-CN" altLang="en-US" dirty="0"/>
              <a:t>如何</a:t>
            </a:r>
            <a:r>
              <a:rPr lang="zh-CN" altLang="en-US" dirty="0" smtClean="0"/>
              <a:t>编程计算整数</a:t>
            </a:r>
            <a:r>
              <a:rPr lang="en-US" altLang="zh-CN" dirty="0" smtClean="0"/>
              <a:t>n</a:t>
            </a:r>
            <a:r>
              <a:rPr lang="zh-CN" altLang="en-US" dirty="0" smtClean="0"/>
              <a:t>的所有因子？</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计算机问题求解的两种基本方法</a:t>
            </a:r>
            <a:endParaRPr lang="zh-CN" altLang="en-US" dirty="0"/>
          </a:p>
        </p:txBody>
      </p:sp>
      <p:sp>
        <p:nvSpPr>
          <p:cNvPr id="3" name="内容占位符 2"/>
          <p:cNvSpPr>
            <a:spLocks noGrp="1"/>
          </p:cNvSpPr>
          <p:nvPr>
            <p:ph idx="1"/>
          </p:nvPr>
        </p:nvSpPr>
        <p:spPr>
          <a:xfrm>
            <a:off x="251520" y="1600200"/>
            <a:ext cx="8651304" cy="4853135"/>
          </a:xfrm>
        </p:spPr>
        <p:txBody>
          <a:bodyPr>
            <a:normAutofit lnSpcReduction="10000"/>
          </a:bodyPr>
          <a:lstStyle/>
          <a:p>
            <a:pPr eaLnBrk="1" hangingPunct="1"/>
            <a:r>
              <a:rPr lang="zh-CN" altLang="en-US" dirty="0" smtClean="0">
                <a:solidFill>
                  <a:srgbClr val="FFC000"/>
                </a:solidFill>
              </a:rPr>
              <a:t>迭代法</a:t>
            </a:r>
            <a:endParaRPr lang="en-US" altLang="zh-CN" dirty="0" smtClean="0"/>
          </a:p>
          <a:p>
            <a:pPr lvl="1" eaLnBrk="1" hangingPunct="1"/>
            <a:r>
              <a:rPr lang="zh-CN" altLang="en-US" dirty="0" smtClean="0"/>
              <a:t>对待</a:t>
            </a:r>
            <a:r>
              <a:rPr lang="zh-CN" altLang="en-US" dirty="0"/>
              <a:t>解问题先指定一个近似的初始解</a:t>
            </a:r>
            <a:r>
              <a:rPr lang="zh-CN" altLang="en-US" dirty="0" smtClean="0"/>
              <a:t>，</a:t>
            </a:r>
            <a:endParaRPr lang="en-US" altLang="zh-CN" dirty="0" smtClean="0"/>
          </a:p>
          <a:p>
            <a:pPr lvl="1" eaLnBrk="1" hangingPunct="1"/>
            <a:r>
              <a:rPr lang="zh-CN" altLang="en-US" dirty="0" smtClean="0"/>
              <a:t>然后</a:t>
            </a:r>
            <a:r>
              <a:rPr lang="zh-CN" altLang="en-US" dirty="0"/>
              <a:t>按照某种</a:t>
            </a:r>
            <a:r>
              <a:rPr lang="zh-CN" altLang="en-US" dirty="0" smtClean="0"/>
              <a:t>规则，基于</a:t>
            </a:r>
            <a:r>
              <a:rPr lang="zh-CN" altLang="en-US" dirty="0"/>
              <a:t>这个初始解计算出下一个</a:t>
            </a:r>
            <a:r>
              <a:rPr lang="zh-CN" altLang="en-US" dirty="0" smtClean="0"/>
              <a:t>近似解；基于</a:t>
            </a:r>
            <a:r>
              <a:rPr lang="zh-CN" altLang="en-US" dirty="0"/>
              <a:t>下一个近似解计算出再下一个</a:t>
            </a:r>
            <a:r>
              <a:rPr lang="zh-CN" altLang="en-US" dirty="0" smtClean="0"/>
              <a:t>近似解；</a:t>
            </a:r>
            <a:r>
              <a:rPr lang="en-US" altLang="zh-CN" dirty="0" smtClean="0"/>
              <a:t>......</a:t>
            </a:r>
            <a:r>
              <a:rPr lang="zh-CN" altLang="en-US" dirty="0" smtClean="0"/>
              <a:t>，</a:t>
            </a:r>
            <a:endParaRPr lang="en-US" altLang="zh-CN" dirty="0" smtClean="0"/>
          </a:p>
          <a:p>
            <a:pPr lvl="1" eaLnBrk="1" hangingPunct="1"/>
            <a:r>
              <a:rPr lang="zh-CN" altLang="en-US" dirty="0" smtClean="0"/>
              <a:t>这样逐步向目标逼近，直到</a:t>
            </a:r>
            <a:r>
              <a:rPr lang="zh-CN" altLang="en-US" dirty="0"/>
              <a:t>某个条件满足后得到最终解</a:t>
            </a:r>
            <a:r>
              <a:rPr lang="zh-CN" altLang="en-US" dirty="0" smtClean="0"/>
              <a:t>。</a:t>
            </a:r>
            <a:endParaRPr lang="en-US" altLang="zh-CN" dirty="0" smtClean="0"/>
          </a:p>
          <a:p>
            <a:pPr eaLnBrk="1" hangingPunct="1"/>
            <a:r>
              <a:rPr lang="zh-CN" altLang="en-US" dirty="0" smtClean="0">
                <a:solidFill>
                  <a:srgbClr val="FFC000"/>
                </a:solidFill>
              </a:rPr>
              <a:t>穷举法</a:t>
            </a:r>
            <a:endParaRPr lang="en-US" altLang="zh-CN" dirty="0" smtClean="0"/>
          </a:p>
          <a:p>
            <a:pPr lvl="1" eaLnBrk="1" hangingPunct="1"/>
            <a:r>
              <a:rPr lang="zh-CN" altLang="en-US" dirty="0"/>
              <a:t>对“所有可能”的解逐一去验证它是否满足指定的条件，满足条件则它是一个解，否则它不是解</a:t>
            </a:r>
            <a:r>
              <a:rPr lang="zh-CN" altLang="en-US" dirty="0" smtClean="0"/>
              <a:t>。</a:t>
            </a:r>
            <a:endParaRPr lang="en-US" altLang="zh-CN" dirty="0" smtClean="0"/>
          </a:p>
        </p:txBody>
      </p:sp>
    </p:spTree>
    <p:extLst>
      <p:ext uri="{BB962C8B-B14F-4D97-AF65-F5344CB8AC3E}">
        <p14:creationId xmlns:p14="http://schemas.microsoft.com/office/powerpoint/2010/main" val="30780842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250825" y="476672"/>
            <a:ext cx="8713788" cy="5976664"/>
          </a:xfrm>
        </p:spPr>
        <p:txBody>
          <a:bodyPr>
            <a:normAutofit fontScale="92500"/>
          </a:bodyPr>
          <a:lstStyle/>
          <a:p>
            <a:pPr eaLnBrk="1" hangingPunct="1">
              <a:lnSpc>
                <a:spcPct val="120000"/>
              </a:lnSpc>
              <a:defRPr/>
            </a:pPr>
            <a:r>
              <a:rPr lang="zh-CN" altLang="en-US" sz="3100" dirty="0" smtClean="0"/>
              <a:t>迭代法</a:t>
            </a:r>
            <a:r>
              <a:rPr lang="zh-CN" altLang="en-US" sz="3100" dirty="0"/>
              <a:t>和穷举</a:t>
            </a:r>
            <a:r>
              <a:rPr lang="zh-CN" altLang="en-US" sz="3100" dirty="0" smtClean="0"/>
              <a:t>法常常通过</a:t>
            </a:r>
            <a:r>
              <a:rPr lang="zh-CN" altLang="en-US" sz="3100" dirty="0" smtClean="0">
                <a:solidFill>
                  <a:srgbClr val="FFC000"/>
                </a:solidFill>
              </a:rPr>
              <a:t>循环</a:t>
            </a:r>
            <a:r>
              <a:rPr lang="zh-CN" altLang="en-US" sz="3100" dirty="0"/>
              <a:t>（</a:t>
            </a:r>
            <a:r>
              <a:rPr lang="zh-CN" altLang="en-US" sz="3100" dirty="0">
                <a:solidFill>
                  <a:srgbClr val="FFC000"/>
                </a:solidFill>
              </a:rPr>
              <a:t>重复</a:t>
            </a:r>
            <a:r>
              <a:rPr lang="zh-CN" altLang="en-US" sz="3100" dirty="0"/>
              <a:t>）</a:t>
            </a:r>
            <a:r>
              <a:rPr lang="zh-CN" altLang="en-US" sz="3100" dirty="0" smtClean="0"/>
              <a:t>操作来</a:t>
            </a:r>
            <a:r>
              <a:rPr lang="zh-CN" altLang="en-US" sz="3100" dirty="0"/>
              <a:t>实现：</a:t>
            </a:r>
          </a:p>
          <a:p>
            <a:pPr lvl="1" eaLnBrk="1" hangingPunct="1">
              <a:lnSpc>
                <a:spcPct val="120000"/>
              </a:lnSpc>
              <a:defRPr/>
            </a:pPr>
            <a:r>
              <a:rPr lang="zh-CN" altLang="en-US" dirty="0" smtClean="0"/>
              <a:t>对相同的操作重复执行多次，每一次操作的数据有所不同。</a:t>
            </a:r>
            <a:endParaRPr lang="en-US" altLang="zh-CN" dirty="0" smtClean="0"/>
          </a:p>
          <a:p>
            <a:pPr eaLnBrk="1" hangingPunct="1">
              <a:defRPr/>
            </a:pPr>
            <a:r>
              <a:rPr lang="zh-CN" altLang="en-US" sz="3100" dirty="0"/>
              <a:t>求</a:t>
            </a:r>
            <a:r>
              <a:rPr lang="en-US" altLang="zh-CN" sz="3100" dirty="0" smtClean="0"/>
              <a:t>n!</a:t>
            </a:r>
            <a:endParaRPr lang="zh-CN" altLang="en-US" sz="3100" dirty="0" smtClean="0"/>
          </a:p>
          <a:p>
            <a:pPr lvl="1" eaLnBrk="1" hangingPunct="1">
              <a:defRPr/>
            </a:pPr>
            <a:r>
              <a:rPr lang="en-US" altLang="zh-CN" dirty="0" smtClean="0"/>
              <a:t>f=1</a:t>
            </a:r>
            <a:r>
              <a:rPr lang="zh-CN" altLang="en-US" dirty="0" smtClean="0"/>
              <a:t>（</a:t>
            </a:r>
            <a:r>
              <a:rPr lang="zh-CN" altLang="en-US" dirty="0" smtClean="0">
                <a:solidFill>
                  <a:srgbClr val="FFC000"/>
                </a:solidFill>
              </a:rPr>
              <a:t>初始解</a:t>
            </a:r>
            <a:r>
              <a:rPr lang="zh-CN" altLang="en-US" dirty="0" smtClean="0"/>
              <a:t>），对</a:t>
            </a:r>
            <a:r>
              <a:rPr lang="en-US" altLang="zh-CN" dirty="0" err="1" smtClean="0"/>
              <a:t>i</a:t>
            </a:r>
            <a:r>
              <a:rPr lang="en-US" altLang="zh-CN" dirty="0" smtClean="0"/>
              <a:t>=2~n</a:t>
            </a:r>
            <a:r>
              <a:rPr lang="zh-CN" altLang="en-US" dirty="0" smtClean="0"/>
              <a:t>，重复执行下面的操作：</a:t>
            </a:r>
            <a:endParaRPr lang="en-US" altLang="zh-CN" dirty="0" smtClean="0"/>
          </a:p>
          <a:p>
            <a:pPr lvl="2" eaLnBrk="1" hangingPunct="1">
              <a:defRPr/>
            </a:pPr>
            <a:r>
              <a:rPr lang="en-US" altLang="zh-CN" dirty="0" smtClean="0"/>
              <a:t>f = f*</a:t>
            </a:r>
            <a:r>
              <a:rPr lang="en-US" altLang="zh-CN" dirty="0" err="1" smtClean="0"/>
              <a:t>i</a:t>
            </a:r>
            <a:r>
              <a:rPr lang="en-US" altLang="zh-CN" dirty="0" smtClean="0"/>
              <a:t>;  //</a:t>
            </a:r>
            <a:r>
              <a:rPr lang="zh-CN" altLang="en-US" dirty="0" smtClean="0"/>
              <a:t>计算</a:t>
            </a:r>
            <a:r>
              <a:rPr lang="zh-CN" altLang="en-US" dirty="0" smtClean="0">
                <a:solidFill>
                  <a:srgbClr val="FFC000"/>
                </a:solidFill>
              </a:rPr>
              <a:t>近似解</a:t>
            </a:r>
            <a:r>
              <a:rPr lang="zh-CN" altLang="en-US" dirty="0" smtClean="0"/>
              <a:t>，也可写成：</a:t>
            </a:r>
            <a:r>
              <a:rPr lang="en-US" altLang="zh-CN" dirty="0" smtClean="0"/>
              <a:t>f *= </a:t>
            </a:r>
            <a:r>
              <a:rPr lang="en-US" altLang="zh-CN" dirty="0" err="1" smtClean="0"/>
              <a:t>i</a:t>
            </a:r>
            <a:r>
              <a:rPr lang="en-US" altLang="zh-CN" dirty="0" smtClean="0"/>
              <a:t>;</a:t>
            </a:r>
          </a:p>
          <a:p>
            <a:pPr lvl="1" eaLnBrk="1" hangingPunct="1">
              <a:defRPr/>
            </a:pPr>
            <a:r>
              <a:rPr lang="en-US" altLang="zh-CN" dirty="0" err="1" smtClean="0"/>
              <a:t>cout</a:t>
            </a:r>
            <a:r>
              <a:rPr lang="en-US" altLang="zh-CN" dirty="0" smtClean="0"/>
              <a:t> &lt;&lt; f &lt;&lt; </a:t>
            </a:r>
            <a:r>
              <a:rPr lang="en-US" altLang="zh-CN" dirty="0" err="1" smtClean="0"/>
              <a:t>endl</a:t>
            </a:r>
            <a:r>
              <a:rPr lang="en-US" altLang="zh-CN" dirty="0" smtClean="0"/>
              <a:t>; //</a:t>
            </a:r>
            <a:r>
              <a:rPr lang="zh-CN" altLang="en-US" dirty="0" smtClean="0"/>
              <a:t>输出</a:t>
            </a:r>
            <a:r>
              <a:rPr lang="zh-CN" altLang="en-US" dirty="0" smtClean="0">
                <a:solidFill>
                  <a:srgbClr val="FFC000"/>
                </a:solidFill>
              </a:rPr>
              <a:t>最终解</a:t>
            </a:r>
            <a:endParaRPr lang="en-US" altLang="zh-CN" dirty="0" smtClean="0">
              <a:solidFill>
                <a:srgbClr val="FFC000"/>
              </a:solidFill>
            </a:endParaRPr>
          </a:p>
          <a:p>
            <a:pPr eaLnBrk="1" hangingPunct="1">
              <a:defRPr/>
            </a:pPr>
            <a:r>
              <a:rPr lang="zh-CN" altLang="en-US" sz="3100" dirty="0" smtClean="0"/>
              <a:t>求</a:t>
            </a:r>
            <a:r>
              <a:rPr lang="en-US" altLang="zh-CN" sz="3100" dirty="0" smtClean="0"/>
              <a:t>n</a:t>
            </a:r>
            <a:r>
              <a:rPr lang="zh-CN" altLang="en-US" sz="3100" dirty="0"/>
              <a:t>的所有</a:t>
            </a:r>
            <a:r>
              <a:rPr lang="zh-CN" altLang="en-US" sz="3100" dirty="0" smtClean="0"/>
              <a:t>因子</a:t>
            </a:r>
            <a:endParaRPr lang="en-US" altLang="zh-CN" sz="3100" dirty="0" smtClean="0"/>
          </a:p>
          <a:p>
            <a:pPr lvl="1" eaLnBrk="1" hangingPunct="1">
              <a:defRPr/>
            </a:pPr>
            <a:r>
              <a:rPr lang="en-US" altLang="zh-CN" dirty="0" err="1" smtClean="0"/>
              <a:t>cout</a:t>
            </a:r>
            <a:r>
              <a:rPr lang="en-US" altLang="zh-CN" dirty="0" smtClean="0"/>
              <a:t> &lt;&lt; 1 &lt;&lt; ',' &lt;&lt; n; //</a:t>
            </a:r>
            <a:r>
              <a:rPr lang="zh-CN" altLang="en-US" dirty="0" smtClean="0"/>
              <a:t>先输出因子</a:t>
            </a:r>
            <a:r>
              <a:rPr lang="en-US" altLang="zh-CN" dirty="0" smtClean="0"/>
              <a:t>1</a:t>
            </a:r>
            <a:r>
              <a:rPr lang="zh-CN" altLang="en-US" dirty="0" smtClean="0"/>
              <a:t>和</a:t>
            </a:r>
            <a:r>
              <a:rPr lang="en-US" altLang="zh-CN" dirty="0" smtClean="0"/>
              <a:t>n</a:t>
            </a:r>
          </a:p>
          <a:p>
            <a:pPr lvl="1" eaLnBrk="1" hangingPunct="1">
              <a:defRPr/>
            </a:pPr>
            <a:r>
              <a:rPr lang="zh-CN" altLang="en-US" dirty="0" smtClean="0"/>
              <a:t>对</a:t>
            </a:r>
            <a:r>
              <a:rPr lang="zh-CN" altLang="en-US" dirty="0" smtClean="0">
                <a:solidFill>
                  <a:srgbClr val="FFC000"/>
                </a:solidFill>
              </a:rPr>
              <a:t>所有可能的解</a:t>
            </a:r>
            <a:r>
              <a:rPr lang="en-US" altLang="zh-CN" dirty="0" err="1" smtClean="0"/>
              <a:t>i</a:t>
            </a:r>
            <a:r>
              <a:rPr lang="en-US" altLang="zh-CN" dirty="0" smtClean="0"/>
              <a:t>=2~n-1</a:t>
            </a:r>
            <a:r>
              <a:rPr lang="zh-CN" altLang="en-US" dirty="0" smtClean="0"/>
              <a:t>，重复执行下面的操作：</a:t>
            </a:r>
            <a:endParaRPr lang="en-US" altLang="zh-CN" dirty="0" smtClean="0"/>
          </a:p>
          <a:p>
            <a:pPr lvl="2" eaLnBrk="1" hangingPunct="1">
              <a:defRPr/>
            </a:pPr>
            <a:r>
              <a:rPr lang="en-US" altLang="zh-CN" dirty="0" smtClean="0"/>
              <a:t>if (</a:t>
            </a:r>
            <a:r>
              <a:rPr lang="en-US" altLang="zh-CN" dirty="0" err="1" smtClean="0"/>
              <a:t>n%i</a:t>
            </a:r>
            <a:r>
              <a:rPr lang="en-US" altLang="zh-CN" dirty="0" smtClean="0"/>
              <a:t> == 0) //</a:t>
            </a:r>
            <a:r>
              <a:rPr lang="zh-CN" altLang="en-US" dirty="0" smtClean="0">
                <a:solidFill>
                  <a:srgbClr val="FFC000"/>
                </a:solidFill>
              </a:rPr>
              <a:t>判断构成解的条件</a:t>
            </a:r>
            <a:endParaRPr lang="en-US" altLang="zh-CN" dirty="0" smtClean="0">
              <a:solidFill>
                <a:srgbClr val="FFC000"/>
              </a:solidFill>
            </a:endParaRPr>
          </a:p>
          <a:p>
            <a:pPr lvl="2" eaLnBrk="1" hangingPunct="1">
              <a:defRPr/>
            </a:pPr>
            <a:r>
              <a:rPr lang="en-US" altLang="zh-CN" dirty="0"/>
              <a:t> </a:t>
            </a:r>
            <a:r>
              <a:rPr lang="en-US" altLang="zh-CN" dirty="0" smtClean="0"/>
              <a:t> </a:t>
            </a:r>
            <a:r>
              <a:rPr lang="en-US" altLang="zh-CN" dirty="0" err="1" smtClean="0"/>
              <a:t>cout</a:t>
            </a:r>
            <a:r>
              <a:rPr lang="en-US" altLang="zh-CN" dirty="0" smtClean="0"/>
              <a:t> &lt;&lt; ',' &lt;&lt; </a:t>
            </a:r>
            <a:r>
              <a:rPr lang="en-US" altLang="zh-CN" dirty="0" err="1" smtClean="0"/>
              <a:t>i</a:t>
            </a:r>
            <a:r>
              <a:rPr lang="en-US" altLang="zh-CN" dirty="0" smtClean="0"/>
              <a:t> &lt;&lt; </a:t>
            </a:r>
            <a:r>
              <a:rPr lang="en-US" altLang="zh-CN" dirty="0" err="1" smtClean="0"/>
              <a:t>endl</a:t>
            </a:r>
            <a:r>
              <a:rPr lang="en-US" altLang="zh-CN" dirty="0" smtClean="0"/>
              <a:t>; //</a:t>
            </a:r>
            <a:r>
              <a:rPr lang="zh-CN" altLang="en-US" dirty="0" smtClean="0"/>
              <a:t>输出</a:t>
            </a:r>
            <a:r>
              <a:rPr lang="zh-CN" altLang="en-US" dirty="0" smtClean="0">
                <a:solidFill>
                  <a:srgbClr val="FFC000"/>
                </a:solidFill>
              </a:rPr>
              <a:t>满足条件的解</a:t>
            </a:r>
          </a:p>
        </p:txBody>
      </p:sp>
    </p:spTree>
    <p:extLst>
      <p:ext uri="{BB962C8B-B14F-4D97-AF65-F5344CB8AC3E}">
        <p14:creationId xmlns:p14="http://schemas.microsoft.com/office/powerpoint/2010/main" val="26532090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循环操作的基本要素</a:t>
            </a:r>
            <a:endParaRPr lang="zh-CN" altLang="en-US" dirty="0"/>
          </a:p>
        </p:txBody>
      </p:sp>
      <p:sp>
        <p:nvSpPr>
          <p:cNvPr id="3" name="内容占位符 2"/>
          <p:cNvSpPr>
            <a:spLocks noGrp="1"/>
          </p:cNvSpPr>
          <p:nvPr>
            <p:ph idx="1"/>
          </p:nvPr>
        </p:nvSpPr>
        <p:spPr/>
        <p:txBody>
          <a:bodyPr/>
          <a:lstStyle/>
          <a:p>
            <a:pPr eaLnBrk="1" hangingPunct="1">
              <a:lnSpc>
                <a:spcPct val="90000"/>
              </a:lnSpc>
              <a:defRPr/>
            </a:pPr>
            <a:r>
              <a:rPr lang="zh-CN" altLang="en-US" dirty="0" smtClean="0"/>
              <a:t>循环一般</a:t>
            </a:r>
            <a:r>
              <a:rPr lang="zh-CN" altLang="en-US" dirty="0"/>
              <a:t>由四个部分组成：</a:t>
            </a:r>
          </a:p>
          <a:p>
            <a:pPr lvl="1" eaLnBrk="1" hangingPunct="1">
              <a:lnSpc>
                <a:spcPct val="90000"/>
              </a:lnSpc>
              <a:defRPr/>
            </a:pPr>
            <a:r>
              <a:rPr lang="zh-CN" altLang="en-US" dirty="0">
                <a:solidFill>
                  <a:srgbClr val="FFC000"/>
                </a:solidFill>
              </a:rPr>
              <a:t>循环初始化</a:t>
            </a:r>
            <a:r>
              <a:rPr lang="zh-CN" altLang="en-US" dirty="0"/>
              <a:t>：为重复执行的语句提供初始数据</a:t>
            </a:r>
          </a:p>
          <a:p>
            <a:pPr lvl="1" eaLnBrk="1" hangingPunct="1">
              <a:lnSpc>
                <a:spcPct val="90000"/>
              </a:lnSpc>
              <a:defRPr/>
            </a:pPr>
            <a:r>
              <a:rPr lang="zh-CN" altLang="en-US" dirty="0">
                <a:solidFill>
                  <a:srgbClr val="FFC000"/>
                </a:solidFill>
              </a:rPr>
              <a:t>循环条件</a:t>
            </a:r>
            <a:r>
              <a:rPr lang="zh-CN" altLang="en-US" dirty="0"/>
              <a:t>：</a:t>
            </a:r>
            <a:r>
              <a:rPr lang="zh-CN" altLang="en-US" dirty="0" smtClean="0"/>
              <a:t>描述执行重复</a:t>
            </a:r>
            <a:r>
              <a:rPr lang="zh-CN" altLang="en-US" dirty="0"/>
              <a:t>操作需要满足的条件</a:t>
            </a:r>
          </a:p>
          <a:p>
            <a:pPr lvl="1" eaLnBrk="1" hangingPunct="1">
              <a:lnSpc>
                <a:spcPct val="90000"/>
              </a:lnSpc>
              <a:defRPr/>
            </a:pPr>
            <a:r>
              <a:rPr lang="zh-CN" altLang="en-US" dirty="0">
                <a:solidFill>
                  <a:srgbClr val="FFC000"/>
                </a:solidFill>
              </a:rPr>
              <a:t>循环体</a:t>
            </a:r>
            <a:r>
              <a:rPr lang="zh-CN" altLang="en-US" dirty="0"/>
              <a:t>：描述要重复执行的操作</a:t>
            </a:r>
          </a:p>
          <a:p>
            <a:pPr lvl="1" eaLnBrk="1" hangingPunct="1">
              <a:lnSpc>
                <a:spcPct val="90000"/>
              </a:lnSpc>
              <a:defRPr/>
            </a:pPr>
            <a:r>
              <a:rPr lang="zh-CN" altLang="en-US" dirty="0">
                <a:solidFill>
                  <a:srgbClr val="FFC000"/>
                </a:solidFill>
              </a:rPr>
              <a:t>下一次循环准备</a:t>
            </a:r>
            <a:r>
              <a:rPr lang="zh-CN" altLang="en-US" dirty="0"/>
              <a:t>：为下一次循环更新数据（它常常会隐式地包含在循环体中），</a:t>
            </a:r>
            <a:r>
              <a:rPr lang="zh-CN" altLang="en-US" dirty="0" smtClean="0"/>
              <a:t>包括：</a:t>
            </a:r>
            <a:endParaRPr lang="en-US" altLang="zh-CN" dirty="0" smtClean="0"/>
          </a:p>
          <a:p>
            <a:pPr lvl="2" eaLnBrk="1" hangingPunct="1">
              <a:lnSpc>
                <a:spcPct val="90000"/>
              </a:lnSpc>
              <a:defRPr/>
            </a:pPr>
            <a:r>
              <a:rPr lang="zh-CN" altLang="en-US" dirty="0"/>
              <a:t>重复操作需要的数据</a:t>
            </a:r>
            <a:endParaRPr lang="en-US" altLang="zh-CN" dirty="0" smtClean="0"/>
          </a:p>
          <a:p>
            <a:pPr lvl="2" eaLnBrk="1" hangingPunct="1">
              <a:lnSpc>
                <a:spcPct val="90000"/>
              </a:lnSpc>
              <a:defRPr/>
            </a:pPr>
            <a:r>
              <a:rPr lang="zh-CN" altLang="en-US" dirty="0" smtClean="0"/>
              <a:t>循环条件判断所</a:t>
            </a:r>
            <a:r>
              <a:rPr lang="zh-CN" altLang="en-US" dirty="0"/>
              <a:t>需要的</a:t>
            </a:r>
            <a:r>
              <a:rPr lang="zh-CN" altLang="en-US" dirty="0" smtClean="0"/>
              <a:t>数据</a:t>
            </a:r>
            <a:endParaRPr lang="zh-CN" altLang="en-US" dirty="0"/>
          </a:p>
          <a:p>
            <a:endParaRPr lang="zh-CN" altLang="en-US" dirty="0"/>
          </a:p>
        </p:txBody>
      </p:sp>
    </p:spTree>
    <p:extLst>
      <p:ext uri="{BB962C8B-B14F-4D97-AF65-F5344CB8AC3E}">
        <p14:creationId xmlns:p14="http://schemas.microsoft.com/office/powerpoint/2010/main" val="13161254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457200" y="44624"/>
            <a:ext cx="8229600" cy="1139825"/>
          </a:xfrm>
        </p:spPr>
        <p:txBody>
          <a:bodyPr/>
          <a:lstStyle/>
          <a:p>
            <a:pPr eaLnBrk="1" hangingPunct="1">
              <a:defRPr/>
            </a:pPr>
            <a:r>
              <a:rPr lang="zh-CN" altLang="en-US" dirty="0" smtClean="0"/>
              <a:t>循环语句</a:t>
            </a:r>
            <a:endParaRPr lang="zh-CN" altLang="zh-CN" dirty="0" smtClean="0"/>
          </a:p>
        </p:txBody>
      </p:sp>
      <p:sp>
        <p:nvSpPr>
          <p:cNvPr id="191491" name="Rectangle 3"/>
          <p:cNvSpPr>
            <a:spLocks noGrp="1" noChangeArrowheads="1"/>
          </p:cNvSpPr>
          <p:nvPr>
            <p:ph type="body" idx="1"/>
          </p:nvPr>
        </p:nvSpPr>
        <p:spPr>
          <a:xfrm>
            <a:off x="251520" y="1412776"/>
            <a:ext cx="8651304" cy="5184576"/>
          </a:xfrm>
        </p:spPr>
        <p:txBody>
          <a:bodyPr>
            <a:normAutofit/>
          </a:bodyPr>
          <a:lstStyle/>
          <a:p>
            <a:pPr eaLnBrk="1" hangingPunct="1">
              <a:lnSpc>
                <a:spcPct val="90000"/>
              </a:lnSpc>
              <a:defRPr/>
            </a:pPr>
            <a:r>
              <a:rPr lang="en-US" altLang="zh-CN" dirty="0" smtClean="0"/>
              <a:t>C++</a:t>
            </a:r>
            <a:r>
              <a:rPr lang="zh-CN" altLang="en-US" dirty="0" smtClean="0"/>
              <a:t>提供了三种实现重复操作的语句（称为</a:t>
            </a:r>
            <a:r>
              <a:rPr lang="zh-CN" altLang="en-US" dirty="0" smtClean="0">
                <a:solidFill>
                  <a:srgbClr val="FFC000"/>
                </a:solidFill>
              </a:rPr>
              <a:t>循环语句</a:t>
            </a:r>
            <a:r>
              <a:rPr lang="zh-CN" altLang="en-US" dirty="0" smtClean="0"/>
              <a:t>）：</a:t>
            </a:r>
          </a:p>
          <a:p>
            <a:pPr lvl="1" eaLnBrk="1" hangingPunct="1">
              <a:lnSpc>
                <a:spcPct val="90000"/>
              </a:lnSpc>
              <a:defRPr/>
            </a:pPr>
            <a:r>
              <a:rPr lang="en-US" altLang="zh-CN" dirty="0" smtClean="0"/>
              <a:t>while</a:t>
            </a:r>
            <a:r>
              <a:rPr lang="zh-CN" altLang="en-US" dirty="0" smtClean="0"/>
              <a:t>语句</a:t>
            </a:r>
          </a:p>
          <a:p>
            <a:pPr lvl="1" eaLnBrk="1" hangingPunct="1">
              <a:lnSpc>
                <a:spcPct val="90000"/>
              </a:lnSpc>
              <a:defRPr/>
            </a:pPr>
            <a:r>
              <a:rPr lang="en-US" altLang="zh-CN" dirty="0" smtClean="0"/>
              <a:t>do-while</a:t>
            </a:r>
            <a:r>
              <a:rPr lang="zh-CN" altLang="en-US" dirty="0" smtClean="0"/>
              <a:t>语句</a:t>
            </a:r>
          </a:p>
          <a:p>
            <a:pPr lvl="1" eaLnBrk="1" hangingPunct="1">
              <a:lnSpc>
                <a:spcPct val="90000"/>
              </a:lnSpc>
              <a:defRPr/>
            </a:pPr>
            <a:r>
              <a:rPr lang="en-US" altLang="zh-CN" dirty="0" smtClean="0"/>
              <a:t>for</a:t>
            </a:r>
            <a:r>
              <a:rPr lang="zh-CN" altLang="en-US" dirty="0" smtClean="0"/>
              <a:t>语句</a:t>
            </a:r>
            <a:endParaRPr lang="en-US" altLang="zh-CN" dirty="0" smtClean="0"/>
          </a:p>
          <a:p>
            <a:pPr eaLnBrk="1" hangingPunct="1">
              <a:lnSpc>
                <a:spcPct val="90000"/>
              </a:lnSpc>
              <a:defRPr/>
            </a:pPr>
            <a:r>
              <a:rPr lang="zh-CN" altLang="en-US" dirty="0" smtClean="0"/>
              <a:t>语法上，循环语句属于</a:t>
            </a:r>
            <a:r>
              <a:rPr lang="zh-CN" altLang="en-US" dirty="0"/>
              <a:t>结构</a:t>
            </a:r>
            <a:r>
              <a:rPr lang="zh-CN" altLang="en-US" dirty="0" smtClean="0"/>
              <a:t>语句。</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827088" y="86395"/>
            <a:ext cx="7489825" cy="822325"/>
          </a:xfrm>
        </p:spPr>
        <p:txBody>
          <a:bodyPr/>
          <a:lstStyle/>
          <a:p>
            <a:pPr eaLnBrk="1" hangingPunct="1">
              <a:defRPr/>
            </a:pPr>
            <a:r>
              <a:rPr lang="en-US" altLang="zh-CN" dirty="0" smtClean="0"/>
              <a:t>while </a:t>
            </a:r>
            <a:r>
              <a:rPr lang="zh-CN" altLang="en-US" dirty="0" smtClean="0"/>
              <a:t>语句</a:t>
            </a:r>
          </a:p>
        </p:txBody>
      </p:sp>
      <p:sp>
        <p:nvSpPr>
          <p:cNvPr id="19459" name="Rectangle 3"/>
          <p:cNvSpPr>
            <a:spLocks noGrp="1" noChangeArrowheads="1"/>
          </p:cNvSpPr>
          <p:nvPr>
            <p:ph type="body" idx="1"/>
          </p:nvPr>
        </p:nvSpPr>
        <p:spPr>
          <a:xfrm>
            <a:off x="228600" y="1340768"/>
            <a:ext cx="8686800" cy="2254182"/>
          </a:xfrm>
        </p:spPr>
        <p:txBody>
          <a:bodyPr>
            <a:normAutofit lnSpcReduction="10000"/>
          </a:bodyPr>
          <a:lstStyle/>
          <a:p>
            <a:pPr algn="just" eaLnBrk="1" hangingPunct="1">
              <a:lnSpc>
                <a:spcPct val="80000"/>
              </a:lnSpc>
              <a:defRPr/>
            </a:pPr>
            <a:r>
              <a:rPr lang="zh-CN" altLang="en-US" sz="2400" dirty="0" smtClean="0"/>
              <a:t>格式：</a:t>
            </a:r>
          </a:p>
          <a:p>
            <a:pPr algn="just" eaLnBrk="1" hangingPunct="1">
              <a:buFont typeface="Wingdings" pitchFamily="2" charset="2"/>
              <a:buNone/>
              <a:defRPr/>
            </a:pPr>
            <a:r>
              <a:rPr lang="zh-CN" altLang="en-US" sz="2400" dirty="0" smtClean="0"/>
              <a:t>		</a:t>
            </a:r>
            <a:r>
              <a:rPr lang="en-US" altLang="zh-CN" sz="2400" b="1" dirty="0" smtClean="0">
                <a:solidFill>
                  <a:srgbClr val="FFC000"/>
                </a:solidFill>
              </a:rPr>
              <a:t>while (</a:t>
            </a:r>
            <a:r>
              <a:rPr lang="en-US" altLang="zh-CN" sz="2400" dirty="0" smtClean="0"/>
              <a:t>&lt;</a:t>
            </a:r>
            <a:r>
              <a:rPr lang="zh-CN" altLang="en-US" sz="2400" dirty="0" smtClean="0"/>
              <a:t>表达式</a:t>
            </a:r>
            <a:r>
              <a:rPr lang="en-US" altLang="zh-CN" sz="2400" dirty="0" smtClean="0"/>
              <a:t>&gt;</a:t>
            </a:r>
            <a:r>
              <a:rPr lang="en-US" altLang="zh-CN" sz="2400" b="1" dirty="0" smtClean="0">
                <a:solidFill>
                  <a:srgbClr val="FFC000"/>
                </a:solidFill>
              </a:rPr>
              <a:t>) </a:t>
            </a:r>
            <a:r>
              <a:rPr lang="en-US" altLang="zh-CN" sz="2400" dirty="0" smtClean="0"/>
              <a:t>&lt;</a:t>
            </a:r>
            <a:r>
              <a:rPr lang="zh-CN" altLang="en-US" sz="2400" dirty="0" smtClean="0"/>
              <a:t>语句</a:t>
            </a:r>
            <a:r>
              <a:rPr lang="en-US" altLang="zh-CN" sz="2400" dirty="0" smtClean="0"/>
              <a:t>&gt;</a:t>
            </a:r>
            <a:endParaRPr lang="en-US" altLang="zh-CN" sz="2000" dirty="0" smtClean="0"/>
          </a:p>
          <a:p>
            <a:pPr lvl="1" algn="just" eaLnBrk="1" hangingPunct="1">
              <a:defRPr/>
            </a:pPr>
            <a:r>
              <a:rPr lang="en-US" altLang="zh-CN" sz="2000" dirty="0" smtClean="0"/>
              <a:t>&lt;</a:t>
            </a:r>
            <a:r>
              <a:rPr lang="zh-CN" altLang="en-US" sz="2000" dirty="0" smtClean="0"/>
              <a:t>表达式</a:t>
            </a:r>
            <a:r>
              <a:rPr lang="en-US" altLang="zh-CN" sz="2000" dirty="0" smtClean="0"/>
              <a:t>&gt;</a:t>
            </a:r>
            <a:r>
              <a:rPr lang="zh-CN" altLang="en-US" sz="2000" dirty="0"/>
              <a:t>表示循环</a:t>
            </a:r>
            <a:r>
              <a:rPr lang="zh-CN" altLang="en-US" sz="2000" dirty="0" smtClean="0"/>
              <a:t>条件</a:t>
            </a:r>
            <a:r>
              <a:rPr lang="zh-CN" altLang="en-US" sz="2000" dirty="0"/>
              <a:t>，</a:t>
            </a:r>
            <a:r>
              <a:rPr lang="zh-CN" altLang="en-US" sz="2000" dirty="0" smtClean="0"/>
              <a:t>可以为任意表达式，一般为关系或逻辑表达式</a:t>
            </a:r>
            <a:endParaRPr lang="en-US" altLang="zh-CN" sz="2000" dirty="0" smtClean="0"/>
          </a:p>
          <a:p>
            <a:pPr lvl="1" algn="just" eaLnBrk="1" hangingPunct="1">
              <a:defRPr/>
            </a:pPr>
            <a:r>
              <a:rPr lang="en-US" altLang="zh-CN" sz="2000" dirty="0" smtClean="0"/>
              <a:t>&lt;</a:t>
            </a:r>
            <a:r>
              <a:rPr lang="zh-CN" altLang="en-US" sz="2000" dirty="0" smtClean="0"/>
              <a:t>语句</a:t>
            </a:r>
            <a:r>
              <a:rPr lang="en-US" altLang="zh-CN" sz="2000" dirty="0" smtClean="0"/>
              <a:t>&gt;</a:t>
            </a:r>
            <a:r>
              <a:rPr lang="zh-CN" altLang="en-US" sz="2000" dirty="0" smtClean="0"/>
              <a:t>为循环体，可以是任意的一个</a:t>
            </a:r>
            <a:r>
              <a:rPr lang="en-US" altLang="zh-CN" sz="2000" dirty="0" smtClean="0"/>
              <a:t>C++</a:t>
            </a:r>
            <a:r>
              <a:rPr lang="zh-CN" altLang="en-US" sz="2000" dirty="0" smtClean="0"/>
              <a:t>语句（包括结构语句）</a:t>
            </a:r>
            <a:endParaRPr lang="en-US" altLang="zh-CN" sz="2000" dirty="0" smtClean="0"/>
          </a:p>
          <a:p>
            <a:pPr algn="just" eaLnBrk="1" hangingPunct="1">
              <a:defRPr/>
            </a:pPr>
            <a:r>
              <a:rPr lang="zh-CN" altLang="en-US" sz="2400" dirty="0" smtClean="0"/>
              <a:t>含义：</a:t>
            </a:r>
            <a:endParaRPr lang="en-US" altLang="zh-CN" sz="2400" dirty="0" smtClean="0"/>
          </a:p>
        </p:txBody>
      </p:sp>
      <p:pic>
        <p:nvPicPr>
          <p:cNvPr id="2" name="图片 1"/>
          <p:cNvPicPr>
            <a:picLocks noChangeAspect="1"/>
          </p:cNvPicPr>
          <p:nvPr/>
        </p:nvPicPr>
        <p:blipFill>
          <a:blip r:embed="rId2"/>
          <a:stretch>
            <a:fillRect/>
          </a:stretch>
        </p:blipFill>
        <p:spPr>
          <a:xfrm>
            <a:off x="2357437" y="3686894"/>
            <a:ext cx="4429125" cy="283845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57200" y="115888"/>
            <a:ext cx="8229600" cy="936625"/>
          </a:xfrm>
        </p:spPr>
        <p:txBody>
          <a:bodyPr/>
          <a:lstStyle/>
          <a:p>
            <a:pPr eaLnBrk="1" hangingPunct="1">
              <a:defRPr/>
            </a:pPr>
            <a:r>
              <a:rPr lang="zh-CN" altLang="en-US" sz="5400" smtClean="0"/>
              <a:t>用</a:t>
            </a:r>
            <a:r>
              <a:rPr lang="en-US" altLang="zh-CN" sz="5400" smtClean="0"/>
              <a:t>while</a:t>
            </a:r>
            <a:r>
              <a:rPr lang="zh-CN" altLang="en-US" sz="5400" smtClean="0"/>
              <a:t>语句求</a:t>
            </a:r>
            <a:r>
              <a:rPr lang="en-US" altLang="zh-CN" sz="5400" smtClean="0"/>
              <a:t>n!</a:t>
            </a:r>
            <a:endParaRPr lang="en-US" altLang="zh-CN" smtClean="0"/>
          </a:p>
        </p:txBody>
      </p:sp>
      <p:sp>
        <p:nvSpPr>
          <p:cNvPr id="46083" name="Rectangle 3"/>
          <p:cNvSpPr>
            <a:spLocks noGrp="1" noChangeArrowheads="1"/>
          </p:cNvSpPr>
          <p:nvPr>
            <p:ph type="body" idx="1"/>
          </p:nvPr>
        </p:nvSpPr>
        <p:spPr>
          <a:xfrm>
            <a:off x="250825" y="1341438"/>
            <a:ext cx="8642350" cy="5256212"/>
          </a:xfrm>
        </p:spPr>
        <p:txBody>
          <a:bodyPr/>
          <a:lstStyle/>
          <a:p>
            <a:pPr eaLnBrk="1" hangingPunct="1">
              <a:lnSpc>
                <a:spcPct val="80000"/>
              </a:lnSpc>
              <a:buFont typeface="Wingdings" pitchFamily="2" charset="2"/>
              <a:buNone/>
              <a:defRPr/>
            </a:pPr>
            <a:r>
              <a:rPr lang="en-US" altLang="zh-CN" sz="2400" dirty="0" smtClean="0">
                <a:cs typeface="Courier New" pitchFamily="49" charset="0"/>
              </a:rPr>
              <a:t>#include &lt;</a:t>
            </a:r>
            <a:r>
              <a:rPr lang="en-US" altLang="zh-CN" sz="2400" dirty="0" err="1" smtClean="0">
                <a:cs typeface="Courier New" pitchFamily="49" charset="0"/>
              </a:rPr>
              <a:t>iostream</a:t>
            </a:r>
            <a:r>
              <a:rPr lang="en-US" altLang="zh-CN" sz="2400" dirty="0" smtClean="0">
                <a:cs typeface="Courier New" pitchFamily="49" charset="0"/>
              </a:rPr>
              <a:t>&gt;</a:t>
            </a:r>
          </a:p>
          <a:p>
            <a:pPr eaLnBrk="1" hangingPunct="1">
              <a:lnSpc>
                <a:spcPct val="80000"/>
              </a:lnSpc>
              <a:buFont typeface="Wingdings" pitchFamily="2" charset="2"/>
              <a:buNone/>
              <a:defRPr/>
            </a:pPr>
            <a:r>
              <a:rPr lang="en-US" altLang="zh-CN" sz="2400" dirty="0" smtClean="0">
                <a:cs typeface="Courier New" pitchFamily="49" charset="0"/>
              </a:rPr>
              <a:t>using namespace </a:t>
            </a:r>
            <a:r>
              <a:rPr lang="en-US" altLang="zh-CN" sz="2400" dirty="0" err="1" smtClean="0">
                <a:cs typeface="Courier New" pitchFamily="49" charset="0"/>
              </a:rPr>
              <a:t>std</a:t>
            </a:r>
            <a:r>
              <a:rPr lang="en-US" altLang="zh-CN" sz="2400" dirty="0" smtClean="0">
                <a:cs typeface="Courier New" pitchFamily="49" charset="0"/>
              </a:rPr>
              <a:t>;</a:t>
            </a:r>
          </a:p>
          <a:p>
            <a:pPr eaLnBrk="1" hangingPunct="1">
              <a:lnSpc>
                <a:spcPct val="80000"/>
              </a:lnSpc>
              <a:buFont typeface="Wingdings" pitchFamily="2" charset="2"/>
              <a:buNone/>
              <a:defRPr/>
            </a:pPr>
            <a:r>
              <a:rPr lang="en-US" altLang="zh-CN" sz="2400" dirty="0" err="1" smtClean="0">
                <a:cs typeface="Courier New" pitchFamily="49" charset="0"/>
              </a:rPr>
              <a:t>int</a:t>
            </a:r>
            <a:r>
              <a:rPr lang="en-US" altLang="zh-CN" sz="2400" dirty="0" smtClean="0">
                <a:cs typeface="Courier New" pitchFamily="49" charset="0"/>
              </a:rPr>
              <a:t> main()</a:t>
            </a:r>
          </a:p>
          <a:p>
            <a:pPr eaLnBrk="1" hangingPunct="1">
              <a:lnSpc>
                <a:spcPct val="8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n;</a:t>
            </a:r>
          </a:p>
          <a:p>
            <a:pPr eaLnBrk="1" hangingPunct="1">
              <a:lnSpc>
                <a:spcPct val="8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cin</a:t>
            </a:r>
            <a:r>
              <a:rPr lang="en-US" altLang="zh-CN" sz="2400" dirty="0" smtClean="0">
                <a:cs typeface="Courier New" pitchFamily="49" charset="0"/>
              </a:rPr>
              <a:t> &gt;&gt; n;</a:t>
            </a:r>
          </a:p>
          <a:p>
            <a:pPr eaLnBrk="1" hangingPunct="1">
              <a:lnSpc>
                <a:spcPct val="8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=2,f=1; //</a:t>
            </a:r>
            <a:r>
              <a:rPr lang="zh-CN" altLang="en-US" sz="2400" dirty="0" smtClean="0"/>
              <a:t>循环初始化</a:t>
            </a:r>
            <a:endParaRPr lang="zh-CN" altLang="en-US" sz="2400" dirty="0" smtClean="0">
              <a:cs typeface="Courier New" pitchFamily="49" charset="0"/>
            </a:endParaRPr>
          </a:p>
          <a:p>
            <a:pPr eaLnBrk="1" hangingPunct="1">
              <a:lnSpc>
                <a:spcPct val="8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while (</a:t>
            </a:r>
            <a:r>
              <a:rPr lang="en-US" altLang="zh-CN" sz="2400" dirty="0" err="1" smtClean="0">
                <a:cs typeface="Courier New" pitchFamily="49" charset="0"/>
              </a:rPr>
              <a:t>i</a:t>
            </a:r>
            <a:r>
              <a:rPr lang="en-US" altLang="zh-CN" sz="2400" dirty="0" smtClean="0">
                <a:cs typeface="Courier New" pitchFamily="49" charset="0"/>
              </a:rPr>
              <a:t> &lt;= n) //</a:t>
            </a:r>
            <a:r>
              <a:rPr lang="zh-CN" altLang="en-US" sz="2400" dirty="0" smtClean="0"/>
              <a:t>循环条件</a:t>
            </a:r>
          </a:p>
          <a:p>
            <a:pPr eaLnBrk="1" hangingPunct="1">
              <a:lnSpc>
                <a:spcPct val="8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	f *= </a:t>
            </a:r>
            <a:r>
              <a:rPr lang="en-US" altLang="zh-CN" sz="2400" dirty="0" err="1" smtClean="0">
                <a:cs typeface="Courier New" pitchFamily="49" charset="0"/>
              </a:rPr>
              <a:t>i</a:t>
            </a:r>
            <a:r>
              <a:rPr lang="en-US" altLang="zh-CN" sz="2400" dirty="0" smtClean="0">
                <a:cs typeface="Courier New" pitchFamily="49" charset="0"/>
              </a:rPr>
              <a:t>; //</a:t>
            </a:r>
            <a:r>
              <a:rPr lang="zh-CN" altLang="en-US" sz="2400" dirty="0" smtClean="0">
                <a:cs typeface="Courier New" pitchFamily="49" charset="0"/>
              </a:rPr>
              <a:t>重复操作</a:t>
            </a:r>
            <a:endParaRPr lang="en-US" altLang="zh-CN" sz="2400" dirty="0" smtClean="0">
              <a:cs typeface="Courier New" pitchFamily="49" charset="0"/>
            </a:endParaRPr>
          </a:p>
          <a:p>
            <a:pPr eaLnBrk="1" hangingPunct="1">
              <a:lnSpc>
                <a:spcPct val="8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 //</a:t>
            </a:r>
            <a:r>
              <a:rPr lang="zh-CN" altLang="en-US" sz="2400" dirty="0" smtClean="0"/>
              <a:t>下一次循环准备</a:t>
            </a:r>
            <a:endParaRPr lang="zh-CN" altLang="en-US" sz="2400" dirty="0" smtClean="0">
              <a:cs typeface="Courier New" pitchFamily="49" charset="0"/>
            </a:endParaRPr>
          </a:p>
          <a:p>
            <a:pPr eaLnBrk="1" hangingPunct="1">
              <a:lnSpc>
                <a:spcPct val="8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 //</a:t>
            </a:r>
            <a:r>
              <a:rPr lang="zh-CN" altLang="en-US" sz="2400" dirty="0" smtClean="0">
                <a:cs typeface="Courier New" pitchFamily="49" charset="0"/>
              </a:rPr>
              <a:t>循环体</a:t>
            </a:r>
          </a:p>
          <a:p>
            <a:pPr eaLnBrk="1" hangingPunct="1">
              <a:lnSpc>
                <a:spcPct val="80000"/>
              </a:lnSpc>
              <a:buFont typeface="Wingdings" pitchFamily="2" charset="2"/>
              <a:buNone/>
              <a:defRPr/>
            </a:pPr>
            <a:r>
              <a:rPr lang="zh-CN" altLang="en-US" sz="2400" dirty="0" smtClean="0">
                <a:cs typeface="Courier New" pitchFamily="49" charset="0"/>
              </a:rPr>
              <a:t>	</a:t>
            </a:r>
            <a:r>
              <a:rPr lang="en-US" altLang="zh-CN" sz="2400" dirty="0" err="1" smtClean="0">
                <a:cs typeface="Courier New" pitchFamily="49" charset="0"/>
              </a:rPr>
              <a:t>cout</a:t>
            </a:r>
            <a:r>
              <a:rPr lang="en-US" altLang="zh-CN" sz="2400" dirty="0" smtClean="0">
                <a:cs typeface="Courier New" pitchFamily="49" charset="0"/>
              </a:rPr>
              <a:t> &lt;&lt; "factorial of " &lt;&lt; n &lt;&lt; " = " &lt;&lt; f &lt;&lt; </a:t>
            </a:r>
            <a:r>
              <a:rPr lang="en-US" altLang="zh-CN" sz="2400" dirty="0" err="1" smtClean="0">
                <a:cs typeface="Courier New" pitchFamily="49" charset="0"/>
              </a:rPr>
              <a:t>endl</a:t>
            </a:r>
            <a:r>
              <a:rPr lang="en-US" altLang="zh-CN" sz="2400" dirty="0" smtClean="0">
                <a:cs typeface="Courier New" pitchFamily="49" charset="0"/>
              </a:rPr>
              <a:t>;</a:t>
            </a:r>
          </a:p>
          <a:p>
            <a:pPr eaLnBrk="1" hangingPunct="1">
              <a:lnSpc>
                <a:spcPct val="80000"/>
              </a:lnSpc>
              <a:buFont typeface="Wingdings" pitchFamily="2" charset="2"/>
              <a:buNone/>
              <a:defRPr/>
            </a:pPr>
            <a:r>
              <a:rPr lang="en-US" altLang="zh-CN" sz="2400" dirty="0" smtClean="0">
                <a:cs typeface="Courier New" pitchFamily="49" charset="0"/>
              </a:rPr>
              <a:t>	return 0;</a:t>
            </a:r>
          </a:p>
          <a:p>
            <a:pPr eaLnBrk="1" hangingPunct="1">
              <a:lnSpc>
                <a:spcPct val="80000"/>
              </a:lnSpc>
              <a:buFont typeface="Wingdings" pitchFamily="2" charset="2"/>
              <a:buNone/>
              <a:defRPr/>
            </a:pPr>
            <a:r>
              <a:rPr lang="en-US" altLang="zh-CN" sz="2400" dirty="0" smtClean="0">
                <a:cs typeface="Courier New" pitchFamily="49" charset="0"/>
              </a:rPr>
              <a: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0"/>
            <a:ext cx="7772400" cy="1143000"/>
          </a:xfrm>
        </p:spPr>
        <p:txBody>
          <a:bodyPr/>
          <a:lstStyle/>
          <a:p>
            <a:pPr eaLnBrk="1" hangingPunct="1">
              <a:defRPr/>
            </a:pPr>
            <a:r>
              <a:rPr lang="en-US" altLang="zh-CN" smtClean="0"/>
              <a:t>do-while </a:t>
            </a:r>
            <a:r>
              <a:rPr lang="zh-CN" altLang="en-US" smtClean="0"/>
              <a:t>语句</a:t>
            </a:r>
          </a:p>
        </p:txBody>
      </p:sp>
      <p:sp>
        <p:nvSpPr>
          <p:cNvPr id="20483" name="Rectangle 3"/>
          <p:cNvSpPr>
            <a:spLocks noGrp="1" noChangeArrowheads="1"/>
          </p:cNvSpPr>
          <p:nvPr>
            <p:ph type="body" idx="1"/>
          </p:nvPr>
        </p:nvSpPr>
        <p:spPr>
          <a:xfrm>
            <a:off x="250825" y="1412429"/>
            <a:ext cx="8588375" cy="2448619"/>
          </a:xfrm>
        </p:spPr>
        <p:txBody>
          <a:bodyPr>
            <a:normAutofit/>
          </a:bodyPr>
          <a:lstStyle/>
          <a:p>
            <a:pPr algn="just" eaLnBrk="1" hangingPunct="1">
              <a:lnSpc>
                <a:spcPct val="90000"/>
              </a:lnSpc>
              <a:defRPr/>
            </a:pPr>
            <a:r>
              <a:rPr lang="zh-CN" altLang="en-US" sz="2800" dirty="0" smtClean="0"/>
              <a:t>格式：</a:t>
            </a:r>
          </a:p>
          <a:p>
            <a:pPr marL="457200" lvl="1" indent="0" eaLnBrk="1" hangingPunct="1">
              <a:lnSpc>
                <a:spcPct val="90000"/>
              </a:lnSpc>
              <a:buFontTx/>
              <a:buNone/>
              <a:defRPr/>
            </a:pPr>
            <a:r>
              <a:rPr lang="en-US" altLang="zh-CN" sz="2400" b="1" dirty="0" smtClean="0">
                <a:latin typeface="Courier New" pitchFamily="49" charset="0"/>
              </a:rPr>
              <a:t> </a:t>
            </a:r>
            <a:r>
              <a:rPr lang="en-US" altLang="zh-CN" sz="2400" b="1" dirty="0" smtClean="0">
                <a:solidFill>
                  <a:srgbClr val="FFC000"/>
                </a:solidFill>
              </a:rPr>
              <a:t>do</a:t>
            </a:r>
            <a:r>
              <a:rPr lang="en-US" altLang="zh-CN" sz="2400" b="1" dirty="0" smtClean="0"/>
              <a:t> </a:t>
            </a:r>
            <a:r>
              <a:rPr lang="en-US" altLang="zh-CN" sz="2400" dirty="0" smtClean="0"/>
              <a:t>&lt;</a:t>
            </a:r>
            <a:r>
              <a:rPr lang="zh-CN" altLang="en-US" sz="2400" dirty="0" smtClean="0"/>
              <a:t>语句</a:t>
            </a:r>
            <a:r>
              <a:rPr lang="en-US" altLang="zh-CN" sz="2400" dirty="0" smtClean="0"/>
              <a:t>&gt;</a:t>
            </a:r>
            <a:r>
              <a:rPr lang="en-US" altLang="zh-CN" sz="2400" b="1" dirty="0" smtClean="0"/>
              <a:t> </a:t>
            </a:r>
            <a:r>
              <a:rPr lang="en-US" altLang="zh-CN" sz="2400" b="1" dirty="0" smtClean="0">
                <a:solidFill>
                  <a:srgbClr val="FFC000"/>
                </a:solidFill>
              </a:rPr>
              <a:t>while</a:t>
            </a:r>
            <a:r>
              <a:rPr lang="en-US" altLang="zh-CN" sz="2400" b="1" dirty="0" smtClean="0"/>
              <a:t> </a:t>
            </a:r>
            <a:r>
              <a:rPr lang="en-US" altLang="zh-CN" sz="2400" b="1" dirty="0" smtClean="0">
                <a:solidFill>
                  <a:srgbClr val="FFC000"/>
                </a:solidFill>
              </a:rPr>
              <a:t>(</a:t>
            </a:r>
            <a:r>
              <a:rPr lang="en-US" altLang="zh-CN" sz="2400" dirty="0" smtClean="0"/>
              <a:t>&lt;</a:t>
            </a:r>
            <a:r>
              <a:rPr lang="zh-CN" altLang="en-US" sz="2400" dirty="0" smtClean="0"/>
              <a:t>表达式</a:t>
            </a:r>
            <a:r>
              <a:rPr lang="en-US" altLang="zh-CN" sz="2400" dirty="0" smtClean="0"/>
              <a:t>&gt;</a:t>
            </a:r>
            <a:r>
              <a:rPr lang="en-US" altLang="zh-CN" sz="2400" b="1" dirty="0" smtClean="0">
                <a:solidFill>
                  <a:srgbClr val="FFC000"/>
                </a:solidFill>
              </a:rPr>
              <a:t>);</a:t>
            </a:r>
          </a:p>
          <a:p>
            <a:pPr marL="622300" lvl="1" indent="-342900" eaLnBrk="1" hangingPunct="1">
              <a:buClr>
                <a:schemeClr val="hlink"/>
              </a:buClr>
              <a:buSzPct val="60000"/>
              <a:defRPr/>
            </a:pPr>
            <a:r>
              <a:rPr lang="en-US" altLang="zh-CN" sz="2000" dirty="0" smtClean="0"/>
              <a:t>&lt;</a:t>
            </a:r>
            <a:r>
              <a:rPr lang="zh-CN" altLang="en-US" sz="2000" dirty="0"/>
              <a:t>表达式</a:t>
            </a:r>
            <a:r>
              <a:rPr lang="en-US" altLang="zh-CN" sz="2000" dirty="0" smtClean="0"/>
              <a:t>&gt;</a:t>
            </a:r>
            <a:r>
              <a:rPr lang="zh-CN" altLang="en-US" sz="2000" dirty="0"/>
              <a:t>表示循环条件，可以为任意表达式，一般</a:t>
            </a:r>
            <a:r>
              <a:rPr lang="zh-CN" altLang="en-US" sz="2000" dirty="0" smtClean="0"/>
              <a:t>为关系或逻辑表达式</a:t>
            </a:r>
            <a:endParaRPr lang="en-US" altLang="zh-CN" sz="2000" dirty="0" smtClean="0"/>
          </a:p>
          <a:p>
            <a:pPr marL="622300" lvl="1" indent="-342900" eaLnBrk="1" hangingPunct="1">
              <a:buClr>
                <a:schemeClr val="hlink"/>
              </a:buClr>
              <a:buSzPct val="60000"/>
              <a:defRPr/>
            </a:pPr>
            <a:r>
              <a:rPr lang="en-US" altLang="zh-CN" sz="2000" dirty="0" smtClean="0"/>
              <a:t>&lt;</a:t>
            </a:r>
            <a:r>
              <a:rPr lang="zh-CN" altLang="en-US" sz="2000" dirty="0"/>
              <a:t>语句</a:t>
            </a:r>
            <a:r>
              <a:rPr lang="en-US" altLang="zh-CN" sz="2000" dirty="0" smtClean="0"/>
              <a:t>&gt;</a:t>
            </a:r>
            <a:r>
              <a:rPr lang="zh-CN" altLang="en-US" sz="2000" dirty="0" smtClean="0"/>
              <a:t>为循环体</a:t>
            </a:r>
            <a:r>
              <a:rPr lang="zh-CN" altLang="en-US" sz="2000" dirty="0"/>
              <a:t>，可以是</a:t>
            </a:r>
            <a:r>
              <a:rPr lang="zh-CN" altLang="en-US" sz="2000" dirty="0" smtClean="0"/>
              <a:t>任意的一个</a:t>
            </a:r>
            <a:r>
              <a:rPr lang="en-US" altLang="zh-CN" sz="2000" dirty="0" smtClean="0"/>
              <a:t>C++</a:t>
            </a:r>
            <a:r>
              <a:rPr lang="zh-CN" altLang="en-US" sz="2000" dirty="0"/>
              <a:t>语句（包括结构语句） </a:t>
            </a:r>
            <a:endParaRPr lang="en-US" altLang="zh-CN" sz="2000" dirty="0"/>
          </a:p>
          <a:p>
            <a:pPr eaLnBrk="1" hangingPunct="1">
              <a:lnSpc>
                <a:spcPct val="90000"/>
              </a:lnSpc>
              <a:defRPr/>
            </a:pPr>
            <a:r>
              <a:rPr lang="zh-CN" altLang="en-US" sz="2800" dirty="0" smtClean="0"/>
              <a:t>含义：</a:t>
            </a:r>
            <a:endParaRPr lang="en-US" altLang="zh-CN" sz="2800" dirty="0" smtClean="0"/>
          </a:p>
        </p:txBody>
      </p:sp>
      <p:pic>
        <p:nvPicPr>
          <p:cNvPr id="2" name="图片 1"/>
          <p:cNvPicPr>
            <a:picLocks noChangeAspect="1"/>
          </p:cNvPicPr>
          <p:nvPr/>
        </p:nvPicPr>
        <p:blipFill>
          <a:blip r:embed="rId2"/>
          <a:stretch>
            <a:fillRect/>
          </a:stretch>
        </p:blipFill>
        <p:spPr>
          <a:xfrm>
            <a:off x="2352675" y="3777952"/>
            <a:ext cx="4438650" cy="281940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57200" y="115888"/>
            <a:ext cx="8229600" cy="936625"/>
          </a:xfrm>
        </p:spPr>
        <p:txBody>
          <a:bodyPr/>
          <a:lstStyle/>
          <a:p>
            <a:pPr eaLnBrk="1" hangingPunct="1">
              <a:defRPr/>
            </a:pPr>
            <a:r>
              <a:rPr lang="zh-CN" altLang="en-US" sz="5400" smtClean="0"/>
              <a:t>用</a:t>
            </a:r>
            <a:r>
              <a:rPr lang="en-US" altLang="zh-CN" sz="5400" smtClean="0"/>
              <a:t>do-while</a:t>
            </a:r>
            <a:r>
              <a:rPr lang="zh-CN" altLang="en-US" sz="5400" smtClean="0"/>
              <a:t>语句求</a:t>
            </a:r>
            <a:r>
              <a:rPr lang="en-US" altLang="zh-CN" sz="5400" smtClean="0"/>
              <a:t>n!</a:t>
            </a:r>
          </a:p>
        </p:txBody>
      </p:sp>
      <p:sp>
        <p:nvSpPr>
          <p:cNvPr id="47107" name="Rectangle 3"/>
          <p:cNvSpPr>
            <a:spLocks noGrp="1" noChangeArrowheads="1"/>
          </p:cNvSpPr>
          <p:nvPr>
            <p:ph type="body" idx="1"/>
          </p:nvPr>
        </p:nvSpPr>
        <p:spPr>
          <a:xfrm>
            <a:off x="250825" y="1341438"/>
            <a:ext cx="8713788" cy="5297487"/>
          </a:xfrm>
        </p:spPr>
        <p:txBody>
          <a:bodyPr>
            <a:normAutofit lnSpcReduction="10000"/>
          </a:bodyPr>
          <a:lstStyle/>
          <a:p>
            <a:pPr eaLnBrk="1" hangingPunct="1">
              <a:lnSpc>
                <a:spcPct val="90000"/>
              </a:lnSpc>
              <a:buFont typeface="Wingdings" pitchFamily="2" charset="2"/>
              <a:buNone/>
              <a:defRPr/>
            </a:pPr>
            <a:r>
              <a:rPr lang="en-US" altLang="zh-CN" sz="2400" dirty="0" smtClean="0">
                <a:cs typeface="Courier New" pitchFamily="49" charset="0"/>
              </a:rPr>
              <a:t>#include &lt;</a:t>
            </a:r>
            <a:r>
              <a:rPr lang="en-US" altLang="zh-CN" sz="2400" dirty="0" err="1" smtClean="0">
                <a:cs typeface="Courier New" pitchFamily="49" charset="0"/>
              </a:rPr>
              <a:t>iostream</a:t>
            </a:r>
            <a:r>
              <a:rPr lang="en-US" altLang="zh-CN" sz="2400" dirty="0" smtClean="0">
                <a:cs typeface="Courier New" pitchFamily="49" charset="0"/>
              </a:rPr>
              <a:t>&gt;</a:t>
            </a:r>
          </a:p>
          <a:p>
            <a:pPr eaLnBrk="1" hangingPunct="1">
              <a:lnSpc>
                <a:spcPct val="90000"/>
              </a:lnSpc>
              <a:buFont typeface="Wingdings" pitchFamily="2" charset="2"/>
              <a:buNone/>
              <a:defRPr/>
            </a:pPr>
            <a:r>
              <a:rPr lang="en-US" altLang="zh-CN" sz="2400" dirty="0" smtClean="0">
                <a:cs typeface="Courier New" pitchFamily="49" charset="0"/>
              </a:rPr>
              <a:t>using namespace </a:t>
            </a:r>
            <a:r>
              <a:rPr lang="en-US" altLang="zh-CN" sz="2400" dirty="0" err="1" smtClean="0">
                <a:cs typeface="Courier New" pitchFamily="49" charset="0"/>
              </a:rPr>
              <a:t>std</a:t>
            </a:r>
            <a:r>
              <a:rPr lang="en-US" altLang="zh-CN" sz="2400" dirty="0" smtClean="0">
                <a:cs typeface="Courier New" pitchFamily="49" charset="0"/>
              </a:rPr>
              <a:t>;</a:t>
            </a:r>
          </a:p>
          <a:p>
            <a:pPr eaLnBrk="1" hangingPunct="1">
              <a:lnSpc>
                <a:spcPct val="90000"/>
              </a:lnSpc>
              <a:buFont typeface="Wingdings" pitchFamily="2" charset="2"/>
              <a:buNone/>
              <a:defRPr/>
            </a:pPr>
            <a:r>
              <a:rPr lang="en-US" altLang="zh-CN" sz="2400" dirty="0" err="1" smtClean="0">
                <a:cs typeface="Courier New" pitchFamily="49" charset="0"/>
              </a:rPr>
              <a:t>int</a:t>
            </a:r>
            <a:r>
              <a:rPr lang="en-US" altLang="zh-CN" sz="2400" dirty="0" smtClean="0">
                <a:cs typeface="Courier New" pitchFamily="49" charset="0"/>
              </a:rPr>
              <a:t> main()</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n;</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cin</a:t>
            </a:r>
            <a:r>
              <a:rPr lang="en-US" altLang="zh-CN" sz="2400" dirty="0" smtClean="0">
                <a:cs typeface="Courier New" pitchFamily="49" charset="0"/>
              </a:rPr>
              <a:t> &gt;&gt; n;</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=1,f=1; //</a:t>
            </a:r>
            <a:r>
              <a:rPr lang="zh-CN" altLang="en-US" sz="2400" dirty="0" smtClean="0"/>
              <a:t>循环初始化</a:t>
            </a:r>
            <a:endParaRPr lang="zh-CN" altLang="en-US" sz="2400" dirty="0" smtClean="0">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do //</a:t>
            </a:r>
            <a:r>
              <a:rPr lang="zh-CN" altLang="en-US" sz="2400" dirty="0" smtClean="0">
                <a:cs typeface="Courier New" pitchFamily="49" charset="0"/>
              </a:rPr>
              <a:t>循环体</a:t>
            </a: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	f *= </a:t>
            </a:r>
            <a:r>
              <a:rPr lang="en-US" altLang="zh-CN" sz="2400" dirty="0" err="1" smtClean="0">
                <a:cs typeface="Courier New" pitchFamily="49" charset="0"/>
              </a:rPr>
              <a:t>i</a:t>
            </a:r>
            <a:r>
              <a:rPr lang="en-US" altLang="zh-CN" sz="2400" dirty="0" smtClean="0">
                <a:cs typeface="Courier New" pitchFamily="49" charset="0"/>
              </a:rPr>
              <a:t>; //</a:t>
            </a:r>
            <a:r>
              <a:rPr lang="zh-CN" altLang="en-US" sz="2400" dirty="0" smtClean="0">
                <a:cs typeface="Courier New" pitchFamily="49" charset="0"/>
              </a:rPr>
              <a:t>重复操作</a:t>
            </a:r>
            <a:endParaRPr lang="en-US" altLang="zh-CN" sz="2400" dirty="0" smtClean="0">
              <a:cs typeface="Courier New" pitchFamily="49" charset="0"/>
            </a:endParaRP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 //</a:t>
            </a:r>
            <a:r>
              <a:rPr lang="zh-CN" altLang="en-US" sz="2400" dirty="0" smtClean="0"/>
              <a:t>下一次循环的准备</a:t>
            </a:r>
            <a:endParaRPr lang="zh-CN" altLang="en-US" sz="2400" dirty="0" smtClean="0">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 while (</a:t>
            </a:r>
            <a:r>
              <a:rPr lang="en-US" altLang="zh-CN" sz="2400" dirty="0" err="1" smtClean="0">
                <a:cs typeface="Courier New" pitchFamily="49" charset="0"/>
              </a:rPr>
              <a:t>i</a:t>
            </a:r>
            <a:r>
              <a:rPr lang="en-US" altLang="zh-CN" sz="2400" dirty="0" smtClean="0">
                <a:cs typeface="Courier New" pitchFamily="49" charset="0"/>
              </a:rPr>
              <a:t> &lt;= n); //</a:t>
            </a:r>
            <a:r>
              <a:rPr lang="zh-CN" altLang="en-US" sz="2400" dirty="0" smtClean="0"/>
              <a:t>循环条件</a:t>
            </a:r>
            <a:endParaRPr lang="zh-CN" altLang="en-US" sz="2400" dirty="0" smtClean="0">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err="1" smtClean="0">
                <a:cs typeface="Courier New" pitchFamily="49" charset="0"/>
              </a:rPr>
              <a:t>cout</a:t>
            </a:r>
            <a:r>
              <a:rPr lang="en-US" altLang="zh-CN" sz="2400" dirty="0" smtClean="0">
                <a:cs typeface="Courier New" pitchFamily="49" charset="0"/>
              </a:rPr>
              <a:t> &lt;&lt; "factorial of " &lt;&lt; n &lt;&lt; " = " &lt;&lt; f &lt;&lt; </a:t>
            </a:r>
            <a:r>
              <a:rPr lang="en-US" altLang="zh-CN" sz="2400" dirty="0" err="1" smtClean="0">
                <a:cs typeface="Courier New" pitchFamily="49" charset="0"/>
              </a:rPr>
              <a:t>endl</a:t>
            </a:r>
            <a:r>
              <a:rPr lang="en-US" altLang="zh-CN" sz="2400" dirty="0" smtClean="0">
                <a:cs typeface="Courier New" pitchFamily="49" charset="0"/>
              </a:rPr>
              <a:t>;</a:t>
            </a:r>
          </a:p>
          <a:p>
            <a:pPr eaLnBrk="1" hangingPunct="1">
              <a:lnSpc>
                <a:spcPct val="90000"/>
              </a:lnSpc>
              <a:buFont typeface="Wingdings" pitchFamily="2" charset="2"/>
              <a:buNone/>
              <a:defRPr/>
            </a:pPr>
            <a:r>
              <a:rPr lang="en-US" altLang="zh-CN" sz="2400" dirty="0" smtClean="0">
                <a:cs typeface="Courier New" pitchFamily="49" charset="0"/>
              </a:rPr>
              <a:t>	return 0;</a:t>
            </a:r>
          </a:p>
          <a:p>
            <a:pPr eaLnBrk="1" hangingPunct="1">
              <a:lnSpc>
                <a:spcPct val="90000"/>
              </a:lnSpc>
              <a:buFont typeface="Wingdings" pitchFamily="2" charset="2"/>
              <a:buNone/>
              <a:defRPr/>
            </a:pPr>
            <a:r>
              <a:rPr lang="en-US" altLang="zh-CN" sz="2400" dirty="0" smtClean="0">
                <a:cs typeface="Courier New" pitchFamily="49" charset="0"/>
              </a:rPr>
              <a:t>}</a:t>
            </a:r>
          </a:p>
          <a:p>
            <a:pPr eaLnBrk="1" hangingPunct="1">
              <a:lnSpc>
                <a:spcPct val="90000"/>
              </a:lnSpc>
              <a:defRPr/>
            </a:pPr>
            <a:r>
              <a:rPr lang="zh-CN" altLang="en-US" sz="2400" dirty="0" smtClean="0">
                <a:solidFill>
                  <a:srgbClr val="FFC000"/>
                </a:solidFill>
                <a:cs typeface="Courier New" pitchFamily="49" charset="0"/>
              </a:rPr>
              <a:t>为什么</a:t>
            </a:r>
            <a:r>
              <a:rPr lang="en-US" altLang="zh-CN" sz="2400" dirty="0" err="1" smtClean="0">
                <a:solidFill>
                  <a:srgbClr val="FFC000"/>
                </a:solidFill>
                <a:cs typeface="Courier New" pitchFamily="49" charset="0"/>
              </a:rPr>
              <a:t>i</a:t>
            </a:r>
            <a:r>
              <a:rPr lang="zh-CN" altLang="en-US" sz="2400" dirty="0" smtClean="0">
                <a:solidFill>
                  <a:srgbClr val="FFC000"/>
                </a:solidFill>
                <a:cs typeface="Courier New" pitchFamily="49" charset="0"/>
              </a:rPr>
              <a:t>从</a:t>
            </a:r>
            <a:r>
              <a:rPr lang="en-US" altLang="zh-CN" sz="2400" dirty="0" smtClean="0">
                <a:solidFill>
                  <a:srgbClr val="FFC000"/>
                </a:solidFill>
                <a:cs typeface="Courier New" pitchFamily="49" charset="0"/>
              </a:rPr>
              <a:t>1</a:t>
            </a:r>
            <a:r>
              <a:rPr lang="zh-CN" altLang="en-US" sz="2400" dirty="0" smtClean="0">
                <a:solidFill>
                  <a:srgbClr val="FFC000"/>
                </a:solidFill>
                <a:cs typeface="Courier New" pitchFamily="49" charset="0"/>
              </a:rPr>
              <a:t>而不是</a:t>
            </a:r>
            <a:r>
              <a:rPr lang="en-US" altLang="zh-CN" sz="2400" dirty="0" smtClean="0">
                <a:solidFill>
                  <a:srgbClr val="FFC000"/>
                </a:solidFill>
                <a:cs typeface="Courier New" pitchFamily="49" charset="0"/>
              </a:rPr>
              <a:t>2</a:t>
            </a:r>
            <a:r>
              <a:rPr lang="zh-CN" altLang="en-US" sz="2400" dirty="0" smtClean="0">
                <a:solidFill>
                  <a:srgbClr val="FFC000"/>
                </a:solidFill>
                <a:cs typeface="Courier New" pitchFamily="49" charset="0"/>
              </a:rPr>
              <a:t>开始？</a:t>
            </a:r>
            <a:endParaRPr lang="en-US" altLang="zh-CN" dirty="0" smtClean="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13" end="13"/>
                                            </p:txEl>
                                          </p:spTgt>
                                        </p:tgtEl>
                                        <p:attrNameLst>
                                          <p:attrName>style.visibility</p:attrName>
                                        </p:attrNameLst>
                                      </p:cBhvr>
                                      <p:to>
                                        <p:strVal val="visible"/>
                                      </p:to>
                                    </p:set>
                                    <p:anim calcmode="lin" valueType="num">
                                      <p:cBhvr additive="base">
                                        <p:cTn id="7" dur="500" fill="hold"/>
                                        <p:tgtEl>
                                          <p:spTgt spid="47107">
                                            <p:txEl>
                                              <p:pRg st="13" end="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idx="4294967295"/>
          </p:nvPr>
        </p:nvSpPr>
        <p:spPr>
          <a:xfrm>
            <a:off x="754063" y="115888"/>
            <a:ext cx="7489825" cy="608012"/>
          </a:xfrm>
        </p:spPr>
        <p:txBody>
          <a:bodyPr/>
          <a:lstStyle/>
          <a:p>
            <a:pPr eaLnBrk="1" hangingPunct="1">
              <a:defRPr/>
            </a:pPr>
            <a:r>
              <a:rPr lang="en-US" altLang="zh-CN" smtClean="0"/>
              <a:t>for </a:t>
            </a:r>
            <a:r>
              <a:rPr lang="zh-CN" altLang="en-US" smtClean="0"/>
              <a:t>语句</a:t>
            </a:r>
          </a:p>
        </p:txBody>
      </p:sp>
      <p:sp>
        <p:nvSpPr>
          <p:cNvPr id="5" name="Rectangle 3"/>
          <p:cNvSpPr txBox="1">
            <a:spLocks noChangeArrowheads="1"/>
          </p:cNvSpPr>
          <p:nvPr/>
        </p:nvSpPr>
        <p:spPr>
          <a:xfrm>
            <a:off x="179388" y="1052512"/>
            <a:ext cx="8785100" cy="2952552"/>
          </a:xfrm>
          <a:prstGeom prst="rect">
            <a:avLst/>
          </a:prstGeom>
        </p:spPr>
        <p:txBody>
          <a:bodyPr>
            <a:normAutofit fontScale="92500" lnSpcReduction="20000"/>
          </a:bodyPr>
          <a:lst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a:lstStyle>
          <a:p>
            <a:pPr algn="just" eaLnBrk="1" hangingPunct="1">
              <a:defRPr/>
            </a:pPr>
            <a:r>
              <a:rPr lang="zh-CN" altLang="en-US" sz="2800" kern="0" dirty="0" smtClean="0"/>
              <a:t>格式：</a:t>
            </a:r>
            <a:endParaRPr lang="zh-CN" altLang="en-US" sz="2800" kern="0" dirty="0"/>
          </a:p>
          <a:p>
            <a:pPr marL="457200" lvl="1" indent="0" algn="just" eaLnBrk="1" hangingPunct="1">
              <a:lnSpc>
                <a:spcPct val="110000"/>
              </a:lnSpc>
              <a:buFontTx/>
              <a:buNone/>
              <a:defRPr/>
            </a:pPr>
            <a:r>
              <a:rPr lang="en-US" altLang="zh-CN" sz="2400" b="1" kern="0" dirty="0" smtClean="0">
                <a:solidFill>
                  <a:srgbClr val="FFC000"/>
                </a:solidFill>
              </a:rPr>
              <a:t>for </a:t>
            </a:r>
            <a:r>
              <a:rPr lang="en-US" altLang="zh-CN" sz="2400" b="1" kern="0" dirty="0">
                <a:solidFill>
                  <a:srgbClr val="FFC000"/>
                </a:solidFill>
              </a:rPr>
              <a:t>(</a:t>
            </a:r>
            <a:r>
              <a:rPr lang="en-US" altLang="zh-CN" sz="2400" kern="0" dirty="0"/>
              <a:t>&lt;</a:t>
            </a:r>
            <a:r>
              <a:rPr lang="zh-CN" altLang="en-US" sz="2400" kern="0" dirty="0"/>
              <a:t>表达式</a:t>
            </a:r>
            <a:r>
              <a:rPr lang="en-US" altLang="zh-CN" sz="2400" kern="0" dirty="0"/>
              <a:t>1&gt;</a:t>
            </a:r>
            <a:r>
              <a:rPr lang="en-US" altLang="zh-CN" sz="2400" b="1" kern="0" dirty="0">
                <a:solidFill>
                  <a:srgbClr val="FFC000"/>
                </a:solidFill>
              </a:rPr>
              <a:t>;</a:t>
            </a:r>
            <a:r>
              <a:rPr lang="en-US" altLang="zh-CN" sz="2400" kern="0" dirty="0"/>
              <a:t>&lt;</a:t>
            </a:r>
            <a:r>
              <a:rPr lang="zh-CN" altLang="en-US" sz="2400" kern="0" dirty="0"/>
              <a:t>表达式</a:t>
            </a:r>
            <a:r>
              <a:rPr lang="en-US" altLang="zh-CN" sz="2400" kern="0" dirty="0"/>
              <a:t>2&gt;</a:t>
            </a:r>
            <a:r>
              <a:rPr lang="en-US" altLang="zh-CN" sz="2400" b="1" kern="0" dirty="0">
                <a:solidFill>
                  <a:srgbClr val="FFC000"/>
                </a:solidFill>
              </a:rPr>
              <a:t>;</a:t>
            </a:r>
            <a:r>
              <a:rPr lang="en-US" altLang="zh-CN" sz="2400" kern="0" dirty="0"/>
              <a:t>&lt;</a:t>
            </a:r>
            <a:r>
              <a:rPr lang="zh-CN" altLang="en-US" sz="2400" kern="0" dirty="0"/>
              <a:t>表达式</a:t>
            </a:r>
            <a:r>
              <a:rPr lang="en-US" altLang="zh-CN" sz="2400" kern="0" dirty="0"/>
              <a:t>3&gt;</a:t>
            </a:r>
            <a:r>
              <a:rPr lang="en-US" altLang="zh-CN" sz="2400" b="1" kern="0" dirty="0">
                <a:solidFill>
                  <a:srgbClr val="FFC000"/>
                </a:solidFill>
              </a:rPr>
              <a:t>)</a:t>
            </a:r>
            <a:r>
              <a:rPr lang="en-US" altLang="zh-CN" sz="2400" kern="0" dirty="0"/>
              <a:t> &lt;</a:t>
            </a:r>
            <a:r>
              <a:rPr lang="zh-CN" altLang="en-US" sz="2400" kern="0" dirty="0"/>
              <a:t>语句</a:t>
            </a:r>
            <a:r>
              <a:rPr lang="en-US" altLang="zh-CN" sz="2400" kern="0" dirty="0"/>
              <a:t>&gt;</a:t>
            </a:r>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表达式</a:t>
            </a:r>
            <a:r>
              <a:rPr lang="en-US" altLang="zh-CN" sz="2000" kern="0" dirty="0"/>
              <a:t>1</a:t>
            </a:r>
            <a:r>
              <a:rPr lang="en-US" altLang="zh-CN" sz="2000" kern="0" dirty="0" smtClean="0"/>
              <a:t>&gt;</a:t>
            </a:r>
            <a:r>
              <a:rPr lang="zh-CN" altLang="en-US" sz="2000" kern="0" dirty="0"/>
              <a:t>为任意</a:t>
            </a:r>
            <a:r>
              <a:rPr lang="zh-CN" altLang="en-US" sz="2000" kern="0" dirty="0" smtClean="0"/>
              <a:t>表达式</a:t>
            </a:r>
            <a:r>
              <a:rPr lang="zh-CN" altLang="en-US" sz="2000" kern="0" dirty="0"/>
              <a:t>，一般</a:t>
            </a:r>
            <a:r>
              <a:rPr lang="zh-CN" altLang="en-US" sz="2000" kern="0" dirty="0" smtClean="0"/>
              <a:t>为</a:t>
            </a:r>
            <a:r>
              <a:rPr lang="zh-CN" altLang="en-US" sz="2000" kern="0" dirty="0" smtClean="0">
                <a:solidFill>
                  <a:srgbClr val="FFC000"/>
                </a:solidFill>
              </a:rPr>
              <a:t>含赋值的表达式</a:t>
            </a:r>
            <a:r>
              <a:rPr lang="zh-CN" altLang="en-US" sz="2000" dirty="0"/>
              <a:t>，</a:t>
            </a:r>
            <a:r>
              <a:rPr lang="zh-CN" altLang="en-US" sz="2000" kern="0" dirty="0" smtClean="0"/>
              <a:t>表示</a:t>
            </a:r>
            <a:r>
              <a:rPr lang="zh-CN" altLang="en-US" sz="2000" kern="0" dirty="0"/>
              <a:t>循环初始化</a:t>
            </a:r>
            <a:endParaRPr lang="en-US" altLang="zh-CN" sz="2000" kern="0" dirty="0" smtClean="0"/>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表达式</a:t>
            </a:r>
            <a:r>
              <a:rPr lang="en-US" altLang="zh-CN" sz="2000" kern="0" dirty="0"/>
              <a:t>2</a:t>
            </a:r>
            <a:r>
              <a:rPr lang="en-US" altLang="zh-CN" sz="2000" kern="0" dirty="0" smtClean="0"/>
              <a:t>&gt;</a:t>
            </a:r>
            <a:r>
              <a:rPr lang="zh-CN" altLang="en-US" sz="2000" kern="0" dirty="0"/>
              <a:t>为任意</a:t>
            </a:r>
            <a:r>
              <a:rPr lang="zh-CN" altLang="en-US" sz="2000" kern="0" dirty="0" smtClean="0"/>
              <a:t>表达式</a:t>
            </a:r>
            <a:r>
              <a:rPr lang="zh-CN" altLang="en-US" sz="2000" kern="0" dirty="0"/>
              <a:t>，一般为</a:t>
            </a:r>
            <a:r>
              <a:rPr lang="zh-CN" altLang="en-US" sz="2000" kern="0" dirty="0">
                <a:solidFill>
                  <a:srgbClr val="FFC000"/>
                </a:solidFill>
              </a:rPr>
              <a:t>关系或</a:t>
            </a:r>
            <a:r>
              <a:rPr lang="zh-CN" altLang="en-US" sz="2000" kern="0" dirty="0" smtClean="0">
                <a:solidFill>
                  <a:srgbClr val="FFC000"/>
                </a:solidFill>
              </a:rPr>
              <a:t>逻辑表达式</a:t>
            </a:r>
            <a:r>
              <a:rPr lang="zh-CN" altLang="en-US" sz="2000" kern="0" dirty="0"/>
              <a:t>，</a:t>
            </a:r>
            <a:r>
              <a:rPr lang="zh-CN" altLang="en-US" sz="2000" kern="0" dirty="0" smtClean="0"/>
              <a:t>表示</a:t>
            </a:r>
            <a:r>
              <a:rPr lang="zh-CN" altLang="en-US" sz="2000" kern="0" dirty="0"/>
              <a:t>循环条件</a:t>
            </a:r>
            <a:endParaRPr lang="en-US" altLang="zh-CN" sz="2000" kern="0" dirty="0" smtClean="0"/>
          </a:p>
          <a:p>
            <a:pPr marL="622300" lvl="1" indent="-342900" eaLnBrk="1" hangingPunct="1">
              <a:lnSpc>
                <a:spcPct val="120000"/>
              </a:lnSpc>
              <a:buClr>
                <a:schemeClr val="hlink"/>
              </a:buClr>
              <a:buSzPct val="60000"/>
              <a:defRPr/>
            </a:pPr>
            <a:r>
              <a:rPr lang="en-US" altLang="zh-CN" sz="2000" kern="0" dirty="0" smtClean="0"/>
              <a:t>&lt;</a:t>
            </a:r>
            <a:r>
              <a:rPr lang="zh-CN" altLang="en-US" sz="2000" kern="0" dirty="0"/>
              <a:t>表达式</a:t>
            </a:r>
            <a:r>
              <a:rPr lang="en-US" altLang="zh-CN" sz="2000" kern="0" dirty="0"/>
              <a:t>3</a:t>
            </a:r>
            <a:r>
              <a:rPr lang="en-US" altLang="zh-CN" sz="2000" kern="0" dirty="0" smtClean="0"/>
              <a:t>&gt;</a:t>
            </a:r>
            <a:r>
              <a:rPr lang="zh-CN" altLang="en-US" sz="2000" kern="0" dirty="0"/>
              <a:t>为任意表达式</a:t>
            </a:r>
            <a:r>
              <a:rPr lang="zh-CN" altLang="en-US" sz="2000" kern="0" dirty="0" smtClean="0"/>
              <a:t>，</a:t>
            </a:r>
            <a:r>
              <a:rPr lang="zh-CN" altLang="en-US" sz="2000" kern="0" dirty="0"/>
              <a:t>一般</a:t>
            </a:r>
            <a:r>
              <a:rPr lang="zh-CN" altLang="en-US" sz="2000" kern="0" dirty="0" smtClean="0"/>
              <a:t>为</a:t>
            </a:r>
            <a:r>
              <a:rPr lang="zh-CN" altLang="en-US" sz="2000" kern="0" dirty="0" smtClean="0">
                <a:solidFill>
                  <a:srgbClr val="FFC000"/>
                </a:solidFill>
              </a:rPr>
              <a:t>含自</a:t>
            </a:r>
            <a:r>
              <a:rPr lang="zh-CN" altLang="en-US" sz="2000" kern="0" dirty="0">
                <a:solidFill>
                  <a:srgbClr val="FFC000"/>
                </a:solidFill>
              </a:rPr>
              <a:t>增</a:t>
            </a:r>
            <a:r>
              <a:rPr lang="en-US" altLang="zh-CN" sz="2000" kern="0" dirty="0">
                <a:solidFill>
                  <a:srgbClr val="FFC000"/>
                </a:solidFill>
              </a:rPr>
              <a:t>/</a:t>
            </a:r>
            <a:r>
              <a:rPr lang="zh-CN" altLang="en-US" sz="2000" kern="0" dirty="0">
                <a:solidFill>
                  <a:srgbClr val="FFC000"/>
                </a:solidFill>
              </a:rPr>
              <a:t>自减的</a:t>
            </a:r>
            <a:r>
              <a:rPr lang="zh-CN" altLang="en-US" sz="2000" kern="0" dirty="0" smtClean="0">
                <a:solidFill>
                  <a:srgbClr val="FFC000"/>
                </a:solidFill>
              </a:rPr>
              <a:t>算术表达式</a:t>
            </a:r>
            <a:r>
              <a:rPr lang="zh-CN" altLang="en-US" sz="2000" kern="0" dirty="0" smtClean="0"/>
              <a:t>，表示</a:t>
            </a:r>
            <a:r>
              <a:rPr lang="zh-CN" altLang="en-US" sz="2000" kern="0" dirty="0"/>
              <a:t>下一次循环的</a:t>
            </a:r>
            <a:r>
              <a:rPr lang="zh-CN" altLang="en-US" sz="2000" kern="0" dirty="0" smtClean="0"/>
              <a:t>准备</a:t>
            </a:r>
            <a:endParaRPr lang="en-US" altLang="zh-CN" sz="2000" kern="0" dirty="0" smtClean="0"/>
          </a:p>
          <a:p>
            <a:pPr marL="622300" lvl="1" indent="-342900" eaLnBrk="1" hangingPunct="1">
              <a:lnSpc>
                <a:spcPct val="110000"/>
              </a:lnSpc>
              <a:buClr>
                <a:schemeClr val="hlink"/>
              </a:buClr>
              <a:buSzPct val="60000"/>
              <a:defRPr/>
            </a:pPr>
            <a:r>
              <a:rPr lang="en-US" altLang="zh-CN" sz="2000" kern="0" dirty="0" smtClean="0"/>
              <a:t>&lt;</a:t>
            </a:r>
            <a:r>
              <a:rPr lang="zh-CN" altLang="en-US" sz="2000" kern="0" dirty="0"/>
              <a:t>语句</a:t>
            </a:r>
            <a:r>
              <a:rPr lang="en-US" altLang="zh-CN" sz="2000" kern="0" dirty="0" smtClean="0"/>
              <a:t>&gt;</a:t>
            </a:r>
            <a:r>
              <a:rPr lang="zh-CN" altLang="en-US" sz="2000" kern="0" dirty="0" smtClean="0"/>
              <a:t>为</a:t>
            </a:r>
            <a:r>
              <a:rPr lang="zh-CN" altLang="en-US" sz="2000" dirty="0" smtClean="0"/>
              <a:t>循环体，</a:t>
            </a:r>
            <a:r>
              <a:rPr lang="zh-CN" altLang="en-US" sz="2000" kern="0" dirty="0" smtClean="0"/>
              <a:t>可以</a:t>
            </a:r>
            <a:r>
              <a:rPr lang="zh-CN" altLang="en-US" sz="2000" dirty="0" smtClean="0"/>
              <a:t>是</a:t>
            </a:r>
            <a:r>
              <a:rPr lang="zh-CN" altLang="en-US" sz="2000" dirty="0"/>
              <a:t>任意</a:t>
            </a:r>
            <a:r>
              <a:rPr lang="zh-CN" altLang="en-US" sz="2000" dirty="0" smtClean="0"/>
              <a:t>一个</a:t>
            </a:r>
            <a:r>
              <a:rPr lang="en-US" altLang="zh-CN" sz="2000" dirty="0" smtClean="0"/>
              <a:t>C++</a:t>
            </a:r>
            <a:r>
              <a:rPr lang="zh-CN" altLang="en-US" sz="2000" dirty="0" smtClean="0"/>
              <a:t>语句</a:t>
            </a:r>
            <a:r>
              <a:rPr lang="zh-CN" altLang="en-US" sz="2000" dirty="0"/>
              <a:t>（包括结构</a:t>
            </a:r>
            <a:r>
              <a:rPr lang="zh-CN" altLang="en-US" sz="2000"/>
              <a:t>语句</a:t>
            </a:r>
            <a:r>
              <a:rPr lang="zh-CN" altLang="en-US" sz="2000" smtClean="0"/>
              <a:t>）</a:t>
            </a:r>
            <a:endParaRPr lang="en-US" altLang="zh-CN" sz="2000" kern="0" dirty="0" smtClean="0"/>
          </a:p>
          <a:p>
            <a:pPr marL="222250" eaLnBrk="1" hangingPunct="1">
              <a:lnSpc>
                <a:spcPct val="110000"/>
              </a:lnSpc>
              <a:defRPr/>
            </a:pPr>
            <a:r>
              <a:rPr lang="zh-CN" altLang="en-US" sz="2800" kern="0" dirty="0" smtClean="0"/>
              <a:t>含义：</a:t>
            </a:r>
            <a:endParaRPr lang="zh-CN" altLang="en-US" sz="2800" kern="0" dirty="0"/>
          </a:p>
        </p:txBody>
      </p:sp>
      <p:pic>
        <p:nvPicPr>
          <p:cNvPr id="2" name="图片 1"/>
          <p:cNvPicPr>
            <a:picLocks noChangeAspect="1"/>
          </p:cNvPicPr>
          <p:nvPr/>
        </p:nvPicPr>
        <p:blipFill>
          <a:blip r:embed="rId2"/>
          <a:stretch>
            <a:fillRect/>
          </a:stretch>
        </p:blipFill>
        <p:spPr>
          <a:xfrm>
            <a:off x="2483768" y="3555082"/>
            <a:ext cx="4223129" cy="325829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323850" y="1196975"/>
            <a:ext cx="8640763" cy="5400675"/>
          </a:xfrm>
        </p:spPr>
        <p:txBody>
          <a:bodyPr>
            <a:normAutofit fontScale="92500" lnSpcReduction="10000"/>
          </a:bodyPr>
          <a:lstStyle/>
          <a:p>
            <a:pPr eaLnBrk="1" hangingPunct="1">
              <a:lnSpc>
                <a:spcPct val="90000"/>
              </a:lnSpc>
              <a:buFont typeface="Wingdings" pitchFamily="2" charset="2"/>
              <a:buNone/>
              <a:defRPr/>
            </a:pPr>
            <a:r>
              <a:rPr lang="en-US" altLang="zh-CN" sz="2400" dirty="0" smtClean="0">
                <a:cs typeface="Courier New" pitchFamily="49" charset="0"/>
              </a:rPr>
              <a:t>#include &lt;</a:t>
            </a:r>
            <a:r>
              <a:rPr lang="en-US" altLang="zh-CN" sz="2400" dirty="0" err="1" smtClean="0">
                <a:cs typeface="Courier New" pitchFamily="49" charset="0"/>
              </a:rPr>
              <a:t>iostream</a:t>
            </a:r>
            <a:r>
              <a:rPr lang="en-US" altLang="zh-CN" sz="2400" dirty="0" smtClean="0">
                <a:cs typeface="Courier New" pitchFamily="49" charset="0"/>
              </a:rPr>
              <a:t>&gt;</a:t>
            </a:r>
          </a:p>
          <a:p>
            <a:pPr eaLnBrk="1" hangingPunct="1">
              <a:lnSpc>
                <a:spcPct val="90000"/>
              </a:lnSpc>
              <a:buFont typeface="Wingdings" pitchFamily="2" charset="2"/>
              <a:buNone/>
              <a:defRPr/>
            </a:pPr>
            <a:r>
              <a:rPr lang="en-US" altLang="zh-CN" sz="2400" dirty="0" smtClean="0">
                <a:cs typeface="Courier New" pitchFamily="49" charset="0"/>
              </a:rPr>
              <a:t>using namespace </a:t>
            </a:r>
            <a:r>
              <a:rPr lang="en-US" altLang="zh-CN" sz="2400" dirty="0" err="1" smtClean="0">
                <a:cs typeface="Courier New" pitchFamily="49" charset="0"/>
              </a:rPr>
              <a:t>std</a:t>
            </a:r>
            <a:r>
              <a:rPr lang="en-US" altLang="zh-CN" sz="2400" dirty="0" smtClean="0">
                <a:cs typeface="Courier New" pitchFamily="49" charset="0"/>
              </a:rPr>
              <a:t>;</a:t>
            </a:r>
          </a:p>
          <a:p>
            <a:pPr eaLnBrk="1" hangingPunct="1">
              <a:lnSpc>
                <a:spcPct val="90000"/>
              </a:lnSpc>
              <a:buFont typeface="Wingdings" pitchFamily="2" charset="2"/>
              <a:buNone/>
              <a:defRPr/>
            </a:pPr>
            <a:r>
              <a:rPr lang="en-US" altLang="zh-CN" sz="2400" dirty="0" err="1" smtClean="0">
                <a:cs typeface="Courier New" pitchFamily="49" charset="0"/>
              </a:rPr>
              <a:t>int</a:t>
            </a:r>
            <a:r>
              <a:rPr lang="en-US" altLang="zh-CN" sz="2400" dirty="0" smtClean="0">
                <a:cs typeface="Courier New" pitchFamily="49" charset="0"/>
              </a:rPr>
              <a:t> main()</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a:t>
            </a:r>
            <a:r>
              <a:rPr lang="en-US" altLang="zh-CN" sz="2400" dirty="0" err="1" smtClean="0">
                <a:cs typeface="Courier New" pitchFamily="49" charset="0"/>
              </a:rPr>
              <a:t>n,i,f</a:t>
            </a:r>
            <a:r>
              <a:rPr lang="en-US" altLang="zh-CN" sz="2400" dirty="0" smtClean="0">
                <a:cs typeface="Courier New" pitchFamily="49" charset="0"/>
              </a:rPr>
              <a:t>;</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cin</a:t>
            </a:r>
            <a:r>
              <a:rPr lang="en-US" altLang="zh-CN" sz="2400" dirty="0" smtClean="0">
                <a:cs typeface="Courier New" pitchFamily="49" charset="0"/>
              </a:rPr>
              <a:t> &gt;&gt; n;</a:t>
            </a:r>
          </a:p>
          <a:p>
            <a:pPr eaLnBrk="1" hangingPunct="1">
              <a:lnSpc>
                <a:spcPct val="90000"/>
              </a:lnSpc>
              <a:buFont typeface="Wingdings" pitchFamily="2" charset="2"/>
              <a:buNone/>
              <a:defRPr/>
            </a:pPr>
            <a:r>
              <a:rPr lang="en-US" altLang="zh-CN" sz="2400" dirty="0" smtClean="0">
                <a:cs typeface="Courier New" pitchFamily="49" charset="0"/>
              </a:rPr>
              <a:t>	for (</a:t>
            </a:r>
            <a:r>
              <a:rPr lang="en-US" altLang="zh-CN" sz="2400" dirty="0" err="1" smtClean="0">
                <a:cs typeface="Courier New" pitchFamily="49" charset="0"/>
              </a:rPr>
              <a:t>i</a:t>
            </a:r>
            <a:r>
              <a:rPr lang="en-US" altLang="zh-CN" sz="2400" dirty="0" smtClean="0">
                <a:cs typeface="Courier New" pitchFamily="49" charset="0"/>
              </a:rPr>
              <a:t>=2,f=1    //</a:t>
            </a:r>
            <a:r>
              <a:rPr lang="zh-CN" altLang="en-US" sz="2400" dirty="0" smtClean="0"/>
              <a:t>循环初始化，这里用了一个</a:t>
            </a:r>
            <a:r>
              <a:rPr lang="zh-CN" altLang="en-US" sz="2400" dirty="0" smtClean="0">
                <a:solidFill>
                  <a:srgbClr val="FFC000"/>
                </a:solidFill>
              </a:rPr>
              <a:t>逗号表达式</a:t>
            </a:r>
            <a:endParaRPr lang="zh-CN" altLang="en-US" sz="2400" dirty="0" smtClean="0">
              <a:solidFill>
                <a:srgbClr val="FFC000"/>
              </a:solidFill>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 </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&lt;=n  //</a:t>
            </a:r>
            <a:r>
              <a:rPr lang="zh-CN" altLang="en-US" sz="2400" dirty="0" smtClean="0"/>
              <a:t>循环条件</a:t>
            </a:r>
            <a:endParaRPr lang="zh-CN" altLang="en-US" sz="2400" dirty="0" smtClean="0">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smtClean="0">
                <a:cs typeface="Courier New" pitchFamily="49" charset="0"/>
              </a:rPr>
              <a:t>;</a:t>
            </a:r>
          </a:p>
          <a:p>
            <a:pPr eaLnBrk="1" hangingPunct="1">
              <a:lnSpc>
                <a:spcPct val="9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  //</a:t>
            </a:r>
            <a:r>
              <a:rPr lang="zh-CN" altLang="en-US" sz="2400" dirty="0" smtClean="0"/>
              <a:t>下一次循环准备</a:t>
            </a:r>
            <a:endParaRPr lang="zh-CN" altLang="en-US" sz="2400" dirty="0" smtClean="0">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a:cs typeface="Courier New" pitchFamily="49" charset="0"/>
              </a:rPr>
              <a:t>{</a:t>
            </a:r>
            <a:r>
              <a:rPr lang="zh-CN" altLang="en-US" sz="2400" dirty="0" smtClean="0">
                <a:cs typeface="Courier New" pitchFamily="49" charset="0"/>
              </a:rPr>
              <a:t>  </a:t>
            </a:r>
            <a:r>
              <a:rPr lang="en-US" altLang="zh-CN" sz="2400" dirty="0" smtClean="0">
                <a:cs typeface="Courier New" pitchFamily="49" charset="0"/>
              </a:rPr>
              <a:t>f *= </a:t>
            </a:r>
            <a:r>
              <a:rPr lang="en-US" altLang="zh-CN" sz="2400" dirty="0" err="1" smtClean="0">
                <a:cs typeface="Courier New" pitchFamily="49" charset="0"/>
              </a:rPr>
              <a:t>i</a:t>
            </a:r>
            <a:r>
              <a:rPr lang="en-US" altLang="zh-CN" sz="2400" dirty="0" smtClean="0">
                <a:cs typeface="Courier New" pitchFamily="49" charset="0"/>
              </a:rPr>
              <a:t>;   //</a:t>
            </a:r>
            <a:r>
              <a:rPr lang="zh-CN" altLang="en-US" sz="2400" dirty="0" smtClean="0">
                <a:cs typeface="Courier New" pitchFamily="49" charset="0"/>
              </a:rPr>
              <a:t>重复操作</a:t>
            </a:r>
            <a:r>
              <a:rPr lang="en-US" altLang="zh-CN" sz="2400" dirty="0" smtClean="0">
                <a:cs typeface="Courier New" pitchFamily="49" charset="0"/>
              </a:rPr>
              <a:t>  </a:t>
            </a:r>
            <a:endParaRPr lang="en-US" altLang="zh-CN" sz="2400" dirty="0" smtClean="0"/>
          </a:p>
          <a:p>
            <a:pPr eaLnBrk="1" hangingPunct="1">
              <a:lnSpc>
                <a:spcPct val="90000"/>
              </a:lnSpc>
              <a:buNone/>
              <a:defRPr/>
            </a:pPr>
            <a:r>
              <a:rPr lang="en-US" altLang="zh-CN" sz="2400" dirty="0">
                <a:cs typeface="Courier New" pitchFamily="49" charset="0"/>
              </a:rPr>
              <a:t> </a:t>
            </a:r>
            <a:r>
              <a:rPr lang="en-US" altLang="zh-CN" sz="2400" dirty="0" smtClean="0">
                <a:cs typeface="Courier New" pitchFamily="49" charset="0"/>
              </a:rPr>
              <a:t>   }</a:t>
            </a:r>
            <a:r>
              <a:rPr lang="en-US" altLang="zh-CN" sz="2400" dirty="0">
                <a:cs typeface="Courier New" pitchFamily="49" charset="0"/>
              </a:rPr>
              <a:t> //</a:t>
            </a:r>
            <a:r>
              <a:rPr lang="zh-CN" altLang="en-US" sz="2400" dirty="0"/>
              <a:t>循环体</a:t>
            </a:r>
            <a:endParaRPr lang="zh-CN" altLang="en-US" sz="2400" dirty="0" smtClean="0">
              <a:cs typeface="Courier New" pitchFamily="49" charset="0"/>
            </a:endParaRPr>
          </a:p>
          <a:p>
            <a:pPr eaLnBrk="1" hangingPunct="1">
              <a:lnSpc>
                <a:spcPct val="90000"/>
              </a:lnSpc>
              <a:buFont typeface="Wingdings" pitchFamily="2" charset="2"/>
              <a:buNone/>
              <a:defRPr/>
            </a:pPr>
            <a:r>
              <a:rPr lang="zh-CN" altLang="en-US" sz="2400" dirty="0" smtClean="0">
                <a:cs typeface="Courier New" pitchFamily="49" charset="0"/>
              </a:rPr>
              <a:t>	</a:t>
            </a:r>
            <a:r>
              <a:rPr lang="en-US" altLang="zh-CN" sz="2400" dirty="0" err="1" smtClean="0">
                <a:cs typeface="Courier New" pitchFamily="49" charset="0"/>
              </a:rPr>
              <a:t>cout</a:t>
            </a:r>
            <a:r>
              <a:rPr lang="en-US" altLang="zh-CN" sz="2400" dirty="0" smtClean="0">
                <a:cs typeface="Courier New" pitchFamily="49" charset="0"/>
              </a:rPr>
              <a:t> &lt;&lt; "factorial of " &lt;&lt; n &lt;&lt; " = " &lt;&lt; f &lt;&lt; </a:t>
            </a:r>
            <a:r>
              <a:rPr lang="en-US" altLang="zh-CN" sz="2400" dirty="0" err="1" smtClean="0">
                <a:cs typeface="Courier New" pitchFamily="49" charset="0"/>
              </a:rPr>
              <a:t>endl</a:t>
            </a:r>
            <a:r>
              <a:rPr lang="en-US" altLang="zh-CN" sz="2400" dirty="0" smtClean="0">
                <a:cs typeface="Courier New" pitchFamily="49" charset="0"/>
              </a:rPr>
              <a:t>;</a:t>
            </a:r>
          </a:p>
          <a:p>
            <a:pPr eaLnBrk="1" hangingPunct="1">
              <a:lnSpc>
                <a:spcPct val="90000"/>
              </a:lnSpc>
              <a:buFont typeface="Wingdings" pitchFamily="2" charset="2"/>
              <a:buNone/>
              <a:defRPr/>
            </a:pPr>
            <a:r>
              <a:rPr lang="en-US" altLang="zh-CN" sz="2400" dirty="0" smtClean="0">
                <a:cs typeface="Courier New" pitchFamily="49" charset="0"/>
              </a:rPr>
              <a:t>	return 0;</a:t>
            </a:r>
          </a:p>
          <a:p>
            <a:pPr eaLnBrk="1" hangingPunct="1">
              <a:lnSpc>
                <a:spcPct val="90000"/>
              </a:lnSpc>
              <a:buFont typeface="Wingdings" pitchFamily="2" charset="2"/>
              <a:buNone/>
              <a:defRPr/>
            </a:pPr>
            <a:r>
              <a:rPr lang="en-US" altLang="zh-CN" sz="2400" dirty="0" smtClean="0">
                <a:cs typeface="Courier New" pitchFamily="49" charset="0"/>
              </a:rPr>
              <a:t>}</a:t>
            </a:r>
            <a:endParaRPr lang="en-US" altLang="zh-CN" sz="2400" dirty="0" smtClean="0"/>
          </a:p>
        </p:txBody>
      </p:sp>
      <p:sp>
        <p:nvSpPr>
          <p:cNvPr id="66560" name="Rectangle 1024"/>
          <p:cNvSpPr>
            <a:spLocks noGrp="1" noChangeArrowheads="1"/>
          </p:cNvSpPr>
          <p:nvPr>
            <p:ph type="title"/>
          </p:nvPr>
        </p:nvSpPr>
        <p:spPr>
          <a:xfrm>
            <a:off x="457200" y="115888"/>
            <a:ext cx="8229600" cy="936625"/>
          </a:xfrm>
        </p:spPr>
        <p:txBody>
          <a:bodyPr/>
          <a:lstStyle/>
          <a:p>
            <a:pPr eaLnBrk="1" hangingPunct="1">
              <a:defRPr/>
            </a:pPr>
            <a:r>
              <a:rPr lang="zh-CN" altLang="en-US" smtClean="0"/>
              <a:t>用</a:t>
            </a:r>
            <a:r>
              <a:rPr lang="en-US" altLang="zh-CN" smtClean="0"/>
              <a:t>for</a:t>
            </a:r>
            <a:r>
              <a:rPr lang="zh-CN" altLang="en-US" smtClean="0"/>
              <a:t>语句求</a:t>
            </a:r>
            <a:r>
              <a:rPr lang="en-US" altLang="zh-CN" smtClean="0"/>
              <a:t>n!</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p:cNvSpPr>
            <a:spLocks noGrp="1"/>
          </p:cNvSpPr>
          <p:nvPr>
            <p:ph idx="1"/>
          </p:nvPr>
        </p:nvSpPr>
        <p:spPr>
          <a:xfrm>
            <a:off x="323528" y="1340768"/>
            <a:ext cx="8641085" cy="5040560"/>
          </a:xfrm>
        </p:spPr>
        <p:txBody>
          <a:bodyPr>
            <a:normAutofit fontScale="92500" lnSpcReduction="20000"/>
          </a:bodyPr>
          <a:lstStyle/>
          <a:p>
            <a:pPr>
              <a:lnSpc>
                <a:spcPct val="120000"/>
              </a:lnSpc>
              <a:defRPr/>
            </a:pPr>
            <a:r>
              <a:rPr lang="zh-CN" altLang="en-US" dirty="0" smtClean="0"/>
              <a:t>在</a:t>
            </a:r>
            <a:r>
              <a:rPr lang="en-US" altLang="zh-CN" dirty="0" smtClean="0"/>
              <a:t>for</a:t>
            </a:r>
            <a:r>
              <a:rPr lang="zh-CN" altLang="en-US" dirty="0" smtClean="0"/>
              <a:t>语句中，</a:t>
            </a:r>
            <a:r>
              <a:rPr lang="en-US" altLang="zh-CN" dirty="0" smtClean="0"/>
              <a:t>&lt;</a:t>
            </a:r>
            <a:r>
              <a:rPr lang="zh-CN" altLang="en-US" dirty="0" smtClean="0"/>
              <a:t>表达式</a:t>
            </a:r>
            <a:r>
              <a:rPr lang="en-US" altLang="zh-CN" dirty="0" smtClean="0"/>
              <a:t>1&gt;</a:t>
            </a:r>
            <a:r>
              <a:rPr lang="zh-CN" altLang="en-US" dirty="0" smtClean="0"/>
              <a:t>、</a:t>
            </a:r>
            <a:r>
              <a:rPr lang="en-US" altLang="zh-CN" dirty="0" smtClean="0"/>
              <a:t>&lt;</a:t>
            </a:r>
            <a:r>
              <a:rPr lang="zh-CN" altLang="en-US" dirty="0" smtClean="0"/>
              <a:t>表达式</a:t>
            </a:r>
            <a:r>
              <a:rPr lang="en-US" altLang="zh-CN" dirty="0" smtClean="0"/>
              <a:t>2&gt;</a:t>
            </a:r>
            <a:r>
              <a:rPr lang="zh-CN" altLang="en-US" dirty="0" smtClean="0"/>
              <a:t>和</a:t>
            </a:r>
            <a:r>
              <a:rPr lang="en-US" altLang="zh-CN" dirty="0" smtClean="0"/>
              <a:t>&lt;</a:t>
            </a:r>
            <a:r>
              <a:rPr lang="zh-CN" altLang="en-US" dirty="0" smtClean="0"/>
              <a:t>表达式</a:t>
            </a:r>
            <a:r>
              <a:rPr lang="en-US" altLang="zh-CN" dirty="0" smtClean="0"/>
              <a:t>3&gt;</a:t>
            </a:r>
            <a:r>
              <a:rPr lang="zh-CN" altLang="en-US" dirty="0" smtClean="0"/>
              <a:t>均可以省略。</a:t>
            </a:r>
            <a:endParaRPr lang="en-US" altLang="zh-CN" dirty="0" smtClean="0"/>
          </a:p>
          <a:p>
            <a:pPr lvl="1">
              <a:lnSpc>
                <a:spcPct val="120000"/>
              </a:lnSpc>
              <a:defRPr/>
            </a:pPr>
            <a:r>
              <a:rPr lang="en-US" altLang="zh-CN" dirty="0" smtClean="0"/>
              <a:t>&lt;</a:t>
            </a:r>
            <a:r>
              <a:rPr lang="zh-CN" altLang="en-US" dirty="0" smtClean="0"/>
              <a:t>表达式</a:t>
            </a:r>
            <a:r>
              <a:rPr lang="en-US" altLang="zh-CN" dirty="0" smtClean="0"/>
              <a:t>1&gt;</a:t>
            </a:r>
            <a:r>
              <a:rPr lang="zh-CN" altLang="en-US" dirty="0" smtClean="0"/>
              <a:t>省略</a:t>
            </a:r>
            <a:endParaRPr lang="en-US" altLang="zh-CN" dirty="0" smtClean="0"/>
          </a:p>
          <a:p>
            <a:pPr lvl="2">
              <a:lnSpc>
                <a:spcPct val="120000"/>
              </a:lnSpc>
              <a:defRPr/>
            </a:pPr>
            <a:r>
              <a:rPr lang="zh-CN" altLang="en-US" dirty="0"/>
              <a:t>表示</a:t>
            </a:r>
            <a:r>
              <a:rPr lang="en-US" altLang="zh-CN" dirty="0" smtClean="0"/>
              <a:t>for</a:t>
            </a:r>
            <a:r>
              <a:rPr lang="zh-CN" altLang="en-US" dirty="0" smtClean="0"/>
              <a:t>语句本身不便提供循环初始化，这时，循环初始化在</a:t>
            </a:r>
            <a:r>
              <a:rPr lang="en-US" altLang="zh-CN" dirty="0" smtClean="0"/>
              <a:t>for</a:t>
            </a:r>
            <a:r>
              <a:rPr lang="zh-CN" altLang="en-US" dirty="0" smtClean="0"/>
              <a:t>语句之前进行</a:t>
            </a:r>
            <a:r>
              <a:rPr lang="zh-CN" altLang="en-US" dirty="0"/>
              <a:t>。</a:t>
            </a:r>
            <a:endParaRPr lang="en-US" altLang="zh-CN" dirty="0" smtClean="0"/>
          </a:p>
          <a:p>
            <a:pPr lvl="1">
              <a:lnSpc>
                <a:spcPct val="120000"/>
              </a:lnSpc>
              <a:defRPr/>
            </a:pPr>
            <a:r>
              <a:rPr lang="en-US" altLang="zh-CN" dirty="0" smtClean="0"/>
              <a:t>&lt;</a:t>
            </a:r>
            <a:r>
              <a:rPr lang="zh-CN" altLang="en-US" dirty="0" smtClean="0"/>
              <a:t>表达式</a:t>
            </a:r>
            <a:r>
              <a:rPr lang="en-US" altLang="zh-CN" dirty="0" smtClean="0"/>
              <a:t>2&gt;</a:t>
            </a:r>
            <a:r>
              <a:rPr lang="zh-CN" altLang="en-US" dirty="0" smtClean="0"/>
              <a:t>省略</a:t>
            </a:r>
            <a:endParaRPr lang="en-US" altLang="zh-CN" dirty="0" smtClean="0"/>
          </a:p>
          <a:p>
            <a:pPr lvl="2">
              <a:lnSpc>
                <a:spcPct val="120000"/>
              </a:lnSpc>
              <a:defRPr/>
            </a:pPr>
            <a:r>
              <a:rPr lang="zh-CN" altLang="en-US" dirty="0" smtClean="0"/>
              <a:t>表示</a:t>
            </a:r>
            <a:r>
              <a:rPr lang="en-US" altLang="zh-CN" dirty="0" smtClean="0"/>
              <a:t>true</a:t>
            </a:r>
            <a:r>
              <a:rPr lang="zh-CN" altLang="en-US" dirty="0" smtClean="0"/>
              <a:t>或</a:t>
            </a:r>
            <a:r>
              <a:rPr lang="en-US" altLang="zh-CN" dirty="0" smtClean="0"/>
              <a:t>1</a:t>
            </a:r>
            <a:r>
              <a:rPr lang="zh-CN" altLang="en-US" dirty="0" smtClean="0"/>
              <a:t>，这时，一定要在循环体中判断循环条件并以某种其它方式（如：通过</a:t>
            </a:r>
            <a:r>
              <a:rPr lang="en-US" altLang="zh-CN" dirty="0" smtClean="0"/>
              <a:t>break</a:t>
            </a:r>
            <a:r>
              <a:rPr lang="zh-CN" altLang="en-US" dirty="0" smtClean="0"/>
              <a:t>语句）退出循环。</a:t>
            </a:r>
            <a:endParaRPr lang="en-US" altLang="zh-CN" dirty="0" smtClean="0"/>
          </a:p>
          <a:p>
            <a:pPr lvl="1">
              <a:lnSpc>
                <a:spcPct val="120000"/>
              </a:lnSpc>
              <a:defRPr/>
            </a:pPr>
            <a:r>
              <a:rPr lang="en-US" altLang="zh-CN" dirty="0" smtClean="0"/>
              <a:t>&lt;</a:t>
            </a:r>
            <a:r>
              <a:rPr lang="zh-CN" altLang="en-US" dirty="0" smtClean="0"/>
              <a:t>表达式</a:t>
            </a:r>
            <a:r>
              <a:rPr lang="en-US" altLang="zh-CN" dirty="0" smtClean="0"/>
              <a:t>3&gt;</a:t>
            </a:r>
            <a:r>
              <a:rPr lang="zh-CN" altLang="en-US" dirty="0" smtClean="0"/>
              <a:t>省略</a:t>
            </a:r>
            <a:endParaRPr lang="en-US" altLang="zh-CN" dirty="0" smtClean="0"/>
          </a:p>
          <a:p>
            <a:pPr lvl="2">
              <a:lnSpc>
                <a:spcPct val="120000"/>
              </a:lnSpc>
              <a:defRPr/>
            </a:pPr>
            <a:r>
              <a:rPr lang="zh-CN" altLang="en-US" dirty="0" smtClean="0"/>
              <a:t>表示</a:t>
            </a:r>
            <a:r>
              <a:rPr lang="en-US" altLang="zh-CN" dirty="0" smtClean="0"/>
              <a:t>for</a:t>
            </a:r>
            <a:r>
              <a:rPr lang="zh-CN" altLang="en-US" dirty="0" smtClean="0"/>
              <a:t>语句未显式给出下一次循环准备，该项工作一定是在循环体中给出的。</a:t>
            </a:r>
            <a:endParaRPr lang="zh-CN" alt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p:cNvSpPr>
            <a:spLocks noGrp="1"/>
          </p:cNvSpPr>
          <p:nvPr>
            <p:ph idx="1"/>
          </p:nvPr>
        </p:nvSpPr>
        <p:spPr/>
        <p:txBody>
          <a:bodyPr>
            <a:normAutofit lnSpcReduction="10000"/>
          </a:bodyPr>
          <a:lstStyle/>
          <a:p>
            <a:pPr marL="0" indent="0">
              <a:buFont typeface="Wingdings" pitchFamily="2" charset="2"/>
              <a:buNone/>
              <a:defRPr/>
            </a:pPr>
            <a:r>
              <a:rPr lang="en-US" altLang="zh-CN" dirty="0" err="1" smtClean="0"/>
              <a:t>i</a:t>
            </a:r>
            <a:r>
              <a:rPr lang="en-US" altLang="zh-CN" dirty="0" smtClean="0"/>
              <a:t>=2,f=1; //</a:t>
            </a:r>
            <a:r>
              <a:rPr lang="zh-CN" altLang="en-US" dirty="0" smtClean="0"/>
              <a:t>循环初始化</a:t>
            </a:r>
          </a:p>
          <a:p>
            <a:pPr marL="0" indent="0">
              <a:buFont typeface="Wingdings" pitchFamily="2" charset="2"/>
              <a:buNone/>
              <a:defRPr/>
            </a:pPr>
            <a:r>
              <a:rPr lang="en-US" altLang="zh-CN" dirty="0" smtClean="0"/>
              <a:t>for (;  //</a:t>
            </a:r>
            <a:r>
              <a:rPr lang="zh-CN" altLang="en-US" dirty="0" smtClean="0"/>
              <a:t>省略表达式</a:t>
            </a:r>
            <a:r>
              <a:rPr lang="en-US" altLang="zh-CN" dirty="0" smtClean="0"/>
              <a:t>1</a:t>
            </a:r>
          </a:p>
          <a:p>
            <a:pPr marL="0" indent="0">
              <a:buFont typeface="Wingdings" pitchFamily="2" charset="2"/>
              <a:buNone/>
              <a:defRPr/>
            </a:pPr>
            <a:r>
              <a:rPr lang="en-US" altLang="zh-CN" dirty="0"/>
              <a:t>	</a:t>
            </a:r>
            <a:r>
              <a:rPr lang="en-US" altLang="zh-CN" dirty="0" err="1" smtClean="0"/>
              <a:t>i</a:t>
            </a:r>
            <a:r>
              <a:rPr lang="en-US" altLang="zh-CN" dirty="0" smtClean="0"/>
              <a:t>&lt;=n  //</a:t>
            </a:r>
            <a:r>
              <a:rPr lang="zh-CN" altLang="en-US" dirty="0" smtClean="0"/>
              <a:t>循环条件</a:t>
            </a:r>
          </a:p>
          <a:p>
            <a:pPr marL="0" indent="0">
              <a:buNone/>
              <a:defRPr/>
            </a:pPr>
            <a:r>
              <a:rPr lang="zh-CN" altLang="en-US" dirty="0" smtClean="0"/>
              <a:t>	</a:t>
            </a:r>
            <a:r>
              <a:rPr lang="en-US" altLang="zh-CN" dirty="0"/>
              <a:t>;) </a:t>
            </a:r>
            <a:r>
              <a:rPr lang="en-US" altLang="zh-CN" dirty="0" smtClean="0"/>
              <a:t>  //</a:t>
            </a:r>
            <a:r>
              <a:rPr lang="zh-CN" altLang="en-US" dirty="0"/>
              <a:t>省略</a:t>
            </a:r>
            <a:r>
              <a:rPr lang="zh-CN" altLang="en-US" dirty="0" smtClean="0"/>
              <a:t>表达式</a:t>
            </a:r>
            <a:r>
              <a:rPr lang="en-US" altLang="zh-CN" dirty="0" smtClean="0"/>
              <a:t>3</a:t>
            </a:r>
          </a:p>
          <a:p>
            <a:pPr marL="0" indent="0">
              <a:buFont typeface="Wingdings" pitchFamily="2" charset="2"/>
              <a:buNone/>
              <a:defRPr/>
            </a:pPr>
            <a:r>
              <a:rPr lang="en-US" altLang="zh-CN" dirty="0" smtClean="0"/>
              <a:t>{	f *= </a:t>
            </a:r>
            <a:r>
              <a:rPr lang="en-US" altLang="zh-CN" dirty="0" err="1" smtClean="0"/>
              <a:t>i</a:t>
            </a:r>
            <a:r>
              <a:rPr lang="en-US" altLang="zh-CN" dirty="0" smtClean="0"/>
              <a:t>; </a:t>
            </a:r>
          </a:p>
          <a:p>
            <a:pPr marL="0" indent="0">
              <a:buFont typeface="Wingdings" pitchFamily="2" charset="2"/>
              <a:buNone/>
              <a:defRPr/>
            </a:pPr>
            <a:r>
              <a:rPr lang="en-US" altLang="zh-CN" dirty="0" smtClean="0"/>
              <a:t>	</a:t>
            </a:r>
            <a:r>
              <a:rPr lang="en-US" altLang="zh-CN" dirty="0" err="1" smtClean="0"/>
              <a:t>i</a:t>
            </a:r>
            <a:r>
              <a:rPr lang="en-US" altLang="zh-CN" dirty="0" smtClean="0"/>
              <a:t>++;     //</a:t>
            </a:r>
            <a:r>
              <a:rPr lang="zh-CN" altLang="en-US" dirty="0" smtClean="0"/>
              <a:t>下一次循环准备</a:t>
            </a:r>
          </a:p>
          <a:p>
            <a:pPr marL="0" indent="0">
              <a:buFont typeface="Wingdings" pitchFamily="2" charset="2"/>
              <a:buNone/>
              <a:defRPr/>
            </a:pPr>
            <a:r>
              <a:rPr lang="en-US" altLang="zh-CN" dirty="0" smtClean="0"/>
              <a:t>}</a:t>
            </a:r>
            <a:r>
              <a:rPr lang="zh-CN" altLang="en-US" dirty="0"/>
              <a:t> </a:t>
            </a:r>
            <a:r>
              <a:rPr lang="en-US" altLang="zh-CN" dirty="0" smtClean="0"/>
              <a:t>//</a:t>
            </a:r>
            <a:r>
              <a:rPr lang="zh-CN" altLang="en-US" dirty="0" smtClean="0"/>
              <a:t>循环体</a:t>
            </a:r>
            <a:endParaRPr lang="en-US" altLang="zh-CN" dirty="0" smtClean="0"/>
          </a:p>
          <a:p>
            <a:pPr>
              <a:defRPr/>
            </a:pPr>
            <a:r>
              <a:rPr lang="zh-CN" altLang="en-US" dirty="0" smtClean="0">
                <a:solidFill>
                  <a:srgbClr val="FFC000"/>
                </a:solidFill>
              </a:rPr>
              <a:t>它已经退化成</a:t>
            </a:r>
            <a:r>
              <a:rPr lang="en-US" altLang="zh-CN" dirty="0" smtClean="0">
                <a:solidFill>
                  <a:srgbClr val="FFC000"/>
                </a:solidFill>
              </a:rPr>
              <a:t>while</a:t>
            </a:r>
            <a:r>
              <a:rPr lang="zh-CN" altLang="en-US" dirty="0" smtClean="0">
                <a:solidFill>
                  <a:srgbClr val="FFC000"/>
                </a:solidFill>
              </a:rPr>
              <a:t>语句了！</a:t>
            </a:r>
            <a:endParaRPr lang="zh-CN" altLang="en-US"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endParaRPr lang="zh-CN" altLang="en-US"/>
          </a:p>
        </p:txBody>
      </p:sp>
      <p:sp>
        <p:nvSpPr>
          <p:cNvPr id="3" name="内容占位符 2"/>
          <p:cNvSpPr>
            <a:spLocks noGrp="1"/>
          </p:cNvSpPr>
          <p:nvPr>
            <p:ph idx="1"/>
          </p:nvPr>
        </p:nvSpPr>
        <p:spPr>
          <a:xfrm>
            <a:off x="250825" y="1600200"/>
            <a:ext cx="8713788" cy="4530725"/>
          </a:xfrm>
        </p:spPr>
        <p:txBody>
          <a:bodyPr/>
          <a:lstStyle/>
          <a:p>
            <a:pPr>
              <a:defRPr/>
            </a:pPr>
            <a:r>
              <a:rPr lang="en-US" altLang="zh-CN" dirty="0" smtClean="0"/>
              <a:t>&lt;</a:t>
            </a:r>
            <a:r>
              <a:rPr lang="zh-CN" altLang="en-US" dirty="0" smtClean="0"/>
              <a:t>表达式</a:t>
            </a:r>
            <a:r>
              <a:rPr lang="en-US" altLang="zh-CN" dirty="0" smtClean="0"/>
              <a:t>1&gt;</a:t>
            </a:r>
            <a:r>
              <a:rPr lang="zh-CN" altLang="en-US" dirty="0" smtClean="0"/>
              <a:t>可以是带有初始化的变量定义，例如：</a:t>
            </a:r>
          </a:p>
          <a:p>
            <a:pPr marL="457200" lvl="1" indent="0">
              <a:buFontTx/>
              <a:buNone/>
              <a:defRPr/>
            </a:pPr>
            <a:r>
              <a:rPr lang="en-US" altLang="zh-CN" dirty="0" smtClean="0"/>
              <a:t>	for (</a:t>
            </a:r>
            <a:r>
              <a:rPr lang="en-US" altLang="zh-CN" dirty="0" err="1" smtClean="0">
                <a:solidFill>
                  <a:srgbClr val="FFC000"/>
                </a:solidFill>
              </a:rPr>
              <a:t>int</a:t>
            </a:r>
            <a:r>
              <a:rPr lang="en-US" altLang="zh-CN" dirty="0" smtClean="0">
                <a:solidFill>
                  <a:srgbClr val="FFC000"/>
                </a:solidFill>
              </a:rPr>
              <a:t> </a:t>
            </a:r>
            <a:r>
              <a:rPr lang="en-US" altLang="zh-CN" dirty="0" err="1" smtClean="0">
                <a:solidFill>
                  <a:srgbClr val="FFC000"/>
                </a:solidFill>
              </a:rPr>
              <a:t>i</a:t>
            </a:r>
            <a:r>
              <a:rPr lang="en-US" altLang="zh-CN" dirty="0" smtClean="0">
                <a:solidFill>
                  <a:srgbClr val="FFC000"/>
                </a:solidFill>
              </a:rPr>
              <a:t>=1</a:t>
            </a:r>
            <a:r>
              <a:rPr lang="en-US" altLang="zh-CN" dirty="0" smtClean="0"/>
              <a:t>; </a:t>
            </a:r>
            <a:r>
              <a:rPr lang="en-US" altLang="zh-CN" dirty="0" err="1" smtClean="0"/>
              <a:t>i</a:t>
            </a:r>
            <a:r>
              <a:rPr lang="en-US" altLang="zh-CN" dirty="0" smtClean="0"/>
              <a:t>&lt;=10; </a:t>
            </a:r>
            <a:r>
              <a:rPr lang="en-US" altLang="zh-CN" dirty="0" err="1" smtClean="0"/>
              <a:t>i</a:t>
            </a:r>
            <a:r>
              <a:rPr lang="en-US" altLang="zh-CN" dirty="0" smtClean="0"/>
              <a:t>++)  &lt;</a:t>
            </a:r>
            <a:r>
              <a:rPr lang="zh-CN" altLang="en-US" dirty="0" smtClean="0"/>
              <a:t>语句</a:t>
            </a:r>
            <a:r>
              <a:rPr lang="en-US" altLang="zh-CN" dirty="0" smtClean="0"/>
              <a:t>&gt;</a:t>
            </a:r>
          </a:p>
          <a:p>
            <a:pPr lvl="1">
              <a:defRPr/>
            </a:pPr>
            <a:r>
              <a:rPr lang="en-US" altLang="zh-CN" dirty="0" err="1" smtClean="0">
                <a:solidFill>
                  <a:srgbClr val="FFC000"/>
                </a:solidFill>
              </a:rPr>
              <a:t>i</a:t>
            </a:r>
            <a:r>
              <a:rPr lang="zh-CN" altLang="en-US" dirty="0" smtClean="0"/>
              <a:t>的有效范围？</a:t>
            </a:r>
            <a:endParaRPr lang="en-US" altLang="zh-CN" dirty="0" smtClean="0"/>
          </a:p>
          <a:p>
            <a:pPr lvl="2" eaLnBrk="1" hangingPunct="1">
              <a:defRPr/>
            </a:pPr>
            <a:r>
              <a:rPr lang="en-US" altLang="zh-CN" dirty="0"/>
              <a:t>C</a:t>
            </a:r>
            <a:r>
              <a:rPr lang="en-US" altLang="zh-CN" dirty="0" smtClean="0"/>
              <a:t>++</a:t>
            </a:r>
            <a:r>
              <a:rPr lang="zh-CN" altLang="en-US" dirty="0" smtClean="0"/>
              <a:t>国际标准规定，</a:t>
            </a:r>
            <a:r>
              <a:rPr lang="en-US" altLang="zh-CN" dirty="0" err="1" smtClean="0"/>
              <a:t>i</a:t>
            </a:r>
            <a:r>
              <a:rPr lang="zh-CN" altLang="en-US" dirty="0"/>
              <a:t>只能</a:t>
            </a:r>
            <a:r>
              <a:rPr lang="zh-CN" altLang="en-US" dirty="0" smtClean="0"/>
              <a:t>在定义它的循环语句中使用，出了循环不能使用</a:t>
            </a:r>
            <a:r>
              <a:rPr lang="en-US" altLang="zh-CN" dirty="0" err="1" smtClean="0"/>
              <a:t>i</a:t>
            </a:r>
            <a:r>
              <a:rPr lang="zh-CN" altLang="en-US" dirty="0" smtClean="0"/>
              <a:t>。</a:t>
            </a:r>
            <a:endParaRPr lang="en-US" altLang="zh-CN" dirty="0" smtClean="0"/>
          </a:p>
          <a:p>
            <a:pPr lvl="2" eaLnBrk="1" hangingPunct="1">
              <a:defRPr/>
            </a:pPr>
            <a:r>
              <a:rPr lang="zh-CN" altLang="en-US" dirty="0"/>
              <a:t>有</a:t>
            </a:r>
            <a:r>
              <a:rPr lang="zh-CN" altLang="en-US" dirty="0" smtClean="0"/>
              <a:t>的</a:t>
            </a:r>
            <a:r>
              <a:rPr lang="en-US" altLang="zh-CN" dirty="0" smtClean="0"/>
              <a:t>C++</a:t>
            </a:r>
            <a:r>
              <a:rPr lang="zh-CN" altLang="en-US" dirty="0" smtClean="0"/>
              <a:t>实现允许出了循环也能使用</a:t>
            </a:r>
            <a:r>
              <a:rPr lang="en-US" altLang="zh-CN" dirty="0" err="1" smtClean="0"/>
              <a:t>i</a:t>
            </a:r>
            <a:r>
              <a:rPr lang="zh-CN" altLang="en-US" dirty="0" smtClean="0"/>
              <a:t>（如</a:t>
            </a:r>
            <a:r>
              <a:rPr lang="en-US" altLang="zh-CN" dirty="0" err="1" smtClean="0"/>
              <a:t>vc</a:t>
            </a:r>
            <a:r>
              <a:rPr lang="en-US" altLang="zh-CN" dirty="0" smtClean="0"/>
              <a:t>++6.0</a:t>
            </a:r>
            <a:r>
              <a:rPr lang="zh-CN" altLang="en-US" dirty="0" smtClean="0"/>
              <a:t>）</a:t>
            </a:r>
            <a:endParaRPr lang="en-US" altLang="zh-CN" dirty="0" smtClean="0"/>
          </a:p>
          <a:p>
            <a:pPr>
              <a:defRPr/>
            </a:pPr>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85192" y="115888"/>
            <a:ext cx="8507288" cy="936625"/>
          </a:xfrm>
        </p:spPr>
        <p:txBody>
          <a:bodyPr/>
          <a:lstStyle/>
          <a:p>
            <a:pPr eaLnBrk="1" hangingPunct="1">
              <a:defRPr/>
            </a:pPr>
            <a:r>
              <a:rPr lang="zh-CN" altLang="en-US" sz="5400" dirty="0" smtClean="0"/>
              <a:t>求</a:t>
            </a:r>
            <a:r>
              <a:rPr lang="en-US" altLang="zh-CN" sz="5400" dirty="0" smtClean="0"/>
              <a:t>n</a:t>
            </a:r>
            <a:r>
              <a:rPr lang="zh-CN" altLang="en-US" sz="5400" dirty="0" smtClean="0"/>
              <a:t>的所有因子</a:t>
            </a:r>
            <a:endParaRPr lang="en-US" altLang="zh-CN" dirty="0" smtClean="0"/>
          </a:p>
        </p:txBody>
      </p:sp>
      <p:sp>
        <p:nvSpPr>
          <p:cNvPr id="46083" name="Rectangle 3"/>
          <p:cNvSpPr>
            <a:spLocks noGrp="1" noChangeArrowheads="1"/>
          </p:cNvSpPr>
          <p:nvPr>
            <p:ph type="body" idx="1"/>
          </p:nvPr>
        </p:nvSpPr>
        <p:spPr>
          <a:xfrm>
            <a:off x="250825" y="1557462"/>
            <a:ext cx="8642350" cy="4463826"/>
          </a:xfrm>
        </p:spPr>
        <p:txBody>
          <a:bodyPr/>
          <a:lstStyle/>
          <a:p>
            <a:pPr eaLnBrk="1" hangingPunct="1">
              <a:lnSpc>
                <a:spcPct val="80000"/>
              </a:lnSpc>
              <a:buFont typeface="Wingdings" pitchFamily="2" charset="2"/>
              <a:buNone/>
              <a:defRPr/>
            </a:pPr>
            <a:r>
              <a:rPr lang="en-US" altLang="zh-CN" sz="2400" dirty="0" smtClean="0">
                <a:cs typeface="Courier New" pitchFamily="49" charset="0"/>
              </a:rPr>
              <a:t>#include &lt;</a:t>
            </a:r>
            <a:r>
              <a:rPr lang="en-US" altLang="zh-CN" sz="2400" dirty="0" err="1" smtClean="0">
                <a:cs typeface="Courier New" pitchFamily="49" charset="0"/>
              </a:rPr>
              <a:t>iostream</a:t>
            </a:r>
            <a:r>
              <a:rPr lang="en-US" altLang="zh-CN" sz="2400" dirty="0" smtClean="0">
                <a:cs typeface="Courier New" pitchFamily="49" charset="0"/>
              </a:rPr>
              <a:t>&gt;</a:t>
            </a:r>
          </a:p>
          <a:p>
            <a:pPr eaLnBrk="1" hangingPunct="1">
              <a:lnSpc>
                <a:spcPct val="80000"/>
              </a:lnSpc>
              <a:buFont typeface="Wingdings" pitchFamily="2" charset="2"/>
              <a:buNone/>
              <a:defRPr/>
            </a:pPr>
            <a:r>
              <a:rPr lang="en-US" altLang="zh-CN" sz="2400" dirty="0" smtClean="0">
                <a:cs typeface="Courier New" pitchFamily="49" charset="0"/>
              </a:rPr>
              <a:t>using namespace </a:t>
            </a:r>
            <a:r>
              <a:rPr lang="en-US" altLang="zh-CN" sz="2400" dirty="0" err="1" smtClean="0">
                <a:cs typeface="Courier New" pitchFamily="49" charset="0"/>
              </a:rPr>
              <a:t>std</a:t>
            </a:r>
            <a:r>
              <a:rPr lang="en-US" altLang="zh-CN" sz="2400" dirty="0" smtClean="0">
                <a:cs typeface="Courier New" pitchFamily="49" charset="0"/>
              </a:rPr>
              <a:t>;</a:t>
            </a:r>
          </a:p>
          <a:p>
            <a:pPr eaLnBrk="1" hangingPunct="1">
              <a:lnSpc>
                <a:spcPct val="80000"/>
              </a:lnSpc>
              <a:buFont typeface="Wingdings" pitchFamily="2" charset="2"/>
              <a:buNone/>
              <a:defRPr/>
            </a:pPr>
            <a:r>
              <a:rPr lang="en-US" altLang="zh-CN" sz="2400" dirty="0" err="1" smtClean="0">
                <a:cs typeface="Courier New" pitchFamily="49" charset="0"/>
              </a:rPr>
              <a:t>int</a:t>
            </a:r>
            <a:r>
              <a:rPr lang="en-US" altLang="zh-CN" sz="2400" dirty="0" smtClean="0">
                <a:cs typeface="Courier New" pitchFamily="49" charset="0"/>
              </a:rPr>
              <a:t> main()</a:t>
            </a:r>
          </a:p>
          <a:p>
            <a:pPr eaLnBrk="1" hangingPunct="1">
              <a:lnSpc>
                <a:spcPct val="8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n;</a:t>
            </a:r>
          </a:p>
          <a:p>
            <a:pPr eaLnBrk="1" hangingPunct="1">
              <a:lnSpc>
                <a:spcPct val="80000"/>
              </a:lnSpc>
              <a:buFont typeface="Wingdings" pitchFamily="2" charset="2"/>
              <a:buNone/>
              <a:defRPr/>
            </a:pPr>
            <a:r>
              <a:rPr lang="en-US" altLang="zh-CN" sz="2400" dirty="0">
                <a:cs typeface="Courier New" pitchFamily="49" charset="0"/>
              </a:rPr>
              <a:t> </a:t>
            </a:r>
            <a:r>
              <a:rPr lang="en-US" altLang="zh-CN" sz="2400" dirty="0" smtClean="0">
                <a:cs typeface="Courier New" pitchFamily="49" charset="0"/>
              </a:rPr>
              <a:t>  </a:t>
            </a:r>
            <a:r>
              <a:rPr lang="en-US" altLang="zh-CN" sz="2400" dirty="0" err="1" smtClean="0">
                <a:cs typeface="Courier New" pitchFamily="49" charset="0"/>
              </a:rPr>
              <a:t>cout</a:t>
            </a:r>
            <a:r>
              <a:rPr lang="en-US" altLang="zh-CN" sz="2400" dirty="0" smtClean="0">
                <a:cs typeface="Courier New" pitchFamily="49" charset="0"/>
              </a:rPr>
              <a:t> &lt;&lt; "n=";</a:t>
            </a:r>
          </a:p>
          <a:p>
            <a:pPr eaLnBrk="1" hangingPunct="1">
              <a:lnSpc>
                <a:spcPct val="80000"/>
              </a:lnSpc>
              <a:buFont typeface="Wingdings" pitchFamily="2" charset="2"/>
              <a:buNone/>
              <a:defRPr/>
            </a:pPr>
            <a:r>
              <a:rPr lang="en-US" altLang="zh-CN" sz="2400" dirty="0" smtClean="0">
                <a:cs typeface="Courier New" pitchFamily="49" charset="0"/>
              </a:rPr>
              <a:t>	</a:t>
            </a:r>
            <a:r>
              <a:rPr lang="en-US" altLang="zh-CN" sz="2400" dirty="0" err="1" smtClean="0">
                <a:cs typeface="Courier New" pitchFamily="49" charset="0"/>
              </a:rPr>
              <a:t>cin</a:t>
            </a:r>
            <a:r>
              <a:rPr lang="en-US" altLang="zh-CN" sz="2400" dirty="0" smtClean="0">
                <a:cs typeface="Courier New" pitchFamily="49" charset="0"/>
              </a:rPr>
              <a:t> &gt;&gt; n;</a:t>
            </a:r>
          </a:p>
          <a:p>
            <a:pPr eaLnBrk="1" hangingPunct="1">
              <a:lnSpc>
                <a:spcPct val="80000"/>
              </a:lnSpc>
              <a:buFont typeface="Wingdings" pitchFamily="2" charset="2"/>
              <a:buNone/>
              <a:defRPr/>
            </a:pPr>
            <a:r>
              <a:rPr lang="en-US" altLang="zh-CN" sz="2400" dirty="0">
                <a:cs typeface="Courier New" pitchFamily="49" charset="0"/>
              </a:rPr>
              <a:t>	</a:t>
            </a:r>
            <a:r>
              <a:rPr lang="en-US" altLang="zh-CN" sz="2400" dirty="0" err="1" smtClean="0">
                <a:cs typeface="Courier New" pitchFamily="49" charset="0"/>
              </a:rPr>
              <a:t>cout</a:t>
            </a:r>
            <a:r>
              <a:rPr lang="en-US" altLang="zh-CN" sz="2400" dirty="0" smtClean="0">
                <a:cs typeface="Courier New" pitchFamily="49" charset="0"/>
              </a:rPr>
              <a:t> &lt;&lt; n &lt;&lt; "</a:t>
            </a:r>
            <a:r>
              <a:rPr lang="zh-CN" altLang="en-US" sz="2400" dirty="0" smtClean="0">
                <a:cs typeface="Courier New" pitchFamily="49" charset="0"/>
              </a:rPr>
              <a:t>的因子包括：</a:t>
            </a:r>
            <a:r>
              <a:rPr lang="en-US" altLang="zh-CN" sz="2400" dirty="0" smtClean="0">
                <a:cs typeface="Courier New" pitchFamily="49" charset="0"/>
              </a:rPr>
              <a:t>" &lt;&lt; 1 &lt;&lt; ',' &lt;&lt; n;</a:t>
            </a:r>
          </a:p>
          <a:p>
            <a:pPr eaLnBrk="1" hangingPunct="1">
              <a:lnSpc>
                <a:spcPct val="80000"/>
              </a:lnSpc>
              <a:buFont typeface="Wingdings" pitchFamily="2" charset="2"/>
              <a:buNone/>
              <a:defRPr/>
            </a:pPr>
            <a:r>
              <a:rPr lang="en-US" altLang="zh-CN" sz="2400" dirty="0" smtClean="0">
                <a:cs typeface="Courier New" pitchFamily="49" charset="0"/>
              </a:rPr>
              <a:t>	for (</a:t>
            </a:r>
            <a:r>
              <a:rPr lang="en-US" altLang="zh-CN" sz="2400" dirty="0" err="1" smtClean="0">
                <a:cs typeface="Courier New" pitchFamily="49" charset="0"/>
              </a:rPr>
              <a:t>int</a:t>
            </a:r>
            <a:r>
              <a:rPr lang="en-US" altLang="zh-CN" sz="2400" dirty="0" smtClean="0">
                <a:cs typeface="Courier New" pitchFamily="49" charset="0"/>
              </a:rPr>
              <a:t> </a:t>
            </a:r>
            <a:r>
              <a:rPr lang="en-US" altLang="zh-CN" sz="2400" dirty="0" err="1" smtClean="0">
                <a:cs typeface="Courier New" pitchFamily="49" charset="0"/>
              </a:rPr>
              <a:t>i</a:t>
            </a:r>
            <a:r>
              <a:rPr lang="en-US" altLang="zh-CN" sz="2400" dirty="0" smtClean="0">
                <a:cs typeface="Courier New" pitchFamily="49" charset="0"/>
              </a:rPr>
              <a:t>=2; </a:t>
            </a:r>
            <a:r>
              <a:rPr lang="en-US" altLang="zh-CN" sz="2400" dirty="0" err="1" smtClean="0">
                <a:cs typeface="Courier New" pitchFamily="49" charset="0"/>
              </a:rPr>
              <a:t>i</a:t>
            </a:r>
            <a:r>
              <a:rPr lang="en-US" altLang="zh-CN" sz="2400" dirty="0" smtClean="0">
                <a:cs typeface="Courier New" pitchFamily="49" charset="0"/>
              </a:rPr>
              <a:t>&lt;n; </a:t>
            </a:r>
            <a:r>
              <a:rPr lang="en-US" altLang="zh-CN" sz="2400" dirty="0" err="1" smtClean="0">
                <a:cs typeface="Courier New" pitchFamily="49" charset="0"/>
              </a:rPr>
              <a:t>i</a:t>
            </a:r>
            <a:r>
              <a:rPr lang="en-US" altLang="zh-CN" sz="2400" dirty="0" smtClean="0">
                <a:cs typeface="Courier New" pitchFamily="49" charset="0"/>
              </a:rPr>
              <a:t>++)</a:t>
            </a:r>
            <a:endParaRPr lang="zh-CN" altLang="en-US" sz="2400" dirty="0" smtClean="0"/>
          </a:p>
          <a:p>
            <a:pPr eaLnBrk="1" hangingPunct="1">
              <a:lnSpc>
                <a:spcPct val="80000"/>
              </a:lnSpc>
              <a:buFont typeface="Wingdings" pitchFamily="2" charset="2"/>
              <a:buNone/>
              <a:defRPr/>
            </a:pPr>
            <a:r>
              <a:rPr lang="zh-CN" altLang="en-US" sz="2400" dirty="0" smtClean="0">
                <a:cs typeface="Courier New" pitchFamily="49" charset="0"/>
              </a:rPr>
              <a:t>	</a:t>
            </a:r>
            <a:r>
              <a:rPr lang="en-US" altLang="zh-CN" sz="2400" dirty="0">
                <a:cs typeface="Courier New" pitchFamily="49" charset="0"/>
              </a:rPr>
              <a:t> </a:t>
            </a:r>
            <a:r>
              <a:rPr lang="en-US" altLang="zh-CN" sz="2400" dirty="0" smtClean="0">
                <a:cs typeface="Courier New" pitchFamily="49" charset="0"/>
              </a:rPr>
              <a:t> if (</a:t>
            </a:r>
            <a:r>
              <a:rPr lang="en-US" altLang="zh-CN" sz="2400" dirty="0" err="1" smtClean="0">
                <a:cs typeface="Courier New" pitchFamily="49" charset="0"/>
              </a:rPr>
              <a:t>n%i</a:t>
            </a:r>
            <a:r>
              <a:rPr lang="en-US" altLang="zh-CN" sz="2400" dirty="0" smtClean="0">
                <a:cs typeface="Courier New" pitchFamily="49" charset="0"/>
              </a:rPr>
              <a:t> == 0) </a:t>
            </a:r>
            <a:r>
              <a:rPr lang="en-US" altLang="zh-CN" sz="2400" dirty="0" err="1" smtClean="0">
                <a:cs typeface="Courier New" pitchFamily="49" charset="0"/>
              </a:rPr>
              <a:t>cout</a:t>
            </a:r>
            <a:r>
              <a:rPr lang="en-US" altLang="zh-CN" sz="2400" dirty="0" smtClean="0">
                <a:cs typeface="Courier New" pitchFamily="49" charset="0"/>
              </a:rPr>
              <a:t> &lt;&lt; ',' &lt;&lt; </a:t>
            </a:r>
            <a:r>
              <a:rPr lang="en-US" altLang="zh-CN" sz="2400" dirty="0" err="1" smtClean="0">
                <a:cs typeface="Courier New" pitchFamily="49" charset="0"/>
              </a:rPr>
              <a:t>i</a:t>
            </a:r>
            <a:r>
              <a:rPr lang="en-US" altLang="zh-CN" sz="2400" dirty="0" smtClean="0">
                <a:cs typeface="Courier New" pitchFamily="49" charset="0"/>
              </a:rPr>
              <a:t>;</a:t>
            </a:r>
          </a:p>
          <a:p>
            <a:pPr eaLnBrk="1" hangingPunct="1">
              <a:lnSpc>
                <a:spcPct val="80000"/>
              </a:lnSpc>
              <a:buFont typeface="Wingdings" pitchFamily="2" charset="2"/>
              <a:buNone/>
              <a:defRPr/>
            </a:pPr>
            <a:r>
              <a:rPr lang="en-US" altLang="zh-CN" sz="2400" dirty="0">
                <a:cs typeface="Courier New" pitchFamily="49" charset="0"/>
              </a:rPr>
              <a:t> </a:t>
            </a:r>
            <a:r>
              <a:rPr lang="en-US" altLang="zh-CN" sz="2400" dirty="0" smtClean="0">
                <a:cs typeface="Courier New" pitchFamily="49" charset="0"/>
              </a:rPr>
              <a:t>  return 0;</a:t>
            </a:r>
          </a:p>
          <a:p>
            <a:pPr eaLnBrk="1" hangingPunct="1">
              <a:lnSpc>
                <a:spcPct val="80000"/>
              </a:lnSpc>
              <a:buFont typeface="Wingdings" pitchFamily="2" charset="2"/>
              <a:buNone/>
              <a:defRPr/>
            </a:pPr>
            <a:r>
              <a:rPr lang="en-US" altLang="zh-CN" sz="2400" dirty="0" smtClean="0">
                <a:cs typeface="Courier New" pitchFamily="49" charset="0"/>
              </a:rPr>
              <a:t>}</a:t>
            </a:r>
          </a:p>
        </p:txBody>
      </p:sp>
    </p:spTree>
    <p:extLst>
      <p:ext uri="{BB962C8B-B14F-4D97-AF65-F5344CB8AC3E}">
        <p14:creationId xmlns:p14="http://schemas.microsoft.com/office/powerpoint/2010/main" val="165556403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三种循环语句在</a:t>
            </a:r>
            <a:r>
              <a:rPr lang="zh-CN" altLang="en-US" dirty="0">
                <a:solidFill>
                  <a:schemeClr val="folHlink"/>
                </a:solidFill>
              </a:rPr>
              <a:t>表达能力</a:t>
            </a:r>
            <a:r>
              <a:rPr lang="zh-CN" altLang="en-US" dirty="0"/>
              <a:t>上是</a:t>
            </a:r>
            <a:r>
              <a:rPr lang="zh-CN" altLang="en-US" dirty="0">
                <a:solidFill>
                  <a:schemeClr val="folHlink"/>
                </a:solidFill>
              </a:rPr>
              <a:t>等价</a:t>
            </a:r>
            <a:r>
              <a:rPr lang="zh-CN" altLang="en-US" dirty="0" smtClean="0">
                <a:solidFill>
                  <a:schemeClr val="folHlink"/>
                </a:solidFill>
              </a:rPr>
              <a:t>的</a:t>
            </a:r>
            <a:endParaRPr lang="en-US" altLang="zh-CN" dirty="0" smtClean="0"/>
          </a:p>
          <a:p>
            <a:pPr lvl="1"/>
            <a:r>
              <a:rPr lang="zh-CN" altLang="en-US" dirty="0" smtClean="0"/>
              <a:t>用一种循环语句能表达的循环操作，用其它两种循环语句也能表达。</a:t>
            </a:r>
            <a:endParaRPr lang="en-US" altLang="zh-CN" dirty="0" smtClean="0"/>
          </a:p>
          <a:p>
            <a:pPr lvl="1"/>
            <a:r>
              <a:rPr lang="zh-CN" altLang="en-US" dirty="0" smtClean="0"/>
              <a:t>但</a:t>
            </a:r>
            <a:r>
              <a:rPr lang="zh-CN" altLang="en-US" dirty="0"/>
              <a:t>在解决某个具体问题时</a:t>
            </a:r>
            <a:r>
              <a:rPr lang="zh-CN" altLang="en-US" dirty="0" smtClean="0"/>
              <a:t>，根据循环的性质，用</a:t>
            </a:r>
            <a:r>
              <a:rPr lang="zh-CN" altLang="en-US" dirty="0"/>
              <a:t>其中的一</a:t>
            </a:r>
            <a:r>
              <a:rPr lang="zh-CN" altLang="en-US" dirty="0" smtClean="0"/>
              <a:t>种循环语句可能</a:t>
            </a:r>
            <a:r>
              <a:rPr lang="zh-CN" altLang="en-US" dirty="0"/>
              <a:t>会</a:t>
            </a:r>
            <a:r>
              <a:rPr lang="zh-CN" altLang="en-US" dirty="0" smtClean="0"/>
              <a:t>比用其它</a:t>
            </a:r>
            <a:r>
              <a:rPr lang="zh-CN" altLang="en-US" dirty="0"/>
              <a:t>两种</a:t>
            </a:r>
            <a:r>
              <a:rPr lang="zh-CN" altLang="en-US" dirty="0" smtClean="0"/>
              <a:t>更加自然。 </a:t>
            </a:r>
            <a:endParaRPr lang="zh-CN" altLang="en-US" dirty="0"/>
          </a:p>
          <a:p>
            <a:endParaRPr lang="zh-CN" altLang="en-US" dirty="0"/>
          </a:p>
        </p:txBody>
      </p:sp>
    </p:spTree>
    <p:extLst>
      <p:ext uri="{BB962C8B-B14F-4D97-AF65-F5344CB8AC3E}">
        <p14:creationId xmlns:p14="http://schemas.microsoft.com/office/powerpoint/2010/main" val="1654563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457200" y="116632"/>
            <a:ext cx="8229600" cy="1139825"/>
          </a:xfrm>
        </p:spPr>
        <p:txBody>
          <a:bodyPr/>
          <a:lstStyle/>
          <a:p>
            <a:pPr eaLnBrk="1" hangingPunct="1">
              <a:defRPr/>
            </a:pPr>
            <a:r>
              <a:rPr lang="zh-CN" altLang="en-US" sz="4000" dirty="0" smtClean="0"/>
              <a:t>计数控制的循环与事件控制的循环</a:t>
            </a:r>
          </a:p>
        </p:txBody>
      </p:sp>
      <p:sp>
        <p:nvSpPr>
          <p:cNvPr id="204803" name="Rectangle 3"/>
          <p:cNvSpPr>
            <a:spLocks noGrp="1" noChangeArrowheads="1"/>
          </p:cNvSpPr>
          <p:nvPr>
            <p:ph type="body" idx="1"/>
          </p:nvPr>
        </p:nvSpPr>
        <p:spPr>
          <a:xfrm>
            <a:off x="251520" y="1412776"/>
            <a:ext cx="8686800" cy="5328592"/>
          </a:xfrm>
        </p:spPr>
        <p:txBody>
          <a:bodyPr>
            <a:normAutofit fontScale="85000" lnSpcReduction="10000"/>
          </a:bodyPr>
          <a:lstStyle/>
          <a:p>
            <a:pPr eaLnBrk="1" hangingPunct="1">
              <a:lnSpc>
                <a:spcPct val="120000"/>
              </a:lnSpc>
              <a:defRPr/>
            </a:pPr>
            <a:r>
              <a:rPr lang="zh-CN" altLang="en-US" dirty="0" smtClean="0"/>
              <a:t>根据循环的性质，可以把循环分为</a:t>
            </a:r>
            <a:r>
              <a:rPr lang="zh-CN" altLang="en-US" dirty="0">
                <a:solidFill>
                  <a:srgbClr val="FFC000"/>
                </a:solidFill>
              </a:rPr>
              <a:t>计数控制</a:t>
            </a:r>
            <a:r>
              <a:rPr lang="zh-CN" altLang="en-US" dirty="0"/>
              <a:t>的</a:t>
            </a:r>
            <a:r>
              <a:rPr lang="zh-CN" altLang="en-US" dirty="0" smtClean="0"/>
              <a:t>循环和</a:t>
            </a:r>
            <a:r>
              <a:rPr lang="zh-CN" altLang="en-US" dirty="0" smtClean="0">
                <a:solidFill>
                  <a:srgbClr val="FFC000"/>
                </a:solidFill>
              </a:rPr>
              <a:t>事件控制</a:t>
            </a:r>
            <a:r>
              <a:rPr lang="zh-CN" altLang="en-US" dirty="0" smtClean="0"/>
              <a:t>的循环。</a:t>
            </a:r>
            <a:endParaRPr lang="en-US" altLang="zh-CN" dirty="0" smtClean="0"/>
          </a:p>
          <a:p>
            <a:pPr eaLnBrk="1" hangingPunct="1">
              <a:lnSpc>
                <a:spcPct val="120000"/>
              </a:lnSpc>
              <a:defRPr/>
            </a:pPr>
            <a:r>
              <a:rPr lang="zh-CN" altLang="en-US" dirty="0" smtClean="0">
                <a:solidFill>
                  <a:srgbClr val="FFC000"/>
                </a:solidFill>
              </a:rPr>
              <a:t>计数控制的循环</a:t>
            </a:r>
          </a:p>
          <a:p>
            <a:pPr lvl="1" eaLnBrk="1" hangingPunct="1">
              <a:lnSpc>
                <a:spcPct val="120000"/>
              </a:lnSpc>
              <a:defRPr/>
            </a:pPr>
            <a:r>
              <a:rPr lang="zh-CN" altLang="en-US" dirty="0" smtClean="0"/>
              <a:t>循环前就能确定循环的次数，循环的终止不依赖于循环体的执行结果。</a:t>
            </a:r>
            <a:endParaRPr lang="en-US" altLang="zh-CN" dirty="0" smtClean="0"/>
          </a:p>
          <a:p>
            <a:pPr lvl="1" eaLnBrk="1" hangingPunct="1">
              <a:lnSpc>
                <a:spcPct val="120000"/>
              </a:lnSpc>
              <a:defRPr/>
            </a:pPr>
            <a:r>
              <a:rPr lang="zh-CN" altLang="en-US" dirty="0" smtClean="0"/>
              <a:t>循环控制通过一个用来计数的“</a:t>
            </a:r>
            <a:r>
              <a:rPr lang="zh-CN" altLang="en-US" dirty="0" smtClean="0">
                <a:solidFill>
                  <a:srgbClr val="FFC000"/>
                </a:solidFill>
              </a:rPr>
              <a:t>循环控制变量</a:t>
            </a:r>
            <a:r>
              <a:rPr lang="zh-CN" altLang="en-US" dirty="0" smtClean="0"/>
              <a:t>”来实现。</a:t>
            </a:r>
          </a:p>
          <a:p>
            <a:pPr eaLnBrk="1" hangingPunct="1">
              <a:lnSpc>
                <a:spcPct val="120000"/>
              </a:lnSpc>
              <a:defRPr/>
            </a:pPr>
            <a:r>
              <a:rPr lang="zh-CN" altLang="en-US" dirty="0" smtClean="0">
                <a:solidFill>
                  <a:srgbClr val="FFC000"/>
                </a:solidFill>
              </a:rPr>
              <a:t>事件控制的循环</a:t>
            </a:r>
          </a:p>
          <a:p>
            <a:pPr lvl="1" eaLnBrk="1" hangingPunct="1">
              <a:lnSpc>
                <a:spcPct val="120000"/>
              </a:lnSpc>
              <a:defRPr/>
            </a:pPr>
            <a:r>
              <a:rPr lang="zh-CN" altLang="en-US" dirty="0" smtClean="0"/>
              <a:t>循环前不知道循环的次数，循环的终止是由循环体的某次执行导致循环的结束条件得到满足而引起的。</a:t>
            </a:r>
            <a:endParaRPr lang="en-US" altLang="zh-CN" dirty="0" smtClean="0"/>
          </a:p>
          <a:p>
            <a:pPr lvl="1" eaLnBrk="1" hangingPunct="1">
              <a:lnSpc>
                <a:spcPct val="120000"/>
              </a:lnSpc>
              <a:defRPr/>
            </a:pPr>
            <a:r>
              <a:rPr lang="zh-CN" altLang="en-US" dirty="0" smtClean="0"/>
              <a:t>循环</a:t>
            </a:r>
            <a:r>
              <a:rPr lang="zh-CN" altLang="en-US" dirty="0"/>
              <a:t>的执行次数要依赖于循环体的执行</a:t>
            </a:r>
            <a:r>
              <a:rPr lang="zh-CN" altLang="en-US" dirty="0" smtClean="0"/>
              <a:t>结果，因此，循环控制有时会复杂一些。</a:t>
            </a:r>
            <a:endParaRPr lang="en-US" altLang="zh-CN"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381000"/>
            <a:ext cx="7772400" cy="685800"/>
          </a:xfrm>
        </p:spPr>
        <p:txBody>
          <a:bodyPr/>
          <a:lstStyle/>
          <a:p>
            <a:pPr eaLnBrk="1" hangingPunct="1">
              <a:defRPr/>
            </a:pPr>
            <a:r>
              <a:rPr lang="zh-CN" altLang="en-US" dirty="0" smtClean="0"/>
              <a:t>三种循环语句的使用原则 </a:t>
            </a:r>
          </a:p>
        </p:txBody>
      </p:sp>
      <p:sp>
        <p:nvSpPr>
          <p:cNvPr id="25603" name="Rectangle 3"/>
          <p:cNvSpPr>
            <a:spLocks noGrp="1" noChangeArrowheads="1"/>
          </p:cNvSpPr>
          <p:nvPr>
            <p:ph type="body" idx="1"/>
          </p:nvPr>
        </p:nvSpPr>
        <p:spPr>
          <a:xfrm>
            <a:off x="395288" y="1556792"/>
            <a:ext cx="8424862" cy="4073624"/>
          </a:xfrm>
        </p:spPr>
        <p:txBody>
          <a:bodyPr>
            <a:normAutofit fontScale="92500" lnSpcReduction="20000"/>
          </a:bodyPr>
          <a:lstStyle/>
          <a:p>
            <a:pPr marL="282575" indent="-282575" eaLnBrk="1" hangingPunct="1">
              <a:lnSpc>
                <a:spcPct val="110000"/>
              </a:lnSpc>
              <a:defRPr/>
            </a:pPr>
            <a:r>
              <a:rPr lang="zh-CN" altLang="en-US" dirty="0" smtClean="0"/>
              <a:t>一般来说，</a:t>
            </a:r>
          </a:p>
          <a:p>
            <a:pPr marL="758825" lvl="1" eaLnBrk="1" hangingPunct="1">
              <a:lnSpc>
                <a:spcPct val="110000"/>
              </a:lnSpc>
              <a:defRPr/>
            </a:pPr>
            <a:r>
              <a:rPr lang="zh-CN" altLang="en-US" dirty="0" smtClean="0"/>
              <a:t>计数控制的循环一般用</a:t>
            </a:r>
            <a:r>
              <a:rPr lang="en-US" altLang="zh-CN" dirty="0" smtClean="0">
                <a:cs typeface="Times New Roman" pitchFamily="18" charset="0"/>
              </a:rPr>
              <a:t>for</a:t>
            </a:r>
            <a:r>
              <a:rPr lang="zh-CN" altLang="en-US" dirty="0" smtClean="0"/>
              <a:t>语句。</a:t>
            </a:r>
          </a:p>
          <a:p>
            <a:pPr marL="758825" lvl="1" eaLnBrk="1" hangingPunct="1">
              <a:lnSpc>
                <a:spcPct val="110000"/>
              </a:lnSpc>
              <a:defRPr/>
            </a:pPr>
            <a:r>
              <a:rPr lang="zh-CN" altLang="en-US" dirty="0" smtClean="0"/>
              <a:t>事件控制的循环一般用</a:t>
            </a:r>
            <a:r>
              <a:rPr lang="en-US" altLang="zh-CN" dirty="0" smtClean="0">
                <a:cs typeface="Times New Roman" pitchFamily="18" charset="0"/>
              </a:rPr>
              <a:t>while</a:t>
            </a:r>
            <a:r>
              <a:rPr lang="zh-CN" altLang="en-US" dirty="0" smtClean="0"/>
              <a:t>或</a:t>
            </a:r>
            <a:r>
              <a:rPr lang="en-US" altLang="zh-CN" dirty="0" smtClean="0">
                <a:cs typeface="Times New Roman" pitchFamily="18" charset="0"/>
              </a:rPr>
              <a:t>do-while</a:t>
            </a:r>
            <a:r>
              <a:rPr lang="zh-CN" altLang="en-US" dirty="0" smtClean="0"/>
              <a:t>语句，其中，如果循环体至少要执行一次，则用</a:t>
            </a:r>
            <a:r>
              <a:rPr lang="en-US" altLang="zh-CN" dirty="0" smtClean="0">
                <a:cs typeface="Times New Roman" pitchFamily="18" charset="0"/>
              </a:rPr>
              <a:t>do-while</a:t>
            </a:r>
            <a:r>
              <a:rPr lang="zh-CN" altLang="en-US" dirty="0" smtClean="0"/>
              <a:t>语句。</a:t>
            </a:r>
          </a:p>
          <a:p>
            <a:pPr marL="358775" eaLnBrk="1" hangingPunct="1">
              <a:lnSpc>
                <a:spcPct val="110000"/>
              </a:lnSpc>
              <a:defRPr/>
            </a:pPr>
            <a:r>
              <a:rPr lang="zh-CN" altLang="en-US" dirty="0" smtClean="0">
                <a:solidFill>
                  <a:srgbClr val="FFC000"/>
                </a:solidFill>
              </a:rPr>
              <a:t>注意：</a:t>
            </a:r>
            <a:endParaRPr lang="en-US" altLang="zh-CN" dirty="0" smtClean="0">
              <a:solidFill>
                <a:srgbClr val="FFC000"/>
              </a:solidFill>
            </a:endParaRPr>
          </a:p>
          <a:p>
            <a:pPr marL="758825" lvl="1" eaLnBrk="1" hangingPunct="1">
              <a:lnSpc>
                <a:spcPct val="110000"/>
              </a:lnSpc>
              <a:defRPr/>
            </a:pPr>
            <a:r>
              <a:rPr lang="zh-CN" altLang="en-US" dirty="0" smtClean="0"/>
              <a:t>由于</a:t>
            </a:r>
            <a:r>
              <a:rPr lang="en-US" altLang="zh-CN" dirty="0" smtClean="0"/>
              <a:t>for</a:t>
            </a:r>
            <a:r>
              <a:rPr lang="zh-CN" altLang="en-US" dirty="0" smtClean="0"/>
              <a:t>语句能清晰地表示“循环初始化”、“循环条件”以及“下一次循环准备”，</a:t>
            </a:r>
            <a:endParaRPr lang="en-US" altLang="zh-CN" dirty="0" smtClean="0"/>
          </a:p>
          <a:p>
            <a:pPr marL="758825" lvl="1" eaLnBrk="1" hangingPunct="1">
              <a:lnSpc>
                <a:spcPct val="110000"/>
              </a:lnSpc>
              <a:defRPr/>
            </a:pPr>
            <a:r>
              <a:rPr lang="zh-CN" altLang="en-US" dirty="0" smtClean="0"/>
              <a:t>因此，一些非计数控制的循环也常用</a:t>
            </a:r>
            <a:r>
              <a:rPr lang="en-US" altLang="zh-CN" dirty="0" smtClean="0"/>
              <a:t>for</a:t>
            </a:r>
            <a:r>
              <a:rPr lang="zh-CN" altLang="en-US" dirty="0" smtClean="0"/>
              <a:t>语句实现。</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79388" y="336550"/>
            <a:ext cx="8507412" cy="715963"/>
          </a:xfrm>
        </p:spPr>
        <p:txBody>
          <a:bodyPr/>
          <a:lstStyle/>
          <a:p>
            <a:pPr algn="l" eaLnBrk="1" hangingPunct="1">
              <a:lnSpc>
                <a:spcPct val="60000"/>
              </a:lnSpc>
              <a:defRPr/>
            </a:pPr>
            <a:r>
              <a:rPr lang="zh-CN" altLang="en-US" sz="2800" dirty="0" smtClean="0">
                <a:latin typeface="+mj-ea"/>
              </a:rPr>
              <a:t>例</a:t>
            </a:r>
            <a:r>
              <a:rPr lang="zh-CN" altLang="en-US" sz="2800" dirty="0" smtClean="0">
                <a:latin typeface="+mj-ea"/>
                <a:cs typeface="Times New Roman" pitchFamily="18" charset="0"/>
              </a:rPr>
              <a:t>：</a:t>
            </a:r>
            <a:r>
              <a:rPr lang="zh-CN" altLang="en-US" sz="2800" dirty="0" smtClean="0">
                <a:latin typeface="+mj-ea"/>
              </a:rPr>
              <a:t>计算从键盘输入的一系列整数的和，要求：首先输入整数的个数。（计数控制的循环）</a:t>
            </a:r>
            <a:r>
              <a:rPr lang="zh-CN" altLang="en-US" sz="4800" dirty="0" smtClean="0">
                <a:latin typeface="+mj-ea"/>
              </a:rPr>
              <a:t> </a:t>
            </a:r>
          </a:p>
        </p:txBody>
      </p:sp>
      <p:sp>
        <p:nvSpPr>
          <p:cNvPr id="49155" name="Rectangle 3"/>
          <p:cNvSpPr>
            <a:spLocks noGrp="1" noChangeArrowheads="1"/>
          </p:cNvSpPr>
          <p:nvPr>
            <p:ph type="body" idx="1"/>
          </p:nvPr>
        </p:nvSpPr>
        <p:spPr>
          <a:xfrm>
            <a:off x="179388" y="1485900"/>
            <a:ext cx="8856662" cy="5327650"/>
          </a:xfrm>
        </p:spPr>
        <p:txBody>
          <a:bodyPr/>
          <a:lstStyle/>
          <a:p>
            <a:pPr eaLnBrk="1" hangingPunct="1">
              <a:lnSpc>
                <a:spcPct val="80000"/>
              </a:lnSpc>
              <a:buFont typeface="Wingdings" pitchFamily="2" charset="2"/>
              <a:buNone/>
              <a:defRPr/>
            </a:pPr>
            <a:r>
              <a:rPr lang="en-US" altLang="zh-CN" sz="2000" dirty="0" smtClean="0">
                <a:cs typeface="Courier New" pitchFamily="49" charset="0"/>
              </a:rPr>
              <a:t>#include &lt;</a:t>
            </a:r>
            <a:r>
              <a:rPr lang="en-US" altLang="zh-CN" sz="2000" dirty="0" err="1" smtClean="0">
                <a:cs typeface="Courier New" pitchFamily="49" charset="0"/>
              </a:rPr>
              <a:t>iostream</a:t>
            </a:r>
            <a:r>
              <a:rPr lang="en-US" altLang="zh-CN" sz="2000" dirty="0" smtClean="0">
                <a:cs typeface="Courier New" pitchFamily="49" charset="0"/>
              </a:rPr>
              <a:t>&gt;</a:t>
            </a:r>
          </a:p>
          <a:p>
            <a:pPr eaLnBrk="1" hangingPunct="1">
              <a:lnSpc>
                <a:spcPct val="80000"/>
              </a:lnSpc>
              <a:buFont typeface="Wingdings" pitchFamily="2" charset="2"/>
              <a:buNone/>
              <a:defRPr/>
            </a:pPr>
            <a:r>
              <a:rPr lang="en-US" altLang="zh-CN" sz="2000" dirty="0" smtClean="0">
                <a:cs typeface="Courier New" pitchFamily="49" charset="0"/>
              </a:rPr>
              <a:t>using namespace </a:t>
            </a:r>
            <a:r>
              <a:rPr lang="en-US" altLang="zh-CN" sz="2000" dirty="0" err="1" smtClean="0">
                <a:cs typeface="Courier New" pitchFamily="49" charset="0"/>
              </a:rPr>
              <a:t>std</a:t>
            </a:r>
            <a:r>
              <a:rPr lang="en-US" altLang="zh-CN" sz="2000" dirty="0" smtClean="0">
                <a:cs typeface="Courier New" pitchFamily="49" charset="0"/>
              </a:rPr>
              <a:t>;</a:t>
            </a:r>
          </a:p>
          <a:p>
            <a:pPr eaLnBrk="1" hangingPunct="1">
              <a:lnSpc>
                <a:spcPct val="80000"/>
              </a:lnSpc>
              <a:buFont typeface="Wingdings" pitchFamily="2" charset="2"/>
              <a:buNone/>
              <a:defRPr/>
            </a:pPr>
            <a:r>
              <a:rPr lang="en-US" altLang="zh-CN" sz="2000" dirty="0" err="1" smtClean="0">
                <a:cs typeface="Courier New" pitchFamily="49" charset="0"/>
              </a:rPr>
              <a:t>int</a:t>
            </a:r>
            <a:r>
              <a:rPr lang="en-US" altLang="zh-CN" sz="2000" dirty="0" smtClean="0">
                <a:cs typeface="Courier New" pitchFamily="49" charset="0"/>
              </a:rPr>
              <a:t> main()</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int</a:t>
            </a:r>
            <a:r>
              <a:rPr lang="en-US" altLang="zh-CN" sz="2000" dirty="0" smtClean="0">
                <a:cs typeface="Courier New" pitchFamily="49" charset="0"/>
              </a:rPr>
              <a:t> n;</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请输入整数的个数：</a:t>
            </a:r>
            <a:r>
              <a:rPr lang="en-US" altLang="zh-CN" sz="2000" dirty="0" smtClean="0">
                <a:cs typeface="Courier New" pitchFamily="49" charset="0"/>
              </a:rPr>
              <a:t>";</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n;</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请输入</a:t>
            </a:r>
            <a:r>
              <a:rPr lang="en-US" altLang="zh-CN" sz="2000" dirty="0" smtClean="0">
                <a:cs typeface="Courier New" pitchFamily="49" charset="0"/>
              </a:rPr>
              <a:t>" &lt;&lt; n &lt;&lt; "</a:t>
            </a:r>
            <a:r>
              <a:rPr lang="zh-CN" altLang="en-US" sz="2000" dirty="0" smtClean="0"/>
              <a:t>个整数：</a:t>
            </a:r>
            <a:r>
              <a:rPr lang="en-US" altLang="zh-CN" sz="2000" dirty="0" smtClean="0">
                <a:cs typeface="Courier New" pitchFamily="49" charset="0"/>
              </a:rPr>
              <a:t>";</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int</a:t>
            </a:r>
            <a:r>
              <a:rPr lang="en-US" altLang="zh-CN" sz="2000" dirty="0" smtClean="0">
                <a:cs typeface="Courier New" pitchFamily="49" charset="0"/>
              </a:rPr>
              <a:t> sum=0;</a:t>
            </a:r>
          </a:p>
          <a:p>
            <a:pPr eaLnBrk="1" hangingPunct="1">
              <a:lnSpc>
                <a:spcPct val="80000"/>
              </a:lnSpc>
              <a:buFont typeface="Wingdings" pitchFamily="2" charset="2"/>
              <a:buNone/>
              <a:defRPr/>
            </a:pPr>
            <a:r>
              <a:rPr lang="en-US" altLang="zh-CN" sz="2000" dirty="0" smtClean="0">
                <a:cs typeface="Courier New" pitchFamily="49" charset="0"/>
              </a:rPr>
              <a:t>	for (</a:t>
            </a:r>
            <a:r>
              <a:rPr lang="en-US" altLang="zh-CN" sz="2000" dirty="0" err="1" smtClean="0">
                <a:cs typeface="Courier New" pitchFamily="49" charset="0"/>
              </a:rPr>
              <a:t>int</a:t>
            </a:r>
            <a:r>
              <a:rPr lang="en-US" altLang="zh-CN" sz="2000" dirty="0" smtClean="0">
                <a:cs typeface="Courier New" pitchFamily="49" charset="0"/>
              </a:rPr>
              <a:t> </a:t>
            </a:r>
            <a:r>
              <a:rPr lang="en-US" altLang="zh-CN" sz="2000" dirty="0" err="1" smtClean="0">
                <a:solidFill>
                  <a:srgbClr val="FFC000"/>
                </a:solidFill>
                <a:cs typeface="Courier New" pitchFamily="49" charset="0"/>
              </a:rPr>
              <a:t>i</a:t>
            </a:r>
            <a:r>
              <a:rPr lang="en-US" altLang="zh-CN" sz="2000" dirty="0" smtClean="0">
                <a:cs typeface="Courier New" pitchFamily="49" charset="0"/>
              </a:rPr>
              <a:t>=1; </a:t>
            </a:r>
            <a:r>
              <a:rPr lang="en-US" altLang="zh-CN" sz="2000" dirty="0" err="1" smtClean="0">
                <a:cs typeface="Courier New" pitchFamily="49" charset="0"/>
              </a:rPr>
              <a:t>i</a:t>
            </a:r>
            <a:r>
              <a:rPr lang="en-US" altLang="zh-CN" sz="2000" dirty="0" smtClean="0">
                <a:cs typeface="Courier New" pitchFamily="49" charset="0"/>
              </a:rPr>
              <a:t>&lt;=n; </a:t>
            </a:r>
            <a:r>
              <a:rPr lang="en-US" altLang="zh-CN" sz="2000" dirty="0" err="1" smtClean="0">
                <a:cs typeface="Courier New" pitchFamily="49" charset="0"/>
              </a:rPr>
              <a:t>i</a:t>
            </a:r>
            <a:r>
              <a:rPr lang="en-US" altLang="zh-CN" sz="2000" dirty="0" smtClean="0">
                <a:cs typeface="Courier New" pitchFamily="49" charset="0"/>
              </a:rPr>
              <a:t>++) //</a:t>
            </a:r>
            <a:r>
              <a:rPr lang="en-US" altLang="zh-CN" sz="2000" dirty="0" err="1" smtClean="0">
                <a:cs typeface="Courier New" pitchFamily="49" charset="0"/>
              </a:rPr>
              <a:t>i</a:t>
            </a:r>
            <a:r>
              <a:rPr lang="zh-CN" altLang="en-US" sz="2000" dirty="0" smtClean="0">
                <a:cs typeface="Courier New" pitchFamily="49" charset="0"/>
              </a:rPr>
              <a:t>是</a:t>
            </a:r>
            <a:r>
              <a:rPr lang="zh-CN" altLang="en-US" sz="2000" dirty="0" smtClean="0">
                <a:solidFill>
                  <a:srgbClr val="FFC000"/>
                </a:solidFill>
                <a:cs typeface="Courier New" pitchFamily="49" charset="0"/>
              </a:rPr>
              <a:t>循环控制变量</a:t>
            </a:r>
            <a:endParaRPr lang="en-US" altLang="zh-CN" sz="2000" dirty="0" smtClean="0">
              <a:cs typeface="Courier New" pitchFamily="49" charset="0"/>
            </a:endParaRPr>
          </a:p>
          <a:p>
            <a:pPr eaLnBrk="1" hangingPunct="1">
              <a:lnSpc>
                <a:spcPct val="80000"/>
              </a:lnSpc>
              <a:buFont typeface="Wingdings" pitchFamily="2" charset="2"/>
              <a:buNone/>
              <a:defRPr/>
            </a:pPr>
            <a:r>
              <a:rPr lang="en-US" altLang="zh-CN" sz="2000" dirty="0" smtClean="0">
                <a:cs typeface="Courier New" pitchFamily="49" charset="0"/>
              </a:rPr>
              <a:t>	{	</a:t>
            </a:r>
            <a:r>
              <a:rPr lang="en-US" altLang="zh-CN" sz="2000" dirty="0" err="1" smtClean="0">
                <a:cs typeface="Courier New" pitchFamily="49" charset="0"/>
              </a:rPr>
              <a:t>int</a:t>
            </a:r>
            <a:r>
              <a:rPr lang="en-US" altLang="zh-CN" sz="2000" dirty="0" smtClean="0">
                <a:cs typeface="Courier New" pitchFamily="49" charset="0"/>
              </a:rPr>
              <a:t> a; </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a;</a:t>
            </a:r>
          </a:p>
          <a:p>
            <a:pPr eaLnBrk="1" hangingPunct="1">
              <a:lnSpc>
                <a:spcPct val="80000"/>
              </a:lnSpc>
              <a:buFont typeface="Wingdings" pitchFamily="2" charset="2"/>
              <a:buNone/>
              <a:defRPr/>
            </a:pPr>
            <a:r>
              <a:rPr lang="en-US" altLang="zh-CN" sz="2000" dirty="0" smtClean="0">
                <a:cs typeface="Courier New" pitchFamily="49" charset="0"/>
              </a:rPr>
              <a:t>		sum += a; </a:t>
            </a:r>
          </a:p>
          <a:p>
            <a:pPr eaLnBrk="1" hangingPunct="1">
              <a:lnSpc>
                <a:spcPct val="80000"/>
              </a:lnSpc>
              <a:buFont typeface="Wingdings" pitchFamily="2" charset="2"/>
              <a:buNone/>
              <a:defRPr/>
            </a:pPr>
            <a:r>
              <a:rPr lang="en-US" altLang="zh-CN" sz="2000" dirty="0" smtClean="0">
                <a:cs typeface="Courier New" pitchFamily="49" charset="0"/>
              </a:rPr>
              <a:t>	}</a:t>
            </a:r>
          </a:p>
          <a:p>
            <a:pPr eaLnBrk="1" hangingPunct="1">
              <a:lnSpc>
                <a:spcPct val="8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输入的</a:t>
            </a:r>
            <a:r>
              <a:rPr lang="en-US" altLang="zh-CN" sz="2000" dirty="0" smtClean="0">
                <a:cs typeface="Courier New" pitchFamily="49" charset="0"/>
              </a:rPr>
              <a:t>" &lt;&lt; n &lt;&lt; "</a:t>
            </a:r>
            <a:r>
              <a:rPr lang="zh-CN" altLang="en-US" sz="2000" dirty="0" smtClean="0"/>
              <a:t>个整数的和是：</a:t>
            </a:r>
            <a:r>
              <a:rPr lang="en-US" altLang="zh-CN" sz="2000" dirty="0" smtClean="0">
                <a:cs typeface="Courier New" pitchFamily="49" charset="0"/>
              </a:rPr>
              <a:t>" &lt;&lt; sum &lt;&lt; </a:t>
            </a:r>
            <a:r>
              <a:rPr lang="en-US" altLang="zh-CN" sz="2000" dirty="0" err="1" smtClean="0">
                <a:cs typeface="Courier New" pitchFamily="49" charset="0"/>
              </a:rPr>
              <a:t>endl</a:t>
            </a:r>
            <a:r>
              <a:rPr lang="en-US" altLang="zh-CN" sz="2000" dirty="0" smtClean="0">
                <a:cs typeface="Courier New" pitchFamily="49" charset="0"/>
              </a:rPr>
              <a:t>;</a:t>
            </a:r>
          </a:p>
          <a:p>
            <a:pPr eaLnBrk="1" hangingPunct="1">
              <a:lnSpc>
                <a:spcPct val="80000"/>
              </a:lnSpc>
              <a:buFont typeface="Wingdings" pitchFamily="2" charset="2"/>
              <a:buNone/>
              <a:defRPr/>
            </a:pPr>
            <a:r>
              <a:rPr lang="en-US" altLang="zh-CN" sz="2000" dirty="0" smtClean="0">
                <a:cs typeface="Courier New" pitchFamily="49" charset="0"/>
              </a:rPr>
              <a:t>	return 0;</a:t>
            </a:r>
          </a:p>
          <a:p>
            <a:pPr eaLnBrk="1" hangingPunct="1">
              <a:lnSpc>
                <a:spcPct val="80000"/>
              </a:lnSpc>
              <a:buFont typeface="Wingdings" pitchFamily="2" charset="2"/>
              <a:buNone/>
              <a:defRPr/>
            </a:pPr>
            <a:r>
              <a:rPr lang="en-US" altLang="zh-CN" sz="2000" dirty="0" smtClean="0">
                <a:cs typeface="Courier New" pitchFamily="49" charset="0"/>
              </a:rPr>
              <a: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79388" y="192088"/>
            <a:ext cx="8507412" cy="788987"/>
          </a:xfrm>
        </p:spPr>
        <p:txBody>
          <a:bodyPr/>
          <a:lstStyle/>
          <a:p>
            <a:pPr algn="l" eaLnBrk="1" hangingPunct="1">
              <a:defRPr/>
            </a:pPr>
            <a:r>
              <a:rPr lang="zh-CN" altLang="en-US" sz="2800" dirty="0" smtClean="0">
                <a:latin typeface="+mj-ea"/>
              </a:rPr>
              <a:t>例：计算从键盘输入的一系列整数的和，要求输入以</a:t>
            </a:r>
            <a:r>
              <a:rPr lang="en-US" altLang="zh-CN" sz="2800" dirty="0" smtClean="0">
                <a:latin typeface="+mj-ea"/>
              </a:rPr>
              <a:t>0</a:t>
            </a:r>
            <a:r>
              <a:rPr lang="zh-CN" altLang="en-US" sz="2800" dirty="0" smtClean="0">
                <a:latin typeface="+mj-ea"/>
              </a:rPr>
              <a:t>结束。（事件控制的循环 ）</a:t>
            </a:r>
          </a:p>
        </p:txBody>
      </p:sp>
      <p:sp>
        <p:nvSpPr>
          <p:cNvPr id="50179" name="Rectangle 3"/>
          <p:cNvSpPr>
            <a:spLocks noGrp="1" noChangeArrowheads="1"/>
          </p:cNvSpPr>
          <p:nvPr>
            <p:ph type="body" idx="1"/>
          </p:nvPr>
        </p:nvSpPr>
        <p:spPr>
          <a:xfrm>
            <a:off x="205680" y="1628775"/>
            <a:ext cx="8686800" cy="4895850"/>
          </a:xfrm>
        </p:spPr>
        <p:txBody>
          <a:bodyPr/>
          <a:lstStyle/>
          <a:p>
            <a:pPr marL="177800" indent="-147638" algn="just" eaLnBrk="1" hangingPunct="1">
              <a:lnSpc>
                <a:spcPct val="90000"/>
              </a:lnSpc>
              <a:buFont typeface="Wingdings" pitchFamily="2" charset="2"/>
              <a:buNone/>
              <a:defRPr/>
            </a:pPr>
            <a:r>
              <a:rPr lang="en-US" altLang="zh-CN" sz="2000" dirty="0" smtClean="0">
                <a:cs typeface="Courier New" pitchFamily="49" charset="0"/>
              </a:rPr>
              <a:t>#include &lt;</a:t>
            </a:r>
            <a:r>
              <a:rPr lang="en-US" altLang="zh-CN" sz="2000" dirty="0" err="1" smtClean="0">
                <a:cs typeface="Courier New" pitchFamily="49" charset="0"/>
              </a:rPr>
              <a:t>iostream</a:t>
            </a:r>
            <a:r>
              <a:rPr lang="en-US" altLang="zh-CN" sz="2000" dirty="0" smtClean="0">
                <a:cs typeface="Courier New" pitchFamily="49" charset="0"/>
              </a:rPr>
              <a:t>&gt;</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using namespace </a:t>
            </a:r>
            <a:r>
              <a:rPr lang="en-US" altLang="zh-CN" sz="2000" dirty="0" err="1" smtClean="0">
                <a:cs typeface="Courier New" pitchFamily="49" charset="0"/>
              </a:rPr>
              <a:t>std</a:t>
            </a:r>
            <a:r>
              <a:rPr lang="en-US" altLang="zh-CN" sz="2000" dirty="0" smtClean="0">
                <a:cs typeface="Courier New" pitchFamily="49" charset="0"/>
              </a:rPr>
              <a:t>;</a:t>
            </a:r>
          </a:p>
          <a:p>
            <a:pPr marL="177800" indent="-147638" algn="just" eaLnBrk="1" hangingPunct="1">
              <a:lnSpc>
                <a:spcPct val="90000"/>
              </a:lnSpc>
              <a:buFont typeface="Wingdings" pitchFamily="2" charset="2"/>
              <a:buNone/>
              <a:defRPr/>
            </a:pPr>
            <a:r>
              <a:rPr lang="en-US" altLang="zh-CN" sz="2000" dirty="0" err="1" smtClean="0">
                <a:cs typeface="Courier New" pitchFamily="49" charset="0"/>
              </a:rPr>
              <a:t>int</a:t>
            </a:r>
            <a:r>
              <a:rPr lang="en-US" altLang="zh-CN" sz="2000" dirty="0" smtClean="0">
                <a:cs typeface="Courier New" pitchFamily="49" charset="0"/>
              </a:rPr>
              <a:t> main()</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a:t>
            </a:r>
            <a:r>
              <a:rPr lang="en-US" altLang="zh-CN" sz="2000" dirty="0" err="1" smtClean="0">
                <a:cs typeface="Courier New" pitchFamily="49" charset="0"/>
              </a:rPr>
              <a:t>int</a:t>
            </a:r>
            <a:r>
              <a:rPr lang="en-US" altLang="zh-CN" sz="2000" dirty="0" smtClean="0">
                <a:cs typeface="Courier New" pitchFamily="49" charset="0"/>
              </a:rPr>
              <a:t> </a:t>
            </a:r>
            <a:r>
              <a:rPr lang="en-US" altLang="zh-CN" sz="2000" dirty="0" err="1" smtClean="0">
                <a:cs typeface="Courier New" pitchFamily="49" charset="0"/>
              </a:rPr>
              <a:t>a,sum</a:t>
            </a:r>
            <a:r>
              <a:rPr lang="en-US" altLang="zh-CN" sz="2000" dirty="0" smtClean="0">
                <a:cs typeface="Courier New" pitchFamily="49" charset="0"/>
              </a:rPr>
              <a:t>=0;</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请输入若干个整数（以</a:t>
            </a:r>
            <a:r>
              <a:rPr lang="en-US" altLang="zh-CN" sz="2000" dirty="0" smtClean="0">
                <a:cs typeface="Courier New" pitchFamily="49" charset="0"/>
              </a:rPr>
              <a:t>0</a:t>
            </a:r>
            <a:r>
              <a:rPr lang="zh-CN" altLang="en-US" sz="2000" dirty="0" smtClean="0"/>
              <a:t>结束）：</a:t>
            </a:r>
            <a:r>
              <a:rPr lang="en-US" altLang="zh-CN" sz="2000" dirty="0" smtClean="0">
                <a:cs typeface="Courier New" pitchFamily="49" charset="0"/>
              </a:rPr>
              <a:t>";</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a;</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while (a != 0)</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  sum += a; </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a;</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输入的整数的和是：</a:t>
            </a:r>
            <a:r>
              <a:rPr lang="en-US" altLang="zh-CN" sz="2000" dirty="0" smtClean="0">
                <a:cs typeface="Courier New" pitchFamily="49" charset="0"/>
              </a:rPr>
              <a:t>" &lt;&lt; sum &lt;&lt; </a:t>
            </a:r>
            <a:r>
              <a:rPr lang="en-US" altLang="zh-CN" sz="2000" dirty="0" err="1" smtClean="0">
                <a:cs typeface="Courier New" pitchFamily="49" charset="0"/>
              </a:rPr>
              <a:t>endl</a:t>
            </a:r>
            <a:r>
              <a:rPr lang="en-US" altLang="zh-CN" sz="2000" dirty="0" smtClean="0">
                <a:cs typeface="Courier New" pitchFamily="49" charset="0"/>
              </a:rPr>
              <a:t>;</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	return 0;</a:t>
            </a:r>
          </a:p>
          <a:p>
            <a:pPr marL="177800" indent="-147638" algn="just" eaLnBrk="1" hangingPunct="1">
              <a:lnSpc>
                <a:spcPct val="90000"/>
              </a:lnSpc>
              <a:buFont typeface="Wingdings" pitchFamily="2" charset="2"/>
              <a:buNone/>
              <a:defRPr/>
            </a:pPr>
            <a:r>
              <a:rPr lang="en-US" altLang="zh-CN" sz="2000" dirty="0" smtClean="0">
                <a:cs typeface="Courier New" pitchFamily="49" charset="0"/>
              </a:rPr>
              <a:t>}</a:t>
            </a:r>
            <a:endParaRPr lang="en-US" altLang="zh-CN" sz="2000" dirty="0" smtClean="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23850" y="133350"/>
            <a:ext cx="8362950" cy="847725"/>
          </a:xfrm>
        </p:spPr>
        <p:txBody>
          <a:bodyPr/>
          <a:lstStyle/>
          <a:p>
            <a:pPr algn="l" eaLnBrk="1" hangingPunct="1">
              <a:defRPr/>
            </a:pPr>
            <a:r>
              <a:rPr lang="zh-CN" altLang="en-US" sz="2800" dirty="0" smtClean="0">
                <a:latin typeface="+mj-ea"/>
              </a:rPr>
              <a:t>例：从键盘接收字符，一直到输入了字符</a:t>
            </a:r>
            <a:r>
              <a:rPr lang="en-US" altLang="zh-CN" sz="2800" dirty="0" smtClean="0">
                <a:latin typeface="+mj-ea"/>
              </a:rPr>
              <a:t>y(Y)</a:t>
            </a:r>
            <a:r>
              <a:rPr lang="zh-CN" altLang="en-US" sz="2800" dirty="0" smtClean="0">
                <a:latin typeface="+mj-ea"/>
              </a:rPr>
              <a:t>或</a:t>
            </a:r>
            <a:r>
              <a:rPr lang="en-US" altLang="zh-CN" sz="2800" dirty="0" smtClean="0">
                <a:latin typeface="+mj-ea"/>
              </a:rPr>
              <a:t>n(N)</a:t>
            </a:r>
            <a:r>
              <a:rPr lang="zh-CN" altLang="en-US" sz="2800" dirty="0" smtClean="0">
                <a:latin typeface="+mj-ea"/>
              </a:rPr>
              <a:t>为止。 （事件控制的循环 ）</a:t>
            </a:r>
          </a:p>
        </p:txBody>
      </p:sp>
      <p:sp>
        <p:nvSpPr>
          <p:cNvPr id="51203" name="Rectangle 3"/>
          <p:cNvSpPr>
            <a:spLocks noGrp="1" noChangeArrowheads="1"/>
          </p:cNvSpPr>
          <p:nvPr>
            <p:ph type="body" idx="1"/>
          </p:nvPr>
        </p:nvSpPr>
        <p:spPr>
          <a:xfrm>
            <a:off x="251520" y="1268413"/>
            <a:ext cx="8686800" cy="5472955"/>
          </a:xfrm>
        </p:spPr>
        <p:txBody>
          <a:bodyPr/>
          <a:lstStyle/>
          <a:p>
            <a:pPr algn="just" eaLnBrk="1" hangingPunct="1">
              <a:lnSpc>
                <a:spcPct val="90000"/>
              </a:lnSpc>
              <a:buFont typeface="Wingdings" pitchFamily="2" charset="2"/>
              <a:buNone/>
              <a:defRPr/>
            </a:pPr>
            <a:r>
              <a:rPr lang="en-US" altLang="zh-CN" sz="2000" dirty="0" smtClean="0">
                <a:cs typeface="Courier New" pitchFamily="49" charset="0"/>
              </a:rPr>
              <a:t>#include &lt;</a:t>
            </a:r>
            <a:r>
              <a:rPr lang="en-US" altLang="zh-CN" sz="2000" dirty="0" err="1" smtClean="0">
                <a:cs typeface="Courier New" pitchFamily="49" charset="0"/>
              </a:rPr>
              <a:t>iostream</a:t>
            </a:r>
            <a:r>
              <a:rPr lang="en-US" altLang="zh-CN" sz="2000" dirty="0" smtClean="0">
                <a:cs typeface="Courier New" pitchFamily="49" charset="0"/>
              </a:rPr>
              <a:t>&gt;</a:t>
            </a:r>
          </a:p>
          <a:p>
            <a:pPr eaLnBrk="1" hangingPunct="1">
              <a:lnSpc>
                <a:spcPct val="90000"/>
              </a:lnSpc>
              <a:buFont typeface="Wingdings" pitchFamily="2" charset="2"/>
              <a:buNone/>
              <a:defRPr/>
            </a:pPr>
            <a:r>
              <a:rPr lang="en-US" altLang="zh-CN" sz="2000" dirty="0" smtClean="0">
                <a:solidFill>
                  <a:srgbClr val="FFC000"/>
                </a:solidFill>
                <a:cs typeface="Courier New" pitchFamily="49" charset="0"/>
              </a:rPr>
              <a:t>#include &lt;</a:t>
            </a:r>
            <a:r>
              <a:rPr lang="en-US" altLang="zh-CN" sz="2000" dirty="0" err="1" smtClean="0">
                <a:solidFill>
                  <a:srgbClr val="FFC000"/>
                </a:solidFill>
                <a:cs typeface="Courier New" pitchFamily="49" charset="0"/>
              </a:rPr>
              <a:t>cctype</a:t>
            </a:r>
            <a:r>
              <a:rPr lang="en-US" altLang="zh-CN" sz="2000" dirty="0" smtClean="0">
                <a:solidFill>
                  <a:srgbClr val="FFC000"/>
                </a:solidFill>
                <a:cs typeface="Courier New" pitchFamily="49" charset="0"/>
              </a:rPr>
              <a:t>&gt;</a:t>
            </a:r>
          </a:p>
          <a:p>
            <a:pPr eaLnBrk="1" hangingPunct="1">
              <a:lnSpc>
                <a:spcPct val="90000"/>
              </a:lnSpc>
              <a:buFont typeface="Wingdings" pitchFamily="2" charset="2"/>
              <a:buNone/>
              <a:defRPr/>
            </a:pPr>
            <a:r>
              <a:rPr lang="en-US" altLang="zh-CN" sz="2000" dirty="0" smtClean="0">
                <a:cs typeface="Courier New" pitchFamily="49" charset="0"/>
              </a:rPr>
              <a:t>using namespace </a:t>
            </a:r>
            <a:r>
              <a:rPr lang="en-US" altLang="zh-CN" sz="2000" dirty="0" err="1" smtClean="0">
                <a:cs typeface="Courier New" pitchFamily="49" charset="0"/>
              </a:rPr>
              <a:t>std</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err="1" smtClean="0">
                <a:cs typeface="Courier New" pitchFamily="49" charset="0"/>
              </a:rPr>
              <a:t>int</a:t>
            </a:r>
            <a:r>
              <a:rPr lang="en-US" altLang="zh-CN" sz="2000" dirty="0" smtClean="0">
                <a:cs typeface="Courier New" pitchFamily="49" charset="0"/>
              </a:rPr>
              <a:t> main()</a:t>
            </a:r>
          </a:p>
          <a:p>
            <a:pPr eaLnBrk="1" hangingPunct="1">
              <a:lnSpc>
                <a:spcPct val="90000"/>
              </a:lnSpc>
              <a:buFont typeface="Wingdings" pitchFamily="2" charset="2"/>
              <a:buNone/>
              <a:defRPr/>
            </a:pPr>
            <a:r>
              <a:rPr lang="en-US" altLang="zh-CN" sz="2000" dirty="0" smtClean="0">
                <a:cs typeface="Courier New" pitchFamily="49" charset="0"/>
              </a:rPr>
              <a:t>{	char </a:t>
            </a:r>
            <a:r>
              <a:rPr lang="en-US" altLang="zh-CN" sz="2000" dirty="0" err="1" smtClean="0">
                <a:cs typeface="Courier New" pitchFamily="49" charset="0"/>
              </a:rPr>
              <a:t>ch</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smtClean="0">
                <a:cs typeface="Courier New" pitchFamily="49" charset="0"/>
              </a:rPr>
              <a:t>	do</a:t>
            </a:r>
          </a:p>
          <a:p>
            <a:pPr eaLnBrk="1" hangingPunct="1">
              <a:lnSpc>
                <a:spcPct val="90000"/>
              </a:lnSpc>
              <a:buFont typeface="Wingdings" pitchFamily="2" charset="2"/>
              <a:buNone/>
              <a:defRPr/>
            </a:pPr>
            <a:r>
              <a:rPr lang="en-US" altLang="zh-CN" sz="2000" dirty="0" smtClean="0">
                <a:cs typeface="Courier New" pitchFamily="49" charset="0"/>
              </a:rPr>
              <a:t>	{	</a:t>
            </a:r>
            <a:r>
              <a:rPr lang="en-US" altLang="zh-CN" sz="2000" dirty="0" err="1" smtClean="0">
                <a:cs typeface="Courier New" pitchFamily="49" charset="0"/>
              </a:rPr>
              <a:t>cout</a:t>
            </a:r>
            <a:r>
              <a:rPr lang="en-US" altLang="zh-CN" sz="2000" dirty="0" smtClean="0">
                <a:cs typeface="Courier New" pitchFamily="49" charset="0"/>
              </a:rPr>
              <a:t> &lt;&lt; "</a:t>
            </a:r>
            <a:r>
              <a:rPr lang="zh-CN" altLang="en-US" sz="2000" dirty="0" smtClean="0"/>
              <a:t>请输入</a:t>
            </a:r>
            <a:r>
              <a:rPr lang="en-US" altLang="zh-CN" sz="2000" dirty="0" smtClean="0">
                <a:cs typeface="Courier New" pitchFamily="49" charset="0"/>
              </a:rPr>
              <a:t>Yes</a:t>
            </a:r>
            <a:r>
              <a:rPr lang="zh-CN" altLang="en-US" sz="2000" dirty="0" smtClean="0"/>
              <a:t>或</a:t>
            </a:r>
            <a:r>
              <a:rPr lang="en-US" altLang="zh-CN" sz="2000" dirty="0" smtClean="0">
                <a:cs typeface="Courier New" pitchFamily="49" charset="0"/>
              </a:rPr>
              <a:t>No</a:t>
            </a:r>
            <a:r>
              <a:rPr lang="zh-CN" altLang="en-US" sz="2000" dirty="0" smtClean="0"/>
              <a:t>（</a:t>
            </a:r>
            <a:r>
              <a:rPr lang="en-US" altLang="zh-CN" sz="2000" dirty="0" smtClean="0">
                <a:cs typeface="Courier New" pitchFamily="49" charset="0"/>
              </a:rPr>
              <a:t>y/n</a:t>
            </a:r>
            <a:r>
              <a:rPr lang="zh-CN" altLang="en-US" sz="2000" dirty="0" smtClean="0"/>
              <a:t>）：</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smtClean="0">
                <a:cs typeface="Courier New" pitchFamily="49" charset="0"/>
              </a:rPr>
              <a:t>		</a:t>
            </a:r>
            <a:r>
              <a:rPr lang="en-US" altLang="zh-CN" sz="2000" dirty="0" err="1" smtClean="0">
                <a:cs typeface="Courier New" pitchFamily="49" charset="0"/>
              </a:rPr>
              <a:t>cin</a:t>
            </a:r>
            <a:r>
              <a:rPr lang="en-US" altLang="zh-CN" sz="2000" dirty="0" smtClean="0">
                <a:cs typeface="Courier New" pitchFamily="49" charset="0"/>
              </a:rPr>
              <a:t> &gt;&gt; </a:t>
            </a:r>
            <a:r>
              <a:rPr lang="en-US" altLang="zh-CN" sz="2000" dirty="0" err="1" smtClean="0">
                <a:cs typeface="Courier New" pitchFamily="49" charset="0"/>
              </a:rPr>
              <a:t>ch</a:t>
            </a:r>
            <a:r>
              <a:rPr lang="en-US" altLang="zh-CN" sz="2000" dirty="0" smtClean="0">
                <a:cs typeface="Courier New" pitchFamily="49" charset="0"/>
              </a:rPr>
              <a:t>;</a:t>
            </a:r>
          </a:p>
          <a:p>
            <a:pPr eaLnBrk="1" hangingPunct="1">
              <a:lnSpc>
                <a:spcPct val="90000"/>
              </a:lnSpc>
              <a:buFont typeface="Wingdings" pitchFamily="2" charset="2"/>
              <a:buNone/>
              <a:defRPr/>
            </a:pPr>
            <a:r>
              <a:rPr lang="en-US" altLang="zh-CN" sz="2000" dirty="0" smtClean="0">
                <a:cs typeface="Courier New" pitchFamily="49" charset="0"/>
              </a:rPr>
              <a:t>		</a:t>
            </a:r>
          </a:p>
          <a:p>
            <a:pPr eaLnBrk="1" hangingPunct="1">
              <a:lnSpc>
                <a:spcPct val="90000"/>
              </a:lnSpc>
              <a:buFont typeface="Wingdings" pitchFamily="2" charset="2"/>
              <a:buNone/>
              <a:defRPr/>
            </a:pPr>
            <a:r>
              <a:rPr lang="en-US" altLang="zh-CN" sz="2000" dirty="0" smtClean="0">
                <a:cs typeface="Courier New" pitchFamily="49" charset="0"/>
              </a:rPr>
              <a:t>	} while (</a:t>
            </a:r>
            <a:r>
              <a:rPr lang="en-US" altLang="zh-CN" sz="2000" dirty="0" err="1" smtClean="0">
                <a:cs typeface="Courier New" pitchFamily="49" charset="0"/>
              </a:rPr>
              <a:t>ch</a:t>
            </a:r>
            <a:r>
              <a:rPr lang="en-US" altLang="zh-CN" sz="2000" dirty="0" smtClean="0">
                <a:cs typeface="Courier New" pitchFamily="49" charset="0"/>
              </a:rPr>
              <a:t> != 'y' &amp;&amp; </a:t>
            </a:r>
            <a:r>
              <a:rPr lang="en-US" altLang="zh-CN" sz="2000" dirty="0" err="1" smtClean="0">
                <a:cs typeface="Courier New" pitchFamily="49" charset="0"/>
              </a:rPr>
              <a:t>ch</a:t>
            </a:r>
            <a:r>
              <a:rPr lang="en-US" altLang="zh-CN" sz="2000" dirty="0" smtClean="0">
                <a:cs typeface="Courier New" pitchFamily="49" charset="0"/>
              </a:rPr>
              <a:t> != 'n' &amp;&amp; </a:t>
            </a:r>
            <a:r>
              <a:rPr lang="en-US" altLang="zh-CN" sz="2000" dirty="0" err="1" smtClean="0">
                <a:cs typeface="Courier New" pitchFamily="49" charset="0"/>
              </a:rPr>
              <a:t>ch</a:t>
            </a:r>
            <a:r>
              <a:rPr lang="en-US" altLang="zh-CN" sz="2000" dirty="0" smtClean="0">
                <a:cs typeface="Courier New" pitchFamily="49" charset="0"/>
              </a:rPr>
              <a:t> != 'Y' &amp;&amp; </a:t>
            </a:r>
            <a:r>
              <a:rPr lang="en-US" altLang="zh-CN" sz="2000" dirty="0" err="1" smtClean="0">
                <a:cs typeface="Courier New" pitchFamily="49" charset="0"/>
              </a:rPr>
              <a:t>ch</a:t>
            </a:r>
            <a:r>
              <a:rPr lang="en-US" altLang="zh-CN" sz="2000" dirty="0" smtClean="0">
                <a:cs typeface="Courier New" pitchFamily="49" charset="0"/>
              </a:rPr>
              <a:t> != 'N');</a:t>
            </a:r>
          </a:p>
          <a:p>
            <a:pPr eaLnBrk="1" hangingPunct="1">
              <a:lnSpc>
                <a:spcPct val="90000"/>
              </a:lnSpc>
              <a:buFont typeface="Wingdings" pitchFamily="2" charset="2"/>
              <a:buNone/>
              <a:defRPr/>
            </a:pPr>
            <a:r>
              <a:rPr lang="en-US" altLang="zh-CN" sz="2000" dirty="0" smtClean="0">
                <a:cs typeface="Courier New" pitchFamily="49" charset="0"/>
              </a:rPr>
              <a:t>	if (</a:t>
            </a:r>
            <a:r>
              <a:rPr lang="en-US" altLang="zh-CN" sz="2000" dirty="0" err="1" smtClean="0">
                <a:cs typeface="Courier New" pitchFamily="49" charset="0"/>
              </a:rPr>
              <a:t>ch</a:t>
            </a:r>
            <a:r>
              <a:rPr lang="en-US" altLang="zh-CN" sz="2000" dirty="0" smtClean="0">
                <a:cs typeface="Courier New" pitchFamily="49" charset="0"/>
              </a:rPr>
              <a:t> == 'y' || </a:t>
            </a:r>
            <a:r>
              <a:rPr lang="en-US" altLang="zh-CN" sz="2000" dirty="0" err="1" smtClean="0">
                <a:cs typeface="Courier New" pitchFamily="49" charset="0"/>
              </a:rPr>
              <a:t>ch</a:t>
            </a:r>
            <a:r>
              <a:rPr lang="en-US" altLang="zh-CN" sz="2000" dirty="0" smtClean="0">
                <a:cs typeface="Courier New" pitchFamily="49" charset="0"/>
              </a:rPr>
              <a:t> == 'Y')</a:t>
            </a:r>
          </a:p>
          <a:p>
            <a:pPr eaLnBrk="1" hangingPunct="1">
              <a:lnSpc>
                <a:spcPct val="90000"/>
              </a:lnSpc>
              <a:buFont typeface="Wingdings" pitchFamily="2" charset="2"/>
              <a:buNone/>
              <a:defRPr/>
            </a:pPr>
            <a:r>
              <a:rPr lang="en-US" altLang="zh-CN" sz="2000" dirty="0" smtClean="0">
                <a:cs typeface="Courier New" pitchFamily="49" charset="0"/>
              </a:rPr>
              <a:t>	  ......</a:t>
            </a:r>
          </a:p>
          <a:p>
            <a:pPr eaLnBrk="1" hangingPunct="1">
              <a:lnSpc>
                <a:spcPct val="90000"/>
              </a:lnSpc>
              <a:buFont typeface="Wingdings" pitchFamily="2" charset="2"/>
              <a:buNone/>
              <a:defRPr/>
            </a:pPr>
            <a:r>
              <a:rPr lang="en-US" altLang="zh-CN" sz="2000" dirty="0" smtClean="0">
                <a:cs typeface="Courier New" pitchFamily="49" charset="0"/>
              </a:rPr>
              <a:t>	else</a:t>
            </a:r>
          </a:p>
          <a:p>
            <a:pPr eaLnBrk="1" hangingPunct="1">
              <a:lnSpc>
                <a:spcPct val="90000"/>
              </a:lnSpc>
              <a:buFont typeface="Wingdings" pitchFamily="2" charset="2"/>
              <a:buNone/>
              <a:defRPr/>
            </a:pPr>
            <a:r>
              <a:rPr lang="en-US" altLang="zh-CN" sz="2000" dirty="0" smtClean="0">
                <a:cs typeface="Courier New" pitchFamily="49" charset="0"/>
              </a:rPr>
              <a:t>	  ......</a:t>
            </a:r>
          </a:p>
          <a:p>
            <a:pPr eaLnBrk="1" hangingPunct="1">
              <a:lnSpc>
                <a:spcPct val="90000"/>
              </a:lnSpc>
              <a:buFont typeface="Wingdings" pitchFamily="2" charset="2"/>
              <a:buNone/>
              <a:defRPr/>
            </a:pPr>
            <a:r>
              <a:rPr lang="en-US" altLang="zh-CN" sz="2000" dirty="0" smtClean="0">
                <a:cs typeface="Courier New" pitchFamily="49" charset="0"/>
              </a:rPr>
              <a:t>	return 0;</a:t>
            </a:r>
          </a:p>
          <a:p>
            <a:pPr eaLnBrk="1" hangingPunct="1">
              <a:lnSpc>
                <a:spcPct val="90000"/>
              </a:lnSpc>
              <a:buFont typeface="Wingdings" pitchFamily="2" charset="2"/>
              <a:buNone/>
              <a:defRPr/>
            </a:pPr>
            <a:r>
              <a:rPr lang="en-US" altLang="zh-CN" sz="2000" dirty="0" smtClean="0">
                <a:cs typeface="Courier New" pitchFamily="49" charset="0"/>
              </a:rPr>
              <a:t>}</a:t>
            </a:r>
            <a:endParaRPr lang="en-US" altLang="zh-CN" sz="2000" dirty="0" smtClean="0"/>
          </a:p>
        </p:txBody>
      </p:sp>
      <p:sp>
        <p:nvSpPr>
          <p:cNvPr id="2" name="文本框 1"/>
          <p:cNvSpPr txBox="1"/>
          <p:nvPr/>
        </p:nvSpPr>
        <p:spPr>
          <a:xfrm>
            <a:off x="611560" y="3966736"/>
            <a:ext cx="8424936" cy="1046440"/>
          </a:xfrm>
          <a:prstGeom prst="rect">
            <a:avLst/>
          </a:prstGeom>
          <a:solidFill>
            <a:schemeClr val="bg2">
              <a:lumMod val="50000"/>
            </a:schemeClr>
          </a:solidFill>
        </p:spPr>
        <p:txBody>
          <a:bodyPr wrap="square" rtlCol="0">
            <a:spAutoFit/>
          </a:bodyPr>
          <a:lstStyle/>
          <a:p>
            <a:pPr>
              <a:buNone/>
            </a:pPr>
            <a:r>
              <a:rPr lang="en-US" altLang="zh-CN" sz="2000" dirty="0" smtClean="0"/>
              <a:t>      </a:t>
            </a:r>
            <a:r>
              <a:rPr lang="en-US" altLang="zh-CN" sz="2000" dirty="0" err="1" smtClean="0"/>
              <a:t>ch</a:t>
            </a:r>
            <a:r>
              <a:rPr lang="en-US" altLang="zh-CN" sz="2000" dirty="0" smtClean="0"/>
              <a:t> </a:t>
            </a:r>
            <a:r>
              <a:rPr lang="en-US" altLang="zh-CN" sz="2000" dirty="0"/>
              <a:t>= </a:t>
            </a:r>
            <a:r>
              <a:rPr lang="en-US" altLang="zh-CN" sz="2000" dirty="0" err="1">
                <a:solidFill>
                  <a:srgbClr val="FFC000"/>
                </a:solidFill>
              </a:rPr>
              <a:t>tolower</a:t>
            </a:r>
            <a:r>
              <a:rPr lang="en-US" altLang="zh-CN" sz="2000" dirty="0"/>
              <a:t>(</a:t>
            </a:r>
            <a:r>
              <a:rPr lang="en-US" altLang="zh-CN" sz="2000" dirty="0" err="1"/>
              <a:t>ch</a:t>
            </a:r>
            <a:r>
              <a:rPr lang="en-US" altLang="zh-CN" sz="2000" dirty="0"/>
              <a:t>); </a:t>
            </a:r>
            <a:r>
              <a:rPr lang="en-US" altLang="zh-CN" sz="2000" dirty="0" smtClean="0"/>
              <a:t>//</a:t>
            </a:r>
            <a:r>
              <a:rPr lang="zh-CN" altLang="en-US" sz="2000" dirty="0" smtClean="0"/>
              <a:t>库函数，如果</a:t>
            </a:r>
            <a:r>
              <a:rPr lang="en-US" altLang="zh-CN" sz="2000" dirty="0" err="1"/>
              <a:t>ch</a:t>
            </a:r>
            <a:r>
              <a:rPr lang="zh-CN" altLang="en-US" sz="2000" dirty="0"/>
              <a:t>是大写字母，则转成小写字母。</a:t>
            </a:r>
          </a:p>
          <a:p>
            <a:pPr>
              <a:buNone/>
            </a:pPr>
            <a:r>
              <a:rPr lang="en-US" altLang="zh-CN" sz="2000" dirty="0" smtClean="0"/>
              <a:t>} </a:t>
            </a:r>
            <a:r>
              <a:rPr lang="en-US" altLang="zh-CN" sz="2000" dirty="0"/>
              <a:t>while (</a:t>
            </a:r>
            <a:r>
              <a:rPr lang="en-US" altLang="zh-CN" sz="2000" dirty="0" err="1"/>
              <a:t>ch</a:t>
            </a:r>
            <a:r>
              <a:rPr lang="en-US" altLang="zh-CN" sz="2000" dirty="0"/>
              <a:t> != 'y' &amp;&amp; </a:t>
            </a:r>
            <a:r>
              <a:rPr lang="en-US" altLang="zh-CN" sz="2000" dirty="0" err="1"/>
              <a:t>ch</a:t>
            </a:r>
            <a:r>
              <a:rPr lang="en-US" altLang="zh-CN" sz="2000" dirty="0"/>
              <a:t> != 'n');</a:t>
            </a:r>
          </a:p>
          <a:p>
            <a:pPr>
              <a:buNone/>
            </a:pPr>
            <a:r>
              <a:rPr lang="en-US" altLang="zh-CN" sz="2000" dirty="0" smtClean="0"/>
              <a:t>if </a:t>
            </a:r>
            <a:r>
              <a:rPr lang="en-US" altLang="zh-CN" sz="2000" dirty="0"/>
              <a:t>(</a:t>
            </a:r>
            <a:r>
              <a:rPr lang="en-US" altLang="zh-CN" sz="2000" dirty="0" err="1"/>
              <a:t>ch</a:t>
            </a:r>
            <a:r>
              <a:rPr lang="en-US" altLang="zh-CN" sz="2000" dirty="0"/>
              <a:t> == 'y</a:t>
            </a:r>
            <a:r>
              <a:rPr lang="en-US" altLang="zh-CN" sz="2000" dirty="0" smtClean="0"/>
              <a:t>')</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anim calcmode="lin" valueType="num">
                                      <p:cBhvr additive="base">
                                        <p:cTn id="11"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120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“死循环”</a:t>
            </a:r>
            <a:endParaRPr lang="zh-CN" altLang="en-US" dirty="0"/>
          </a:p>
        </p:txBody>
      </p:sp>
      <p:sp>
        <p:nvSpPr>
          <p:cNvPr id="3" name="内容占位符 2"/>
          <p:cNvSpPr>
            <a:spLocks noGrp="1"/>
          </p:cNvSpPr>
          <p:nvPr>
            <p:ph idx="1"/>
          </p:nvPr>
        </p:nvSpPr>
        <p:spPr>
          <a:xfrm>
            <a:off x="179512" y="1600200"/>
            <a:ext cx="8784976" cy="4925144"/>
          </a:xfrm>
        </p:spPr>
        <p:txBody>
          <a:bodyPr>
            <a:normAutofit/>
          </a:bodyPr>
          <a:lstStyle/>
          <a:p>
            <a:pPr>
              <a:lnSpc>
                <a:spcPct val="110000"/>
              </a:lnSpc>
              <a:defRPr/>
            </a:pPr>
            <a:r>
              <a:rPr lang="zh-CN" altLang="en-US" dirty="0" smtClean="0"/>
              <a:t>在</a:t>
            </a:r>
            <a:r>
              <a:rPr lang="zh-CN" altLang="en-US" dirty="0" smtClean="0">
                <a:solidFill>
                  <a:srgbClr val="FFC000"/>
                </a:solidFill>
              </a:rPr>
              <a:t>循环体</a:t>
            </a:r>
            <a:r>
              <a:rPr lang="zh-CN" altLang="en-US" dirty="0" smtClean="0"/>
              <a:t>或</a:t>
            </a:r>
            <a:r>
              <a:rPr lang="en-US" altLang="zh-CN" dirty="0" smtClean="0"/>
              <a:t>for</a:t>
            </a:r>
            <a:r>
              <a:rPr lang="zh-CN" altLang="en-US" dirty="0" smtClean="0"/>
              <a:t>语句的</a:t>
            </a:r>
            <a:r>
              <a:rPr lang="en-US" altLang="zh-CN" dirty="0" smtClean="0">
                <a:solidFill>
                  <a:srgbClr val="FFC000"/>
                </a:solidFill>
              </a:rPr>
              <a:t>&lt;</a:t>
            </a:r>
            <a:r>
              <a:rPr lang="zh-CN" altLang="en-US" dirty="0" smtClean="0">
                <a:solidFill>
                  <a:srgbClr val="FFC000"/>
                </a:solidFill>
              </a:rPr>
              <a:t>表达式</a:t>
            </a:r>
            <a:r>
              <a:rPr lang="en-US" altLang="zh-CN" dirty="0" smtClean="0">
                <a:solidFill>
                  <a:srgbClr val="FFC000"/>
                </a:solidFill>
              </a:rPr>
              <a:t>3&gt;</a:t>
            </a:r>
            <a:r>
              <a:rPr lang="zh-CN" altLang="en-US" dirty="0" smtClean="0"/>
              <a:t>中</a:t>
            </a:r>
            <a:endParaRPr lang="en-US" altLang="zh-CN" dirty="0" smtClean="0"/>
          </a:p>
          <a:p>
            <a:pPr lvl="1">
              <a:lnSpc>
                <a:spcPct val="110000"/>
              </a:lnSpc>
              <a:defRPr/>
            </a:pPr>
            <a:r>
              <a:rPr lang="zh-CN" altLang="en-US" dirty="0" smtClean="0"/>
              <a:t>一定要有能改变循环条件中操作数值的操作，并逐步使得循环条件有不满足的趋势，</a:t>
            </a:r>
            <a:endParaRPr lang="en-US" altLang="zh-CN" dirty="0" smtClean="0"/>
          </a:p>
          <a:p>
            <a:pPr lvl="1">
              <a:lnSpc>
                <a:spcPct val="110000"/>
              </a:lnSpc>
              <a:defRPr/>
            </a:pPr>
            <a:r>
              <a:rPr lang="zh-CN" altLang="en-US" dirty="0" smtClean="0"/>
              <a:t>否则将会出现“</a:t>
            </a:r>
            <a:r>
              <a:rPr lang="zh-CN" altLang="en-US" dirty="0" smtClean="0">
                <a:solidFill>
                  <a:srgbClr val="FFC000"/>
                </a:solidFill>
              </a:rPr>
              <a:t>死循环</a:t>
            </a:r>
            <a:r>
              <a:rPr lang="zh-CN" altLang="en-US" dirty="0" smtClean="0"/>
              <a:t>”：循环</a:t>
            </a:r>
            <a:r>
              <a:rPr lang="zh-CN" altLang="en-US" dirty="0"/>
              <a:t>永远结束不了</a:t>
            </a:r>
            <a:r>
              <a:rPr lang="zh-CN" altLang="en-US" dirty="0" smtClean="0"/>
              <a:t>！</a:t>
            </a:r>
            <a:endParaRPr lang="en-US" altLang="zh-CN" dirty="0" smtClean="0"/>
          </a:p>
          <a:p>
            <a:pPr>
              <a:lnSpc>
                <a:spcPct val="110000"/>
              </a:lnSpc>
              <a:defRPr/>
            </a:pPr>
            <a:r>
              <a:rPr lang="zh-CN" altLang="en-US" dirty="0" smtClean="0"/>
              <a:t>例如，下面就是一个死循环：</a:t>
            </a:r>
            <a:endParaRPr lang="en-US" altLang="zh-CN" dirty="0" smtClean="0"/>
          </a:p>
          <a:p>
            <a:pPr eaLnBrk="1" hangingPunct="1">
              <a:lnSpc>
                <a:spcPct val="80000"/>
              </a:lnSpc>
              <a:buNone/>
              <a:defRPr/>
            </a:pPr>
            <a:r>
              <a:rPr lang="en-US" altLang="zh-CN" sz="2400" dirty="0" smtClean="0">
                <a:cs typeface="Courier New" pitchFamily="49" charset="0"/>
              </a:rPr>
              <a:t>	</a:t>
            </a:r>
            <a:r>
              <a:rPr lang="en-US" altLang="zh-CN" sz="2400" dirty="0" err="1" smtClean="0">
                <a:cs typeface="Courier New" pitchFamily="49" charset="0"/>
              </a:rPr>
              <a:t>int</a:t>
            </a:r>
            <a:r>
              <a:rPr lang="en-US" altLang="zh-CN" sz="2400" dirty="0" smtClean="0">
                <a:cs typeface="Courier New" pitchFamily="49" charset="0"/>
              </a:rPr>
              <a:t> </a:t>
            </a:r>
            <a:r>
              <a:rPr lang="en-US" altLang="zh-CN" sz="2400" dirty="0" err="1">
                <a:cs typeface="Courier New" pitchFamily="49" charset="0"/>
              </a:rPr>
              <a:t>i</a:t>
            </a:r>
            <a:r>
              <a:rPr lang="en-US" altLang="zh-CN" sz="2400" dirty="0">
                <a:cs typeface="Courier New" pitchFamily="49" charset="0"/>
              </a:rPr>
              <a:t>=2,f=1</a:t>
            </a:r>
            <a:r>
              <a:rPr lang="en-US" altLang="zh-CN" sz="2400" dirty="0" smtClean="0">
                <a:cs typeface="Courier New" pitchFamily="49" charset="0"/>
              </a:rPr>
              <a:t>;</a:t>
            </a:r>
            <a:endParaRPr lang="zh-CN" altLang="en-US" sz="2400" dirty="0">
              <a:cs typeface="Courier New" pitchFamily="49" charset="0"/>
            </a:endParaRPr>
          </a:p>
          <a:p>
            <a:pPr eaLnBrk="1" hangingPunct="1">
              <a:lnSpc>
                <a:spcPct val="80000"/>
              </a:lnSpc>
              <a:buNone/>
              <a:defRPr/>
            </a:pPr>
            <a:r>
              <a:rPr lang="zh-CN" altLang="en-US" sz="2400" dirty="0">
                <a:cs typeface="Courier New" pitchFamily="49" charset="0"/>
              </a:rPr>
              <a:t>	</a:t>
            </a:r>
            <a:r>
              <a:rPr lang="en-US" altLang="zh-CN" sz="2400" dirty="0">
                <a:cs typeface="Courier New" pitchFamily="49" charset="0"/>
              </a:rPr>
              <a:t>while (</a:t>
            </a:r>
            <a:r>
              <a:rPr lang="en-US" altLang="zh-CN" sz="2400" dirty="0" err="1">
                <a:cs typeface="Courier New" pitchFamily="49" charset="0"/>
              </a:rPr>
              <a:t>i</a:t>
            </a:r>
            <a:r>
              <a:rPr lang="en-US" altLang="zh-CN" sz="2400" dirty="0">
                <a:cs typeface="Courier New" pitchFamily="49" charset="0"/>
              </a:rPr>
              <a:t> &lt;= n</a:t>
            </a:r>
            <a:r>
              <a:rPr lang="en-US" altLang="zh-CN" sz="2400" dirty="0" smtClean="0">
                <a:cs typeface="Courier New" pitchFamily="49" charset="0"/>
              </a:rPr>
              <a:t>)</a:t>
            </a:r>
            <a:endParaRPr lang="zh-CN" altLang="en-US" sz="2400" dirty="0"/>
          </a:p>
          <a:p>
            <a:pPr eaLnBrk="1" hangingPunct="1">
              <a:lnSpc>
                <a:spcPct val="80000"/>
              </a:lnSpc>
              <a:buNone/>
              <a:defRPr/>
            </a:pPr>
            <a:r>
              <a:rPr lang="zh-CN" altLang="en-US" sz="2400" dirty="0">
                <a:cs typeface="Courier New" pitchFamily="49" charset="0"/>
              </a:rPr>
              <a:t>	</a:t>
            </a:r>
            <a:r>
              <a:rPr lang="en-US" altLang="zh-CN" sz="2400" dirty="0">
                <a:cs typeface="Courier New" pitchFamily="49" charset="0"/>
              </a:rPr>
              <a:t>{	f *= </a:t>
            </a:r>
            <a:r>
              <a:rPr lang="en-US" altLang="zh-CN" sz="2400" dirty="0" err="1">
                <a:cs typeface="Courier New" pitchFamily="49" charset="0"/>
              </a:rPr>
              <a:t>i</a:t>
            </a:r>
            <a:r>
              <a:rPr lang="en-US" altLang="zh-CN" sz="2400" dirty="0" smtClean="0">
                <a:cs typeface="Courier New" pitchFamily="49" charset="0"/>
              </a:rPr>
              <a:t>;</a:t>
            </a:r>
            <a:endParaRPr lang="en-US" altLang="zh-CN" sz="2400" dirty="0">
              <a:cs typeface="Courier New" pitchFamily="49" charset="0"/>
            </a:endParaRPr>
          </a:p>
          <a:p>
            <a:pPr eaLnBrk="1" hangingPunct="1">
              <a:lnSpc>
                <a:spcPct val="80000"/>
              </a:lnSpc>
              <a:buNone/>
              <a:defRPr/>
            </a:pPr>
            <a:r>
              <a:rPr lang="en-US" altLang="zh-CN" sz="2400" dirty="0">
                <a:cs typeface="Courier New" pitchFamily="49" charset="0"/>
              </a:rPr>
              <a:t>		</a:t>
            </a:r>
            <a:r>
              <a:rPr lang="en-US" altLang="zh-CN" sz="2400" dirty="0" smtClean="0">
                <a:cs typeface="Courier New" pitchFamily="49" charset="0"/>
              </a:rPr>
              <a:t>//</a:t>
            </a:r>
            <a:r>
              <a:rPr lang="zh-CN" altLang="en-US" sz="2400" dirty="0">
                <a:solidFill>
                  <a:srgbClr val="FFC000"/>
                </a:solidFill>
                <a:cs typeface="Courier New" pitchFamily="49" charset="0"/>
              </a:rPr>
              <a:t>这里</a:t>
            </a:r>
            <a:r>
              <a:rPr lang="zh-CN" altLang="en-US" sz="2400" dirty="0" smtClean="0">
                <a:solidFill>
                  <a:srgbClr val="FFC000"/>
                </a:solidFill>
                <a:cs typeface="Courier New" pitchFamily="49" charset="0"/>
              </a:rPr>
              <a:t>忘了写</a:t>
            </a:r>
            <a:r>
              <a:rPr lang="zh-CN" altLang="en-US" sz="2400" dirty="0" smtClean="0">
                <a:cs typeface="Courier New" pitchFamily="49" charset="0"/>
              </a:rPr>
              <a:t>：</a:t>
            </a:r>
            <a:r>
              <a:rPr lang="en-US" altLang="zh-CN" sz="2400" dirty="0" err="1" smtClean="0">
                <a:cs typeface="Courier New" pitchFamily="49" charset="0"/>
              </a:rPr>
              <a:t>i</a:t>
            </a:r>
            <a:r>
              <a:rPr lang="en-US" altLang="zh-CN" sz="2400" dirty="0" smtClean="0">
                <a:cs typeface="Courier New" pitchFamily="49" charset="0"/>
              </a:rPr>
              <a:t>++;</a:t>
            </a:r>
            <a:endParaRPr lang="zh-CN" altLang="en-US" sz="2400" dirty="0">
              <a:cs typeface="Courier New" pitchFamily="49" charset="0"/>
            </a:endParaRPr>
          </a:p>
          <a:p>
            <a:pPr eaLnBrk="1" hangingPunct="1">
              <a:lnSpc>
                <a:spcPct val="80000"/>
              </a:lnSpc>
              <a:buNone/>
              <a:defRPr/>
            </a:pPr>
            <a:r>
              <a:rPr lang="zh-CN" altLang="en-US" sz="2400" dirty="0">
                <a:cs typeface="Courier New" pitchFamily="49" charset="0"/>
              </a:rPr>
              <a:t>	</a:t>
            </a:r>
            <a:r>
              <a:rPr lang="en-US" altLang="zh-CN" sz="2400" dirty="0" smtClean="0">
                <a:cs typeface="Courier New" pitchFamily="49" charset="0"/>
              </a:rPr>
              <a:t>}</a:t>
            </a:r>
            <a:endParaRPr lang="zh-CN" altLang="en-US" sz="2400" dirty="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基于循环的程序设计举例</a:t>
            </a:r>
            <a:endParaRPr lang="zh-CN" altLang="en-US" dirty="0"/>
          </a:p>
        </p:txBody>
      </p:sp>
      <p:sp>
        <p:nvSpPr>
          <p:cNvPr id="3" name="内容占位符 2"/>
          <p:cNvSpPr>
            <a:spLocks noGrp="1"/>
          </p:cNvSpPr>
          <p:nvPr>
            <p:ph idx="1"/>
          </p:nvPr>
        </p:nvSpPr>
        <p:spPr>
          <a:xfrm>
            <a:off x="251520" y="1888232"/>
            <a:ext cx="8686800" cy="4205064"/>
          </a:xfrm>
        </p:spPr>
        <p:txBody>
          <a:bodyPr>
            <a:normAutofit fontScale="92500"/>
          </a:bodyPr>
          <a:lstStyle/>
          <a:p>
            <a:pPr eaLnBrk="1" hangingPunct="1">
              <a:lnSpc>
                <a:spcPct val="120000"/>
              </a:lnSpc>
            </a:pPr>
            <a:r>
              <a:rPr lang="zh-CN" altLang="en-US" dirty="0"/>
              <a:t>循环是一个使用非常频繁的程序设计技术</a:t>
            </a:r>
            <a:r>
              <a:rPr lang="zh-CN" altLang="en-US" dirty="0" smtClean="0"/>
              <a:t>，</a:t>
            </a:r>
            <a:endParaRPr lang="en-US" altLang="zh-CN" dirty="0" smtClean="0"/>
          </a:p>
          <a:p>
            <a:pPr lvl="1" eaLnBrk="1" hangingPunct="1">
              <a:lnSpc>
                <a:spcPct val="120000"/>
              </a:lnSpc>
            </a:pPr>
            <a:r>
              <a:rPr lang="zh-CN" altLang="en-US" dirty="0" smtClean="0"/>
              <a:t>一</a:t>
            </a:r>
            <a:r>
              <a:rPr lang="zh-CN" altLang="en-US" dirty="0"/>
              <a:t>个程序如果没有循环，则该程序一般做不了太复杂的事情</a:t>
            </a:r>
            <a:r>
              <a:rPr lang="zh-CN" altLang="en-US" dirty="0" smtClean="0"/>
              <a:t>，</a:t>
            </a:r>
            <a:endParaRPr lang="en-US" altLang="zh-CN" dirty="0" smtClean="0"/>
          </a:p>
          <a:p>
            <a:pPr lvl="1" eaLnBrk="1" hangingPunct="1">
              <a:lnSpc>
                <a:spcPct val="120000"/>
              </a:lnSpc>
            </a:pPr>
            <a:r>
              <a:rPr lang="zh-CN" altLang="en-US" dirty="0" smtClean="0"/>
              <a:t>往往</a:t>
            </a:r>
            <a:r>
              <a:rPr lang="zh-CN" altLang="en-US" dirty="0"/>
              <a:t>是循环操作使得程序变得复杂和功能强大起来</a:t>
            </a:r>
            <a:r>
              <a:rPr lang="zh-CN" altLang="en-US" dirty="0" smtClean="0"/>
              <a:t>。</a:t>
            </a:r>
            <a:endParaRPr lang="en-US" altLang="zh-CN" dirty="0" smtClean="0"/>
          </a:p>
          <a:p>
            <a:pPr eaLnBrk="1" hangingPunct="1">
              <a:lnSpc>
                <a:spcPct val="120000"/>
              </a:lnSpc>
            </a:pPr>
            <a:r>
              <a:rPr lang="zh-CN" altLang="en-US" dirty="0" smtClean="0"/>
              <a:t>对</a:t>
            </a:r>
            <a:r>
              <a:rPr lang="zh-CN" altLang="en-US" dirty="0"/>
              <a:t>初学者而言</a:t>
            </a:r>
            <a:r>
              <a:rPr lang="zh-CN" altLang="en-US" dirty="0" smtClean="0"/>
              <a:t>，发现</a:t>
            </a:r>
            <a:r>
              <a:rPr lang="zh-CN" altLang="en-US" dirty="0"/>
              <a:t>和组织</a:t>
            </a:r>
            <a:r>
              <a:rPr lang="zh-CN" altLang="en-US" dirty="0" smtClean="0"/>
              <a:t>循环往往是一个挑战！</a:t>
            </a:r>
            <a:endParaRPr lang="en-US" altLang="zh-CN" dirty="0" smtClean="0"/>
          </a:p>
          <a:p>
            <a:pPr eaLnBrk="1" hangingPunct="1">
              <a:lnSpc>
                <a:spcPct val="120000"/>
              </a:lnSpc>
            </a:pPr>
            <a:r>
              <a:rPr lang="zh-CN" altLang="en-US" dirty="0" smtClean="0"/>
              <a:t>下面通过一些循环的例子来进一步熟悉循环的运用。</a:t>
            </a:r>
            <a:endParaRPr lang="zh-CN" altLang="en-US" dirty="0"/>
          </a:p>
        </p:txBody>
      </p:sp>
    </p:spTree>
    <p:extLst>
      <p:ext uri="{BB962C8B-B14F-4D97-AF65-F5344CB8AC3E}">
        <p14:creationId xmlns:p14="http://schemas.microsoft.com/office/powerpoint/2010/main" val="358499622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1"/>
          <p:cNvSpPr>
            <a:spLocks noGrp="1" noChangeArrowheads="1"/>
          </p:cNvSpPr>
          <p:nvPr>
            <p:ph type="title"/>
          </p:nvPr>
        </p:nvSpPr>
        <p:spPr>
          <a:xfrm>
            <a:off x="457200" y="44450"/>
            <a:ext cx="8229600" cy="1139825"/>
          </a:xfrm>
        </p:spPr>
        <p:txBody>
          <a:bodyPr/>
          <a:lstStyle/>
          <a:p>
            <a:pPr algn="l" eaLnBrk="1" hangingPunct="1">
              <a:defRPr/>
            </a:pPr>
            <a:r>
              <a:rPr lang="zh-CN" altLang="en-US" sz="3600" dirty="0" smtClean="0">
                <a:latin typeface="+mj-ea"/>
              </a:rPr>
              <a:t>例：求第</a:t>
            </a:r>
            <a:r>
              <a:rPr lang="en-US" altLang="zh-CN" sz="3600" dirty="0" smtClean="0">
                <a:latin typeface="+mj-ea"/>
                <a:cs typeface="Times New Roman" pitchFamily="18" charset="0"/>
              </a:rPr>
              <a:t>n</a:t>
            </a:r>
            <a:r>
              <a:rPr lang="zh-CN" altLang="en-US" sz="3600" dirty="0" smtClean="0">
                <a:latin typeface="+mj-ea"/>
              </a:rPr>
              <a:t>个费波那契</a:t>
            </a:r>
            <a:r>
              <a:rPr lang="en-US" altLang="zh-CN" sz="3600" dirty="0" smtClean="0">
                <a:latin typeface="+mj-ea"/>
                <a:cs typeface="Times New Roman" pitchFamily="18" charset="0"/>
              </a:rPr>
              <a:t>(Fibonacci)</a:t>
            </a:r>
            <a:r>
              <a:rPr lang="zh-CN" altLang="en-US" sz="3600" dirty="0" smtClean="0">
                <a:latin typeface="+mj-ea"/>
              </a:rPr>
              <a:t>数</a:t>
            </a:r>
          </a:p>
        </p:txBody>
      </p:sp>
      <p:sp>
        <p:nvSpPr>
          <p:cNvPr id="26627" name="Rectangle 3"/>
          <p:cNvSpPr>
            <a:spLocks noGrp="1" noChangeArrowheads="1"/>
          </p:cNvSpPr>
          <p:nvPr>
            <p:ph type="body" sz="half" idx="1"/>
          </p:nvPr>
        </p:nvSpPr>
        <p:spPr>
          <a:xfrm>
            <a:off x="179388" y="1268760"/>
            <a:ext cx="8820150" cy="5401915"/>
          </a:xfrm>
        </p:spPr>
        <p:txBody>
          <a:bodyPr/>
          <a:lstStyle/>
          <a:p>
            <a:pPr eaLnBrk="1" hangingPunct="1">
              <a:lnSpc>
                <a:spcPct val="80000"/>
              </a:lnSpc>
              <a:buFont typeface="Wingdings" pitchFamily="2" charset="2"/>
              <a:buNone/>
              <a:defRPr/>
            </a:pPr>
            <a:r>
              <a:rPr lang="en-US" altLang="zh-CN" sz="2200" dirty="0" smtClean="0">
                <a:ea typeface="黑体" pitchFamily="2" charset="-122"/>
              </a:rPr>
              <a:t>//1,1,2,3,5,8,13,...</a:t>
            </a:r>
            <a:r>
              <a:rPr lang="zh-CN" altLang="en-US" sz="2200" dirty="0" smtClean="0">
                <a:latin typeface="+mn-ea"/>
              </a:rPr>
              <a:t>，除了第一、二个数，其它的数是前两个数的和</a:t>
            </a:r>
            <a:endParaRPr lang="en-US" altLang="zh-CN" sz="2200" dirty="0" smtClean="0">
              <a:latin typeface="+mn-ea"/>
            </a:endParaRPr>
          </a:p>
          <a:p>
            <a:pPr eaLnBrk="1" hangingPunct="1">
              <a:lnSpc>
                <a:spcPct val="80000"/>
              </a:lnSpc>
              <a:buNone/>
              <a:defRPr/>
            </a:pPr>
            <a:r>
              <a:rPr lang="en-US" altLang="zh-CN" sz="2000" dirty="0">
                <a:cs typeface="Courier New" pitchFamily="49" charset="0"/>
              </a:rPr>
              <a:t>//</a:t>
            </a:r>
            <a:r>
              <a:rPr lang="zh-CN" altLang="en-US" sz="2000" dirty="0">
                <a:solidFill>
                  <a:srgbClr val="FFC000"/>
                </a:solidFill>
                <a:cs typeface="Courier New" pitchFamily="49" charset="0"/>
              </a:rPr>
              <a:t>解题思路</a:t>
            </a:r>
            <a:r>
              <a:rPr lang="zh-CN" altLang="en-US" sz="2000" dirty="0" smtClean="0">
                <a:cs typeface="Courier New" pitchFamily="49" charset="0"/>
              </a:rPr>
              <a:t>：给定第</a:t>
            </a:r>
            <a:r>
              <a:rPr lang="en-US" altLang="zh-CN" sz="2000" dirty="0" smtClean="0">
                <a:cs typeface="Courier New" pitchFamily="49" charset="0"/>
              </a:rPr>
              <a:t>1</a:t>
            </a:r>
            <a:r>
              <a:rPr lang="zh-CN" altLang="en-US" sz="2000" dirty="0" smtClean="0">
                <a:cs typeface="Courier New" pitchFamily="49" charset="0"/>
              </a:rPr>
              <a:t>、</a:t>
            </a:r>
            <a:r>
              <a:rPr lang="en-US" altLang="zh-CN" sz="2000" dirty="0" smtClean="0">
                <a:cs typeface="Courier New" pitchFamily="49" charset="0"/>
              </a:rPr>
              <a:t>2</a:t>
            </a:r>
            <a:r>
              <a:rPr lang="zh-CN" altLang="en-US" sz="2000" dirty="0" smtClean="0">
                <a:cs typeface="Courier New" pitchFamily="49" charset="0"/>
              </a:rPr>
              <a:t>个数，依次求第</a:t>
            </a:r>
            <a:r>
              <a:rPr lang="en-US" altLang="zh-CN" sz="2000" dirty="0" smtClean="0">
                <a:cs typeface="Courier New" pitchFamily="49" charset="0"/>
              </a:rPr>
              <a:t>3</a:t>
            </a:r>
            <a:r>
              <a:rPr lang="zh-CN" altLang="en-US" sz="2000" dirty="0" smtClean="0">
                <a:cs typeface="Courier New" pitchFamily="49" charset="0"/>
              </a:rPr>
              <a:t>、第</a:t>
            </a:r>
            <a:r>
              <a:rPr lang="en-US" altLang="zh-CN" sz="2000" dirty="0" smtClean="0">
                <a:cs typeface="Courier New" pitchFamily="49" charset="0"/>
              </a:rPr>
              <a:t>4</a:t>
            </a:r>
            <a:r>
              <a:rPr lang="zh-CN" altLang="en-US" sz="2000" dirty="0" smtClean="0">
                <a:cs typeface="Courier New" pitchFamily="49" charset="0"/>
              </a:rPr>
              <a:t>、</a:t>
            </a:r>
            <a:r>
              <a:rPr lang="en-US" altLang="zh-CN" sz="2000" dirty="0" smtClean="0">
                <a:cs typeface="Courier New" pitchFamily="49" charset="0"/>
              </a:rPr>
              <a:t>...</a:t>
            </a:r>
            <a:r>
              <a:rPr lang="zh-CN" altLang="en-US" sz="2000" dirty="0" smtClean="0">
                <a:cs typeface="Courier New" pitchFamily="49" charset="0"/>
              </a:rPr>
              <a:t>、第</a:t>
            </a:r>
            <a:r>
              <a:rPr lang="en-US" altLang="zh-CN" sz="2000" dirty="0" smtClean="0">
                <a:cs typeface="Courier New" pitchFamily="49" charset="0"/>
              </a:rPr>
              <a:t>n</a:t>
            </a:r>
            <a:r>
              <a:rPr lang="zh-CN" altLang="en-US" sz="2000" dirty="0" smtClean="0">
                <a:cs typeface="Courier New" pitchFamily="49" charset="0"/>
              </a:rPr>
              <a:t>个</a:t>
            </a:r>
            <a:r>
              <a:rPr lang="fr-FR" altLang="zh-CN" sz="2000" dirty="0">
                <a:cs typeface="Courier New" pitchFamily="49" charset="0"/>
              </a:rPr>
              <a:t>Fibonacci</a:t>
            </a:r>
            <a:r>
              <a:rPr lang="zh-CN" altLang="en-US" sz="2000" dirty="0" smtClean="0">
                <a:cs typeface="Courier New" pitchFamily="49" charset="0"/>
              </a:rPr>
              <a:t>数</a:t>
            </a:r>
            <a:endParaRPr lang="en-US" altLang="zh-CN" sz="2000" dirty="0">
              <a:cs typeface="Courier New" pitchFamily="49" charset="0"/>
            </a:endParaRPr>
          </a:p>
          <a:p>
            <a:pPr eaLnBrk="1" hangingPunct="1">
              <a:lnSpc>
                <a:spcPct val="80000"/>
              </a:lnSpc>
              <a:buFont typeface="Wingdings" pitchFamily="2" charset="2"/>
              <a:buNone/>
              <a:defRPr/>
            </a:pPr>
            <a:r>
              <a:rPr lang="en-US" altLang="zh-CN" sz="2000" dirty="0" smtClean="0">
                <a:cs typeface="Courier New" pitchFamily="49" charset="0"/>
              </a:rPr>
              <a:t>#include &lt;</a:t>
            </a:r>
            <a:r>
              <a:rPr lang="en-US" altLang="zh-CN" sz="2000" dirty="0" err="1" smtClean="0">
                <a:cs typeface="Courier New" pitchFamily="49" charset="0"/>
              </a:rPr>
              <a:t>iostream</a:t>
            </a:r>
            <a:r>
              <a:rPr lang="en-US" altLang="zh-CN" sz="2000" dirty="0" smtClean="0">
                <a:cs typeface="Courier New" pitchFamily="49" charset="0"/>
              </a:rPr>
              <a:t>&gt;</a:t>
            </a:r>
          </a:p>
          <a:p>
            <a:pPr eaLnBrk="1" hangingPunct="1">
              <a:lnSpc>
                <a:spcPct val="80000"/>
              </a:lnSpc>
              <a:buFont typeface="Wingdings" pitchFamily="2" charset="2"/>
              <a:buNone/>
              <a:defRPr/>
            </a:pPr>
            <a:r>
              <a:rPr lang="en-US" altLang="zh-CN" sz="2000" dirty="0" smtClean="0">
                <a:cs typeface="Courier New" pitchFamily="49" charset="0"/>
              </a:rPr>
              <a:t>using namespace </a:t>
            </a:r>
            <a:r>
              <a:rPr lang="en-US" altLang="zh-CN" sz="2000" dirty="0" err="1" smtClean="0">
                <a:cs typeface="Courier New" pitchFamily="49" charset="0"/>
              </a:rPr>
              <a:t>std</a:t>
            </a:r>
            <a:r>
              <a:rPr lang="en-US" altLang="zh-CN" sz="2000" dirty="0" smtClean="0">
                <a:cs typeface="Courier New" pitchFamily="49" charset="0"/>
              </a:rPr>
              <a:t>;</a:t>
            </a:r>
          </a:p>
          <a:p>
            <a:pPr eaLnBrk="1" hangingPunct="1">
              <a:lnSpc>
                <a:spcPct val="80000"/>
              </a:lnSpc>
              <a:buFont typeface="Wingdings" pitchFamily="2" charset="2"/>
              <a:buNone/>
              <a:defRPr/>
            </a:pPr>
            <a:r>
              <a:rPr lang="fr-FR" altLang="zh-CN" sz="2000" dirty="0" smtClean="0">
                <a:cs typeface="Courier New" pitchFamily="49" charset="0"/>
              </a:rPr>
              <a:t>int main()</a:t>
            </a:r>
            <a:endParaRPr lang="en-US" altLang="zh-CN" sz="2000" dirty="0" smtClean="0">
              <a:cs typeface="Courier New" pitchFamily="49" charset="0"/>
            </a:endParaRPr>
          </a:p>
          <a:p>
            <a:pPr eaLnBrk="1" hangingPunct="1">
              <a:lnSpc>
                <a:spcPct val="80000"/>
              </a:lnSpc>
              <a:buFont typeface="Wingdings" pitchFamily="2" charset="2"/>
              <a:buNone/>
              <a:defRPr/>
            </a:pPr>
            <a:r>
              <a:rPr lang="fr-FR" altLang="zh-CN" sz="2000" dirty="0" smtClean="0">
                <a:cs typeface="Courier New" pitchFamily="49" charset="0"/>
              </a:rPr>
              <a:t>{	int n;</a:t>
            </a:r>
            <a:endParaRPr lang="en-US" altLang="zh-CN" sz="2000" dirty="0" smtClean="0">
              <a:cs typeface="Courier New" pitchFamily="49" charset="0"/>
            </a:endParaRPr>
          </a:p>
          <a:p>
            <a:pPr eaLnBrk="1" hangingPunct="1">
              <a:lnSpc>
                <a:spcPct val="80000"/>
              </a:lnSpc>
              <a:buFont typeface="Wingdings" pitchFamily="2" charset="2"/>
              <a:buNone/>
              <a:defRPr/>
            </a:pPr>
            <a:r>
              <a:rPr lang="fr-FR" altLang="zh-CN" sz="2000" dirty="0" smtClean="0">
                <a:cs typeface="Courier New" pitchFamily="49" charset="0"/>
              </a:rPr>
              <a:t>	cin &gt;&gt; n;</a:t>
            </a:r>
            <a:endParaRPr lang="en-US" altLang="zh-CN" sz="2000" dirty="0" smtClean="0">
              <a:cs typeface="Courier New" pitchFamily="49" charset="0"/>
            </a:endParaRPr>
          </a:p>
          <a:p>
            <a:pPr eaLnBrk="1" hangingPunct="1">
              <a:lnSpc>
                <a:spcPct val="80000"/>
              </a:lnSpc>
              <a:buNone/>
              <a:defRPr/>
            </a:pPr>
            <a:r>
              <a:rPr lang="fr-FR" altLang="zh-CN" sz="2000" dirty="0" smtClean="0">
                <a:cs typeface="Courier New" pitchFamily="49" charset="0"/>
              </a:rPr>
              <a:t>	int fib_1=1</a:t>
            </a:r>
            <a:r>
              <a:rPr lang="en-US" altLang="zh-CN" sz="2000" dirty="0" smtClean="0">
                <a:cs typeface="Courier New" pitchFamily="49" charset="0"/>
              </a:rPr>
              <a:t>,</a:t>
            </a:r>
            <a:r>
              <a:rPr lang="fr-FR" altLang="zh-CN" sz="2000" dirty="0" smtClean="0">
                <a:cs typeface="Courier New" pitchFamily="49" charset="0"/>
              </a:rPr>
              <a:t>fib_2=1</a:t>
            </a:r>
            <a:r>
              <a:rPr lang="fr-FR" altLang="zh-CN" sz="2000" dirty="0">
                <a:cs typeface="Courier New" pitchFamily="49" charset="0"/>
              </a:rPr>
              <a:t>; </a:t>
            </a:r>
            <a:r>
              <a:rPr lang="fr-FR" altLang="zh-CN" sz="2000" dirty="0" smtClean="0">
                <a:cs typeface="Courier New" pitchFamily="49" charset="0"/>
              </a:rPr>
              <a:t>//</a:t>
            </a:r>
            <a:r>
              <a:rPr lang="zh-CN" altLang="en-US" sz="2000" dirty="0" smtClean="0">
                <a:cs typeface="Courier New" pitchFamily="49" charset="0"/>
              </a:rPr>
              <a:t>用</a:t>
            </a:r>
            <a:r>
              <a:rPr lang="en-US" altLang="zh-CN" sz="2000" dirty="0" smtClean="0">
                <a:solidFill>
                  <a:srgbClr val="FFC000"/>
                </a:solidFill>
                <a:cs typeface="Courier New" pitchFamily="49" charset="0"/>
              </a:rPr>
              <a:t>fib_1</a:t>
            </a:r>
            <a:r>
              <a:rPr lang="zh-CN" altLang="en-US" sz="2000" dirty="0" smtClean="0">
                <a:cs typeface="Courier New" pitchFamily="49" charset="0"/>
              </a:rPr>
              <a:t>和</a:t>
            </a:r>
            <a:r>
              <a:rPr lang="en-US" altLang="zh-CN" sz="2000" dirty="0" smtClean="0">
                <a:solidFill>
                  <a:srgbClr val="FFC000"/>
                </a:solidFill>
                <a:cs typeface="Courier New" pitchFamily="49" charset="0"/>
              </a:rPr>
              <a:t>fib_2</a:t>
            </a:r>
            <a:r>
              <a:rPr lang="zh-CN" altLang="en-US" sz="2000" dirty="0" smtClean="0">
                <a:cs typeface="Courier New" pitchFamily="49" charset="0"/>
              </a:rPr>
              <a:t>记住</a:t>
            </a:r>
            <a:r>
              <a:rPr lang="zh-CN" altLang="en-US" sz="2000" dirty="0" smtClean="0">
                <a:solidFill>
                  <a:srgbClr val="FFC000"/>
                </a:solidFill>
                <a:cs typeface="Courier New" pitchFamily="49" charset="0"/>
              </a:rPr>
              <a:t>前两个</a:t>
            </a:r>
            <a:r>
              <a:rPr lang="fr-FR" altLang="zh-CN" sz="2000" dirty="0">
                <a:cs typeface="Courier New" pitchFamily="49" charset="0"/>
              </a:rPr>
              <a:t>Fibonacci</a:t>
            </a:r>
            <a:r>
              <a:rPr lang="zh-CN" altLang="en-US" sz="2000" dirty="0" smtClean="0">
                <a:cs typeface="Courier New" pitchFamily="49" charset="0"/>
              </a:rPr>
              <a:t>数，</a:t>
            </a:r>
            <a:endParaRPr lang="en-US" altLang="zh-CN" sz="2000" dirty="0" smtClean="0">
              <a:cs typeface="Courier New" pitchFamily="49" charset="0"/>
            </a:endParaRPr>
          </a:p>
          <a:p>
            <a:pPr eaLnBrk="1" hangingPunct="1">
              <a:lnSpc>
                <a:spcPct val="80000"/>
              </a:lnSpc>
              <a:buNone/>
              <a:defRPr/>
            </a:pPr>
            <a:r>
              <a:rPr lang="en-US" altLang="zh-CN" sz="2000" dirty="0" smtClean="0">
                <a:cs typeface="Courier New" pitchFamily="49" charset="0"/>
              </a:rPr>
              <a:t>	     		 //</a:t>
            </a:r>
            <a:r>
              <a:rPr lang="en-US" altLang="zh-CN" sz="2000" dirty="0" smtClean="0">
                <a:solidFill>
                  <a:srgbClr val="FFC000"/>
                </a:solidFill>
                <a:cs typeface="Courier New" pitchFamily="49" charset="0"/>
              </a:rPr>
              <a:t>fib_1</a:t>
            </a:r>
            <a:r>
              <a:rPr lang="zh-CN" altLang="en-US" sz="2000" dirty="0" smtClean="0">
                <a:cs typeface="Courier New" pitchFamily="49" charset="0"/>
              </a:rPr>
              <a:t>初始化为</a:t>
            </a:r>
            <a:r>
              <a:rPr lang="zh-CN" altLang="en-US" sz="2000" dirty="0" smtClean="0">
                <a:solidFill>
                  <a:srgbClr val="FFC000"/>
                </a:solidFill>
              </a:rPr>
              <a:t>第</a:t>
            </a:r>
            <a:r>
              <a:rPr lang="en-US" altLang="zh-CN" sz="2000" dirty="0" smtClean="0">
                <a:solidFill>
                  <a:srgbClr val="FFC000"/>
                </a:solidFill>
              </a:rPr>
              <a:t>1</a:t>
            </a:r>
            <a:r>
              <a:rPr lang="zh-CN" altLang="en-US" sz="2000" dirty="0" smtClean="0">
                <a:solidFill>
                  <a:srgbClr val="FFC000"/>
                </a:solidFill>
              </a:rPr>
              <a:t>个数</a:t>
            </a:r>
            <a:r>
              <a:rPr lang="zh-CN" altLang="en-US" sz="2000" dirty="0" smtClean="0">
                <a:solidFill>
                  <a:srgbClr val="FFC000"/>
                </a:solidFill>
                <a:cs typeface="Courier New" pitchFamily="49" charset="0"/>
              </a:rPr>
              <a:t>；</a:t>
            </a:r>
            <a:r>
              <a:rPr lang="en-US" altLang="zh-CN" sz="2000" dirty="0" smtClean="0">
                <a:solidFill>
                  <a:srgbClr val="FFC000"/>
                </a:solidFill>
                <a:cs typeface="Courier New" pitchFamily="49" charset="0"/>
              </a:rPr>
              <a:t>fib_2</a:t>
            </a:r>
            <a:r>
              <a:rPr lang="zh-CN" altLang="en-US" sz="2000" dirty="0" smtClean="0">
                <a:cs typeface="Courier New" pitchFamily="49" charset="0"/>
              </a:rPr>
              <a:t>初始化为</a:t>
            </a:r>
            <a:r>
              <a:rPr lang="zh-CN" altLang="fr-FR" sz="2000" dirty="0" smtClean="0">
                <a:solidFill>
                  <a:srgbClr val="FFC000"/>
                </a:solidFill>
                <a:cs typeface="Courier New" pitchFamily="49" charset="0"/>
              </a:rPr>
              <a:t>第</a:t>
            </a:r>
            <a:r>
              <a:rPr lang="en-US" altLang="zh-CN" sz="2000" dirty="0" smtClean="0">
                <a:solidFill>
                  <a:srgbClr val="FFC000"/>
                </a:solidFill>
                <a:cs typeface="Courier New" pitchFamily="49" charset="0"/>
              </a:rPr>
              <a:t>2</a:t>
            </a:r>
            <a:r>
              <a:rPr lang="zh-CN" altLang="fr-FR" sz="2000" dirty="0" smtClean="0">
                <a:solidFill>
                  <a:srgbClr val="FFC000"/>
                </a:solidFill>
                <a:cs typeface="Courier New" pitchFamily="49" charset="0"/>
              </a:rPr>
              <a:t>个</a:t>
            </a:r>
            <a:r>
              <a:rPr lang="zh-CN" altLang="en-US" sz="2000" dirty="0" smtClean="0">
                <a:solidFill>
                  <a:srgbClr val="FFC000"/>
                </a:solidFill>
              </a:rPr>
              <a:t>数</a:t>
            </a:r>
            <a:endParaRPr lang="zh-CN" altLang="en-US" sz="2000" dirty="0" smtClean="0">
              <a:solidFill>
                <a:srgbClr val="FFC000"/>
              </a:solidFill>
              <a:cs typeface="Courier New" pitchFamily="49" charset="0"/>
            </a:endParaRPr>
          </a:p>
          <a:p>
            <a:pPr eaLnBrk="1" hangingPunct="1">
              <a:lnSpc>
                <a:spcPct val="80000"/>
              </a:lnSpc>
              <a:buNone/>
              <a:defRPr/>
            </a:pPr>
            <a:r>
              <a:rPr lang="zh-CN" altLang="fr-FR" sz="2000" dirty="0" smtClean="0">
                <a:cs typeface="Courier New" pitchFamily="49" charset="0"/>
              </a:rPr>
              <a:t>	</a:t>
            </a:r>
            <a:r>
              <a:rPr lang="fr-FR" altLang="zh-CN" sz="2000" dirty="0" smtClean="0">
                <a:cs typeface="Courier New" pitchFamily="49" charset="0"/>
              </a:rPr>
              <a:t>for (int i=3; i&lt;=n; i++) //</a:t>
            </a:r>
            <a:r>
              <a:rPr lang="zh-CN" altLang="en-US" sz="2000" dirty="0" smtClean="0">
                <a:cs typeface="Courier New" pitchFamily="49" charset="0"/>
              </a:rPr>
              <a:t>从</a:t>
            </a:r>
            <a:r>
              <a:rPr lang="zh-CN" altLang="en-US" sz="2000" dirty="0" smtClean="0">
                <a:solidFill>
                  <a:srgbClr val="FFC000"/>
                </a:solidFill>
                <a:cs typeface="Courier New" pitchFamily="49" charset="0"/>
              </a:rPr>
              <a:t>第</a:t>
            </a:r>
            <a:r>
              <a:rPr lang="en-US" altLang="zh-CN" sz="2000" dirty="0" smtClean="0">
                <a:solidFill>
                  <a:srgbClr val="FFC000"/>
                </a:solidFill>
                <a:cs typeface="Courier New" pitchFamily="49" charset="0"/>
              </a:rPr>
              <a:t>3</a:t>
            </a:r>
            <a:r>
              <a:rPr lang="zh-CN" altLang="en-US" sz="2000" dirty="0" smtClean="0">
                <a:solidFill>
                  <a:srgbClr val="FFC000"/>
                </a:solidFill>
                <a:cs typeface="Courier New" pitchFamily="49" charset="0"/>
              </a:rPr>
              <a:t>个</a:t>
            </a:r>
            <a:r>
              <a:rPr lang="fr-FR" altLang="zh-CN" sz="2000" dirty="0">
                <a:cs typeface="Courier New" pitchFamily="49" charset="0"/>
              </a:rPr>
              <a:t>Fibonacci</a:t>
            </a:r>
            <a:r>
              <a:rPr lang="zh-CN" altLang="en-US" sz="2000" dirty="0" smtClean="0">
                <a:cs typeface="Courier New" pitchFamily="49" charset="0"/>
              </a:rPr>
              <a:t>数</a:t>
            </a:r>
            <a:r>
              <a:rPr lang="zh-CN" altLang="en-US" sz="2000" dirty="0" smtClean="0">
                <a:solidFill>
                  <a:srgbClr val="FFC000"/>
                </a:solidFill>
                <a:cs typeface="Courier New" pitchFamily="49" charset="0"/>
              </a:rPr>
              <a:t>开始</a:t>
            </a:r>
            <a:r>
              <a:rPr lang="zh-CN" altLang="en-US" sz="2000" dirty="0" smtClean="0">
                <a:cs typeface="Courier New" pitchFamily="49" charset="0"/>
              </a:rPr>
              <a:t>计算</a:t>
            </a:r>
            <a:r>
              <a:rPr lang="en-US" altLang="zh-CN" sz="2000" dirty="0" smtClean="0">
                <a:cs typeface="Courier New" pitchFamily="49" charset="0"/>
              </a:rPr>
              <a:t>,</a:t>
            </a:r>
            <a:r>
              <a:rPr lang="zh-CN" altLang="en-US" sz="2000" dirty="0" smtClean="0">
                <a:cs typeface="Courier New" pitchFamily="49" charset="0"/>
              </a:rPr>
              <a:t>直到第</a:t>
            </a:r>
            <a:r>
              <a:rPr lang="en-US" altLang="zh-CN" sz="2000" dirty="0" smtClean="0">
                <a:cs typeface="Courier New" pitchFamily="49" charset="0"/>
              </a:rPr>
              <a:t>n</a:t>
            </a:r>
            <a:r>
              <a:rPr lang="zh-CN" altLang="en-US" sz="2000" dirty="0" smtClean="0">
                <a:cs typeface="Courier New" pitchFamily="49" charset="0"/>
              </a:rPr>
              <a:t>个数</a:t>
            </a:r>
            <a:endParaRPr lang="en-US" altLang="zh-CN" sz="2000" dirty="0" smtClean="0">
              <a:cs typeface="Courier New" pitchFamily="49" charset="0"/>
            </a:endParaRPr>
          </a:p>
          <a:p>
            <a:pPr eaLnBrk="1" hangingPunct="1">
              <a:lnSpc>
                <a:spcPct val="80000"/>
              </a:lnSpc>
              <a:buFont typeface="Wingdings" pitchFamily="2" charset="2"/>
              <a:buNone/>
              <a:defRPr/>
            </a:pPr>
            <a:r>
              <a:rPr lang="fr-FR" altLang="zh-CN" sz="2000" dirty="0" smtClean="0">
                <a:cs typeface="Courier New" pitchFamily="49" charset="0"/>
              </a:rPr>
              <a:t>	{	int temp=fib_1+fib_2; //</a:t>
            </a:r>
            <a:r>
              <a:rPr lang="zh-CN" altLang="en-US" sz="2000" dirty="0" smtClean="0"/>
              <a:t>计算</a:t>
            </a:r>
            <a:r>
              <a:rPr lang="zh-CN" altLang="en-US" sz="2000" dirty="0" smtClean="0">
                <a:solidFill>
                  <a:srgbClr val="FFC000"/>
                </a:solidFill>
              </a:rPr>
              <a:t>新的</a:t>
            </a:r>
            <a:r>
              <a:rPr lang="fr-FR" altLang="zh-CN" sz="2000" dirty="0" smtClean="0">
                <a:cs typeface="Courier New" pitchFamily="49" charset="0"/>
              </a:rPr>
              <a:t>Fibonacci</a:t>
            </a:r>
            <a:r>
              <a:rPr lang="zh-CN" altLang="en-US" sz="2000" dirty="0" smtClean="0"/>
              <a:t>数</a:t>
            </a:r>
            <a:endParaRPr lang="zh-CN" altLang="en-US" sz="2000" dirty="0" smtClean="0">
              <a:cs typeface="Courier New" pitchFamily="49" charset="0"/>
            </a:endParaRPr>
          </a:p>
          <a:p>
            <a:pPr eaLnBrk="1" hangingPunct="1">
              <a:lnSpc>
                <a:spcPct val="80000"/>
              </a:lnSpc>
              <a:buNone/>
              <a:defRPr/>
            </a:pPr>
            <a:r>
              <a:rPr lang="zh-CN" altLang="fr-FR" sz="2000" dirty="0" smtClean="0">
                <a:cs typeface="Courier New" pitchFamily="49" charset="0"/>
              </a:rPr>
              <a:t>		</a:t>
            </a:r>
            <a:r>
              <a:rPr lang="fr-FR" altLang="zh-CN" sz="2000" dirty="0" smtClean="0">
                <a:cs typeface="Courier New" pitchFamily="49" charset="0"/>
              </a:rPr>
              <a:t>fib_1 = fib_2;  //</a:t>
            </a:r>
            <a:r>
              <a:rPr lang="zh-CN" altLang="en-US" sz="2000" dirty="0" smtClean="0"/>
              <a:t>记住</a:t>
            </a:r>
            <a:r>
              <a:rPr lang="zh-CN" altLang="en-US" sz="2000" dirty="0" smtClean="0">
                <a:solidFill>
                  <a:srgbClr val="FFC000"/>
                </a:solidFill>
              </a:rPr>
              <a:t>新的</a:t>
            </a:r>
            <a:r>
              <a:rPr lang="fr-FR" altLang="zh-CN" sz="2000" dirty="0">
                <a:cs typeface="Courier New" pitchFamily="49" charset="0"/>
              </a:rPr>
              <a:t>Fibonacci</a:t>
            </a:r>
            <a:r>
              <a:rPr lang="zh-CN" altLang="en-US" sz="2000" dirty="0" smtClean="0"/>
              <a:t>数的</a:t>
            </a:r>
            <a:r>
              <a:rPr lang="zh-CN" altLang="en-US" sz="2000" dirty="0" smtClean="0">
                <a:solidFill>
                  <a:srgbClr val="FFC000"/>
                </a:solidFill>
              </a:rPr>
              <a:t>前一个</a:t>
            </a:r>
            <a:r>
              <a:rPr lang="zh-CN" altLang="en-US" sz="2000" dirty="0" smtClean="0"/>
              <a:t>数</a:t>
            </a:r>
            <a:endParaRPr lang="zh-CN" altLang="en-US" sz="2000" dirty="0" smtClean="0">
              <a:cs typeface="Courier New" pitchFamily="49" charset="0"/>
            </a:endParaRPr>
          </a:p>
          <a:p>
            <a:pPr eaLnBrk="1" hangingPunct="1">
              <a:lnSpc>
                <a:spcPct val="80000"/>
              </a:lnSpc>
              <a:buFont typeface="Wingdings" pitchFamily="2" charset="2"/>
              <a:buNone/>
              <a:defRPr/>
            </a:pPr>
            <a:r>
              <a:rPr lang="zh-CN" altLang="fr-FR" sz="2000" dirty="0" smtClean="0">
                <a:cs typeface="Courier New" pitchFamily="49" charset="0"/>
              </a:rPr>
              <a:t>		</a:t>
            </a:r>
            <a:r>
              <a:rPr lang="fr-FR" altLang="zh-CN" sz="2000" dirty="0" smtClean="0">
                <a:cs typeface="Courier New" pitchFamily="49" charset="0"/>
              </a:rPr>
              <a:t>fib_2 = temp;  //</a:t>
            </a:r>
            <a:r>
              <a:rPr lang="zh-CN" altLang="en-US" sz="2000" dirty="0" smtClean="0"/>
              <a:t>记住</a:t>
            </a:r>
            <a:r>
              <a:rPr lang="zh-CN" altLang="en-US" sz="2000" dirty="0" smtClean="0">
                <a:solidFill>
                  <a:srgbClr val="FFC000"/>
                </a:solidFill>
              </a:rPr>
              <a:t>新的</a:t>
            </a:r>
            <a:r>
              <a:rPr lang="fr-FR" altLang="zh-CN" sz="2000" dirty="0" smtClean="0">
                <a:cs typeface="Courier New" pitchFamily="49" charset="0"/>
              </a:rPr>
              <a:t>Fibonacci</a:t>
            </a:r>
            <a:r>
              <a:rPr lang="zh-CN" altLang="en-US" sz="2000" dirty="0" smtClean="0"/>
              <a:t>数</a:t>
            </a:r>
            <a:endParaRPr lang="zh-CN" altLang="en-US" sz="2000" dirty="0" smtClean="0">
              <a:cs typeface="Courier New" pitchFamily="49" charset="0"/>
            </a:endParaRPr>
          </a:p>
          <a:p>
            <a:pPr eaLnBrk="1" hangingPunct="1">
              <a:lnSpc>
                <a:spcPct val="80000"/>
              </a:lnSpc>
              <a:buFont typeface="Wingdings" pitchFamily="2" charset="2"/>
              <a:buNone/>
              <a:defRPr/>
            </a:pPr>
            <a:r>
              <a:rPr lang="zh-CN" altLang="fr-FR" sz="2000" dirty="0" smtClean="0">
                <a:cs typeface="Courier New" pitchFamily="49" charset="0"/>
              </a:rPr>
              <a:t>	}</a:t>
            </a:r>
            <a:endParaRPr lang="en-US" altLang="zh-CN" sz="2000" dirty="0" smtClean="0">
              <a:cs typeface="Courier New" pitchFamily="49" charset="0"/>
            </a:endParaRPr>
          </a:p>
          <a:p>
            <a:pPr eaLnBrk="1" hangingPunct="1">
              <a:lnSpc>
                <a:spcPct val="80000"/>
              </a:lnSpc>
              <a:buFont typeface="Wingdings" pitchFamily="2" charset="2"/>
              <a:buNone/>
              <a:defRPr/>
            </a:pPr>
            <a:r>
              <a:rPr lang="zh-CN" altLang="fr-FR" sz="2000" dirty="0" smtClean="0">
                <a:cs typeface="Courier New" pitchFamily="49" charset="0"/>
              </a:rPr>
              <a:t>	</a:t>
            </a:r>
            <a:r>
              <a:rPr lang="fr-FR" altLang="zh-CN" sz="2000" dirty="0" smtClean="0">
                <a:cs typeface="Courier New" pitchFamily="49" charset="0"/>
              </a:rPr>
              <a:t>cout &lt;&lt; "</a:t>
            </a:r>
            <a:r>
              <a:rPr lang="zh-CN" altLang="en-US" sz="2000" dirty="0" smtClean="0"/>
              <a:t>第</a:t>
            </a:r>
            <a:r>
              <a:rPr lang="zh-CN" altLang="fr-FR" sz="2000" dirty="0" smtClean="0">
                <a:cs typeface="Courier New" pitchFamily="49" charset="0"/>
              </a:rPr>
              <a:t>" &lt;&lt; </a:t>
            </a:r>
            <a:r>
              <a:rPr lang="fr-FR" altLang="zh-CN" sz="2000" dirty="0" smtClean="0">
                <a:cs typeface="Courier New" pitchFamily="49" charset="0"/>
              </a:rPr>
              <a:t>n &lt;&lt; "</a:t>
            </a:r>
            <a:r>
              <a:rPr lang="zh-CN" altLang="en-US" sz="2000" dirty="0" smtClean="0"/>
              <a:t>个费波那契数是</a:t>
            </a:r>
            <a:r>
              <a:rPr lang="zh-CN" altLang="fr-FR" sz="2000" dirty="0" smtClean="0"/>
              <a:t>：</a:t>
            </a:r>
            <a:r>
              <a:rPr lang="zh-CN" altLang="fr-FR" sz="2000" dirty="0" smtClean="0">
                <a:cs typeface="Courier New" pitchFamily="49" charset="0"/>
              </a:rPr>
              <a:t>" &lt;&lt; </a:t>
            </a:r>
            <a:r>
              <a:rPr lang="fr-FR" altLang="zh-CN" sz="2000" dirty="0" smtClean="0">
                <a:cs typeface="Courier New" pitchFamily="49" charset="0"/>
              </a:rPr>
              <a:t>fib_2 &lt;&lt; endl;</a:t>
            </a:r>
            <a:endParaRPr lang="en-US" altLang="zh-CN" sz="2000" dirty="0" smtClean="0">
              <a:cs typeface="Courier New" pitchFamily="49" charset="0"/>
            </a:endParaRPr>
          </a:p>
          <a:p>
            <a:pPr eaLnBrk="1" hangingPunct="1">
              <a:lnSpc>
                <a:spcPct val="80000"/>
              </a:lnSpc>
              <a:buFont typeface="Wingdings" pitchFamily="2" charset="2"/>
              <a:buNone/>
              <a:defRPr/>
            </a:pPr>
            <a:r>
              <a:rPr lang="fr-FR" altLang="zh-CN" sz="2000" dirty="0" smtClean="0">
                <a:cs typeface="Courier New" pitchFamily="49" charset="0"/>
              </a:rPr>
              <a:t>	return 0;</a:t>
            </a:r>
            <a:endParaRPr lang="en-US" altLang="zh-CN" sz="2000" dirty="0" smtClean="0">
              <a:cs typeface="Courier New" pitchFamily="49" charset="0"/>
            </a:endParaRPr>
          </a:p>
          <a:p>
            <a:pPr eaLnBrk="1" hangingPunct="1">
              <a:lnSpc>
                <a:spcPct val="80000"/>
              </a:lnSpc>
              <a:buFont typeface="Wingdings" pitchFamily="2" charset="2"/>
              <a:buNone/>
              <a:defRPr/>
            </a:pPr>
            <a:r>
              <a:rPr lang="fr-FR" altLang="zh-CN" sz="2000" dirty="0" smtClean="0">
                <a:cs typeface="Courier New" pitchFamily="49" charset="0"/>
              </a:rPr>
              <a:t>}</a:t>
            </a:r>
            <a:endParaRPr lang="en-US" altLang="zh-CN" sz="2000" dirty="0" smtClean="0"/>
          </a:p>
        </p:txBody>
      </p:sp>
      <p:sp>
        <p:nvSpPr>
          <p:cNvPr id="104451" name="Text Box 1027"/>
          <p:cNvSpPr txBox="1">
            <a:spLocks noChangeArrowheads="1"/>
          </p:cNvSpPr>
          <p:nvPr/>
        </p:nvSpPr>
        <p:spPr bwMode="auto">
          <a:xfrm>
            <a:off x="1115616" y="4653136"/>
            <a:ext cx="7128792" cy="72071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ts val="80"/>
              </a:spcBef>
              <a:buFontTx/>
              <a:buNone/>
              <a:defRPr/>
            </a:pPr>
            <a:r>
              <a:rPr lang="fr-FR" altLang="zh-CN" sz="2000" dirty="0">
                <a:effectLst>
                  <a:outerShdw blurRad="38100" dist="38100" dir="2700000" algn="tl">
                    <a:srgbClr val="000000"/>
                  </a:outerShdw>
                </a:effectLst>
              </a:rPr>
              <a:t>fib_2 = fib_1 + fib_2; //</a:t>
            </a:r>
            <a:r>
              <a:rPr lang="zh-CN" altLang="en-US" sz="2000" dirty="0">
                <a:effectLst>
                  <a:outerShdw blurRad="38100" dist="38100" dir="2700000" algn="tl">
                    <a:srgbClr val="000000"/>
                  </a:outerShdw>
                </a:effectLst>
              </a:rPr>
              <a:t>计算和记住</a:t>
            </a:r>
            <a:r>
              <a:rPr lang="zh-CN" altLang="en-US" sz="2000" dirty="0">
                <a:solidFill>
                  <a:srgbClr val="FFC000"/>
                </a:solidFill>
                <a:effectLst>
                  <a:outerShdw blurRad="38100" dist="38100" dir="2700000" algn="tl">
                    <a:srgbClr val="000000"/>
                  </a:outerShdw>
                </a:effectLst>
              </a:rPr>
              <a:t>新的</a:t>
            </a:r>
            <a:r>
              <a:rPr lang="fr-FR" altLang="zh-CN" sz="2000" dirty="0">
                <a:effectLst>
                  <a:outerShdw blurRad="38100" dist="38100" dir="2700000" algn="tl">
                    <a:srgbClr val="000000"/>
                  </a:outerShdw>
                </a:effectLst>
              </a:rPr>
              <a:t>Fibonacci</a:t>
            </a:r>
            <a:r>
              <a:rPr lang="zh-CN" altLang="en-US" sz="2000" dirty="0">
                <a:effectLst>
                  <a:outerShdw blurRad="38100" dist="38100" dir="2700000" algn="tl">
                    <a:srgbClr val="000000"/>
                  </a:outerShdw>
                </a:effectLst>
              </a:rPr>
              <a:t>数</a:t>
            </a:r>
            <a:endParaRPr lang="zh-CN" altLang="fr-FR" sz="2000" dirty="0">
              <a:effectLst>
                <a:outerShdw blurRad="38100" dist="38100" dir="2700000" algn="tl">
                  <a:srgbClr val="000000"/>
                </a:outerShdw>
              </a:effectLst>
            </a:endParaRPr>
          </a:p>
          <a:p>
            <a:pPr>
              <a:lnSpc>
                <a:spcPct val="100000"/>
              </a:lnSpc>
              <a:spcBef>
                <a:spcPts val="80"/>
              </a:spcBef>
              <a:buFontTx/>
              <a:buNone/>
              <a:defRPr/>
            </a:pPr>
            <a:r>
              <a:rPr lang="fr-FR" altLang="zh-CN" sz="2000" dirty="0">
                <a:effectLst>
                  <a:outerShdw blurRad="38100" dist="38100" dir="2700000" algn="tl">
                    <a:srgbClr val="000000"/>
                  </a:outerShdw>
                </a:effectLst>
              </a:rPr>
              <a:t>fib_1 = fib_2 - fib_1; </a:t>
            </a:r>
            <a:r>
              <a:rPr lang="fr-FR" altLang="zh-CN" sz="2000" dirty="0" smtClean="0">
                <a:effectLst>
                  <a:outerShdw blurRad="38100" dist="38100" dir="2700000" algn="tl">
                    <a:srgbClr val="000000"/>
                  </a:outerShdw>
                </a:effectLst>
              </a:rPr>
              <a:t> //</a:t>
            </a:r>
            <a:r>
              <a:rPr lang="zh-CN" altLang="en-US" sz="2000" dirty="0" smtClean="0">
                <a:effectLst>
                  <a:outerShdw blurRad="38100" dist="38100" dir="2700000" algn="tl">
                    <a:srgbClr val="000000"/>
                  </a:outerShdw>
                </a:effectLst>
              </a:rPr>
              <a:t>记住</a:t>
            </a:r>
            <a:r>
              <a:rPr lang="zh-CN" altLang="en-US" sz="2000" dirty="0">
                <a:solidFill>
                  <a:srgbClr val="FFC000"/>
                </a:solidFill>
                <a:effectLst>
                  <a:outerShdw blurRad="38100" dist="38100" dir="2700000" algn="tl">
                    <a:srgbClr val="000000"/>
                  </a:outerShdw>
                </a:effectLst>
              </a:rPr>
              <a:t>新</a:t>
            </a:r>
            <a:r>
              <a:rPr lang="zh-CN" altLang="en-US" sz="2000" dirty="0" smtClean="0">
                <a:solidFill>
                  <a:srgbClr val="FFC000"/>
                </a:solidFill>
                <a:effectLst>
                  <a:outerShdw blurRad="38100" dist="38100" dir="2700000" algn="tl">
                    <a:srgbClr val="000000"/>
                  </a:outerShdw>
                </a:effectLst>
              </a:rPr>
              <a:t>的</a:t>
            </a:r>
            <a:r>
              <a:rPr lang="fr-FR" altLang="zh-CN" sz="2000" dirty="0">
                <a:effectLst>
                  <a:outerShdw blurRad="38100" dist="38100" dir="2700000" algn="tl">
                    <a:srgbClr val="000000"/>
                  </a:outerShdw>
                </a:effectLst>
              </a:rPr>
              <a:t>Fibonacci</a:t>
            </a:r>
            <a:r>
              <a:rPr lang="zh-CN" altLang="en-US" sz="2000" dirty="0" smtClean="0">
                <a:effectLst>
                  <a:outerShdw blurRad="38100" dist="38100" dir="2700000" algn="tl">
                    <a:srgbClr val="000000"/>
                  </a:outerShdw>
                </a:effectLst>
              </a:rPr>
              <a:t>数的</a:t>
            </a:r>
            <a:r>
              <a:rPr lang="zh-CN" altLang="en-US" sz="2000" dirty="0" smtClean="0">
                <a:solidFill>
                  <a:srgbClr val="FFC000"/>
                </a:solidFill>
                <a:effectLst>
                  <a:outerShdw blurRad="38100" dist="38100" dir="2700000" algn="tl">
                    <a:srgbClr val="000000"/>
                  </a:outerShdw>
                </a:effectLst>
              </a:rPr>
              <a:t>前</a:t>
            </a:r>
            <a:r>
              <a:rPr lang="zh-CN" altLang="en-US" sz="2000" dirty="0">
                <a:solidFill>
                  <a:srgbClr val="FFC000"/>
                </a:solidFill>
                <a:effectLst>
                  <a:outerShdw blurRad="38100" dist="38100" dir="2700000" algn="tl">
                    <a:srgbClr val="000000"/>
                  </a:outerShdw>
                </a:effectLst>
              </a:rPr>
              <a:t>一</a:t>
            </a:r>
            <a:r>
              <a:rPr lang="zh-CN" altLang="en-US" sz="2000" dirty="0" smtClean="0">
                <a:solidFill>
                  <a:srgbClr val="FFC000"/>
                </a:solidFill>
                <a:effectLst>
                  <a:outerShdw blurRad="38100" dist="38100" dir="2700000" algn="tl">
                    <a:srgbClr val="000000"/>
                  </a:outerShdw>
                </a:effectLst>
              </a:rPr>
              <a:t>个</a:t>
            </a:r>
            <a:r>
              <a:rPr lang="zh-CN" altLang="en-US" sz="2000" dirty="0" smtClean="0">
                <a:effectLst>
                  <a:outerShdw blurRad="38100" dist="38100" dir="2700000" algn="tl">
                    <a:srgbClr val="000000"/>
                  </a:outerShdw>
                </a:effectLst>
              </a:rPr>
              <a:t>数</a:t>
            </a:r>
            <a:endParaRPr lang="zh-CN" altLang="en-US" sz="2000" dirty="0">
              <a:effectLst>
                <a:outerShdw blurRad="38100" dist="38100" dir="2700000" algn="tl">
                  <a:srgbClr val="00000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500" fill="hold"/>
                                        <p:tgtEl>
                                          <p:spTgt spid="104451"/>
                                        </p:tgtEl>
                                        <p:attrNameLst>
                                          <p:attrName>ppt_x</p:attrName>
                                        </p:attrNameLst>
                                      </p:cBhvr>
                                      <p:tavLst>
                                        <p:tav tm="0">
                                          <p:val>
                                            <p:strVal val="#ppt_x"/>
                                          </p:val>
                                        </p:tav>
                                        <p:tav tm="100000">
                                          <p:val>
                                            <p:strVal val="#ppt_x"/>
                                          </p:val>
                                        </p:tav>
                                      </p:tavLst>
                                    </p:anim>
                                    <p:anim calcmode="lin" valueType="num">
                                      <p:cBhvr additive="base">
                                        <p:cTn id="8" dur="500" fill="hold"/>
                                        <p:tgtEl>
                                          <p:spTgt spid="1044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pPr eaLnBrk="1" hangingPunct="1">
              <a:defRPr/>
            </a:pPr>
            <a:r>
              <a:rPr lang="zh-CN" altLang="en-US" smtClean="0"/>
              <a:t>用牛顿迭代法求 </a:t>
            </a:r>
          </a:p>
        </p:txBody>
      </p:sp>
      <p:sp>
        <p:nvSpPr>
          <p:cNvPr id="247811" name="Rectangle 3"/>
          <p:cNvSpPr>
            <a:spLocks noGrp="1" noChangeArrowheads="1"/>
          </p:cNvSpPr>
          <p:nvPr>
            <p:ph type="body" idx="1"/>
          </p:nvPr>
        </p:nvSpPr>
        <p:spPr/>
        <p:txBody>
          <a:bodyPr/>
          <a:lstStyle/>
          <a:p>
            <a:pPr eaLnBrk="1" hangingPunct="1">
              <a:defRPr/>
            </a:pPr>
            <a:r>
              <a:rPr lang="zh-CN" altLang="en-US" dirty="0" smtClean="0"/>
              <a:t>计算    的牛顿迭代公式为：</a:t>
            </a:r>
          </a:p>
          <a:p>
            <a:pPr eaLnBrk="1" hangingPunct="1">
              <a:defRPr/>
            </a:pPr>
            <a:endParaRPr lang="zh-CN" altLang="en-US" dirty="0" smtClean="0"/>
          </a:p>
          <a:p>
            <a:pPr eaLnBrk="1" hangingPunct="1">
              <a:defRPr/>
            </a:pPr>
            <a:endParaRPr lang="zh-CN" altLang="en-US" dirty="0" smtClean="0"/>
          </a:p>
          <a:p>
            <a:pPr eaLnBrk="1" hangingPunct="1">
              <a:defRPr/>
            </a:pPr>
            <a:r>
              <a:rPr lang="zh-CN" altLang="en-US" dirty="0" smtClean="0">
                <a:solidFill>
                  <a:srgbClr val="FFC000"/>
                </a:solidFill>
              </a:rPr>
              <a:t>解题思路：</a:t>
            </a:r>
            <a:r>
              <a:rPr lang="zh-CN" altLang="en-US" dirty="0" smtClean="0"/>
              <a:t>取</a:t>
            </a:r>
            <a:r>
              <a:rPr lang="en-US" altLang="zh-CN" dirty="0" smtClean="0"/>
              <a:t>x</a:t>
            </a:r>
            <a:r>
              <a:rPr lang="en-US" altLang="zh-CN" baseline="-25000" dirty="0" smtClean="0"/>
              <a:t>1</a:t>
            </a:r>
            <a:r>
              <a:rPr lang="zh-CN" altLang="en-US" dirty="0" smtClean="0"/>
              <a:t>为</a:t>
            </a:r>
            <a:r>
              <a:rPr lang="en-US" altLang="zh-CN" dirty="0" smtClean="0"/>
              <a:t>a</a:t>
            </a:r>
            <a:r>
              <a:rPr lang="zh-CN" altLang="en-US" dirty="0" smtClean="0"/>
              <a:t>（任何值都可以，但影响收敛速度！），依次计算</a:t>
            </a:r>
            <a:r>
              <a:rPr lang="en-US" altLang="zh-CN" dirty="0" smtClean="0"/>
              <a:t>x</a:t>
            </a:r>
            <a:r>
              <a:rPr lang="en-US" altLang="zh-CN" baseline="-25000" dirty="0" smtClean="0"/>
              <a:t>2</a:t>
            </a:r>
            <a:r>
              <a:rPr lang="zh-CN" altLang="en-US" dirty="0" smtClean="0"/>
              <a:t>、</a:t>
            </a:r>
            <a:r>
              <a:rPr lang="en-US" altLang="zh-CN" dirty="0" smtClean="0"/>
              <a:t>x</a:t>
            </a:r>
            <a:r>
              <a:rPr lang="en-US" altLang="zh-CN" baseline="-25000" dirty="0" smtClean="0"/>
              <a:t>3</a:t>
            </a:r>
            <a:r>
              <a:rPr lang="zh-CN" altLang="en-US" dirty="0" smtClean="0"/>
              <a:t>、</a:t>
            </a:r>
            <a:r>
              <a:rPr lang="en-US" altLang="zh-CN" dirty="0" smtClean="0"/>
              <a:t>...</a:t>
            </a:r>
            <a:r>
              <a:rPr lang="zh-CN" altLang="en-US" dirty="0" smtClean="0"/>
              <a:t>，直到：</a:t>
            </a:r>
            <a:r>
              <a:rPr lang="en-US" altLang="zh-CN" dirty="0" smtClean="0"/>
              <a:t>|x</a:t>
            </a:r>
            <a:r>
              <a:rPr lang="en-US" altLang="zh-CN" baseline="-25000" dirty="0" smtClean="0"/>
              <a:t>n+1</a:t>
            </a:r>
            <a:r>
              <a:rPr lang="en-US" altLang="zh-CN" dirty="0" smtClean="0"/>
              <a:t>-x</a:t>
            </a:r>
            <a:r>
              <a:rPr lang="en-US" altLang="zh-CN" baseline="-25000" dirty="0" smtClean="0"/>
              <a:t>n</a:t>
            </a:r>
            <a:r>
              <a:rPr lang="en-US" altLang="zh-CN" dirty="0" smtClean="0"/>
              <a:t>|&lt; ε</a:t>
            </a:r>
            <a:r>
              <a:rPr lang="zh-CN" altLang="en-US" dirty="0" smtClean="0"/>
              <a:t>（</a:t>
            </a:r>
            <a:r>
              <a:rPr lang="en-US" altLang="zh-CN" dirty="0" smtClean="0"/>
              <a:t>ε</a:t>
            </a:r>
            <a:r>
              <a:rPr lang="zh-CN" altLang="en-US" dirty="0" smtClean="0"/>
              <a:t>为一个很小的数，可设为</a:t>
            </a:r>
            <a:r>
              <a:rPr lang="en-US" altLang="zh-CN" dirty="0" smtClean="0"/>
              <a:t>10</a:t>
            </a:r>
            <a:r>
              <a:rPr lang="en-US" altLang="zh-CN" baseline="30000" dirty="0" smtClean="0"/>
              <a:t>-6</a:t>
            </a:r>
            <a:r>
              <a:rPr lang="zh-CN" altLang="en-US" dirty="0" smtClean="0"/>
              <a:t>）时为止，</a:t>
            </a:r>
            <a:r>
              <a:rPr lang="en-US" altLang="zh-CN" dirty="0" smtClean="0"/>
              <a:t>x</a:t>
            </a:r>
            <a:r>
              <a:rPr lang="en-US" altLang="zh-CN" baseline="-25000" dirty="0" smtClean="0"/>
              <a:t>n+1</a:t>
            </a:r>
            <a:r>
              <a:rPr lang="zh-CN" altLang="en-US" dirty="0" smtClean="0"/>
              <a:t>即为    的值。</a:t>
            </a:r>
          </a:p>
        </p:txBody>
      </p:sp>
      <p:sp>
        <p:nvSpPr>
          <p:cNvPr id="247813" name="Rectangle 5"/>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5" name="Object 4"/>
          <p:cNvGraphicFramePr>
            <a:graphicFrameLocks noChangeAspect="1"/>
          </p:cNvGraphicFramePr>
          <p:nvPr/>
        </p:nvGraphicFramePr>
        <p:xfrm>
          <a:off x="6659563" y="620713"/>
          <a:ext cx="481012" cy="504825"/>
        </p:xfrm>
        <a:graphic>
          <a:graphicData uri="http://schemas.openxmlformats.org/presentationml/2006/ole">
            <mc:AlternateContent xmlns:mc="http://schemas.openxmlformats.org/markup-compatibility/2006">
              <mc:Choice xmlns:v="urn:schemas-microsoft-com:vml" Requires="v">
                <p:oleObj spid="_x0000_s47224" name="Equation" r:id="rId3" imgW="190417" imgH="203112" progId="Equation.DSMT4">
                  <p:embed/>
                </p:oleObj>
              </mc:Choice>
              <mc:Fallback>
                <p:oleObj name="Equation" r:id="rId3" imgW="190417" imgH="20311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563" y="620713"/>
                        <a:ext cx="481012" cy="50482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17" name="Rectangle 9"/>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7" name="Object 8"/>
          <p:cNvGraphicFramePr>
            <a:graphicFrameLocks noChangeAspect="1"/>
          </p:cNvGraphicFramePr>
          <p:nvPr/>
        </p:nvGraphicFramePr>
        <p:xfrm>
          <a:off x="1692275" y="2276475"/>
          <a:ext cx="2700338" cy="950913"/>
        </p:xfrm>
        <a:graphic>
          <a:graphicData uri="http://schemas.openxmlformats.org/presentationml/2006/ole">
            <mc:AlternateContent xmlns:mc="http://schemas.openxmlformats.org/markup-compatibility/2006">
              <mc:Choice xmlns:v="urn:schemas-microsoft-com:vml" Requires="v">
                <p:oleObj spid="_x0000_s47225" name="Equation" r:id="rId5" imgW="1002865" imgH="355446" progId="Equation.DSMT4">
                  <p:embed/>
                </p:oleObj>
              </mc:Choice>
              <mc:Fallback>
                <p:oleObj name="Equation" r:id="rId5" imgW="1002865" imgH="355446"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2276475"/>
                        <a:ext cx="2700338" cy="9509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19" name="Rectangle 11"/>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89" name="Object 10"/>
          <p:cNvGraphicFramePr>
            <a:graphicFrameLocks noChangeAspect="1"/>
          </p:cNvGraphicFramePr>
          <p:nvPr>
            <p:extLst>
              <p:ext uri="{D42A27DB-BD31-4B8C-83A1-F6EECF244321}">
                <p14:modId xmlns:p14="http://schemas.microsoft.com/office/powerpoint/2010/main" val="1796907229"/>
              </p:ext>
            </p:extLst>
          </p:nvPr>
        </p:nvGraphicFramePr>
        <p:xfrm>
          <a:off x="6588224" y="4869160"/>
          <a:ext cx="506413" cy="531812"/>
        </p:xfrm>
        <a:graphic>
          <a:graphicData uri="http://schemas.openxmlformats.org/presentationml/2006/ole">
            <mc:AlternateContent xmlns:mc="http://schemas.openxmlformats.org/markup-compatibility/2006">
              <mc:Choice xmlns:v="urn:schemas-microsoft-com:vml" Requires="v">
                <p:oleObj spid="_x0000_s47226" name="Equation" r:id="rId7" imgW="190417" imgH="203112" progId="Equation.DSMT4">
                  <p:embed/>
                </p:oleObj>
              </mc:Choice>
              <mc:Fallback>
                <p:oleObj name="Equation" r:id="rId7" imgW="190417" imgH="203112"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224" y="4869160"/>
                        <a:ext cx="506413" cy="53181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7821" name="Rectangle 13"/>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a:p>
        </p:txBody>
      </p:sp>
      <p:graphicFrame>
        <p:nvGraphicFramePr>
          <p:cNvPr id="46091" name="Object 12"/>
          <p:cNvGraphicFramePr>
            <a:graphicFrameLocks noChangeAspect="1"/>
          </p:cNvGraphicFramePr>
          <p:nvPr/>
        </p:nvGraphicFramePr>
        <p:xfrm>
          <a:off x="1763713" y="1628775"/>
          <a:ext cx="506412" cy="531813"/>
        </p:xfrm>
        <a:graphic>
          <a:graphicData uri="http://schemas.openxmlformats.org/presentationml/2006/ole">
            <mc:AlternateContent xmlns:mc="http://schemas.openxmlformats.org/markup-compatibility/2006">
              <mc:Choice xmlns:v="urn:schemas-microsoft-com:vml" Requires="v">
                <p:oleObj spid="_x0000_s47227" name="Equation" r:id="rId8" imgW="190417" imgH="203112" progId="Equation.DSMT4">
                  <p:embed/>
                </p:oleObj>
              </mc:Choice>
              <mc:Fallback>
                <p:oleObj name="Equation" r:id="rId8" imgW="190417" imgH="203112" progId="Equation.DSMT4">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628775"/>
                        <a:ext cx="506412" cy="5318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idx="1"/>
          </p:nvPr>
        </p:nvSpPr>
        <p:spPr>
          <a:xfrm>
            <a:off x="250825" y="250825"/>
            <a:ext cx="8497639" cy="6490543"/>
          </a:xfrm>
        </p:spPr>
        <p:txBody>
          <a:bodyPr>
            <a:normAutofit fontScale="85000" lnSpcReduction="20000"/>
          </a:bodyPr>
          <a:lstStyle/>
          <a:p>
            <a:pPr eaLnBrk="1" hangingPunct="1">
              <a:lnSpc>
                <a:spcPct val="11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a:t>
            </a:r>
          </a:p>
          <a:p>
            <a:pPr eaLnBrk="1" hangingPunct="1">
              <a:lnSpc>
                <a:spcPct val="110000"/>
              </a:lnSpc>
              <a:buFont typeface="Wingdings" pitchFamily="2" charset="2"/>
              <a:buNone/>
              <a:defRPr/>
            </a:pPr>
            <a:r>
              <a:rPr lang="en-US" altLang="zh-CN" sz="2400" dirty="0" smtClean="0">
                <a:solidFill>
                  <a:srgbClr val="FFC000"/>
                </a:solidFill>
              </a:rPr>
              <a:t>#include &lt;</a:t>
            </a:r>
            <a:r>
              <a:rPr lang="en-US" altLang="zh-CN" sz="2400" dirty="0" err="1" smtClean="0">
                <a:solidFill>
                  <a:srgbClr val="FFC000"/>
                </a:solidFill>
              </a:rPr>
              <a:t>cmath</a:t>
            </a:r>
            <a:r>
              <a:rPr lang="en-US" altLang="zh-CN" sz="2400" dirty="0" smtClean="0">
                <a:solidFill>
                  <a:srgbClr val="FFC000"/>
                </a:solidFill>
              </a:rPr>
              <a:t>&gt;</a:t>
            </a:r>
          </a:p>
          <a:p>
            <a:pPr eaLnBrk="1" hangingPunct="1">
              <a:lnSpc>
                <a:spcPct val="11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a:t>
            </a:r>
            <a:endParaRPr lang="fr-FR" altLang="zh-CN" sz="2400" dirty="0" smtClean="0"/>
          </a:p>
          <a:p>
            <a:pPr eaLnBrk="1" hangingPunct="1">
              <a:lnSpc>
                <a:spcPct val="110000"/>
              </a:lnSpc>
              <a:buFont typeface="Wingdings" pitchFamily="2" charset="2"/>
              <a:buNone/>
              <a:defRPr/>
            </a:pPr>
            <a:r>
              <a:rPr lang="fr-FR" altLang="zh-CN" sz="2400" dirty="0" smtClean="0"/>
              <a:t>int main()</a:t>
            </a:r>
          </a:p>
          <a:p>
            <a:pPr eaLnBrk="1" hangingPunct="1">
              <a:lnSpc>
                <a:spcPct val="110000"/>
              </a:lnSpc>
              <a:buFont typeface="Wingdings" pitchFamily="2" charset="2"/>
              <a:buNone/>
              <a:defRPr/>
            </a:pPr>
            <a:r>
              <a:rPr lang="fr-FR" altLang="zh-CN" sz="2400" dirty="0" smtClean="0"/>
              <a:t>{	const double </a:t>
            </a:r>
            <a:r>
              <a:rPr lang="en-US" altLang="zh-CN" sz="2400" dirty="0" smtClean="0"/>
              <a:t>EPS</a:t>
            </a:r>
            <a:r>
              <a:rPr lang="fr-FR" altLang="zh-CN" sz="2400" dirty="0" smtClean="0"/>
              <a:t>=1e-6; //</a:t>
            </a:r>
            <a:r>
              <a:rPr lang="zh-CN" altLang="fr-FR" sz="2400" dirty="0" smtClean="0"/>
              <a:t>一个很小的数</a:t>
            </a:r>
          </a:p>
          <a:p>
            <a:pPr eaLnBrk="1" hangingPunct="1">
              <a:lnSpc>
                <a:spcPct val="110000"/>
              </a:lnSpc>
              <a:buFont typeface="Wingdings" pitchFamily="2" charset="2"/>
              <a:buNone/>
              <a:defRPr/>
            </a:pPr>
            <a:r>
              <a:rPr lang="zh-CN" altLang="fr-FR" sz="2400" dirty="0" smtClean="0"/>
              <a:t>	</a:t>
            </a:r>
            <a:r>
              <a:rPr lang="fr-FR" altLang="zh-CN" sz="2400" dirty="0" smtClean="0"/>
              <a:t>double a,x1,x2; //x1</a:t>
            </a:r>
            <a:r>
              <a:rPr lang="zh-CN" altLang="fr-FR" sz="2400" dirty="0" smtClean="0"/>
              <a:t>和</a:t>
            </a:r>
            <a:r>
              <a:rPr lang="fr-FR" altLang="zh-CN" sz="2400" dirty="0" smtClean="0"/>
              <a:t>x2</a:t>
            </a:r>
            <a:r>
              <a:rPr lang="zh-CN" altLang="fr-FR" sz="2400" dirty="0" smtClean="0"/>
              <a:t>分别用于存储最新算出的两个值</a:t>
            </a:r>
            <a:endParaRPr lang="fr-FR" altLang="zh-CN" sz="2400" dirty="0" smtClean="0"/>
          </a:p>
          <a:p>
            <a:pPr eaLnBrk="1" hangingPunct="1">
              <a:lnSpc>
                <a:spcPct val="110000"/>
              </a:lnSpc>
              <a:buFont typeface="Wingdings" pitchFamily="2" charset="2"/>
              <a:buNone/>
              <a:defRPr/>
            </a:pPr>
            <a:r>
              <a:rPr lang="fr-FR" altLang="zh-CN" sz="2400" dirty="0" smtClean="0"/>
              <a:t>	cout &lt;&lt; "</a:t>
            </a:r>
            <a:r>
              <a:rPr lang="zh-CN" altLang="fr-FR" sz="2400" dirty="0" smtClean="0"/>
              <a:t>请输入一个数：</a:t>
            </a:r>
            <a:r>
              <a:rPr lang="fr-FR" altLang="zh-CN" sz="2400" dirty="0" smtClean="0"/>
              <a:t>";</a:t>
            </a:r>
          </a:p>
          <a:p>
            <a:pPr eaLnBrk="1" hangingPunct="1">
              <a:lnSpc>
                <a:spcPct val="110000"/>
              </a:lnSpc>
              <a:buFont typeface="Wingdings" pitchFamily="2" charset="2"/>
              <a:buNone/>
              <a:defRPr/>
            </a:pPr>
            <a:r>
              <a:rPr lang="fr-FR" altLang="zh-CN" sz="2400" dirty="0" smtClean="0"/>
              <a:t>	cin &gt;&gt; a;</a:t>
            </a:r>
          </a:p>
          <a:p>
            <a:pPr eaLnBrk="1" hangingPunct="1">
              <a:lnSpc>
                <a:spcPct val="110000"/>
              </a:lnSpc>
              <a:buFont typeface="Wingdings" pitchFamily="2" charset="2"/>
              <a:buNone/>
              <a:defRPr/>
            </a:pPr>
            <a:r>
              <a:rPr lang="fr-FR" altLang="zh-CN" sz="2400" dirty="0" smtClean="0"/>
              <a:t>	x1 = a; //</a:t>
            </a:r>
            <a:r>
              <a:rPr lang="zh-CN" altLang="en-US" sz="2400" dirty="0" smtClean="0"/>
              <a:t>记住</a:t>
            </a:r>
            <a:r>
              <a:rPr lang="zh-CN" altLang="fr-FR" sz="2400" dirty="0" smtClean="0"/>
              <a:t>第一个值</a:t>
            </a:r>
            <a:r>
              <a:rPr lang="fr-FR" altLang="zh-CN" sz="2400" dirty="0" smtClean="0"/>
              <a:t>a</a:t>
            </a:r>
          </a:p>
          <a:p>
            <a:pPr eaLnBrk="1" hangingPunct="1">
              <a:lnSpc>
                <a:spcPct val="110000"/>
              </a:lnSpc>
              <a:buFont typeface="Wingdings" pitchFamily="2" charset="2"/>
              <a:buNone/>
              <a:defRPr/>
            </a:pPr>
            <a:r>
              <a:rPr lang="fr-FR" altLang="zh-CN" sz="2400" dirty="0" smtClean="0"/>
              <a:t>	x2 = (2*x1+a/(x1*x1))/3; //</a:t>
            </a:r>
            <a:r>
              <a:rPr lang="zh-CN" altLang="fr-FR" sz="2400" dirty="0" smtClean="0"/>
              <a:t>计算第二个值</a:t>
            </a:r>
          </a:p>
          <a:p>
            <a:pPr eaLnBrk="1" hangingPunct="1">
              <a:lnSpc>
                <a:spcPct val="110000"/>
              </a:lnSpc>
              <a:buNone/>
              <a:defRPr/>
            </a:pPr>
            <a:r>
              <a:rPr lang="zh-CN" altLang="en-US" sz="2400" dirty="0" smtClean="0"/>
              <a:t>	</a:t>
            </a:r>
            <a:r>
              <a:rPr lang="en-US" altLang="zh-CN" sz="2400" dirty="0" smtClean="0"/>
              <a:t>while (</a:t>
            </a:r>
            <a:r>
              <a:rPr lang="en-US" altLang="zh-CN" sz="2400" dirty="0" err="1" smtClean="0"/>
              <a:t>fabs</a:t>
            </a:r>
            <a:r>
              <a:rPr lang="en-US" altLang="zh-CN" sz="2400" dirty="0" smtClean="0"/>
              <a:t>(x2-x1) &gt;= EPS) //</a:t>
            </a:r>
            <a:r>
              <a:rPr lang="en-US" altLang="zh-CN" sz="2400" dirty="0" err="1">
                <a:solidFill>
                  <a:srgbClr val="FFC000"/>
                </a:solidFill>
              </a:rPr>
              <a:t>fabs</a:t>
            </a:r>
            <a:r>
              <a:rPr lang="zh-CN" altLang="en-US" sz="2400" dirty="0" smtClean="0"/>
              <a:t>是一个库函数</a:t>
            </a:r>
            <a:endParaRPr lang="fr-FR" altLang="zh-CN" sz="2400" dirty="0" smtClean="0"/>
          </a:p>
          <a:p>
            <a:pPr eaLnBrk="1" hangingPunct="1">
              <a:lnSpc>
                <a:spcPct val="110000"/>
              </a:lnSpc>
              <a:buFont typeface="Wingdings" pitchFamily="2" charset="2"/>
              <a:buNone/>
              <a:defRPr/>
            </a:pPr>
            <a:r>
              <a:rPr lang="fr-FR" altLang="zh-CN" sz="2400" dirty="0" smtClean="0"/>
              <a:t>	{ x1 = x2; //</a:t>
            </a:r>
            <a:r>
              <a:rPr lang="zh-CN" altLang="fr-FR" sz="2400" dirty="0" smtClean="0"/>
              <a:t>记住前一个值</a:t>
            </a:r>
          </a:p>
          <a:p>
            <a:pPr eaLnBrk="1" hangingPunct="1">
              <a:lnSpc>
                <a:spcPct val="110000"/>
              </a:lnSpc>
              <a:buFont typeface="Wingdings" pitchFamily="2" charset="2"/>
              <a:buNone/>
              <a:defRPr/>
            </a:pPr>
            <a:r>
              <a:rPr lang="zh-CN" altLang="fr-FR" sz="2400" dirty="0" smtClean="0"/>
              <a:t>	   </a:t>
            </a:r>
            <a:r>
              <a:rPr lang="fr-FR" altLang="zh-CN" sz="2400" dirty="0" smtClean="0"/>
              <a:t>x2 = (2*x1+a/(x1*x1))/3; //</a:t>
            </a:r>
            <a:r>
              <a:rPr lang="zh-CN" altLang="fr-FR" sz="2400" dirty="0" smtClean="0"/>
              <a:t>计算新的值		</a:t>
            </a:r>
          </a:p>
          <a:p>
            <a:pPr eaLnBrk="1" hangingPunct="1">
              <a:lnSpc>
                <a:spcPct val="110000"/>
              </a:lnSpc>
              <a:buFont typeface="Wingdings" pitchFamily="2" charset="2"/>
              <a:buNone/>
              <a:defRPr/>
            </a:pPr>
            <a:r>
              <a:rPr lang="zh-CN" altLang="fr-FR" sz="2400" dirty="0" smtClean="0"/>
              <a:t>	</a:t>
            </a:r>
            <a:r>
              <a:rPr lang="en-US" altLang="zh-CN" sz="2400" dirty="0" smtClean="0"/>
              <a:t>}</a:t>
            </a:r>
          </a:p>
          <a:p>
            <a:pPr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 &lt;&lt; "</a:t>
            </a:r>
            <a:r>
              <a:rPr lang="zh-CN" altLang="en-US" sz="2400" dirty="0" smtClean="0"/>
              <a:t>的立方根是</a:t>
            </a:r>
            <a:r>
              <a:rPr lang="zh-CN" altLang="en-GB" sz="2400" dirty="0" smtClean="0"/>
              <a:t>：</a:t>
            </a:r>
            <a:r>
              <a:rPr lang="en-US" altLang="zh-CN" sz="2400" dirty="0" smtClean="0"/>
              <a:t>" &lt;&lt; x2 &lt;&lt; </a:t>
            </a:r>
            <a:r>
              <a:rPr lang="en-US" altLang="zh-CN" sz="2400" dirty="0" err="1" smtClean="0"/>
              <a:t>endl</a:t>
            </a:r>
            <a:r>
              <a:rPr lang="en-US" altLang="zh-CN" sz="2400" dirty="0" smtClean="0"/>
              <a:t>;</a:t>
            </a:r>
          </a:p>
          <a:p>
            <a:pPr eaLnBrk="1" hangingPunct="1">
              <a:lnSpc>
                <a:spcPct val="110000"/>
              </a:lnSpc>
              <a:buFont typeface="Wingdings" pitchFamily="2" charset="2"/>
              <a:buNone/>
              <a:defRPr/>
            </a:pPr>
            <a:r>
              <a:rPr lang="en-US" altLang="zh-CN" sz="2400" dirty="0" smtClean="0"/>
              <a:t>	return 0;</a:t>
            </a:r>
          </a:p>
          <a:p>
            <a:pPr eaLnBrk="1" hangingPunct="1">
              <a:lnSpc>
                <a:spcPct val="110000"/>
              </a:lnSpc>
              <a:buFont typeface="Wingdings" pitchFamily="2" charset="2"/>
              <a:buNone/>
              <a:defRPr/>
            </a:pPr>
            <a:r>
              <a:rPr lang="en-US" altLang="zh-CN" sz="2400" dirty="0" smtClean="0"/>
              <a:t>}</a:t>
            </a:r>
          </a:p>
          <a:p>
            <a:pPr eaLnBrk="1" hangingPunct="1">
              <a:lnSpc>
                <a:spcPct val="110000"/>
              </a:lnSpc>
              <a:defRPr/>
            </a:pPr>
            <a:r>
              <a:rPr lang="zh-CN" altLang="en-US" sz="2400" dirty="0" smtClean="0"/>
              <a:t>上面程序中，“</a:t>
            </a:r>
            <a:r>
              <a:rPr lang="fr-FR" altLang="zh-CN" sz="2400" dirty="0"/>
              <a:t>x2 = (2*x1+a/(x1*x1))/3;</a:t>
            </a:r>
            <a:r>
              <a:rPr lang="zh-CN" altLang="en-US" sz="2400" dirty="0" smtClean="0"/>
              <a:t>”写了两次，容易造成</a:t>
            </a:r>
            <a:r>
              <a:rPr lang="zh-CN" altLang="en-US" sz="2400" dirty="0" smtClean="0">
                <a:solidFill>
                  <a:srgbClr val="FFC000"/>
                </a:solidFill>
              </a:rPr>
              <a:t>不一致</a:t>
            </a:r>
            <a:r>
              <a:rPr lang="zh-CN" altLang="en-US" sz="2400" dirty="0"/>
              <a:t>错误</a:t>
            </a:r>
            <a:r>
              <a:rPr lang="zh-CN" altLang="en-US" sz="2400" dirty="0" smtClean="0"/>
              <a:t>！</a:t>
            </a:r>
            <a:endParaRPr lang="en-US" altLang="zh-CN" sz="2400" dirty="0" smtClean="0"/>
          </a:p>
        </p:txBody>
      </p:sp>
    </p:spTree>
    <p:extLst>
      <p:ext uri="{BB962C8B-B14F-4D97-AF65-F5344CB8AC3E}">
        <p14:creationId xmlns:p14="http://schemas.microsoft.com/office/powerpoint/2010/main" val="111257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9859">
                                            <p:txEl>
                                              <p:pRg st="17" end="17"/>
                                            </p:txEl>
                                          </p:spTgt>
                                        </p:tgtEl>
                                        <p:attrNameLst>
                                          <p:attrName>style.visibility</p:attrName>
                                        </p:attrNameLst>
                                      </p:cBhvr>
                                      <p:to>
                                        <p:strVal val="visible"/>
                                      </p:to>
                                    </p:set>
                                    <p:anim calcmode="lin" valueType="num">
                                      <p:cBhvr additive="base">
                                        <p:cTn id="7" dur="500" fill="hold"/>
                                        <p:tgtEl>
                                          <p:spTgt spid="249859">
                                            <p:txEl>
                                              <p:pRg st="17" end="1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9859">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idx="1"/>
          </p:nvPr>
        </p:nvSpPr>
        <p:spPr>
          <a:xfrm>
            <a:off x="250825" y="250825"/>
            <a:ext cx="8497639" cy="5914479"/>
          </a:xfrm>
        </p:spPr>
        <p:txBody>
          <a:bodyPr>
            <a:normAutofit fontScale="85000" lnSpcReduction="20000"/>
          </a:bodyPr>
          <a:lstStyle/>
          <a:p>
            <a:pPr eaLnBrk="1" hangingPunct="1">
              <a:lnSpc>
                <a:spcPct val="11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a:t>
            </a:r>
          </a:p>
          <a:p>
            <a:pPr eaLnBrk="1" hangingPunct="1">
              <a:lnSpc>
                <a:spcPct val="110000"/>
              </a:lnSpc>
              <a:buFont typeface="Wingdings" pitchFamily="2" charset="2"/>
              <a:buNone/>
              <a:defRPr/>
            </a:pPr>
            <a:r>
              <a:rPr lang="en-US" altLang="zh-CN" sz="2400" dirty="0" smtClean="0"/>
              <a:t>#include &lt;</a:t>
            </a:r>
            <a:r>
              <a:rPr lang="en-US" altLang="zh-CN" sz="2400" dirty="0" err="1" smtClean="0"/>
              <a:t>cmath</a:t>
            </a:r>
            <a:r>
              <a:rPr lang="en-US" altLang="zh-CN" sz="2400" dirty="0" smtClean="0"/>
              <a:t>&gt;</a:t>
            </a:r>
          </a:p>
          <a:p>
            <a:pPr eaLnBrk="1" hangingPunct="1">
              <a:lnSpc>
                <a:spcPct val="11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a:t>
            </a:r>
            <a:endParaRPr lang="fr-FR" altLang="zh-CN" sz="2400" dirty="0" smtClean="0"/>
          </a:p>
          <a:p>
            <a:pPr eaLnBrk="1" hangingPunct="1">
              <a:lnSpc>
                <a:spcPct val="110000"/>
              </a:lnSpc>
              <a:buFont typeface="Wingdings" pitchFamily="2" charset="2"/>
              <a:buNone/>
              <a:defRPr/>
            </a:pPr>
            <a:r>
              <a:rPr lang="fr-FR" altLang="zh-CN" sz="2400" dirty="0" smtClean="0"/>
              <a:t>int main()</a:t>
            </a:r>
          </a:p>
          <a:p>
            <a:pPr eaLnBrk="1" hangingPunct="1">
              <a:lnSpc>
                <a:spcPct val="110000"/>
              </a:lnSpc>
              <a:buFont typeface="Wingdings" pitchFamily="2" charset="2"/>
              <a:buNone/>
              <a:defRPr/>
            </a:pPr>
            <a:r>
              <a:rPr lang="fr-FR" altLang="zh-CN" sz="2400" dirty="0" smtClean="0"/>
              <a:t>{	const double </a:t>
            </a:r>
            <a:r>
              <a:rPr lang="en-US" altLang="zh-CN" sz="2400" dirty="0" smtClean="0"/>
              <a:t>EPS</a:t>
            </a:r>
            <a:r>
              <a:rPr lang="fr-FR" altLang="zh-CN" sz="2400" dirty="0" smtClean="0"/>
              <a:t>=1e-6; //</a:t>
            </a:r>
            <a:r>
              <a:rPr lang="zh-CN" altLang="fr-FR" sz="2400" dirty="0" smtClean="0"/>
              <a:t>一个很小的数</a:t>
            </a:r>
          </a:p>
          <a:p>
            <a:pPr eaLnBrk="1" hangingPunct="1">
              <a:lnSpc>
                <a:spcPct val="110000"/>
              </a:lnSpc>
              <a:buFont typeface="Wingdings" pitchFamily="2" charset="2"/>
              <a:buNone/>
              <a:defRPr/>
            </a:pPr>
            <a:r>
              <a:rPr lang="zh-CN" altLang="fr-FR" sz="2400" dirty="0" smtClean="0"/>
              <a:t>	</a:t>
            </a:r>
            <a:r>
              <a:rPr lang="fr-FR" altLang="zh-CN" sz="2400" dirty="0" smtClean="0"/>
              <a:t>double a,x1,x2; //x1</a:t>
            </a:r>
            <a:r>
              <a:rPr lang="zh-CN" altLang="fr-FR" sz="2400" dirty="0" smtClean="0"/>
              <a:t>和</a:t>
            </a:r>
            <a:r>
              <a:rPr lang="fr-FR" altLang="zh-CN" sz="2400" dirty="0" smtClean="0"/>
              <a:t>x2</a:t>
            </a:r>
            <a:r>
              <a:rPr lang="zh-CN" altLang="fr-FR" sz="2400" dirty="0" smtClean="0"/>
              <a:t>分别用于存储最新算出的两个值</a:t>
            </a:r>
            <a:endParaRPr lang="fr-FR" altLang="zh-CN" sz="2400" dirty="0" smtClean="0"/>
          </a:p>
          <a:p>
            <a:pPr eaLnBrk="1" hangingPunct="1">
              <a:lnSpc>
                <a:spcPct val="110000"/>
              </a:lnSpc>
              <a:buFont typeface="Wingdings" pitchFamily="2" charset="2"/>
              <a:buNone/>
              <a:defRPr/>
            </a:pPr>
            <a:r>
              <a:rPr lang="fr-FR" altLang="zh-CN" sz="2400" dirty="0" smtClean="0"/>
              <a:t>	cout &lt;&lt; "</a:t>
            </a:r>
            <a:r>
              <a:rPr lang="zh-CN" altLang="fr-FR" sz="2400" dirty="0" smtClean="0"/>
              <a:t>请输入一个数：</a:t>
            </a:r>
            <a:r>
              <a:rPr lang="fr-FR" altLang="zh-CN" sz="2400" dirty="0" smtClean="0"/>
              <a:t>";</a:t>
            </a:r>
          </a:p>
          <a:p>
            <a:pPr eaLnBrk="1" hangingPunct="1">
              <a:lnSpc>
                <a:spcPct val="110000"/>
              </a:lnSpc>
              <a:buFont typeface="Wingdings" pitchFamily="2" charset="2"/>
              <a:buNone/>
              <a:defRPr/>
            </a:pPr>
            <a:r>
              <a:rPr lang="fr-FR" altLang="zh-CN" sz="2400" dirty="0" smtClean="0"/>
              <a:t>	cin &gt;&gt; a;</a:t>
            </a:r>
          </a:p>
          <a:p>
            <a:pPr eaLnBrk="1" hangingPunct="1">
              <a:lnSpc>
                <a:spcPct val="110000"/>
              </a:lnSpc>
              <a:buFont typeface="Wingdings" pitchFamily="2" charset="2"/>
              <a:buNone/>
              <a:defRPr/>
            </a:pPr>
            <a:r>
              <a:rPr lang="fr-FR" altLang="zh-CN" sz="2400" dirty="0" smtClean="0"/>
              <a:t>	x2 = a; //</a:t>
            </a:r>
            <a:r>
              <a:rPr lang="zh-CN" altLang="en-US" sz="2400" dirty="0" smtClean="0"/>
              <a:t>记住</a:t>
            </a:r>
            <a:r>
              <a:rPr lang="zh-CN" altLang="fr-FR" sz="2400" dirty="0" smtClean="0"/>
              <a:t>第一个值</a:t>
            </a:r>
            <a:r>
              <a:rPr lang="fr-FR" altLang="zh-CN" sz="2400" dirty="0" smtClean="0"/>
              <a:t>a</a:t>
            </a:r>
          </a:p>
          <a:p>
            <a:pPr eaLnBrk="1" hangingPunct="1">
              <a:lnSpc>
                <a:spcPct val="110000"/>
              </a:lnSpc>
              <a:buFont typeface="Wingdings" pitchFamily="2" charset="2"/>
              <a:buNone/>
              <a:defRPr/>
            </a:pPr>
            <a:r>
              <a:rPr lang="fr-FR" altLang="zh-CN" sz="2400" dirty="0" smtClean="0"/>
              <a:t>	</a:t>
            </a:r>
            <a:endParaRPr lang="zh-CN" altLang="fr-FR" sz="2400" dirty="0" smtClean="0"/>
          </a:p>
          <a:p>
            <a:pPr eaLnBrk="1" hangingPunct="1">
              <a:lnSpc>
                <a:spcPct val="110000"/>
              </a:lnSpc>
              <a:buFont typeface="Wingdings" pitchFamily="2" charset="2"/>
              <a:buNone/>
              <a:defRPr/>
            </a:pPr>
            <a:r>
              <a:rPr lang="zh-CN" altLang="en-US" sz="2400" dirty="0" smtClean="0"/>
              <a:t>	</a:t>
            </a:r>
            <a:r>
              <a:rPr lang="en-US" altLang="zh-CN" sz="2400" dirty="0" smtClean="0"/>
              <a:t>do</a:t>
            </a:r>
            <a:endParaRPr lang="fr-FR" altLang="zh-CN" sz="2400" dirty="0" smtClean="0"/>
          </a:p>
          <a:p>
            <a:pPr eaLnBrk="1" hangingPunct="1">
              <a:lnSpc>
                <a:spcPct val="110000"/>
              </a:lnSpc>
              <a:buFont typeface="Wingdings" pitchFamily="2" charset="2"/>
              <a:buNone/>
              <a:defRPr/>
            </a:pPr>
            <a:r>
              <a:rPr lang="fr-FR" altLang="zh-CN" sz="2400" dirty="0" smtClean="0"/>
              <a:t>	{ x1 = x2; //</a:t>
            </a:r>
            <a:r>
              <a:rPr lang="zh-CN" altLang="fr-FR" sz="2400" dirty="0" smtClean="0"/>
              <a:t>记住前一个值</a:t>
            </a:r>
          </a:p>
          <a:p>
            <a:pPr eaLnBrk="1" hangingPunct="1">
              <a:lnSpc>
                <a:spcPct val="110000"/>
              </a:lnSpc>
              <a:buFont typeface="Wingdings" pitchFamily="2" charset="2"/>
              <a:buNone/>
              <a:defRPr/>
            </a:pPr>
            <a:r>
              <a:rPr lang="zh-CN" altLang="fr-FR" sz="2400" dirty="0" smtClean="0"/>
              <a:t>	   </a:t>
            </a:r>
            <a:r>
              <a:rPr lang="fr-FR" altLang="zh-CN" sz="2400" dirty="0" smtClean="0"/>
              <a:t>x2 = (2*x1+a/(x1*x1))/3; //</a:t>
            </a:r>
            <a:r>
              <a:rPr lang="zh-CN" altLang="fr-FR" sz="2400" dirty="0" smtClean="0"/>
              <a:t>计算新的值		</a:t>
            </a:r>
          </a:p>
          <a:p>
            <a:pPr eaLnBrk="1" hangingPunct="1">
              <a:lnSpc>
                <a:spcPct val="110000"/>
              </a:lnSpc>
              <a:buNone/>
              <a:defRPr/>
            </a:pPr>
            <a:r>
              <a:rPr lang="zh-CN" altLang="fr-FR" sz="2400" dirty="0" smtClean="0"/>
              <a:t>	</a:t>
            </a:r>
            <a:r>
              <a:rPr lang="en-US" altLang="zh-CN" sz="2400" dirty="0"/>
              <a:t>} while (</a:t>
            </a:r>
            <a:r>
              <a:rPr lang="en-US" altLang="zh-CN" sz="2400" dirty="0" err="1"/>
              <a:t>fabs</a:t>
            </a:r>
            <a:r>
              <a:rPr lang="en-US" altLang="zh-CN" sz="2400" dirty="0"/>
              <a:t>(x2-x1) &gt;= EPS);</a:t>
            </a:r>
            <a:endParaRPr lang="en-US" altLang="zh-CN" sz="2400" dirty="0" smtClean="0"/>
          </a:p>
          <a:p>
            <a:pPr eaLnBrk="1" hangingPunct="1">
              <a:lnSpc>
                <a:spcPct val="110000"/>
              </a:lnSpc>
              <a:buFont typeface="Wingdings" pitchFamily="2" charset="2"/>
              <a:buNone/>
              <a:defRPr/>
            </a:pPr>
            <a:r>
              <a:rPr lang="en-US" altLang="zh-CN" sz="2400" dirty="0" smtClean="0"/>
              <a:t>	</a:t>
            </a:r>
            <a:r>
              <a:rPr lang="en-US" altLang="zh-CN" sz="2400" dirty="0" err="1" smtClean="0"/>
              <a:t>cout</a:t>
            </a:r>
            <a:r>
              <a:rPr lang="en-US" altLang="zh-CN" sz="2400" dirty="0" smtClean="0"/>
              <a:t> &lt;&lt; a &lt;&lt; "</a:t>
            </a:r>
            <a:r>
              <a:rPr lang="zh-CN" altLang="en-US" sz="2400" dirty="0" smtClean="0"/>
              <a:t>的立方根是</a:t>
            </a:r>
            <a:r>
              <a:rPr lang="zh-CN" altLang="en-GB" sz="2400" dirty="0" smtClean="0"/>
              <a:t>：</a:t>
            </a:r>
            <a:r>
              <a:rPr lang="en-US" altLang="zh-CN" sz="2400" dirty="0" smtClean="0"/>
              <a:t>" &lt;&lt; x2 &lt;&lt; </a:t>
            </a:r>
            <a:r>
              <a:rPr lang="en-US" altLang="zh-CN" sz="2400" dirty="0" err="1" smtClean="0"/>
              <a:t>endl</a:t>
            </a:r>
            <a:r>
              <a:rPr lang="en-US" altLang="zh-CN" sz="2400" dirty="0" smtClean="0"/>
              <a:t>;</a:t>
            </a:r>
          </a:p>
          <a:p>
            <a:pPr eaLnBrk="1" hangingPunct="1">
              <a:lnSpc>
                <a:spcPct val="110000"/>
              </a:lnSpc>
              <a:buFont typeface="Wingdings" pitchFamily="2" charset="2"/>
              <a:buNone/>
              <a:defRPr/>
            </a:pPr>
            <a:r>
              <a:rPr lang="en-US" altLang="zh-CN" sz="2400" dirty="0" smtClean="0"/>
              <a:t>	return 0;</a:t>
            </a:r>
          </a:p>
          <a:p>
            <a:pPr eaLnBrk="1" hangingPunct="1">
              <a:lnSpc>
                <a:spcPct val="110000"/>
              </a:lnSpc>
              <a:buFont typeface="Wingdings" pitchFamily="2" charset="2"/>
              <a:buNone/>
              <a:defRPr/>
            </a:pPr>
            <a:r>
              <a:rPr lang="en-US" altLang="zh-CN" sz="2400" dirty="0" smtClean="0"/>
              <a:t>}</a:t>
            </a:r>
          </a:p>
        </p:txBody>
      </p:sp>
    </p:spTree>
    <p:extLst>
      <p:ext uri="{BB962C8B-B14F-4D97-AF65-F5344CB8AC3E}">
        <p14:creationId xmlns:p14="http://schemas.microsoft.com/office/powerpoint/2010/main" val="345171500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defRPr/>
            </a:pPr>
            <a:r>
              <a:rPr lang="zh-CN" altLang="en-US" smtClean="0"/>
              <a:t>循环优化问题</a:t>
            </a:r>
          </a:p>
        </p:txBody>
      </p:sp>
      <p:sp>
        <p:nvSpPr>
          <p:cNvPr id="192515" name="Rectangle 3"/>
          <p:cNvSpPr>
            <a:spLocks noGrp="1" noChangeArrowheads="1"/>
          </p:cNvSpPr>
          <p:nvPr>
            <p:ph type="body" idx="1"/>
          </p:nvPr>
        </p:nvSpPr>
        <p:spPr/>
        <p:txBody>
          <a:bodyPr/>
          <a:lstStyle/>
          <a:p>
            <a:pPr eaLnBrk="1" hangingPunct="1">
              <a:defRPr/>
            </a:pPr>
            <a:r>
              <a:rPr lang="zh-CN" altLang="en-US" dirty="0" smtClean="0"/>
              <a:t>循环往往可以优化，主要包括：</a:t>
            </a:r>
            <a:endParaRPr lang="en-US" altLang="zh-CN" dirty="0" smtClean="0"/>
          </a:p>
          <a:p>
            <a:pPr lvl="1" eaLnBrk="1" hangingPunct="1">
              <a:defRPr/>
            </a:pPr>
            <a:r>
              <a:rPr lang="zh-CN" altLang="en-US" dirty="0" smtClean="0"/>
              <a:t>算法的优化：减少循环次数</a:t>
            </a:r>
          </a:p>
          <a:p>
            <a:pPr lvl="1" eaLnBrk="1" hangingPunct="1">
              <a:defRPr/>
            </a:pPr>
            <a:r>
              <a:rPr lang="zh-CN" altLang="en-US" dirty="0" smtClean="0"/>
              <a:t>避免在循环中重复计算不变的表达式</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981075"/>
            <a:ext cx="8686800" cy="5661025"/>
          </a:xfrm>
        </p:spPr>
        <p:txBody>
          <a:bodyPr>
            <a:normAutofit lnSpcReduction="10000"/>
          </a:bodyPr>
          <a:lstStyle/>
          <a:p>
            <a:pPr eaLnBrk="1" hangingPunct="1">
              <a:lnSpc>
                <a:spcPct val="80000"/>
              </a:lnSpc>
              <a:spcAft>
                <a:spcPct val="20000"/>
              </a:spcAft>
              <a:buFont typeface="Wingdings" pitchFamily="2" charset="2"/>
              <a:buNone/>
              <a:defRPr/>
            </a:pPr>
            <a:r>
              <a:rPr lang="en-US" altLang="zh-CN" sz="2000" dirty="0" smtClean="0"/>
              <a:t>//</a:t>
            </a:r>
            <a:r>
              <a:rPr lang="zh-CN" altLang="en-US" sz="2000" dirty="0" smtClean="0"/>
              <a:t>素数：只能被</a:t>
            </a:r>
            <a:r>
              <a:rPr lang="en-US" altLang="zh-CN" sz="2000" dirty="0" smtClean="0"/>
              <a:t>1</a:t>
            </a:r>
            <a:r>
              <a:rPr lang="zh-CN" altLang="en-US" sz="2000" dirty="0" smtClean="0"/>
              <a:t>和本身整除的数</a:t>
            </a:r>
            <a:endParaRPr lang="en-US" altLang="zh-CN" sz="2000" dirty="0" smtClean="0"/>
          </a:p>
          <a:p>
            <a:pPr eaLnBrk="1" hangingPunct="1">
              <a:lnSpc>
                <a:spcPct val="80000"/>
              </a:lnSpc>
              <a:spcAft>
                <a:spcPct val="20000"/>
              </a:spcAft>
              <a:buFont typeface="Wingdings" pitchFamily="2" charset="2"/>
              <a:buNone/>
              <a:defRPr/>
            </a:pPr>
            <a:r>
              <a:rPr lang="en-US" altLang="zh-CN" sz="2000" dirty="0" smtClean="0"/>
              <a:t>//</a:t>
            </a:r>
            <a:r>
              <a:rPr lang="zh-CN" altLang="en-US" sz="2000" dirty="0" smtClean="0">
                <a:solidFill>
                  <a:srgbClr val="FFC000"/>
                </a:solidFill>
              </a:rPr>
              <a:t>解题思路：</a:t>
            </a:r>
            <a:r>
              <a:rPr lang="zh-CN" altLang="en-US" sz="2000" dirty="0" smtClean="0"/>
              <a:t>用</a:t>
            </a:r>
            <a:r>
              <a:rPr lang="en-US" altLang="zh-CN" sz="2000" dirty="0" smtClean="0"/>
              <a:t>2~n-1</a:t>
            </a:r>
            <a:r>
              <a:rPr lang="zh-CN" altLang="en-US" sz="2000" dirty="0" smtClean="0"/>
              <a:t>中的每个数去除</a:t>
            </a:r>
            <a:r>
              <a:rPr lang="en-US" altLang="zh-CN" sz="2000" dirty="0" smtClean="0"/>
              <a:t>n</a:t>
            </a:r>
            <a:r>
              <a:rPr lang="zh-CN" altLang="en-US" sz="2000" dirty="0" smtClean="0"/>
              <a:t>，如果没有一个能整除，</a:t>
            </a:r>
            <a:r>
              <a:rPr lang="en-US" altLang="zh-CN" sz="2000" dirty="0" smtClean="0"/>
              <a:t>n</a:t>
            </a:r>
            <a:r>
              <a:rPr lang="zh-CN" altLang="en-US" sz="2000" dirty="0" smtClean="0"/>
              <a:t>就是素数</a:t>
            </a:r>
            <a:endParaRPr lang="en-US" altLang="zh-CN" sz="2000" dirty="0" smtClean="0"/>
          </a:p>
          <a:p>
            <a:pPr eaLnBrk="1" hangingPunct="1">
              <a:lnSpc>
                <a:spcPct val="80000"/>
              </a:lnSpc>
              <a:spcAft>
                <a:spcPct val="20000"/>
              </a:spcAft>
              <a:buFont typeface="Wingdings" pitchFamily="2" charset="2"/>
              <a:buNone/>
              <a:defRPr/>
            </a:pPr>
            <a:r>
              <a:rPr lang="en-US" altLang="zh-CN" sz="2000" dirty="0" smtClean="0"/>
              <a:t>#include &lt;</a:t>
            </a:r>
            <a:r>
              <a:rPr lang="en-US" altLang="zh-CN" sz="2000" dirty="0" err="1" smtClean="0"/>
              <a:t>iostream</a:t>
            </a:r>
            <a:r>
              <a:rPr lang="en-US" altLang="zh-CN" sz="2000" dirty="0" smtClean="0"/>
              <a:t>&gt;</a:t>
            </a:r>
          </a:p>
          <a:p>
            <a:pPr eaLnBrk="1" hangingPunct="1">
              <a:lnSpc>
                <a:spcPct val="80000"/>
              </a:lnSpc>
              <a:buFont typeface="Wingdings" pitchFamily="2" charset="2"/>
              <a:buNone/>
              <a:defRPr/>
            </a:pPr>
            <a:r>
              <a:rPr lang="en-US" altLang="zh-CN" sz="2000" dirty="0" smtClean="0"/>
              <a:t>using namespace </a:t>
            </a:r>
            <a:r>
              <a:rPr lang="en-US" altLang="zh-CN" sz="2000" dirty="0" err="1" smtClean="0"/>
              <a:t>std</a:t>
            </a:r>
            <a:r>
              <a:rPr lang="en-US" altLang="zh-CN" sz="2000" dirty="0" smtClean="0"/>
              <a:t>;</a:t>
            </a:r>
          </a:p>
          <a:p>
            <a:pPr eaLnBrk="1" hangingPunct="1">
              <a:lnSpc>
                <a:spcPct val="80000"/>
              </a:lnSpc>
              <a:buFont typeface="Wingdings" pitchFamily="2" charset="2"/>
              <a:buNone/>
              <a:defRPr/>
            </a:pPr>
            <a:r>
              <a:rPr lang="en-US" altLang="zh-CN" sz="2000" dirty="0" err="1" smtClean="0"/>
              <a:t>int</a:t>
            </a:r>
            <a:r>
              <a:rPr lang="en-US" altLang="zh-CN" sz="2000" dirty="0" smtClean="0"/>
              <a:t> main()</a:t>
            </a:r>
          </a:p>
          <a:p>
            <a:pPr eaLnBrk="1" hangingPunct="1">
              <a:lnSpc>
                <a:spcPct val="80000"/>
              </a:lnSpc>
              <a:buFont typeface="Wingdings" pitchFamily="2" charset="2"/>
              <a:buNone/>
              <a:defRPr/>
            </a:pPr>
            <a:r>
              <a:rPr lang="en-US" altLang="zh-CN" sz="2000" dirty="0" smtClean="0"/>
              <a:t>{	</a:t>
            </a:r>
            <a:r>
              <a:rPr lang="en-US" altLang="zh-CN" sz="2000" dirty="0" err="1" smtClean="0"/>
              <a:t>int</a:t>
            </a:r>
            <a:r>
              <a:rPr lang="en-US" altLang="zh-CN" sz="2000" dirty="0" smtClean="0"/>
              <a:t> n;</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p>
          <a:p>
            <a:pPr eaLnBrk="1" hangingPunct="1">
              <a:lnSpc>
                <a:spcPct val="80000"/>
              </a:lnSpc>
              <a:buFont typeface="Wingdings"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p>
          <a:p>
            <a:pPr eaLnBrk="1" hangingPunct="1">
              <a:lnSpc>
                <a:spcPct val="80000"/>
              </a:lnSpc>
              <a:buFont typeface="Wingdings" pitchFamily="2" charset="2"/>
              <a:buNone/>
              <a:defRPr/>
            </a:pPr>
            <a:r>
              <a:rPr lang="en-US" altLang="zh-CN" sz="2000" dirty="0" smtClean="0"/>
              <a:t>	</a:t>
            </a:r>
            <a:r>
              <a:rPr lang="en-US" altLang="zh-CN" sz="2000" dirty="0" err="1" smtClean="0"/>
              <a:t>int</a:t>
            </a:r>
            <a:r>
              <a:rPr lang="en-US" altLang="zh-CN" sz="2000" dirty="0" smtClean="0"/>
              <a:t> </a:t>
            </a:r>
            <a:r>
              <a:rPr lang="en-US" altLang="zh-CN" sz="2000" dirty="0" err="1" smtClean="0"/>
              <a:t>i</a:t>
            </a:r>
            <a:r>
              <a:rPr lang="en-US" altLang="zh-CN" sz="2000" dirty="0" smtClean="0"/>
              <a:t>=2; //</a:t>
            </a:r>
            <a:r>
              <a:rPr lang="zh-CN" altLang="en-US" sz="2000" dirty="0" smtClean="0"/>
              <a:t>用</a:t>
            </a:r>
            <a:r>
              <a:rPr lang="en-US" altLang="zh-CN" sz="2000" dirty="0" err="1" smtClean="0"/>
              <a:t>i</a:t>
            </a:r>
            <a:r>
              <a:rPr lang="zh-CN" altLang="en-US" sz="2000" dirty="0" smtClean="0"/>
              <a:t>去除</a:t>
            </a:r>
            <a:r>
              <a:rPr lang="en-US" altLang="zh-CN" sz="2000" dirty="0" smtClean="0"/>
              <a:t>n</a:t>
            </a:r>
            <a:r>
              <a:rPr lang="zh-CN" altLang="en-US" sz="2000" dirty="0" smtClean="0"/>
              <a:t>，</a:t>
            </a:r>
            <a:r>
              <a:rPr lang="en-US" altLang="zh-CN" sz="2000" dirty="0" err="1" smtClean="0"/>
              <a:t>i</a:t>
            </a:r>
            <a:r>
              <a:rPr lang="zh-CN" altLang="en-US" sz="2000" dirty="0" smtClean="0"/>
              <a:t>从</a:t>
            </a:r>
            <a:r>
              <a:rPr lang="en-US" altLang="zh-CN" sz="2000" dirty="0" smtClean="0"/>
              <a:t>2</a:t>
            </a:r>
            <a:r>
              <a:rPr lang="zh-CN" altLang="en-US" sz="2000" dirty="0" smtClean="0"/>
              <a:t>开始</a:t>
            </a:r>
            <a:endParaRPr lang="en-US" altLang="zh-CN" sz="2000" dirty="0" smtClean="0"/>
          </a:p>
          <a:p>
            <a:pPr eaLnBrk="1" hangingPunct="1">
              <a:lnSpc>
                <a:spcPct val="80000"/>
              </a:lnSpc>
              <a:buFont typeface="Wingdings" pitchFamily="2" charset="2"/>
              <a:buNone/>
              <a:defRPr/>
            </a:pPr>
            <a:r>
              <a:rPr lang="en-US" altLang="zh-CN" sz="2000" dirty="0" smtClean="0"/>
              <a:t>	while (</a:t>
            </a:r>
            <a:r>
              <a:rPr lang="en-US" altLang="zh-CN" sz="2000" dirty="0" err="1" smtClean="0"/>
              <a:t>i</a:t>
            </a:r>
            <a:r>
              <a:rPr lang="en-US" altLang="zh-CN" sz="2000" dirty="0" smtClean="0"/>
              <a:t> &lt; </a:t>
            </a:r>
            <a:r>
              <a:rPr lang="en-US" altLang="zh-CN" sz="2000" dirty="0" smtClean="0">
                <a:solidFill>
                  <a:schemeClr val="folHlink"/>
                </a:solidFill>
              </a:rPr>
              <a:t>n</a:t>
            </a:r>
            <a:r>
              <a:rPr lang="en-US" altLang="zh-CN" sz="2000" dirty="0" smtClean="0"/>
              <a:t> &amp;&amp; </a:t>
            </a:r>
            <a:r>
              <a:rPr lang="en-US" altLang="zh-CN" sz="2000" dirty="0" err="1" smtClean="0"/>
              <a:t>n%i</a:t>
            </a:r>
            <a:r>
              <a:rPr lang="en-US" altLang="zh-CN" sz="2000" dirty="0" smtClean="0"/>
              <a:t> != 0) </a:t>
            </a:r>
            <a:r>
              <a:rPr lang="en-US" altLang="zh-CN" sz="1800" dirty="0" smtClean="0"/>
              <a:t>//</a:t>
            </a:r>
            <a:r>
              <a:rPr lang="zh-CN" altLang="en-US" sz="1800" dirty="0" smtClean="0"/>
              <a:t>循环：分别判断</a:t>
            </a:r>
            <a:r>
              <a:rPr lang="en-US" altLang="zh-CN" sz="1800" dirty="0" smtClean="0"/>
              <a:t>n</a:t>
            </a:r>
            <a:r>
              <a:rPr lang="zh-CN" altLang="en-US" sz="1800" dirty="0" smtClean="0"/>
              <a:t>是否能被</a:t>
            </a:r>
            <a:r>
              <a:rPr lang="en-US" altLang="zh-CN" sz="1800" dirty="0" smtClean="0"/>
              <a:t>2 ~ n-1</a:t>
            </a:r>
            <a:r>
              <a:rPr lang="zh-CN" altLang="en-US" sz="1800" dirty="0" smtClean="0"/>
              <a:t>整除</a:t>
            </a:r>
          </a:p>
          <a:p>
            <a:pPr eaLnBrk="1" hangingPunct="1">
              <a:lnSpc>
                <a:spcPct val="80000"/>
              </a:lnSpc>
              <a:buFont typeface="Wingdings" pitchFamily="2" charset="2"/>
              <a:buNone/>
              <a:defRPr/>
            </a:pPr>
            <a:r>
              <a:rPr lang="zh-CN" altLang="en-US" sz="2000" dirty="0" smtClean="0"/>
              <a:t>	</a:t>
            </a:r>
            <a:r>
              <a:rPr lang="en-US" altLang="zh-CN" sz="2000" dirty="0"/>
              <a:t> </a:t>
            </a:r>
            <a:r>
              <a:rPr lang="en-US" altLang="zh-CN" sz="2000" dirty="0" smtClean="0"/>
              <a:t> </a:t>
            </a:r>
            <a:r>
              <a:rPr lang="en-US" altLang="zh-CN" sz="2000" dirty="0" err="1" smtClean="0"/>
              <a:t>i</a:t>
            </a:r>
            <a:r>
              <a:rPr lang="en-US" altLang="zh-CN" sz="2000" dirty="0" smtClean="0"/>
              <a:t>++;</a:t>
            </a:r>
          </a:p>
          <a:p>
            <a:pPr eaLnBrk="1" hangingPunct="1">
              <a:lnSpc>
                <a:spcPct val="80000"/>
              </a:lnSpc>
              <a:buFont typeface="Wingdings" pitchFamily="2" charset="2"/>
              <a:buNone/>
              <a:defRPr/>
            </a:pPr>
            <a:r>
              <a:rPr lang="en-US" altLang="zh-CN" sz="2000" dirty="0" smtClean="0"/>
              <a:t>	if (</a:t>
            </a:r>
            <a:r>
              <a:rPr lang="en-US" altLang="zh-CN" sz="2000" dirty="0" err="1" smtClean="0"/>
              <a:t>i</a:t>
            </a:r>
            <a:r>
              <a:rPr lang="en-US" altLang="zh-CN" sz="2000" dirty="0" smtClean="0"/>
              <a:t> == n) //n</a:t>
            </a:r>
            <a:r>
              <a:rPr lang="zh-CN" altLang="en-US" sz="2000" dirty="0" smtClean="0"/>
              <a:t>是素数</a:t>
            </a:r>
          </a:p>
          <a:p>
            <a:pPr eaLnBrk="1" hangingPunct="1">
              <a:lnSpc>
                <a:spcPct val="80000"/>
              </a:lnSpc>
              <a:buNone/>
              <a:defRPr/>
            </a:pPr>
            <a:r>
              <a:rPr lang="zh-CN" altLang="en-US" sz="2000" dirty="0" smtClean="0"/>
              <a:t>	  </a:t>
            </a:r>
            <a:r>
              <a:rPr lang="en-US" altLang="zh-CN" sz="2000" dirty="0" err="1" smtClean="0"/>
              <a:t>cout</a:t>
            </a:r>
            <a:r>
              <a:rPr lang="en-US" altLang="zh-CN" sz="2000" dirty="0" smtClean="0"/>
              <a:t> &lt;&lt; n </a:t>
            </a:r>
            <a:r>
              <a:rPr lang="en-US" altLang="zh-CN" sz="2000" dirty="0"/>
              <a:t>&lt;&lt; "</a:t>
            </a:r>
            <a:r>
              <a:rPr lang="zh-CN" altLang="en-US" sz="2000" dirty="0"/>
              <a:t>是素数</a:t>
            </a:r>
            <a:r>
              <a:rPr lang="en-US" altLang="zh-CN" sz="2000" dirty="0"/>
              <a:t>" &lt;&lt; </a:t>
            </a:r>
            <a:r>
              <a:rPr lang="en-US" altLang="zh-CN" sz="2000" dirty="0" err="1" smtClean="0"/>
              <a:t>endl</a:t>
            </a:r>
            <a:r>
              <a:rPr lang="en-US" altLang="zh-CN" sz="2000" dirty="0" smtClean="0"/>
              <a:t>;</a:t>
            </a:r>
          </a:p>
          <a:p>
            <a:pPr eaLnBrk="1" hangingPunct="1">
              <a:lnSpc>
                <a:spcPct val="80000"/>
              </a:lnSpc>
              <a:buNone/>
              <a:defRPr/>
            </a:pPr>
            <a:r>
              <a:rPr lang="en-US" altLang="zh-CN" sz="2000" dirty="0"/>
              <a:t> </a:t>
            </a:r>
            <a:r>
              <a:rPr lang="en-US" altLang="zh-CN" sz="2000" dirty="0" smtClean="0"/>
              <a:t>   else</a:t>
            </a:r>
          </a:p>
          <a:p>
            <a:pPr eaLnBrk="1" hangingPunct="1">
              <a:lnSpc>
                <a:spcPct val="80000"/>
              </a:lnSpc>
              <a:buNone/>
              <a:defRPr/>
            </a:pPr>
            <a:r>
              <a:rPr lang="en-US" altLang="zh-CN" sz="2000" dirty="0" smtClean="0"/>
              <a:t>      </a:t>
            </a:r>
            <a:r>
              <a:rPr lang="en-US" altLang="zh-CN" sz="2000" dirty="0" err="1" smtClean="0"/>
              <a:t>cout</a:t>
            </a:r>
            <a:r>
              <a:rPr lang="en-US" altLang="zh-CN" sz="2000" dirty="0" smtClean="0"/>
              <a:t> </a:t>
            </a:r>
            <a:r>
              <a:rPr lang="en-US" altLang="zh-CN" sz="2000" dirty="0"/>
              <a:t>&lt;&lt; n &lt;&lt; </a:t>
            </a:r>
            <a:r>
              <a:rPr lang="en-US" altLang="zh-CN" sz="2000" dirty="0" smtClean="0"/>
              <a:t>"</a:t>
            </a:r>
            <a:r>
              <a:rPr lang="zh-CN" altLang="en-US" sz="2000" dirty="0" smtClean="0"/>
              <a:t>不是</a:t>
            </a:r>
            <a:r>
              <a:rPr lang="zh-CN" altLang="en-US" sz="2000" dirty="0"/>
              <a:t>素数</a:t>
            </a:r>
            <a:r>
              <a:rPr lang="en-US" altLang="zh-CN" sz="2000" dirty="0"/>
              <a:t>" &lt;&lt; </a:t>
            </a:r>
            <a:r>
              <a:rPr lang="en-US" altLang="zh-CN" sz="2000" dirty="0" err="1"/>
              <a:t>endl</a:t>
            </a:r>
            <a:r>
              <a:rPr lang="en-US" altLang="zh-CN" sz="2000" dirty="0" smtClean="0"/>
              <a:t>;</a:t>
            </a:r>
          </a:p>
          <a:p>
            <a:pPr eaLnBrk="1" hangingPunct="1">
              <a:lnSpc>
                <a:spcPct val="80000"/>
              </a:lnSpc>
              <a:buFont typeface="Wingdings" pitchFamily="2" charset="2"/>
              <a:buNone/>
              <a:defRPr/>
            </a:pPr>
            <a:r>
              <a:rPr lang="en-US" altLang="zh-CN" sz="2000" dirty="0" smtClean="0"/>
              <a:t>	return 0;</a:t>
            </a:r>
          </a:p>
          <a:p>
            <a:pPr eaLnBrk="1" hangingPunct="1">
              <a:lnSpc>
                <a:spcPct val="80000"/>
              </a:lnSpc>
              <a:buFont typeface="Wingdings" pitchFamily="2" charset="2"/>
              <a:buNone/>
              <a:defRPr/>
            </a:pPr>
            <a:r>
              <a:rPr lang="en-US" altLang="zh-CN" sz="2000" dirty="0" smtClean="0"/>
              <a:t>}</a:t>
            </a:r>
          </a:p>
          <a:p>
            <a:pPr eaLnBrk="1" hangingPunct="1">
              <a:lnSpc>
                <a:spcPct val="80000"/>
              </a:lnSpc>
              <a:defRPr/>
            </a:pPr>
            <a:r>
              <a:rPr lang="zh-CN" altLang="en-US" sz="2000" dirty="0" smtClean="0"/>
              <a:t>注意：上面的</a:t>
            </a:r>
            <a:r>
              <a:rPr lang="en-US" altLang="zh-CN" sz="2000" dirty="0" smtClean="0"/>
              <a:t>while</a:t>
            </a:r>
            <a:r>
              <a:rPr lang="zh-CN" altLang="en-US" sz="2000" dirty="0" smtClean="0"/>
              <a:t>循环中</a:t>
            </a:r>
            <a:r>
              <a:rPr lang="en-US" altLang="zh-CN" sz="2000" dirty="0" err="1" smtClean="0"/>
              <a:t>i</a:t>
            </a:r>
            <a:r>
              <a:rPr lang="zh-CN" altLang="en-US" sz="2000" dirty="0" smtClean="0"/>
              <a:t>没有必要到</a:t>
            </a:r>
            <a:r>
              <a:rPr lang="en-US" altLang="zh-CN" sz="2000" dirty="0" smtClean="0"/>
              <a:t>n-1</a:t>
            </a:r>
            <a:r>
              <a:rPr lang="zh-CN" altLang="en-US" sz="2000" dirty="0" smtClean="0"/>
              <a:t>，只需要到</a:t>
            </a:r>
            <a:r>
              <a:rPr lang="zh-CN" altLang="en-US" sz="2000" dirty="0"/>
              <a:t>：</a:t>
            </a:r>
            <a:r>
              <a:rPr lang="en-US" altLang="zh-CN" sz="2000" dirty="0" smtClean="0"/>
              <a:t> </a:t>
            </a:r>
          </a:p>
        </p:txBody>
      </p:sp>
      <p:sp>
        <p:nvSpPr>
          <p:cNvPr id="193539" name="Rectangle 3"/>
          <p:cNvSpPr>
            <a:spLocks noGrp="1" noChangeArrowheads="1"/>
          </p:cNvSpPr>
          <p:nvPr>
            <p:ph type="title"/>
          </p:nvPr>
        </p:nvSpPr>
        <p:spPr>
          <a:xfrm>
            <a:off x="0" y="71438"/>
            <a:ext cx="9144000" cy="836612"/>
          </a:xfrm>
        </p:spPr>
        <p:txBody>
          <a:bodyPr/>
          <a:lstStyle/>
          <a:p>
            <a:pPr algn="l" eaLnBrk="1" hangingPunct="1">
              <a:defRPr/>
            </a:pPr>
            <a:r>
              <a:rPr lang="zh-CN" altLang="en-US" sz="3600" dirty="0" smtClean="0">
                <a:latin typeface="+mj-ea"/>
              </a:rPr>
              <a:t>例：编程判断</a:t>
            </a:r>
            <a:r>
              <a:rPr lang="en-US" altLang="zh-CN" sz="3600" dirty="0" smtClean="0">
                <a:latin typeface="+mj-ea"/>
              </a:rPr>
              <a:t>n</a:t>
            </a:r>
            <a:r>
              <a:rPr lang="zh-CN" altLang="en-US" sz="3600" dirty="0" smtClean="0">
                <a:latin typeface="+mj-ea"/>
              </a:rPr>
              <a:t>是否为素数（穷举法）</a:t>
            </a:r>
          </a:p>
        </p:txBody>
      </p:sp>
      <p:pic>
        <p:nvPicPr>
          <p:cNvPr id="3" name="图片 2"/>
          <p:cNvPicPr>
            <a:picLocks noChangeAspect="1"/>
          </p:cNvPicPr>
          <p:nvPr/>
        </p:nvPicPr>
        <p:blipFill>
          <a:blip r:embed="rId2"/>
          <a:stretch>
            <a:fillRect/>
          </a:stretch>
        </p:blipFill>
        <p:spPr>
          <a:xfrm>
            <a:off x="6830913" y="5778971"/>
            <a:ext cx="333375" cy="314325"/>
          </a:xfrm>
          <a:prstGeom prst="rect">
            <a:avLst/>
          </a:prstGeom>
        </p:spPr>
      </p:pic>
    </p:spTree>
    <p:extLst>
      <p:ext uri="{BB962C8B-B14F-4D97-AF65-F5344CB8AC3E}">
        <p14:creationId xmlns:p14="http://schemas.microsoft.com/office/powerpoint/2010/main" val="27950178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3538">
                                            <p:txEl>
                                              <p:pRg st="8" end="8"/>
                                            </p:txEl>
                                          </p:spTgt>
                                        </p:tgtEl>
                                        <p:attrNameLst>
                                          <p:attrName>style.visibility</p:attrName>
                                        </p:attrNameLst>
                                      </p:cBhvr>
                                      <p:to>
                                        <p:strVal val="visible"/>
                                      </p:to>
                                    </p:set>
                                    <p:animEffect transition="in" filter="blinds(horizontal)">
                                      <p:cBhvr>
                                        <p:cTn id="7" dur="500"/>
                                        <p:tgtEl>
                                          <p:spTgt spid="193538">
                                            <p:txEl>
                                              <p:pRg st="8" end="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3538">
                                            <p:txEl>
                                              <p:pRg st="9" end="9"/>
                                            </p:txEl>
                                          </p:spTgt>
                                        </p:tgtEl>
                                        <p:attrNameLst>
                                          <p:attrName>style.visibility</p:attrName>
                                        </p:attrNameLst>
                                      </p:cBhvr>
                                      <p:to>
                                        <p:strVal val="visible"/>
                                      </p:to>
                                    </p:set>
                                    <p:animEffect transition="in" filter="blinds(horizontal)">
                                      <p:cBhvr>
                                        <p:cTn id="10" dur="500"/>
                                        <p:tgtEl>
                                          <p:spTgt spid="193538">
                                            <p:txEl>
                                              <p:pRg st="9" end="9"/>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3538">
                                            <p:txEl>
                                              <p:pRg st="10" end="10"/>
                                            </p:txEl>
                                          </p:spTgt>
                                        </p:tgtEl>
                                        <p:attrNameLst>
                                          <p:attrName>style.visibility</p:attrName>
                                        </p:attrNameLst>
                                      </p:cBhvr>
                                      <p:to>
                                        <p:strVal val="visible"/>
                                      </p:to>
                                    </p:set>
                                    <p:animEffect transition="in" filter="blinds(horizontal)">
                                      <p:cBhvr>
                                        <p:cTn id="13" dur="500"/>
                                        <p:tgtEl>
                                          <p:spTgt spid="193538">
                                            <p:txEl>
                                              <p:pRg st="10" end="1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3538">
                                            <p:txEl>
                                              <p:pRg st="11" end="11"/>
                                            </p:txEl>
                                          </p:spTgt>
                                        </p:tgtEl>
                                        <p:attrNameLst>
                                          <p:attrName>style.visibility</p:attrName>
                                        </p:attrNameLst>
                                      </p:cBhvr>
                                      <p:to>
                                        <p:strVal val="visible"/>
                                      </p:to>
                                    </p:set>
                                    <p:animEffect transition="in" filter="blinds(horizontal)">
                                      <p:cBhvr>
                                        <p:cTn id="16" dur="500"/>
                                        <p:tgtEl>
                                          <p:spTgt spid="193538">
                                            <p:txEl>
                                              <p:pRg st="11" end="1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93538">
                                            <p:txEl>
                                              <p:pRg st="12" end="12"/>
                                            </p:txEl>
                                          </p:spTgt>
                                        </p:tgtEl>
                                        <p:attrNameLst>
                                          <p:attrName>style.visibility</p:attrName>
                                        </p:attrNameLst>
                                      </p:cBhvr>
                                      <p:to>
                                        <p:strVal val="visible"/>
                                      </p:to>
                                    </p:set>
                                    <p:animEffect transition="in" filter="blinds(horizontal)">
                                      <p:cBhvr>
                                        <p:cTn id="19" dur="500"/>
                                        <p:tgtEl>
                                          <p:spTgt spid="193538">
                                            <p:txEl>
                                              <p:pRg st="12" end="12"/>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93538">
                                            <p:txEl>
                                              <p:pRg st="13" end="13"/>
                                            </p:txEl>
                                          </p:spTgt>
                                        </p:tgtEl>
                                        <p:attrNameLst>
                                          <p:attrName>style.visibility</p:attrName>
                                        </p:attrNameLst>
                                      </p:cBhvr>
                                      <p:to>
                                        <p:strVal val="visible"/>
                                      </p:to>
                                    </p:set>
                                    <p:animEffect transition="in" filter="blinds(horizontal)">
                                      <p:cBhvr>
                                        <p:cTn id="22" dur="500"/>
                                        <p:tgtEl>
                                          <p:spTgt spid="193538">
                                            <p:txEl>
                                              <p:pRg st="13" end="1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93538">
                                            <p:txEl>
                                              <p:pRg st="14" end="14"/>
                                            </p:txEl>
                                          </p:spTgt>
                                        </p:tgtEl>
                                        <p:attrNameLst>
                                          <p:attrName>style.visibility</p:attrName>
                                        </p:attrNameLst>
                                      </p:cBhvr>
                                      <p:to>
                                        <p:strVal val="visible"/>
                                      </p:to>
                                    </p:set>
                                    <p:animEffect transition="in" filter="blinds(horizontal)">
                                      <p:cBhvr>
                                        <p:cTn id="25" dur="500"/>
                                        <p:tgtEl>
                                          <p:spTgt spid="193538">
                                            <p:txEl>
                                              <p:pRg st="14" end="1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93538">
                                            <p:txEl>
                                              <p:pRg st="17" end="17"/>
                                            </p:txEl>
                                          </p:spTgt>
                                        </p:tgtEl>
                                        <p:attrNameLst>
                                          <p:attrName>style.visibility</p:attrName>
                                        </p:attrNameLst>
                                      </p:cBhvr>
                                      <p:to>
                                        <p:strVal val="visible"/>
                                      </p:to>
                                    </p:set>
                                    <p:anim calcmode="lin" valueType="num">
                                      <p:cBhvr additive="base">
                                        <p:cTn id="30" dur="500" fill="hold"/>
                                        <p:tgtEl>
                                          <p:spTgt spid="193538">
                                            <p:txEl>
                                              <p:pRg st="17" end="1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93538">
                                            <p:txEl>
                                              <p:pRg st="17" end="17"/>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260647"/>
            <a:ext cx="8713663" cy="6480721"/>
          </a:xfrm>
        </p:spPr>
        <p:txBody>
          <a:bodyPr>
            <a:normAutofit/>
          </a:bodyPr>
          <a:lstStyle/>
          <a:p>
            <a:pPr eaLnBrk="1" hangingPunct="1">
              <a:lnSpc>
                <a:spcPct val="80000"/>
              </a:lnSpc>
              <a:spcAft>
                <a:spcPct val="20000"/>
              </a:spcAft>
              <a:buFont typeface="Wingdings" pitchFamily="2" charset="2"/>
              <a:buNone/>
              <a:defRPr/>
            </a:pPr>
            <a:r>
              <a:rPr lang="en-US" altLang="zh-CN" sz="2000" dirty="0" smtClean="0"/>
              <a:t>#include &lt;</a:t>
            </a:r>
            <a:r>
              <a:rPr lang="en-US" altLang="zh-CN" sz="2000" dirty="0" err="1" smtClean="0"/>
              <a:t>iostream</a:t>
            </a:r>
            <a:r>
              <a:rPr lang="en-US" altLang="zh-CN" sz="2000" dirty="0" smtClean="0"/>
              <a:t>&gt;</a:t>
            </a:r>
          </a:p>
          <a:p>
            <a:pPr eaLnBrk="1" hangingPunct="1">
              <a:lnSpc>
                <a:spcPct val="80000"/>
              </a:lnSpc>
              <a:spcAft>
                <a:spcPct val="20000"/>
              </a:spcAft>
              <a:buNone/>
              <a:defRPr/>
            </a:pPr>
            <a:r>
              <a:rPr lang="en-US" altLang="zh-CN" sz="2000" dirty="0">
                <a:solidFill>
                  <a:srgbClr val="FFC000"/>
                </a:solidFill>
              </a:rPr>
              <a:t>#include &lt;</a:t>
            </a:r>
            <a:r>
              <a:rPr lang="en-US" altLang="zh-CN" sz="2000" dirty="0" err="1">
                <a:solidFill>
                  <a:srgbClr val="FFC000"/>
                </a:solidFill>
              </a:rPr>
              <a:t>cmath</a:t>
            </a:r>
            <a:r>
              <a:rPr lang="en-US" altLang="zh-CN" sz="2000" dirty="0">
                <a:solidFill>
                  <a:srgbClr val="FFC000"/>
                </a:solidFill>
              </a:rPr>
              <a:t>&gt;</a:t>
            </a:r>
          </a:p>
          <a:p>
            <a:pPr eaLnBrk="1" hangingPunct="1">
              <a:lnSpc>
                <a:spcPct val="80000"/>
              </a:lnSpc>
              <a:buFont typeface="Wingdings" pitchFamily="2" charset="2"/>
              <a:buNone/>
              <a:defRPr/>
            </a:pPr>
            <a:r>
              <a:rPr lang="en-US" altLang="zh-CN" sz="2000" dirty="0" smtClean="0"/>
              <a:t>using namespace </a:t>
            </a:r>
            <a:r>
              <a:rPr lang="en-US" altLang="zh-CN" sz="2000" dirty="0" err="1" smtClean="0"/>
              <a:t>std</a:t>
            </a:r>
            <a:r>
              <a:rPr lang="en-US" altLang="zh-CN" sz="2000" dirty="0" smtClean="0"/>
              <a:t>;</a:t>
            </a:r>
          </a:p>
          <a:p>
            <a:pPr eaLnBrk="1" hangingPunct="1">
              <a:lnSpc>
                <a:spcPct val="80000"/>
              </a:lnSpc>
              <a:buFont typeface="Wingdings" pitchFamily="2" charset="2"/>
              <a:buNone/>
              <a:defRPr/>
            </a:pPr>
            <a:r>
              <a:rPr lang="en-US" altLang="zh-CN" sz="2000" dirty="0" err="1" smtClean="0"/>
              <a:t>int</a:t>
            </a:r>
            <a:r>
              <a:rPr lang="en-US" altLang="zh-CN" sz="2000" dirty="0" smtClean="0"/>
              <a:t> main()</a:t>
            </a:r>
          </a:p>
          <a:p>
            <a:pPr eaLnBrk="1" hangingPunct="1">
              <a:lnSpc>
                <a:spcPct val="80000"/>
              </a:lnSpc>
              <a:buFont typeface="Wingdings" pitchFamily="2" charset="2"/>
              <a:buNone/>
              <a:defRPr/>
            </a:pPr>
            <a:r>
              <a:rPr lang="en-US" altLang="zh-CN" sz="2000" dirty="0" smtClean="0"/>
              <a:t>{	</a:t>
            </a:r>
            <a:r>
              <a:rPr lang="en-US" altLang="zh-CN" sz="2000" dirty="0" err="1" smtClean="0"/>
              <a:t>int</a:t>
            </a:r>
            <a:r>
              <a:rPr lang="en-US" altLang="zh-CN" sz="2000" dirty="0" smtClean="0"/>
              <a:t> </a:t>
            </a:r>
            <a:r>
              <a:rPr lang="en-US" altLang="zh-CN" sz="2000" dirty="0"/>
              <a:t>n</a:t>
            </a:r>
            <a:r>
              <a:rPr lang="en-US" altLang="zh-CN" sz="2000" dirty="0" smtClean="0"/>
              <a:t>;</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p>
          <a:p>
            <a:pPr eaLnBrk="1" hangingPunct="1">
              <a:lnSpc>
                <a:spcPct val="80000"/>
              </a:lnSpc>
              <a:buFont typeface="Wingdings"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p>
          <a:p>
            <a:pPr eaLnBrk="1" hangingPunct="1">
              <a:lnSpc>
                <a:spcPct val="80000"/>
              </a:lnSpc>
              <a:buNone/>
              <a:defRPr/>
            </a:pPr>
            <a:r>
              <a:rPr lang="en-US" altLang="zh-CN" sz="2000" dirty="0" smtClean="0"/>
              <a:t>	</a:t>
            </a:r>
            <a:r>
              <a:rPr lang="en-US" altLang="zh-CN" sz="2000" dirty="0" err="1" smtClean="0"/>
              <a:t>int</a:t>
            </a:r>
            <a:r>
              <a:rPr lang="en-US" altLang="zh-CN" sz="2000" dirty="0" smtClean="0"/>
              <a:t> </a:t>
            </a:r>
            <a:r>
              <a:rPr lang="en-US" altLang="zh-CN" sz="2000" dirty="0" err="1"/>
              <a:t>i</a:t>
            </a:r>
            <a:r>
              <a:rPr lang="en-US" altLang="zh-CN" sz="2000" dirty="0" smtClean="0"/>
              <a:t>=2</a:t>
            </a:r>
            <a:r>
              <a:rPr lang="en-US" altLang="zh-CN" sz="2000" dirty="0"/>
              <a:t>; //</a:t>
            </a:r>
            <a:r>
              <a:rPr lang="zh-CN" altLang="en-US" sz="2000" dirty="0"/>
              <a:t>用</a:t>
            </a:r>
            <a:r>
              <a:rPr lang="en-US" altLang="zh-CN" sz="2000" dirty="0" err="1"/>
              <a:t>i</a:t>
            </a:r>
            <a:r>
              <a:rPr lang="zh-CN" altLang="en-US" sz="2000" dirty="0"/>
              <a:t>去除</a:t>
            </a:r>
            <a:r>
              <a:rPr lang="en-US" altLang="zh-CN" sz="2000" dirty="0"/>
              <a:t>n</a:t>
            </a:r>
            <a:r>
              <a:rPr lang="zh-CN" altLang="en-US" sz="2000" dirty="0"/>
              <a:t>，</a:t>
            </a:r>
            <a:r>
              <a:rPr lang="en-US" altLang="zh-CN" sz="2000" dirty="0" err="1"/>
              <a:t>i</a:t>
            </a:r>
            <a:r>
              <a:rPr lang="zh-CN" altLang="en-US" sz="2000" dirty="0"/>
              <a:t>从</a:t>
            </a:r>
            <a:r>
              <a:rPr lang="en-US" altLang="zh-CN" sz="2000" dirty="0"/>
              <a:t>2</a:t>
            </a:r>
            <a:r>
              <a:rPr lang="zh-CN" altLang="en-US" sz="2000" dirty="0" smtClean="0"/>
              <a:t>开始</a:t>
            </a:r>
            <a:endParaRPr lang="en-US" altLang="zh-CN" sz="2000" dirty="0" smtClean="0"/>
          </a:p>
          <a:p>
            <a:pPr eaLnBrk="1" hangingPunct="1">
              <a:lnSpc>
                <a:spcPct val="80000"/>
              </a:lnSpc>
              <a:buNone/>
              <a:defRPr/>
            </a:pPr>
            <a:r>
              <a:rPr lang="en-US" altLang="zh-CN" sz="2000" dirty="0" smtClean="0"/>
              <a:t>	while (</a:t>
            </a:r>
            <a:r>
              <a:rPr lang="en-US" altLang="zh-CN" sz="2000" dirty="0" err="1" smtClean="0"/>
              <a:t>i</a:t>
            </a:r>
            <a:r>
              <a:rPr lang="en-US" altLang="zh-CN" sz="2000" dirty="0" smtClean="0"/>
              <a:t> &lt;= (</a:t>
            </a:r>
            <a:r>
              <a:rPr lang="en-US" altLang="zh-CN" sz="2000" dirty="0" err="1" smtClean="0"/>
              <a:t>int</a:t>
            </a:r>
            <a:r>
              <a:rPr lang="en-US" altLang="zh-CN" sz="2000" dirty="0" smtClean="0"/>
              <a:t>)</a:t>
            </a:r>
            <a:r>
              <a:rPr lang="en-US" altLang="zh-CN" sz="2000" dirty="0" err="1" smtClean="0">
                <a:solidFill>
                  <a:schemeClr val="folHlink"/>
                </a:solidFill>
              </a:rPr>
              <a:t>sqrt</a:t>
            </a:r>
            <a:r>
              <a:rPr lang="en-US" altLang="zh-CN" sz="2000" dirty="0" smtClean="0"/>
              <a:t>((double)n) &amp;&amp; </a:t>
            </a:r>
            <a:r>
              <a:rPr lang="en-US" altLang="zh-CN" sz="2000" dirty="0" err="1" smtClean="0"/>
              <a:t>n%i</a:t>
            </a:r>
            <a:r>
              <a:rPr lang="en-US" altLang="zh-CN" sz="2000" dirty="0" smtClean="0"/>
              <a:t> != 0) //</a:t>
            </a:r>
            <a:r>
              <a:rPr lang="en-US" altLang="zh-CN" sz="2000" dirty="0" err="1" smtClean="0">
                <a:solidFill>
                  <a:srgbClr val="FFC000"/>
                </a:solidFill>
              </a:rPr>
              <a:t>sqrt</a:t>
            </a:r>
            <a:r>
              <a:rPr lang="zh-CN" altLang="en-US" sz="2000" dirty="0" smtClean="0"/>
              <a:t>是个库函数</a:t>
            </a:r>
            <a:endParaRPr lang="zh-CN" altLang="en-US" sz="1800" dirty="0" smtClean="0"/>
          </a:p>
          <a:p>
            <a:pPr eaLnBrk="1" hangingPunct="1">
              <a:lnSpc>
                <a:spcPct val="80000"/>
              </a:lnSpc>
              <a:buFont typeface="Wingdings" pitchFamily="2" charset="2"/>
              <a:buNone/>
              <a:defRPr/>
            </a:pPr>
            <a:r>
              <a:rPr lang="zh-CN" altLang="en-US" sz="2000" dirty="0" smtClean="0"/>
              <a:t>	</a:t>
            </a:r>
            <a:r>
              <a:rPr lang="en-US" altLang="zh-CN" sz="2000" dirty="0"/>
              <a:t> </a:t>
            </a:r>
            <a:r>
              <a:rPr lang="en-US" altLang="zh-CN" sz="2000" dirty="0" smtClean="0"/>
              <a:t> </a:t>
            </a:r>
            <a:r>
              <a:rPr lang="en-US" altLang="zh-CN" sz="2000" dirty="0" err="1" smtClean="0"/>
              <a:t>i</a:t>
            </a:r>
            <a:r>
              <a:rPr lang="en-US" altLang="zh-CN" sz="2000" dirty="0" smtClean="0"/>
              <a:t>++;</a:t>
            </a:r>
          </a:p>
          <a:p>
            <a:pPr eaLnBrk="1" hangingPunct="1">
              <a:lnSpc>
                <a:spcPct val="80000"/>
              </a:lnSpc>
              <a:buNone/>
              <a:defRPr/>
            </a:pPr>
            <a:r>
              <a:rPr lang="en-US" altLang="zh-CN" sz="2000" dirty="0" smtClean="0"/>
              <a:t>	if (</a:t>
            </a:r>
            <a:r>
              <a:rPr lang="en-US" altLang="zh-CN" sz="2000" dirty="0" err="1" smtClean="0"/>
              <a:t>i</a:t>
            </a:r>
            <a:r>
              <a:rPr lang="en-US" altLang="zh-CN" sz="2000" dirty="0" smtClean="0"/>
              <a:t> </a:t>
            </a:r>
            <a:r>
              <a:rPr lang="en-US" altLang="zh-CN" sz="2000" dirty="0"/>
              <a:t>&gt;</a:t>
            </a:r>
            <a:r>
              <a:rPr lang="en-US" altLang="zh-CN" sz="2000" dirty="0" smtClean="0"/>
              <a:t> </a:t>
            </a:r>
            <a:r>
              <a:rPr lang="en-US" altLang="zh-CN" sz="2000" dirty="0"/>
              <a:t>(</a:t>
            </a:r>
            <a:r>
              <a:rPr lang="en-US" altLang="zh-CN" sz="2000" dirty="0" err="1"/>
              <a:t>int</a:t>
            </a:r>
            <a:r>
              <a:rPr lang="en-US" altLang="zh-CN" sz="2000" dirty="0"/>
              <a:t>)</a:t>
            </a:r>
            <a:r>
              <a:rPr lang="en-US" altLang="zh-CN" sz="2000" dirty="0" err="1">
                <a:solidFill>
                  <a:schemeClr val="folHlink"/>
                </a:solidFill>
              </a:rPr>
              <a:t>sqrt</a:t>
            </a:r>
            <a:r>
              <a:rPr lang="en-US" altLang="zh-CN" sz="2000" dirty="0"/>
              <a:t>((</a:t>
            </a:r>
            <a:r>
              <a:rPr lang="en-US" altLang="zh-CN" sz="2000" dirty="0" smtClean="0"/>
              <a:t>double)n)) //n</a:t>
            </a:r>
            <a:r>
              <a:rPr lang="zh-CN" altLang="en-US" sz="2000" dirty="0" smtClean="0"/>
              <a:t>是素数</a:t>
            </a:r>
          </a:p>
          <a:p>
            <a:pPr eaLnBrk="1" hangingPunct="1">
              <a:lnSpc>
                <a:spcPct val="80000"/>
              </a:lnSpc>
              <a:buFont typeface="Wingdings" pitchFamily="2" charset="2"/>
              <a:buNone/>
              <a:defRPr/>
            </a:pPr>
            <a:r>
              <a:rPr lang="zh-CN" altLang="en-US" sz="2000" dirty="0" smtClean="0"/>
              <a:t>	  </a:t>
            </a:r>
            <a:r>
              <a:rPr lang="en-US" altLang="zh-CN" sz="2000" dirty="0" err="1" smtClean="0"/>
              <a:t>cout</a:t>
            </a:r>
            <a:r>
              <a:rPr lang="en-US" altLang="zh-CN" sz="2000" dirty="0" smtClean="0"/>
              <a:t> &lt;&lt; n &lt;&lt; "</a:t>
            </a:r>
            <a:r>
              <a:rPr lang="zh-CN" altLang="en-US" sz="2000" dirty="0" smtClean="0"/>
              <a:t>是素数</a:t>
            </a:r>
            <a:r>
              <a:rPr lang="en-US" altLang="zh-CN" sz="2000" dirty="0" smtClean="0"/>
              <a:t>" &lt;&lt; </a:t>
            </a:r>
            <a:r>
              <a:rPr lang="en-US" altLang="zh-CN" sz="2000" dirty="0" err="1" smtClean="0"/>
              <a:t>endl</a:t>
            </a:r>
            <a:r>
              <a:rPr lang="en-US" altLang="zh-CN" sz="2000" dirty="0" smtClean="0"/>
              <a:t>;</a:t>
            </a:r>
          </a:p>
          <a:p>
            <a:pPr eaLnBrk="1" hangingPunct="1">
              <a:lnSpc>
                <a:spcPct val="80000"/>
              </a:lnSpc>
              <a:buNone/>
              <a:defRPr/>
            </a:pPr>
            <a:r>
              <a:rPr lang="en-US" altLang="zh-CN" sz="2000" dirty="0"/>
              <a:t> </a:t>
            </a:r>
            <a:r>
              <a:rPr lang="en-US" altLang="zh-CN" sz="2000" dirty="0" smtClean="0"/>
              <a:t>   else</a:t>
            </a:r>
            <a:endParaRPr lang="en-US" altLang="zh-CN" sz="2000" dirty="0"/>
          </a:p>
          <a:p>
            <a:pPr eaLnBrk="1" hangingPunct="1">
              <a:lnSpc>
                <a:spcPct val="80000"/>
              </a:lnSpc>
              <a:buNone/>
              <a:defRPr/>
            </a:pPr>
            <a:r>
              <a:rPr lang="en-US" altLang="zh-CN" sz="2000" dirty="0"/>
              <a:t>      </a:t>
            </a:r>
            <a:r>
              <a:rPr lang="en-US" altLang="zh-CN" sz="2000" dirty="0" err="1"/>
              <a:t>cout</a:t>
            </a:r>
            <a:r>
              <a:rPr lang="en-US" altLang="zh-CN" sz="2000" dirty="0"/>
              <a:t> &lt;&lt; n &lt;&lt; "</a:t>
            </a:r>
            <a:r>
              <a:rPr lang="zh-CN" altLang="en-US" sz="2000" dirty="0"/>
              <a:t>不是素数</a:t>
            </a:r>
            <a:r>
              <a:rPr lang="en-US" altLang="zh-CN" sz="2000" dirty="0"/>
              <a:t>" &lt;&lt; </a:t>
            </a:r>
            <a:r>
              <a:rPr lang="en-US" altLang="zh-CN" sz="2000" dirty="0" err="1"/>
              <a:t>endl</a:t>
            </a:r>
            <a:r>
              <a:rPr lang="en-US" altLang="zh-CN" sz="2000" dirty="0" smtClean="0"/>
              <a:t>;</a:t>
            </a:r>
          </a:p>
          <a:p>
            <a:pPr eaLnBrk="1" hangingPunct="1">
              <a:lnSpc>
                <a:spcPct val="80000"/>
              </a:lnSpc>
              <a:buNone/>
              <a:defRPr/>
            </a:pPr>
            <a:r>
              <a:rPr lang="en-US" altLang="zh-CN" sz="2000" dirty="0" smtClean="0"/>
              <a:t>	return 0;</a:t>
            </a:r>
          </a:p>
          <a:p>
            <a:pPr eaLnBrk="1" hangingPunct="1">
              <a:lnSpc>
                <a:spcPct val="80000"/>
              </a:lnSpc>
              <a:buFont typeface="Wingdings" pitchFamily="2" charset="2"/>
              <a:buNone/>
              <a:defRPr/>
            </a:pPr>
            <a:r>
              <a:rPr lang="en-US" altLang="zh-CN" sz="2000" dirty="0" smtClean="0"/>
              <a:t>}</a:t>
            </a:r>
          </a:p>
          <a:p>
            <a:pPr eaLnBrk="1" hangingPunct="1">
              <a:lnSpc>
                <a:spcPct val="80000"/>
              </a:lnSpc>
              <a:defRPr/>
            </a:pPr>
            <a:r>
              <a:rPr lang="en-US" altLang="zh-CN" sz="2000" dirty="0" err="1" smtClean="0">
                <a:solidFill>
                  <a:srgbClr val="FFC000"/>
                </a:solidFill>
              </a:rPr>
              <a:t>sqrt</a:t>
            </a:r>
            <a:r>
              <a:rPr lang="en-US" altLang="zh-CN" sz="2000" dirty="0" smtClean="0">
                <a:solidFill>
                  <a:srgbClr val="FFC000"/>
                </a:solidFill>
              </a:rPr>
              <a:t>()</a:t>
            </a:r>
            <a:r>
              <a:rPr lang="en-US" altLang="zh-CN" sz="2000" dirty="0" smtClean="0"/>
              <a:t> </a:t>
            </a:r>
            <a:r>
              <a:rPr lang="zh-CN" altLang="en-US" sz="2000" dirty="0" smtClean="0"/>
              <a:t>为</a:t>
            </a:r>
            <a:r>
              <a:rPr lang="en-US" altLang="zh-CN" sz="2000" dirty="0" smtClean="0"/>
              <a:t>C++</a:t>
            </a:r>
            <a:r>
              <a:rPr lang="zh-CN" altLang="en-US" sz="2000" dirty="0" smtClean="0"/>
              <a:t>的一个库函数，它有三个版本：</a:t>
            </a:r>
            <a:endParaRPr lang="en-US" altLang="zh-CN" sz="2000" dirty="0" smtClean="0"/>
          </a:p>
          <a:p>
            <a:pPr lvl="1" eaLnBrk="1" hangingPunct="1">
              <a:lnSpc>
                <a:spcPct val="80000"/>
              </a:lnSpc>
              <a:defRPr/>
            </a:pPr>
            <a:r>
              <a:rPr lang="en-US" altLang="zh-CN" sz="1600" dirty="0" smtClean="0"/>
              <a:t>float </a:t>
            </a:r>
            <a:r>
              <a:rPr lang="en-US" altLang="zh-CN" sz="1600" dirty="0" err="1" smtClean="0">
                <a:solidFill>
                  <a:srgbClr val="FFC000"/>
                </a:solidFill>
              </a:rPr>
              <a:t>sqrt</a:t>
            </a:r>
            <a:r>
              <a:rPr lang="en-US" altLang="zh-CN" sz="1600" dirty="0" smtClean="0"/>
              <a:t>(float);</a:t>
            </a:r>
          </a:p>
          <a:p>
            <a:pPr lvl="1" eaLnBrk="1" hangingPunct="1">
              <a:lnSpc>
                <a:spcPct val="80000"/>
              </a:lnSpc>
              <a:defRPr/>
            </a:pPr>
            <a:r>
              <a:rPr lang="en-US" altLang="zh-CN" sz="1600" dirty="0" smtClean="0"/>
              <a:t>double </a:t>
            </a:r>
            <a:r>
              <a:rPr lang="en-US" altLang="zh-CN" sz="1600" dirty="0" err="1" smtClean="0">
                <a:solidFill>
                  <a:srgbClr val="FFC000"/>
                </a:solidFill>
              </a:rPr>
              <a:t>sqrt</a:t>
            </a:r>
            <a:r>
              <a:rPr lang="en-US" altLang="zh-CN" sz="1600" dirty="0" smtClean="0"/>
              <a:t>(double);</a:t>
            </a:r>
          </a:p>
          <a:p>
            <a:pPr lvl="1" eaLnBrk="1" hangingPunct="1">
              <a:lnSpc>
                <a:spcPct val="80000"/>
              </a:lnSpc>
              <a:defRPr/>
            </a:pPr>
            <a:r>
              <a:rPr lang="en-US" altLang="zh-CN" sz="1600" dirty="0"/>
              <a:t>long </a:t>
            </a:r>
            <a:r>
              <a:rPr lang="en-US" altLang="zh-CN" sz="1600" dirty="0" smtClean="0"/>
              <a:t>double </a:t>
            </a:r>
            <a:r>
              <a:rPr lang="en-US" altLang="zh-CN" sz="1600" dirty="0" err="1" smtClean="0">
                <a:solidFill>
                  <a:srgbClr val="FFC000"/>
                </a:solidFill>
              </a:rPr>
              <a:t>sqrt</a:t>
            </a:r>
            <a:r>
              <a:rPr lang="en-US" altLang="zh-CN" sz="1600" dirty="0" smtClean="0"/>
              <a:t>(long double);</a:t>
            </a:r>
          </a:p>
          <a:p>
            <a:pPr eaLnBrk="1" hangingPunct="1">
              <a:lnSpc>
                <a:spcPct val="80000"/>
              </a:lnSpc>
              <a:defRPr/>
            </a:pPr>
            <a:r>
              <a:rPr lang="zh-CN" altLang="en-US" sz="2000" dirty="0"/>
              <a:t>注意：上面程序中的</a:t>
            </a:r>
            <a:r>
              <a:rPr lang="en-US" altLang="zh-CN" sz="2000" dirty="0" err="1" smtClean="0"/>
              <a:t>sqrt</a:t>
            </a:r>
            <a:r>
              <a:rPr lang="en-US" altLang="zh-CN" sz="2000" dirty="0" smtClean="0"/>
              <a:t>(n)</a:t>
            </a:r>
            <a:r>
              <a:rPr lang="zh-CN" altLang="en-US" sz="2000" dirty="0"/>
              <a:t>被重复计算！</a:t>
            </a:r>
          </a:p>
          <a:p>
            <a:pPr eaLnBrk="1" hangingPunct="1">
              <a:lnSpc>
                <a:spcPct val="80000"/>
              </a:lnSpc>
              <a:defRPr/>
            </a:pPr>
            <a:endParaRPr lang="en-US" altLang="zh-CN" sz="2000" dirty="0" smtClean="0"/>
          </a:p>
        </p:txBody>
      </p:sp>
    </p:spTree>
    <p:extLst>
      <p:ext uri="{BB962C8B-B14F-4D97-AF65-F5344CB8AC3E}">
        <p14:creationId xmlns:p14="http://schemas.microsoft.com/office/powerpoint/2010/main" val="140983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8">
                                            <p:txEl>
                                              <p:pRg st="20" end="20"/>
                                            </p:txEl>
                                          </p:spTgt>
                                        </p:tgtEl>
                                        <p:attrNameLst>
                                          <p:attrName>style.visibility</p:attrName>
                                        </p:attrNameLst>
                                      </p:cBhvr>
                                      <p:to>
                                        <p:strVal val="visible"/>
                                      </p:to>
                                    </p:set>
                                    <p:anim calcmode="lin" valueType="num">
                                      <p:cBhvr additive="base">
                                        <p:cTn id="7" dur="500" fill="hold"/>
                                        <p:tgtEl>
                                          <p:spTgt spid="193538">
                                            <p:txEl>
                                              <p:pRg st="20" end="2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3538">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260648"/>
            <a:ext cx="8686800" cy="5661025"/>
          </a:xfrm>
        </p:spPr>
        <p:txBody>
          <a:bodyPr>
            <a:normAutofit/>
          </a:bodyPr>
          <a:lstStyle/>
          <a:p>
            <a:pPr eaLnBrk="1" hangingPunct="1">
              <a:lnSpc>
                <a:spcPct val="80000"/>
              </a:lnSpc>
              <a:spcAft>
                <a:spcPct val="20000"/>
              </a:spcAft>
              <a:buFont typeface="Wingdings" pitchFamily="2" charset="2"/>
              <a:buNone/>
              <a:defRPr/>
            </a:pPr>
            <a:r>
              <a:rPr lang="en-US" altLang="zh-CN" sz="2000" dirty="0" smtClean="0"/>
              <a:t>#include &lt;</a:t>
            </a:r>
            <a:r>
              <a:rPr lang="en-US" altLang="zh-CN" sz="2000" dirty="0" err="1" smtClean="0"/>
              <a:t>iostream</a:t>
            </a:r>
            <a:r>
              <a:rPr lang="en-US" altLang="zh-CN" sz="2000" dirty="0" smtClean="0"/>
              <a:t>&gt;</a:t>
            </a:r>
          </a:p>
          <a:p>
            <a:pPr eaLnBrk="1" hangingPunct="1">
              <a:lnSpc>
                <a:spcPct val="80000"/>
              </a:lnSpc>
              <a:spcAft>
                <a:spcPct val="20000"/>
              </a:spcAft>
              <a:buNone/>
              <a:defRPr/>
            </a:pPr>
            <a:r>
              <a:rPr lang="en-US" altLang="zh-CN" sz="2000" dirty="0">
                <a:solidFill>
                  <a:srgbClr val="FFC000"/>
                </a:solidFill>
              </a:rPr>
              <a:t>#include &lt;</a:t>
            </a:r>
            <a:r>
              <a:rPr lang="en-US" altLang="zh-CN" sz="2000" dirty="0" err="1">
                <a:solidFill>
                  <a:srgbClr val="FFC000"/>
                </a:solidFill>
              </a:rPr>
              <a:t>cmath</a:t>
            </a:r>
            <a:r>
              <a:rPr lang="en-US" altLang="zh-CN" sz="2000" dirty="0">
                <a:solidFill>
                  <a:srgbClr val="FFC000"/>
                </a:solidFill>
              </a:rPr>
              <a:t>&gt;</a:t>
            </a:r>
          </a:p>
          <a:p>
            <a:pPr eaLnBrk="1" hangingPunct="1">
              <a:lnSpc>
                <a:spcPct val="80000"/>
              </a:lnSpc>
              <a:buFont typeface="Wingdings" pitchFamily="2" charset="2"/>
              <a:buNone/>
              <a:defRPr/>
            </a:pPr>
            <a:r>
              <a:rPr lang="en-US" altLang="zh-CN" sz="2000" dirty="0" smtClean="0"/>
              <a:t>using namespace </a:t>
            </a:r>
            <a:r>
              <a:rPr lang="en-US" altLang="zh-CN" sz="2000" dirty="0" err="1" smtClean="0"/>
              <a:t>std</a:t>
            </a:r>
            <a:r>
              <a:rPr lang="en-US" altLang="zh-CN" sz="2000" dirty="0" smtClean="0"/>
              <a:t>;</a:t>
            </a:r>
          </a:p>
          <a:p>
            <a:pPr eaLnBrk="1" hangingPunct="1">
              <a:lnSpc>
                <a:spcPct val="80000"/>
              </a:lnSpc>
              <a:buFont typeface="Wingdings" pitchFamily="2" charset="2"/>
              <a:buNone/>
              <a:defRPr/>
            </a:pPr>
            <a:r>
              <a:rPr lang="en-US" altLang="zh-CN" sz="2000" dirty="0" err="1" smtClean="0"/>
              <a:t>int</a:t>
            </a:r>
            <a:r>
              <a:rPr lang="en-US" altLang="zh-CN" sz="2000" dirty="0" smtClean="0"/>
              <a:t> main()</a:t>
            </a:r>
          </a:p>
          <a:p>
            <a:pPr eaLnBrk="1" hangingPunct="1">
              <a:lnSpc>
                <a:spcPct val="80000"/>
              </a:lnSpc>
              <a:buFont typeface="Wingdings" pitchFamily="2" charset="2"/>
              <a:buNone/>
              <a:defRPr/>
            </a:pPr>
            <a:r>
              <a:rPr lang="en-US" altLang="zh-CN" sz="2000" dirty="0" smtClean="0"/>
              <a:t>{	</a:t>
            </a:r>
            <a:r>
              <a:rPr lang="en-US" altLang="zh-CN" sz="2000" dirty="0" err="1" smtClean="0"/>
              <a:t>int</a:t>
            </a:r>
            <a:r>
              <a:rPr lang="en-US" altLang="zh-CN" sz="2000" dirty="0" smtClean="0"/>
              <a:t> n;</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p>
          <a:p>
            <a:pPr eaLnBrk="1" hangingPunct="1">
              <a:lnSpc>
                <a:spcPct val="80000"/>
              </a:lnSpc>
              <a:buFont typeface="Wingdings"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p>
          <a:p>
            <a:pPr eaLnBrk="1" hangingPunct="1">
              <a:lnSpc>
                <a:spcPct val="80000"/>
              </a:lnSpc>
              <a:buNone/>
              <a:defRPr/>
            </a:pPr>
            <a:r>
              <a:rPr lang="en-US" altLang="zh-CN" sz="2000" dirty="0" smtClean="0"/>
              <a:t>	</a:t>
            </a:r>
            <a:r>
              <a:rPr lang="en-US" altLang="zh-CN" sz="2000" dirty="0" err="1" smtClean="0"/>
              <a:t>int</a:t>
            </a:r>
            <a:r>
              <a:rPr lang="en-US" altLang="zh-CN" sz="2000" dirty="0" smtClean="0"/>
              <a:t> </a:t>
            </a:r>
            <a:r>
              <a:rPr lang="en-US" altLang="zh-CN" sz="2000" dirty="0" err="1" smtClean="0"/>
              <a:t>i</a:t>
            </a:r>
            <a:r>
              <a:rPr lang="en-US" altLang="zh-CN" sz="2000" dirty="0" smtClean="0"/>
              <a:t>=2,</a:t>
            </a:r>
            <a:r>
              <a:rPr lang="en-US" altLang="zh-CN" sz="2000" dirty="0" smtClean="0">
                <a:solidFill>
                  <a:srgbClr val="FFC000"/>
                </a:solidFill>
              </a:rPr>
              <a:t>k</a:t>
            </a:r>
            <a:r>
              <a:rPr lang="en-US" altLang="zh-CN" sz="2000" dirty="0" smtClean="0"/>
              <a:t>=</a:t>
            </a:r>
            <a:r>
              <a:rPr lang="en-US" altLang="zh-CN" sz="2000" dirty="0"/>
              <a:t>(</a:t>
            </a:r>
            <a:r>
              <a:rPr lang="en-US" altLang="zh-CN" sz="2000" dirty="0" err="1"/>
              <a:t>int</a:t>
            </a:r>
            <a:r>
              <a:rPr lang="en-US" altLang="zh-CN" sz="2000" dirty="0"/>
              <a:t>)</a:t>
            </a:r>
            <a:r>
              <a:rPr lang="en-US" altLang="zh-CN" sz="2000" dirty="0" err="1"/>
              <a:t>sqrt</a:t>
            </a:r>
            <a:r>
              <a:rPr lang="en-US" altLang="zh-CN" sz="2000" dirty="0"/>
              <a:t>((</a:t>
            </a:r>
            <a:r>
              <a:rPr lang="en-US" altLang="zh-CN" sz="2000" dirty="0" smtClean="0"/>
              <a:t>double)n); //</a:t>
            </a:r>
            <a:r>
              <a:rPr lang="zh-CN" altLang="en-US" sz="2000" dirty="0" smtClean="0"/>
              <a:t>循环前计算好</a:t>
            </a:r>
            <a:r>
              <a:rPr lang="en-US" altLang="zh-CN" sz="2000" dirty="0" err="1"/>
              <a:t>sqrt</a:t>
            </a:r>
            <a:r>
              <a:rPr lang="en-US" altLang="zh-CN" sz="2000" dirty="0"/>
              <a:t>(n)</a:t>
            </a:r>
            <a:endParaRPr lang="en-US" altLang="zh-CN" sz="2000" dirty="0" smtClean="0"/>
          </a:p>
          <a:p>
            <a:pPr eaLnBrk="1" hangingPunct="1">
              <a:lnSpc>
                <a:spcPct val="80000"/>
              </a:lnSpc>
              <a:buNone/>
              <a:defRPr/>
            </a:pPr>
            <a:r>
              <a:rPr lang="en-US" altLang="zh-CN" sz="2000" dirty="0" smtClean="0"/>
              <a:t>	while (</a:t>
            </a:r>
            <a:r>
              <a:rPr lang="en-US" altLang="zh-CN" sz="2000" dirty="0" err="1" smtClean="0"/>
              <a:t>i</a:t>
            </a:r>
            <a:r>
              <a:rPr lang="en-US" altLang="zh-CN" sz="2000" dirty="0" smtClean="0"/>
              <a:t> &lt;= </a:t>
            </a:r>
            <a:r>
              <a:rPr lang="en-US" altLang="zh-CN" sz="2000" dirty="0" smtClean="0">
                <a:solidFill>
                  <a:srgbClr val="FFC000"/>
                </a:solidFill>
              </a:rPr>
              <a:t>k</a:t>
            </a:r>
            <a:r>
              <a:rPr lang="en-US" altLang="zh-CN" sz="2000" dirty="0" smtClean="0"/>
              <a:t> &amp;&amp; </a:t>
            </a:r>
            <a:r>
              <a:rPr lang="en-US" altLang="zh-CN" sz="2000" dirty="0" err="1" smtClean="0"/>
              <a:t>n%i</a:t>
            </a:r>
            <a:r>
              <a:rPr lang="en-US" altLang="zh-CN" sz="2000" dirty="0" smtClean="0"/>
              <a:t> != 0)</a:t>
            </a:r>
            <a:endParaRPr lang="zh-CN" altLang="en-US" sz="1800" dirty="0" smtClean="0"/>
          </a:p>
          <a:p>
            <a:pPr eaLnBrk="1" hangingPunct="1">
              <a:lnSpc>
                <a:spcPct val="80000"/>
              </a:lnSpc>
              <a:buFont typeface="Wingdings" pitchFamily="2" charset="2"/>
              <a:buNone/>
              <a:defRPr/>
            </a:pPr>
            <a:r>
              <a:rPr lang="zh-CN" altLang="en-US" sz="2000" dirty="0" smtClean="0"/>
              <a:t>	</a:t>
            </a:r>
            <a:r>
              <a:rPr lang="en-US" altLang="zh-CN" sz="2000" dirty="0"/>
              <a:t> </a:t>
            </a:r>
            <a:r>
              <a:rPr lang="en-US" altLang="zh-CN" sz="2000" dirty="0" smtClean="0"/>
              <a:t> </a:t>
            </a:r>
            <a:r>
              <a:rPr lang="en-US" altLang="zh-CN" sz="2000" dirty="0" err="1" smtClean="0"/>
              <a:t>i</a:t>
            </a:r>
            <a:r>
              <a:rPr lang="en-US" altLang="zh-CN" sz="2000" dirty="0" smtClean="0"/>
              <a:t>++;</a:t>
            </a:r>
          </a:p>
          <a:p>
            <a:pPr eaLnBrk="1" hangingPunct="1">
              <a:lnSpc>
                <a:spcPct val="80000"/>
              </a:lnSpc>
              <a:buNone/>
              <a:defRPr/>
            </a:pPr>
            <a:r>
              <a:rPr lang="en-US" altLang="zh-CN" sz="2000" dirty="0" smtClean="0"/>
              <a:t>	if (</a:t>
            </a:r>
            <a:r>
              <a:rPr lang="en-US" altLang="zh-CN" sz="2000" dirty="0" err="1" smtClean="0"/>
              <a:t>i</a:t>
            </a:r>
            <a:r>
              <a:rPr lang="en-US" altLang="zh-CN" sz="2000" dirty="0" smtClean="0"/>
              <a:t> </a:t>
            </a:r>
            <a:r>
              <a:rPr lang="en-US" altLang="zh-CN" sz="2000" dirty="0"/>
              <a:t>&gt;</a:t>
            </a:r>
            <a:r>
              <a:rPr lang="en-US" altLang="zh-CN" sz="2000" dirty="0" smtClean="0"/>
              <a:t> </a:t>
            </a:r>
            <a:r>
              <a:rPr lang="en-US" altLang="zh-CN" sz="2000" dirty="0" smtClean="0">
                <a:solidFill>
                  <a:srgbClr val="FFC000"/>
                </a:solidFill>
              </a:rPr>
              <a:t>k</a:t>
            </a:r>
            <a:r>
              <a:rPr lang="en-US" altLang="zh-CN" sz="2000" dirty="0" smtClean="0"/>
              <a:t>) //n</a:t>
            </a:r>
            <a:r>
              <a:rPr lang="zh-CN" altLang="en-US" sz="2000" dirty="0" smtClean="0"/>
              <a:t>是素数</a:t>
            </a:r>
          </a:p>
          <a:p>
            <a:pPr eaLnBrk="1" hangingPunct="1">
              <a:lnSpc>
                <a:spcPct val="80000"/>
              </a:lnSpc>
              <a:buFont typeface="Wingdings" pitchFamily="2" charset="2"/>
              <a:buNone/>
              <a:defRPr/>
            </a:pPr>
            <a:r>
              <a:rPr lang="zh-CN" altLang="en-US" sz="2000" dirty="0" smtClean="0"/>
              <a:t>	  </a:t>
            </a:r>
            <a:r>
              <a:rPr lang="en-US" altLang="zh-CN" sz="2000" dirty="0" err="1" smtClean="0"/>
              <a:t>cout</a:t>
            </a:r>
            <a:r>
              <a:rPr lang="en-US" altLang="zh-CN" sz="2000" dirty="0" smtClean="0"/>
              <a:t> &lt;&lt; n &lt;&lt; "</a:t>
            </a:r>
            <a:r>
              <a:rPr lang="zh-CN" altLang="en-US" sz="2000" dirty="0" smtClean="0"/>
              <a:t>是素数</a:t>
            </a:r>
            <a:r>
              <a:rPr lang="en-US" altLang="zh-CN" sz="2000" dirty="0" smtClean="0"/>
              <a:t>" &lt;&lt; </a:t>
            </a:r>
            <a:r>
              <a:rPr lang="en-US" altLang="zh-CN" sz="2000" dirty="0" err="1" smtClean="0"/>
              <a:t>endl</a:t>
            </a:r>
            <a:r>
              <a:rPr lang="en-US" altLang="zh-CN" sz="2000" dirty="0" smtClean="0"/>
              <a:t>;</a:t>
            </a:r>
          </a:p>
          <a:p>
            <a:pPr eaLnBrk="1" hangingPunct="1">
              <a:lnSpc>
                <a:spcPct val="80000"/>
              </a:lnSpc>
              <a:buNone/>
              <a:defRPr/>
            </a:pPr>
            <a:r>
              <a:rPr lang="en-US" altLang="zh-CN" sz="2000" dirty="0"/>
              <a:t> </a:t>
            </a:r>
            <a:r>
              <a:rPr lang="en-US" altLang="zh-CN" sz="2000" dirty="0" smtClean="0"/>
              <a:t>   else</a:t>
            </a:r>
            <a:endParaRPr lang="en-US" altLang="zh-CN" sz="2000" dirty="0"/>
          </a:p>
          <a:p>
            <a:pPr eaLnBrk="1" hangingPunct="1">
              <a:lnSpc>
                <a:spcPct val="80000"/>
              </a:lnSpc>
              <a:buNone/>
              <a:defRPr/>
            </a:pPr>
            <a:r>
              <a:rPr lang="en-US" altLang="zh-CN" sz="2000" dirty="0"/>
              <a:t>      </a:t>
            </a:r>
            <a:r>
              <a:rPr lang="en-US" altLang="zh-CN" sz="2000" dirty="0" err="1"/>
              <a:t>cout</a:t>
            </a:r>
            <a:r>
              <a:rPr lang="en-US" altLang="zh-CN" sz="2000" dirty="0"/>
              <a:t> &lt;&lt; n &lt;&lt; "</a:t>
            </a:r>
            <a:r>
              <a:rPr lang="zh-CN" altLang="en-US" sz="2000" dirty="0"/>
              <a:t>不是素数</a:t>
            </a:r>
            <a:r>
              <a:rPr lang="en-US" altLang="zh-CN" sz="2000" dirty="0"/>
              <a:t>" &lt;&lt; </a:t>
            </a:r>
            <a:r>
              <a:rPr lang="en-US" altLang="zh-CN" sz="2000" dirty="0" err="1"/>
              <a:t>endl</a:t>
            </a:r>
            <a:r>
              <a:rPr lang="en-US" altLang="zh-CN" sz="2000" dirty="0"/>
              <a:t>;</a:t>
            </a:r>
            <a:endParaRPr lang="en-US" altLang="zh-CN" sz="2000" dirty="0" smtClean="0"/>
          </a:p>
          <a:p>
            <a:pPr eaLnBrk="1" hangingPunct="1">
              <a:lnSpc>
                <a:spcPct val="80000"/>
              </a:lnSpc>
              <a:buFont typeface="Wingdings" pitchFamily="2" charset="2"/>
              <a:buNone/>
              <a:defRPr/>
            </a:pPr>
            <a:r>
              <a:rPr lang="en-US" altLang="zh-CN" sz="2000" dirty="0" smtClean="0"/>
              <a:t>	return 0;</a:t>
            </a:r>
          </a:p>
          <a:p>
            <a:pPr eaLnBrk="1" hangingPunct="1">
              <a:lnSpc>
                <a:spcPct val="80000"/>
              </a:lnSpc>
              <a:buFont typeface="Wingdings" pitchFamily="2" charset="2"/>
              <a:buNone/>
              <a:defRPr/>
            </a:pPr>
            <a:r>
              <a:rPr lang="en-US" altLang="zh-CN" sz="2000" dirty="0" smtClean="0"/>
              <a:t>}</a:t>
            </a:r>
          </a:p>
          <a:p>
            <a:pPr eaLnBrk="1" hangingPunct="1">
              <a:lnSpc>
                <a:spcPct val="80000"/>
              </a:lnSpc>
              <a:defRPr/>
            </a:pPr>
            <a:r>
              <a:rPr lang="zh-CN" altLang="en-US" sz="2000" dirty="0" smtClean="0"/>
              <a:t>这个优化编译器</a:t>
            </a:r>
            <a:r>
              <a:rPr lang="zh-CN" altLang="en-US" sz="2000" dirty="0"/>
              <a:t>能自动实现</a:t>
            </a:r>
            <a:r>
              <a:rPr lang="zh-CN" altLang="en-US" sz="2000" dirty="0" smtClean="0"/>
              <a:t>！</a:t>
            </a:r>
            <a:endParaRPr lang="zh-CN" altLang="en-US" sz="2000" dirty="0"/>
          </a:p>
          <a:p>
            <a:pPr eaLnBrk="1" hangingPunct="1">
              <a:lnSpc>
                <a:spcPct val="80000"/>
              </a:lnSpc>
              <a:defRPr/>
            </a:pPr>
            <a:endParaRPr lang="en-US" altLang="zh-CN" sz="2000" dirty="0" smtClean="0"/>
          </a:p>
        </p:txBody>
      </p:sp>
    </p:spTree>
    <p:extLst>
      <p:ext uri="{BB962C8B-B14F-4D97-AF65-F5344CB8AC3E}">
        <p14:creationId xmlns:p14="http://schemas.microsoft.com/office/powerpoint/2010/main" val="237183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8">
                                            <p:txEl>
                                              <p:pRg st="16" end="16"/>
                                            </p:txEl>
                                          </p:spTgt>
                                        </p:tgtEl>
                                        <p:attrNameLst>
                                          <p:attrName>style.visibility</p:attrName>
                                        </p:attrNameLst>
                                      </p:cBhvr>
                                      <p:to>
                                        <p:strVal val="visible"/>
                                      </p:to>
                                    </p:set>
                                    <p:anim calcmode="lin" valueType="num">
                                      <p:cBhvr additive="base">
                                        <p:cTn id="7" dur="500" fill="hold"/>
                                        <p:tgtEl>
                                          <p:spTgt spid="193538">
                                            <p:txEl>
                                              <p:pRg st="16" end="1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3538">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循环可以</a:t>
            </a:r>
            <a:r>
              <a:rPr lang="zh-CN" altLang="en-US" dirty="0" smtClean="0">
                <a:solidFill>
                  <a:srgbClr val="FFC000"/>
                </a:solidFill>
              </a:rPr>
              <a:t>嵌套</a:t>
            </a:r>
            <a:r>
              <a:rPr lang="zh-CN" altLang="en-US" dirty="0" smtClean="0"/>
              <a:t>：</a:t>
            </a:r>
            <a:endParaRPr lang="en-US" altLang="zh-CN" dirty="0" smtClean="0"/>
          </a:p>
          <a:p>
            <a:pPr lvl="1"/>
            <a:r>
              <a:rPr lang="zh-CN" altLang="en-US" dirty="0"/>
              <a:t>循环体内还可以包含</a:t>
            </a:r>
            <a:r>
              <a:rPr lang="zh-CN" altLang="en-US" dirty="0" smtClean="0"/>
              <a:t>循环</a:t>
            </a:r>
            <a:endParaRPr lang="zh-CN" altLang="en-US" dirty="0"/>
          </a:p>
        </p:txBody>
      </p:sp>
    </p:spTree>
    <p:extLst>
      <p:ext uri="{BB962C8B-B14F-4D97-AF65-F5344CB8AC3E}">
        <p14:creationId xmlns:p14="http://schemas.microsoft.com/office/powerpoint/2010/main" val="97332543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250825" y="981075"/>
            <a:ext cx="8686800" cy="5661025"/>
          </a:xfrm>
        </p:spPr>
        <p:txBody>
          <a:bodyPr>
            <a:normAutofit/>
          </a:bodyPr>
          <a:lstStyle/>
          <a:p>
            <a:pPr eaLnBrk="1" hangingPunct="1">
              <a:lnSpc>
                <a:spcPct val="80000"/>
              </a:lnSpc>
              <a:spcAft>
                <a:spcPct val="20000"/>
              </a:spcAft>
              <a:buFont typeface="Wingdings" pitchFamily="2" charset="2"/>
              <a:buNone/>
              <a:defRPr/>
            </a:pPr>
            <a:r>
              <a:rPr lang="en-US" altLang="zh-CN" sz="2000" dirty="0" smtClean="0"/>
              <a:t>#include &lt;</a:t>
            </a:r>
            <a:r>
              <a:rPr lang="en-US" altLang="zh-CN" sz="2000" dirty="0" err="1" smtClean="0"/>
              <a:t>iostream</a:t>
            </a:r>
            <a:r>
              <a:rPr lang="en-US" altLang="zh-CN" sz="2000" dirty="0" smtClean="0"/>
              <a:t>&gt;</a:t>
            </a:r>
          </a:p>
          <a:p>
            <a:pPr eaLnBrk="1" hangingPunct="1">
              <a:lnSpc>
                <a:spcPct val="80000"/>
              </a:lnSpc>
              <a:buNone/>
              <a:defRPr/>
            </a:pPr>
            <a:r>
              <a:rPr lang="en-US" altLang="zh-CN" sz="2000" dirty="0"/>
              <a:t>#include &lt;</a:t>
            </a:r>
            <a:r>
              <a:rPr lang="en-US" altLang="zh-CN" sz="2000" dirty="0" err="1"/>
              <a:t>cmath</a:t>
            </a:r>
            <a:r>
              <a:rPr lang="en-US" altLang="zh-CN" sz="2000" dirty="0"/>
              <a:t>&gt;</a:t>
            </a:r>
          </a:p>
          <a:p>
            <a:pPr eaLnBrk="1" hangingPunct="1">
              <a:lnSpc>
                <a:spcPct val="80000"/>
              </a:lnSpc>
              <a:buFont typeface="Wingdings" pitchFamily="2" charset="2"/>
              <a:buNone/>
              <a:defRPr/>
            </a:pPr>
            <a:r>
              <a:rPr lang="en-US" altLang="zh-CN" sz="2000" dirty="0" smtClean="0"/>
              <a:t>using namespace </a:t>
            </a:r>
            <a:r>
              <a:rPr lang="en-US" altLang="zh-CN" sz="2000" dirty="0" err="1" smtClean="0"/>
              <a:t>std</a:t>
            </a:r>
            <a:r>
              <a:rPr lang="en-US" altLang="zh-CN" sz="2000" dirty="0" smtClean="0"/>
              <a:t>;</a:t>
            </a:r>
          </a:p>
          <a:p>
            <a:pPr eaLnBrk="1" hangingPunct="1">
              <a:lnSpc>
                <a:spcPct val="80000"/>
              </a:lnSpc>
              <a:buFont typeface="Wingdings" pitchFamily="2" charset="2"/>
              <a:buNone/>
              <a:defRPr/>
            </a:pPr>
            <a:r>
              <a:rPr lang="en-US" altLang="zh-CN" sz="2000" dirty="0" err="1" smtClean="0"/>
              <a:t>int</a:t>
            </a:r>
            <a:r>
              <a:rPr lang="en-US" altLang="zh-CN" sz="2000" dirty="0" smtClean="0"/>
              <a:t> main()</a:t>
            </a:r>
          </a:p>
          <a:p>
            <a:pPr eaLnBrk="1" hangingPunct="1">
              <a:lnSpc>
                <a:spcPct val="80000"/>
              </a:lnSpc>
              <a:buFont typeface="Wingdings" pitchFamily="2" charset="2"/>
              <a:buNone/>
              <a:defRPr/>
            </a:pPr>
            <a:r>
              <a:rPr lang="en-US" altLang="zh-CN" sz="2000" dirty="0" smtClean="0"/>
              <a:t>{	</a:t>
            </a:r>
            <a:r>
              <a:rPr lang="en-US" altLang="zh-CN" sz="2000" dirty="0" err="1" smtClean="0"/>
              <a:t>int</a:t>
            </a:r>
            <a:r>
              <a:rPr lang="en-US" altLang="zh-CN" sz="2000" dirty="0" smtClean="0"/>
              <a:t> n;</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a:t>
            </a:r>
            <a:r>
              <a:rPr lang="zh-CN" altLang="en-US" sz="2000" dirty="0" smtClean="0"/>
              <a:t>请输入一个正整数：</a:t>
            </a:r>
            <a:r>
              <a:rPr lang="en-US" altLang="zh-CN" sz="2000" dirty="0" smtClean="0"/>
              <a:t>"</a:t>
            </a:r>
          </a:p>
          <a:p>
            <a:pPr eaLnBrk="1" hangingPunct="1">
              <a:lnSpc>
                <a:spcPct val="80000"/>
              </a:lnSpc>
              <a:buFont typeface="Wingdings"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从键盘输入一个正整数</a:t>
            </a:r>
          </a:p>
          <a:p>
            <a:pPr eaLnBrk="1" hangingPunct="1">
              <a:lnSpc>
                <a:spcPct val="80000"/>
              </a:lnSpc>
              <a:buFont typeface="Wingdings" pitchFamily="2" charset="2"/>
              <a:buNone/>
              <a:defRPr/>
            </a:pPr>
            <a:r>
              <a:rPr lang="zh-CN" altLang="en-US" sz="2000" dirty="0" smtClean="0"/>
              <a:t>	</a:t>
            </a:r>
            <a:r>
              <a:rPr lang="en-US" altLang="zh-CN" sz="2000" dirty="0" smtClean="0"/>
              <a:t>for (</a:t>
            </a:r>
            <a:r>
              <a:rPr lang="en-US" altLang="zh-CN" sz="2000" dirty="0" err="1" smtClean="0"/>
              <a:t>int</a:t>
            </a:r>
            <a:r>
              <a:rPr lang="en-US" altLang="zh-CN" sz="2000" dirty="0" smtClean="0"/>
              <a:t> n1=2; n1&lt;n; n1++) </a:t>
            </a:r>
            <a:r>
              <a:rPr lang="en-US" altLang="zh-CN" sz="1800" dirty="0" smtClean="0"/>
              <a:t>//</a:t>
            </a:r>
            <a:r>
              <a:rPr lang="zh-CN" altLang="en-US" sz="1800" dirty="0" smtClean="0"/>
              <a:t>循环：判断</a:t>
            </a:r>
            <a:r>
              <a:rPr lang="en-US" altLang="zh-CN" sz="1800" dirty="0" smtClean="0"/>
              <a:t>n1=2</a:t>
            </a:r>
            <a:r>
              <a:rPr lang="zh-CN" altLang="en-US" sz="1800" dirty="0" smtClean="0"/>
              <a:t>、</a:t>
            </a:r>
            <a:r>
              <a:rPr lang="en-US" altLang="zh-CN" sz="1800" dirty="0" smtClean="0"/>
              <a:t>...</a:t>
            </a:r>
            <a:r>
              <a:rPr lang="zh-CN" altLang="en-US" sz="1800" dirty="0" smtClean="0"/>
              <a:t>、</a:t>
            </a:r>
            <a:r>
              <a:rPr lang="en-US" altLang="zh-CN" sz="1800" dirty="0" smtClean="0"/>
              <a:t>n-1</a:t>
            </a:r>
            <a:r>
              <a:rPr lang="zh-CN" altLang="en-US" sz="1800" dirty="0" smtClean="0"/>
              <a:t>是否为素数</a:t>
            </a:r>
          </a:p>
          <a:p>
            <a:pPr eaLnBrk="1" hangingPunct="1">
              <a:lnSpc>
                <a:spcPct val="80000"/>
              </a:lnSpc>
              <a:buNone/>
              <a:defRPr/>
            </a:pPr>
            <a:r>
              <a:rPr lang="zh-CN" altLang="en-US" sz="2000" dirty="0" smtClean="0"/>
              <a:t>	</a:t>
            </a:r>
            <a:r>
              <a:rPr lang="en-US" altLang="zh-CN" sz="2000" dirty="0" smtClean="0"/>
              <a:t>{	</a:t>
            </a:r>
            <a:r>
              <a:rPr lang="en-US" altLang="zh-CN" sz="2000" dirty="0" err="1"/>
              <a:t>int</a:t>
            </a:r>
            <a:r>
              <a:rPr lang="en-US" altLang="zh-CN" sz="2000" dirty="0"/>
              <a:t> </a:t>
            </a:r>
            <a:r>
              <a:rPr lang="en-US" altLang="zh-CN" sz="2000" dirty="0" err="1" smtClean="0"/>
              <a:t>i</a:t>
            </a:r>
            <a:r>
              <a:rPr lang="en-US" altLang="zh-CN" sz="2000" dirty="0" smtClean="0"/>
              <a:t>=2,k</a:t>
            </a:r>
            <a:r>
              <a:rPr lang="en-US" altLang="zh-CN" sz="2000" dirty="0"/>
              <a:t>=(</a:t>
            </a:r>
            <a:r>
              <a:rPr lang="en-US" altLang="zh-CN" sz="2000" dirty="0" err="1"/>
              <a:t>int</a:t>
            </a:r>
            <a:r>
              <a:rPr lang="en-US" altLang="zh-CN" sz="2000" dirty="0"/>
              <a:t>)</a:t>
            </a:r>
            <a:r>
              <a:rPr lang="en-US" altLang="zh-CN" sz="2000" dirty="0" err="1"/>
              <a:t>sqrt</a:t>
            </a:r>
            <a:r>
              <a:rPr lang="en-US" altLang="zh-CN" sz="2000" dirty="0"/>
              <a:t>((</a:t>
            </a:r>
            <a:r>
              <a:rPr lang="en-US" altLang="zh-CN" sz="2000" dirty="0" smtClean="0"/>
              <a:t>double)n1);</a:t>
            </a:r>
            <a:endParaRPr lang="en-US" altLang="zh-CN" sz="2000" dirty="0"/>
          </a:p>
          <a:p>
            <a:pPr eaLnBrk="1" hangingPunct="1">
              <a:lnSpc>
                <a:spcPct val="80000"/>
              </a:lnSpc>
              <a:buNone/>
              <a:defRPr/>
            </a:pPr>
            <a:r>
              <a:rPr lang="en-US" altLang="zh-CN" sz="2000" dirty="0"/>
              <a:t>	</a:t>
            </a:r>
            <a:r>
              <a:rPr lang="en-US" altLang="zh-CN" sz="2000" dirty="0" smtClean="0"/>
              <a:t>	while (</a:t>
            </a:r>
            <a:r>
              <a:rPr lang="en-US" altLang="zh-CN" sz="2000" dirty="0" err="1" smtClean="0"/>
              <a:t>i</a:t>
            </a:r>
            <a:r>
              <a:rPr lang="en-US" altLang="zh-CN" sz="2000" dirty="0" smtClean="0"/>
              <a:t> </a:t>
            </a:r>
            <a:r>
              <a:rPr lang="en-US" altLang="zh-CN" sz="2000" dirty="0"/>
              <a:t>&lt;= k &amp;&amp; </a:t>
            </a:r>
            <a:r>
              <a:rPr lang="en-US" altLang="zh-CN" sz="2000" dirty="0" smtClean="0"/>
              <a:t>n1%i </a:t>
            </a:r>
            <a:r>
              <a:rPr lang="en-US" altLang="zh-CN" sz="2000" dirty="0"/>
              <a:t>!= 0</a:t>
            </a:r>
            <a:r>
              <a:rPr lang="en-US" altLang="zh-CN" sz="2000" dirty="0" smtClean="0"/>
              <a:t>)</a:t>
            </a:r>
            <a:r>
              <a:rPr lang="en-US" altLang="zh-CN" sz="1800" dirty="0"/>
              <a:t> //</a:t>
            </a:r>
            <a:r>
              <a:rPr lang="zh-CN" altLang="en-US" sz="1800" dirty="0"/>
              <a:t>循环：</a:t>
            </a:r>
            <a:r>
              <a:rPr lang="zh-CN" altLang="en-US" sz="1800" dirty="0" smtClean="0"/>
              <a:t>判断</a:t>
            </a:r>
            <a:r>
              <a:rPr lang="en-US" altLang="zh-CN" sz="1800" dirty="0" smtClean="0"/>
              <a:t>n1</a:t>
            </a:r>
            <a:r>
              <a:rPr lang="zh-CN" altLang="en-US" sz="1800" dirty="0" smtClean="0"/>
              <a:t>是否</a:t>
            </a:r>
            <a:r>
              <a:rPr lang="zh-CN" altLang="en-US" sz="1800" dirty="0"/>
              <a:t>为素数</a:t>
            </a:r>
          </a:p>
          <a:p>
            <a:pPr eaLnBrk="1" hangingPunct="1">
              <a:lnSpc>
                <a:spcPct val="80000"/>
              </a:lnSpc>
              <a:buNone/>
              <a:defRPr/>
            </a:pPr>
            <a:r>
              <a:rPr lang="zh-CN" altLang="en-US" sz="2000" dirty="0"/>
              <a:t>	</a:t>
            </a:r>
            <a:r>
              <a:rPr lang="en-US" altLang="zh-CN" sz="2000" dirty="0"/>
              <a:t> </a:t>
            </a:r>
            <a:r>
              <a:rPr lang="en-US" altLang="zh-CN" sz="2000" dirty="0" smtClean="0"/>
              <a:t>	  </a:t>
            </a:r>
            <a:r>
              <a:rPr lang="en-US" altLang="zh-CN" sz="2000" dirty="0" err="1" smtClean="0"/>
              <a:t>i</a:t>
            </a:r>
            <a:r>
              <a:rPr lang="en-US" altLang="zh-CN" sz="2000" dirty="0" smtClean="0"/>
              <a:t>++;</a:t>
            </a:r>
            <a:endParaRPr lang="en-US" altLang="zh-CN" sz="2000" dirty="0"/>
          </a:p>
          <a:p>
            <a:pPr eaLnBrk="1" hangingPunct="1">
              <a:lnSpc>
                <a:spcPct val="80000"/>
              </a:lnSpc>
              <a:buNone/>
              <a:defRPr/>
            </a:pPr>
            <a:r>
              <a:rPr lang="en-US" altLang="zh-CN" sz="2000" dirty="0"/>
              <a:t>	</a:t>
            </a:r>
            <a:r>
              <a:rPr lang="en-US" altLang="zh-CN" sz="2000" dirty="0" smtClean="0"/>
              <a:t>	if (</a:t>
            </a:r>
            <a:r>
              <a:rPr lang="en-US" altLang="zh-CN" sz="2000" dirty="0" err="1" smtClean="0"/>
              <a:t>i</a:t>
            </a:r>
            <a:r>
              <a:rPr lang="en-US" altLang="zh-CN" sz="2000" dirty="0" smtClean="0"/>
              <a:t> </a:t>
            </a:r>
            <a:r>
              <a:rPr lang="en-US" altLang="zh-CN" sz="2000" dirty="0"/>
              <a:t>&gt; k) </a:t>
            </a:r>
            <a:r>
              <a:rPr lang="en-US" altLang="zh-CN" sz="2000" dirty="0" smtClean="0"/>
              <a:t>//n1</a:t>
            </a:r>
            <a:r>
              <a:rPr lang="zh-CN" altLang="en-US" sz="2000" dirty="0" smtClean="0"/>
              <a:t>是</a:t>
            </a:r>
            <a:r>
              <a:rPr lang="zh-CN" altLang="en-US" sz="2000" dirty="0"/>
              <a:t>素数</a:t>
            </a:r>
          </a:p>
          <a:p>
            <a:pPr eaLnBrk="1" hangingPunct="1">
              <a:lnSpc>
                <a:spcPct val="80000"/>
              </a:lnSpc>
              <a:buFont typeface="Wingdings" pitchFamily="2" charset="2"/>
              <a:buNone/>
              <a:defRPr/>
            </a:pPr>
            <a:r>
              <a:rPr lang="en-US" altLang="zh-CN" sz="2000" dirty="0" smtClean="0"/>
              <a:t>		</a:t>
            </a:r>
            <a:r>
              <a:rPr lang="zh-CN" altLang="en-US" sz="2000" dirty="0" smtClean="0"/>
              <a:t>  </a:t>
            </a:r>
            <a:r>
              <a:rPr lang="en-US" altLang="zh-CN" sz="2000" dirty="0" err="1" smtClean="0"/>
              <a:t>cout</a:t>
            </a:r>
            <a:r>
              <a:rPr lang="en-US" altLang="zh-CN" sz="2000" dirty="0" smtClean="0"/>
              <a:t> &lt;&lt; n1 &lt;&lt; " ";</a:t>
            </a:r>
          </a:p>
          <a:p>
            <a:pPr eaLnBrk="1" hangingPunct="1">
              <a:lnSpc>
                <a:spcPct val="80000"/>
              </a:lnSpc>
              <a:buFont typeface="Wingdings" pitchFamily="2" charset="2"/>
              <a:buNone/>
              <a:defRPr/>
            </a:pPr>
            <a:r>
              <a:rPr lang="en-US" altLang="zh-CN" sz="2000" dirty="0" smtClean="0"/>
              <a:t>	}</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a:t>
            </a:r>
            <a:r>
              <a:rPr lang="en-US" altLang="zh-CN" sz="2000" dirty="0" err="1" smtClean="0"/>
              <a:t>endl</a:t>
            </a:r>
            <a:r>
              <a:rPr lang="en-US" altLang="zh-CN" sz="2000" dirty="0" smtClean="0"/>
              <a:t>;</a:t>
            </a:r>
          </a:p>
          <a:p>
            <a:pPr eaLnBrk="1" hangingPunct="1">
              <a:lnSpc>
                <a:spcPct val="80000"/>
              </a:lnSpc>
              <a:buFont typeface="Wingdings" pitchFamily="2" charset="2"/>
              <a:buNone/>
              <a:defRPr/>
            </a:pPr>
            <a:r>
              <a:rPr lang="en-US" altLang="zh-CN" sz="2000" dirty="0" smtClean="0"/>
              <a:t>	return 0;</a:t>
            </a:r>
          </a:p>
          <a:p>
            <a:pPr eaLnBrk="1" hangingPunct="1">
              <a:lnSpc>
                <a:spcPct val="80000"/>
              </a:lnSpc>
              <a:buFont typeface="Wingdings" pitchFamily="2" charset="2"/>
              <a:buNone/>
              <a:defRPr/>
            </a:pPr>
            <a:r>
              <a:rPr lang="en-US" altLang="zh-CN" sz="2000" dirty="0" smtClean="0"/>
              <a:t>}</a:t>
            </a:r>
          </a:p>
          <a:p>
            <a:pPr eaLnBrk="1" hangingPunct="1">
              <a:lnSpc>
                <a:spcPct val="80000"/>
              </a:lnSpc>
              <a:buFont typeface="Wingdings" pitchFamily="2" charset="2"/>
              <a:buNone/>
              <a:defRPr/>
            </a:pPr>
            <a:r>
              <a:rPr lang="zh-CN" altLang="en-US" sz="2000" dirty="0" smtClean="0"/>
              <a:t>注意：上面的</a:t>
            </a:r>
            <a:r>
              <a:rPr lang="en-US" altLang="zh-CN" sz="2000" dirty="0" smtClean="0"/>
              <a:t>for</a:t>
            </a:r>
            <a:r>
              <a:rPr lang="zh-CN" altLang="en-US" sz="2000" dirty="0" smtClean="0"/>
              <a:t>循环中，偶数没有必要再判断它们是否为素数</a:t>
            </a:r>
            <a:r>
              <a:rPr lang="zh-CN" altLang="en-US" sz="2000" dirty="0"/>
              <a:t>。</a:t>
            </a:r>
            <a:endParaRPr lang="zh-CN" altLang="en-US" sz="2000" dirty="0" smtClean="0"/>
          </a:p>
        </p:txBody>
      </p:sp>
      <p:sp>
        <p:nvSpPr>
          <p:cNvPr id="193539" name="Rectangle 3"/>
          <p:cNvSpPr>
            <a:spLocks noGrp="1" noChangeArrowheads="1"/>
          </p:cNvSpPr>
          <p:nvPr>
            <p:ph type="title"/>
          </p:nvPr>
        </p:nvSpPr>
        <p:spPr>
          <a:xfrm>
            <a:off x="0" y="71438"/>
            <a:ext cx="9144000" cy="836612"/>
          </a:xfrm>
        </p:spPr>
        <p:txBody>
          <a:bodyPr/>
          <a:lstStyle/>
          <a:p>
            <a:pPr algn="l" eaLnBrk="1" hangingPunct="1">
              <a:defRPr/>
            </a:pPr>
            <a:r>
              <a:rPr lang="zh-CN" altLang="en-US" sz="3600" dirty="0" smtClean="0">
                <a:latin typeface="+mj-ea"/>
              </a:rPr>
              <a:t>例：编程求出小于</a:t>
            </a:r>
            <a:r>
              <a:rPr lang="en-US" altLang="zh-CN" sz="3600" dirty="0" smtClean="0">
                <a:latin typeface="+mj-ea"/>
              </a:rPr>
              <a:t>n</a:t>
            </a:r>
            <a:r>
              <a:rPr lang="zh-CN" altLang="en-US" sz="3600" dirty="0" smtClean="0">
                <a:latin typeface="+mj-ea"/>
              </a:rPr>
              <a:t>的所有素数（穷举法）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3538">
                                            <p:txEl>
                                              <p:pRg st="8" end="8"/>
                                            </p:txEl>
                                          </p:spTgt>
                                        </p:tgtEl>
                                        <p:attrNameLst>
                                          <p:attrName>style.visibility</p:attrName>
                                        </p:attrNameLst>
                                      </p:cBhvr>
                                      <p:to>
                                        <p:strVal val="visible"/>
                                      </p:to>
                                    </p:set>
                                    <p:animEffect transition="in" filter="blinds(horizontal)">
                                      <p:cBhvr>
                                        <p:cTn id="7" dur="500"/>
                                        <p:tgtEl>
                                          <p:spTgt spid="193538">
                                            <p:txEl>
                                              <p:pRg st="8" end="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3538">
                                            <p:txEl>
                                              <p:pRg st="9" end="9"/>
                                            </p:txEl>
                                          </p:spTgt>
                                        </p:tgtEl>
                                        <p:attrNameLst>
                                          <p:attrName>style.visibility</p:attrName>
                                        </p:attrNameLst>
                                      </p:cBhvr>
                                      <p:to>
                                        <p:strVal val="visible"/>
                                      </p:to>
                                    </p:set>
                                    <p:animEffect transition="in" filter="blinds(horizontal)">
                                      <p:cBhvr>
                                        <p:cTn id="10" dur="500"/>
                                        <p:tgtEl>
                                          <p:spTgt spid="193538">
                                            <p:txEl>
                                              <p:pRg st="9" end="9"/>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93538">
                                            <p:txEl>
                                              <p:pRg st="10" end="10"/>
                                            </p:txEl>
                                          </p:spTgt>
                                        </p:tgtEl>
                                        <p:attrNameLst>
                                          <p:attrName>style.visibility</p:attrName>
                                        </p:attrNameLst>
                                      </p:cBhvr>
                                      <p:to>
                                        <p:strVal val="visible"/>
                                      </p:to>
                                    </p:set>
                                    <p:animEffect transition="in" filter="blinds(horizontal)">
                                      <p:cBhvr>
                                        <p:cTn id="13" dur="500"/>
                                        <p:tgtEl>
                                          <p:spTgt spid="193538">
                                            <p:txEl>
                                              <p:pRg st="10" end="10"/>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93538">
                                            <p:txEl>
                                              <p:pRg st="11" end="11"/>
                                            </p:txEl>
                                          </p:spTgt>
                                        </p:tgtEl>
                                        <p:attrNameLst>
                                          <p:attrName>style.visibility</p:attrName>
                                        </p:attrNameLst>
                                      </p:cBhvr>
                                      <p:to>
                                        <p:strVal val="visible"/>
                                      </p:to>
                                    </p:set>
                                    <p:animEffect transition="in" filter="blinds(horizontal)">
                                      <p:cBhvr>
                                        <p:cTn id="16" dur="500"/>
                                        <p:tgtEl>
                                          <p:spTgt spid="193538">
                                            <p:txEl>
                                              <p:pRg st="11" end="11"/>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93538">
                                            <p:txEl>
                                              <p:pRg st="12" end="12"/>
                                            </p:txEl>
                                          </p:spTgt>
                                        </p:tgtEl>
                                        <p:attrNameLst>
                                          <p:attrName>style.visibility</p:attrName>
                                        </p:attrNameLst>
                                      </p:cBhvr>
                                      <p:to>
                                        <p:strVal val="visible"/>
                                      </p:to>
                                    </p:set>
                                    <p:animEffect transition="in" filter="blinds(horizontal)">
                                      <p:cBhvr>
                                        <p:cTn id="19" dur="500"/>
                                        <p:tgtEl>
                                          <p:spTgt spid="193538">
                                            <p:txEl>
                                              <p:pRg st="12" end="12"/>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93538">
                                            <p:txEl>
                                              <p:pRg st="13" end="13"/>
                                            </p:txEl>
                                          </p:spTgt>
                                        </p:tgtEl>
                                        <p:attrNameLst>
                                          <p:attrName>style.visibility</p:attrName>
                                        </p:attrNameLst>
                                      </p:cBhvr>
                                      <p:to>
                                        <p:strVal val="visible"/>
                                      </p:to>
                                    </p:set>
                                    <p:animEffect transition="in" filter="blinds(horizontal)">
                                      <p:cBhvr>
                                        <p:cTn id="22" dur="500"/>
                                        <p:tgtEl>
                                          <p:spTgt spid="193538">
                                            <p:txEl>
                                              <p:pRg st="13" end="1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93538">
                                            <p:txEl>
                                              <p:pRg st="14" end="14"/>
                                            </p:txEl>
                                          </p:spTgt>
                                        </p:tgtEl>
                                        <p:attrNameLst>
                                          <p:attrName>style.visibility</p:attrName>
                                        </p:attrNameLst>
                                      </p:cBhvr>
                                      <p:to>
                                        <p:strVal val="visible"/>
                                      </p:to>
                                    </p:set>
                                    <p:animEffect transition="in" filter="blinds(horizontal)">
                                      <p:cBhvr>
                                        <p:cTn id="25" dur="500"/>
                                        <p:tgtEl>
                                          <p:spTgt spid="193538">
                                            <p:txEl>
                                              <p:pRg st="14" end="1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193538">
                                            <p:txEl>
                                              <p:pRg st="17" end="17"/>
                                            </p:txEl>
                                          </p:spTgt>
                                        </p:tgtEl>
                                        <p:attrNameLst>
                                          <p:attrName>style.visibility</p:attrName>
                                        </p:attrNameLst>
                                      </p:cBhvr>
                                      <p:to>
                                        <p:strVal val="visible"/>
                                      </p:to>
                                    </p:set>
                                    <p:anim calcmode="lin" valueType="num">
                                      <p:cBhvr additive="base">
                                        <p:cTn id="30" dur="500" fill="hold"/>
                                        <p:tgtEl>
                                          <p:spTgt spid="193538">
                                            <p:txEl>
                                              <p:pRg st="17" end="17"/>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9353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body" idx="1"/>
          </p:nvPr>
        </p:nvSpPr>
        <p:spPr>
          <a:xfrm>
            <a:off x="250825" y="980728"/>
            <a:ext cx="8642350" cy="5760640"/>
          </a:xfrm>
        </p:spPr>
        <p:txBody>
          <a:bodyPr/>
          <a:lstStyle/>
          <a:p>
            <a:pPr eaLnBrk="1" hangingPunct="1">
              <a:lnSpc>
                <a:spcPct val="80000"/>
              </a:lnSpc>
              <a:buFont typeface="Wingdings" pitchFamily="2" charset="2"/>
              <a:buNone/>
              <a:defRPr/>
            </a:pPr>
            <a:r>
              <a:rPr lang="en-US" altLang="zh-CN" sz="2000" dirty="0" smtClean="0"/>
              <a:t>#include &lt;</a:t>
            </a:r>
            <a:r>
              <a:rPr lang="en-US" altLang="zh-CN" sz="2000" dirty="0" err="1" smtClean="0"/>
              <a:t>iostream</a:t>
            </a:r>
            <a:r>
              <a:rPr lang="en-US" altLang="zh-CN" sz="2000" dirty="0" smtClean="0"/>
              <a:t>&gt;</a:t>
            </a:r>
          </a:p>
          <a:p>
            <a:pPr eaLnBrk="1" hangingPunct="1">
              <a:lnSpc>
                <a:spcPct val="80000"/>
              </a:lnSpc>
              <a:buFont typeface="Wingdings" pitchFamily="2" charset="2"/>
              <a:buNone/>
              <a:defRPr/>
            </a:pPr>
            <a:r>
              <a:rPr lang="en-US" altLang="zh-CN" sz="2000" dirty="0" smtClean="0"/>
              <a:t>#include &lt;</a:t>
            </a:r>
            <a:r>
              <a:rPr lang="en-US" altLang="zh-CN" sz="2000" dirty="0" err="1" smtClean="0"/>
              <a:t>cmath</a:t>
            </a:r>
            <a:r>
              <a:rPr lang="en-US" altLang="zh-CN" sz="2000" dirty="0" smtClean="0"/>
              <a:t>&gt;</a:t>
            </a:r>
          </a:p>
          <a:p>
            <a:pPr eaLnBrk="1" hangingPunct="1">
              <a:lnSpc>
                <a:spcPct val="80000"/>
              </a:lnSpc>
              <a:buFont typeface="Wingdings" pitchFamily="2" charset="2"/>
              <a:buNone/>
              <a:defRPr/>
            </a:pPr>
            <a:r>
              <a:rPr lang="en-US" altLang="zh-CN" sz="2000" dirty="0" smtClean="0"/>
              <a:t>using namespace </a:t>
            </a:r>
            <a:r>
              <a:rPr lang="en-US" altLang="zh-CN" sz="2000" dirty="0" err="1" smtClean="0"/>
              <a:t>std</a:t>
            </a:r>
            <a:r>
              <a:rPr lang="en-US" altLang="zh-CN" sz="2000" dirty="0" smtClean="0"/>
              <a:t>;</a:t>
            </a:r>
          </a:p>
          <a:p>
            <a:pPr eaLnBrk="1" hangingPunct="1">
              <a:lnSpc>
                <a:spcPct val="80000"/>
              </a:lnSpc>
              <a:buFont typeface="Wingdings" pitchFamily="2" charset="2"/>
              <a:buNone/>
              <a:defRPr/>
            </a:pPr>
            <a:r>
              <a:rPr lang="en-US" altLang="zh-CN" sz="2000" dirty="0" err="1" smtClean="0"/>
              <a:t>int</a:t>
            </a:r>
            <a:r>
              <a:rPr lang="en-US" altLang="zh-CN" sz="2000" dirty="0" smtClean="0"/>
              <a:t> main()</a:t>
            </a:r>
          </a:p>
          <a:p>
            <a:pPr eaLnBrk="1" hangingPunct="1">
              <a:lnSpc>
                <a:spcPct val="80000"/>
              </a:lnSpc>
              <a:buFont typeface="Wingdings" pitchFamily="2" charset="2"/>
              <a:buNone/>
              <a:defRPr/>
            </a:pPr>
            <a:r>
              <a:rPr lang="en-US" altLang="zh-CN" sz="2000" dirty="0" smtClean="0"/>
              <a:t>{	</a:t>
            </a:r>
            <a:r>
              <a:rPr lang="en-US" altLang="zh-CN" sz="2000" dirty="0" err="1" smtClean="0"/>
              <a:t>int</a:t>
            </a:r>
            <a:r>
              <a:rPr lang="en-US" altLang="zh-CN" sz="2000" dirty="0" smtClean="0"/>
              <a:t> n;</a:t>
            </a:r>
          </a:p>
          <a:p>
            <a:pPr eaLnBrk="1" hangingPunct="1">
              <a:lnSpc>
                <a:spcPct val="80000"/>
              </a:lnSpc>
              <a:buFont typeface="Wingdings" pitchFamily="2" charset="2"/>
              <a:buNone/>
              <a:defRPr/>
            </a:pPr>
            <a:r>
              <a:rPr lang="en-US" altLang="zh-CN" sz="2000" dirty="0" smtClean="0"/>
              <a:t>	</a:t>
            </a:r>
            <a:r>
              <a:rPr lang="en-US" altLang="zh-CN" sz="2000" dirty="0" err="1" smtClean="0"/>
              <a:t>cin</a:t>
            </a:r>
            <a:r>
              <a:rPr lang="en-US" altLang="zh-CN" sz="2000" dirty="0" smtClean="0"/>
              <a:t> &gt;&gt; n;   //</a:t>
            </a:r>
            <a:r>
              <a:rPr lang="zh-CN" altLang="en-US" sz="2000" dirty="0" smtClean="0"/>
              <a:t>从键盘输入一个数</a:t>
            </a:r>
          </a:p>
          <a:p>
            <a:pPr eaLnBrk="1" hangingPunct="1">
              <a:lnSpc>
                <a:spcPct val="80000"/>
              </a:lnSpc>
              <a:buFont typeface="Wingdings" pitchFamily="2" charset="2"/>
              <a:buNone/>
              <a:defRPr/>
            </a:pPr>
            <a:r>
              <a:rPr lang="zh-CN" altLang="en-US" sz="2000" dirty="0" smtClean="0"/>
              <a:t>	</a:t>
            </a:r>
            <a:r>
              <a:rPr lang="en-US" altLang="zh-CN" sz="2000" dirty="0" smtClean="0"/>
              <a:t>if (n &lt;= 2) return -1;</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2 &lt;&lt; ",";  //</a:t>
            </a:r>
            <a:r>
              <a:rPr lang="zh-CN" altLang="en-US" sz="2000" dirty="0" smtClean="0"/>
              <a:t>输出第一个素数</a:t>
            </a:r>
          </a:p>
          <a:p>
            <a:pPr eaLnBrk="1" hangingPunct="1">
              <a:lnSpc>
                <a:spcPct val="80000"/>
              </a:lnSpc>
              <a:buFont typeface="Wingdings" pitchFamily="2" charset="2"/>
              <a:buNone/>
              <a:defRPr/>
            </a:pPr>
            <a:r>
              <a:rPr lang="zh-CN" altLang="en-US" sz="2000" dirty="0" smtClean="0"/>
              <a:t>	</a:t>
            </a:r>
            <a:r>
              <a:rPr lang="en-US" altLang="zh-CN" sz="2000" dirty="0" smtClean="0"/>
              <a:t>for (</a:t>
            </a:r>
            <a:r>
              <a:rPr lang="en-US" altLang="zh-CN" sz="2000" dirty="0" err="1" smtClean="0"/>
              <a:t>int</a:t>
            </a:r>
            <a:r>
              <a:rPr lang="en-US" altLang="zh-CN" sz="2000" dirty="0" smtClean="0"/>
              <a:t> n1=</a:t>
            </a:r>
            <a:r>
              <a:rPr lang="en-US" altLang="zh-CN" sz="2000" dirty="0" smtClean="0">
                <a:solidFill>
                  <a:srgbClr val="FFC000"/>
                </a:solidFill>
              </a:rPr>
              <a:t>3</a:t>
            </a:r>
            <a:r>
              <a:rPr lang="en-US" altLang="zh-CN" sz="2000" dirty="0" smtClean="0"/>
              <a:t>; n1&lt;n; n1+=</a:t>
            </a:r>
            <a:r>
              <a:rPr lang="en-US" altLang="zh-CN" sz="2000" dirty="0" smtClean="0">
                <a:solidFill>
                  <a:srgbClr val="FFC000"/>
                </a:solidFill>
              </a:rPr>
              <a:t>2</a:t>
            </a:r>
            <a:r>
              <a:rPr lang="en-US" altLang="zh-CN" sz="2000" dirty="0" smtClean="0"/>
              <a:t>)  </a:t>
            </a:r>
            <a:r>
              <a:rPr lang="en-US" altLang="zh-CN" sz="1800" dirty="0" smtClean="0"/>
              <a:t>//</a:t>
            </a:r>
            <a:r>
              <a:rPr lang="zh-CN" altLang="en-US" sz="1800" dirty="0" smtClean="0"/>
              <a:t>循环：判断</a:t>
            </a:r>
            <a:r>
              <a:rPr lang="en-US" altLang="zh-CN" sz="1800" dirty="0" smtClean="0"/>
              <a:t>n1=3</a:t>
            </a:r>
            <a:r>
              <a:rPr lang="zh-CN" altLang="en-US" sz="1800" dirty="0" smtClean="0"/>
              <a:t>、</a:t>
            </a:r>
            <a:r>
              <a:rPr lang="en-US" altLang="zh-CN" sz="1800" dirty="0" smtClean="0"/>
              <a:t>5</a:t>
            </a:r>
            <a:r>
              <a:rPr lang="zh-CN" altLang="en-US" sz="1800" dirty="0" smtClean="0"/>
              <a:t>、</a:t>
            </a:r>
            <a:r>
              <a:rPr lang="en-US" altLang="zh-CN" sz="1800" dirty="0" smtClean="0"/>
              <a:t>...</a:t>
            </a:r>
            <a:r>
              <a:rPr lang="zh-CN" altLang="en-US" sz="1800" dirty="0" smtClean="0"/>
              <a:t>是否为素数</a:t>
            </a:r>
          </a:p>
          <a:p>
            <a:pPr eaLnBrk="1" hangingPunct="1">
              <a:lnSpc>
                <a:spcPct val="80000"/>
              </a:lnSpc>
              <a:buNone/>
              <a:defRPr/>
            </a:pPr>
            <a:r>
              <a:rPr lang="zh-CN" altLang="en-US" sz="2000" dirty="0" smtClean="0"/>
              <a:t>	</a:t>
            </a:r>
            <a:r>
              <a:rPr lang="en-US" altLang="zh-CN" sz="2000" dirty="0" smtClean="0"/>
              <a:t>{	</a:t>
            </a:r>
            <a:r>
              <a:rPr lang="en-US" altLang="zh-CN" sz="2000" dirty="0" err="1"/>
              <a:t>int</a:t>
            </a:r>
            <a:r>
              <a:rPr lang="en-US" altLang="zh-CN" sz="2000" dirty="0"/>
              <a:t> </a:t>
            </a:r>
            <a:r>
              <a:rPr lang="en-US" altLang="zh-CN" sz="2000" dirty="0" err="1" smtClean="0"/>
              <a:t>i</a:t>
            </a:r>
            <a:r>
              <a:rPr lang="en-US" altLang="zh-CN" sz="2000" dirty="0" smtClean="0"/>
              <a:t>=2,k</a:t>
            </a:r>
            <a:r>
              <a:rPr lang="en-US" altLang="zh-CN" sz="2000" dirty="0"/>
              <a:t>=(</a:t>
            </a:r>
            <a:r>
              <a:rPr lang="en-US" altLang="zh-CN" sz="2000" dirty="0" err="1"/>
              <a:t>int</a:t>
            </a:r>
            <a:r>
              <a:rPr lang="en-US" altLang="zh-CN" sz="2000" dirty="0"/>
              <a:t>)</a:t>
            </a:r>
            <a:r>
              <a:rPr lang="en-US" altLang="zh-CN" sz="2000" dirty="0" err="1"/>
              <a:t>sqrt</a:t>
            </a:r>
            <a:r>
              <a:rPr lang="en-US" altLang="zh-CN" sz="2000" dirty="0"/>
              <a:t>((</a:t>
            </a:r>
            <a:r>
              <a:rPr lang="en-US" altLang="zh-CN" sz="2000" dirty="0" smtClean="0"/>
              <a:t>double)n1);</a:t>
            </a:r>
            <a:endParaRPr lang="en-US" altLang="zh-CN" sz="2000" dirty="0"/>
          </a:p>
          <a:p>
            <a:pPr eaLnBrk="1" hangingPunct="1">
              <a:lnSpc>
                <a:spcPct val="80000"/>
              </a:lnSpc>
              <a:buNone/>
              <a:defRPr/>
            </a:pPr>
            <a:r>
              <a:rPr lang="en-US" altLang="zh-CN" sz="2000" dirty="0"/>
              <a:t>		while </a:t>
            </a:r>
            <a:r>
              <a:rPr lang="en-US" altLang="zh-CN" sz="2000" dirty="0" smtClean="0"/>
              <a:t>(</a:t>
            </a:r>
            <a:r>
              <a:rPr lang="en-US" altLang="zh-CN" sz="2000" dirty="0" err="1" smtClean="0"/>
              <a:t>i</a:t>
            </a:r>
            <a:r>
              <a:rPr lang="en-US" altLang="zh-CN" sz="2000" dirty="0" smtClean="0"/>
              <a:t> </a:t>
            </a:r>
            <a:r>
              <a:rPr lang="en-US" altLang="zh-CN" sz="2000" dirty="0"/>
              <a:t>&lt;= k &amp;&amp; </a:t>
            </a:r>
            <a:r>
              <a:rPr lang="en-US" altLang="zh-CN" sz="2000" dirty="0" smtClean="0"/>
              <a:t>n1%i </a:t>
            </a:r>
            <a:r>
              <a:rPr lang="en-US" altLang="zh-CN" sz="2000" dirty="0"/>
              <a:t>!= 0</a:t>
            </a:r>
            <a:r>
              <a:rPr lang="en-US" altLang="zh-CN" sz="2000" dirty="0" smtClean="0"/>
              <a:t>)</a:t>
            </a:r>
            <a:r>
              <a:rPr lang="en-US" altLang="zh-CN" sz="1800" dirty="0"/>
              <a:t> //</a:t>
            </a:r>
            <a:r>
              <a:rPr lang="zh-CN" altLang="en-US" sz="1800" dirty="0"/>
              <a:t>循环：判断</a:t>
            </a:r>
            <a:r>
              <a:rPr lang="en-US" altLang="zh-CN" sz="1800" dirty="0"/>
              <a:t>n1</a:t>
            </a:r>
            <a:r>
              <a:rPr lang="zh-CN" altLang="en-US" sz="1800" dirty="0"/>
              <a:t>是否为素数</a:t>
            </a:r>
          </a:p>
          <a:p>
            <a:pPr eaLnBrk="1" hangingPunct="1">
              <a:lnSpc>
                <a:spcPct val="80000"/>
              </a:lnSpc>
              <a:buNone/>
              <a:defRPr/>
            </a:pPr>
            <a:r>
              <a:rPr lang="zh-CN" altLang="en-US" sz="2000" dirty="0"/>
              <a:t>	</a:t>
            </a:r>
            <a:r>
              <a:rPr lang="en-US" altLang="zh-CN" sz="2000" dirty="0"/>
              <a:t> 	  </a:t>
            </a:r>
            <a:r>
              <a:rPr lang="en-US" altLang="zh-CN" sz="2000" dirty="0" err="1" smtClean="0"/>
              <a:t>i</a:t>
            </a:r>
            <a:r>
              <a:rPr lang="en-US" altLang="zh-CN" sz="2000" dirty="0" smtClean="0"/>
              <a:t>++;</a:t>
            </a:r>
            <a:endParaRPr lang="en-US" altLang="zh-CN" sz="2000" dirty="0"/>
          </a:p>
          <a:p>
            <a:pPr eaLnBrk="1" hangingPunct="1">
              <a:lnSpc>
                <a:spcPct val="80000"/>
              </a:lnSpc>
              <a:buNone/>
              <a:defRPr/>
            </a:pPr>
            <a:r>
              <a:rPr lang="en-US" altLang="zh-CN" sz="2000" dirty="0"/>
              <a:t>		if </a:t>
            </a:r>
            <a:r>
              <a:rPr lang="en-US" altLang="zh-CN" sz="2000" dirty="0" smtClean="0"/>
              <a:t>(</a:t>
            </a:r>
            <a:r>
              <a:rPr lang="en-US" altLang="zh-CN" sz="2000" dirty="0" err="1" smtClean="0"/>
              <a:t>i</a:t>
            </a:r>
            <a:r>
              <a:rPr lang="en-US" altLang="zh-CN" sz="2000" dirty="0" smtClean="0"/>
              <a:t> </a:t>
            </a:r>
            <a:r>
              <a:rPr lang="en-US" altLang="zh-CN" sz="2000" dirty="0"/>
              <a:t>&gt; k) </a:t>
            </a:r>
            <a:r>
              <a:rPr lang="en-US" altLang="zh-CN" sz="2000" dirty="0" smtClean="0"/>
              <a:t>//n1</a:t>
            </a:r>
            <a:r>
              <a:rPr lang="zh-CN" altLang="en-US" sz="2000" dirty="0" smtClean="0"/>
              <a:t>是</a:t>
            </a:r>
            <a:r>
              <a:rPr lang="zh-CN" altLang="en-US" sz="2000" dirty="0"/>
              <a:t>素数</a:t>
            </a:r>
          </a:p>
          <a:p>
            <a:pPr eaLnBrk="1" hangingPunct="1">
              <a:lnSpc>
                <a:spcPct val="80000"/>
              </a:lnSpc>
              <a:buNone/>
              <a:defRPr/>
            </a:pPr>
            <a:r>
              <a:rPr lang="en-US" altLang="zh-CN" sz="2000" dirty="0"/>
              <a:t>		</a:t>
            </a:r>
            <a:r>
              <a:rPr lang="zh-CN" altLang="en-US" sz="2000" dirty="0"/>
              <a:t>  </a:t>
            </a:r>
            <a:r>
              <a:rPr lang="en-US" altLang="zh-CN" sz="2000" dirty="0" err="1"/>
              <a:t>cout</a:t>
            </a:r>
            <a:r>
              <a:rPr lang="en-US" altLang="zh-CN" sz="2000" dirty="0"/>
              <a:t> &lt;&lt; </a:t>
            </a:r>
            <a:r>
              <a:rPr lang="en-US" altLang="zh-CN" sz="2000" dirty="0" smtClean="0"/>
              <a:t>n1 </a:t>
            </a:r>
            <a:r>
              <a:rPr lang="en-US" altLang="zh-CN" sz="2000" dirty="0"/>
              <a:t>&lt;&lt; </a:t>
            </a:r>
            <a:r>
              <a:rPr lang="en-US" altLang="zh-CN" sz="2000" dirty="0" smtClean="0"/>
              <a:t>"</a:t>
            </a:r>
            <a:r>
              <a:rPr lang="en-US" altLang="zh-CN" sz="2000" dirty="0"/>
              <a:t>,</a:t>
            </a:r>
            <a:r>
              <a:rPr lang="en-US" altLang="zh-CN" sz="2000" dirty="0" smtClean="0"/>
              <a:t>";</a:t>
            </a:r>
            <a:endParaRPr lang="en-US" altLang="zh-CN" sz="2000" dirty="0"/>
          </a:p>
          <a:p>
            <a:pPr eaLnBrk="1" hangingPunct="1">
              <a:lnSpc>
                <a:spcPct val="80000"/>
              </a:lnSpc>
              <a:buFont typeface="Wingdings" pitchFamily="2" charset="2"/>
              <a:buNone/>
              <a:defRPr/>
            </a:pPr>
            <a:r>
              <a:rPr lang="en-US" altLang="zh-CN" sz="2000" dirty="0" smtClean="0"/>
              <a:t>	}</a:t>
            </a:r>
          </a:p>
          <a:p>
            <a:pPr eaLnBrk="1" hangingPunct="1">
              <a:lnSpc>
                <a:spcPct val="80000"/>
              </a:lnSpc>
              <a:buFont typeface="Wingdings" pitchFamily="2" charset="2"/>
              <a:buNone/>
              <a:defRPr/>
            </a:pPr>
            <a:r>
              <a:rPr lang="en-US" altLang="zh-CN" sz="2000" dirty="0" smtClean="0"/>
              <a:t>	</a:t>
            </a:r>
            <a:r>
              <a:rPr lang="en-US" altLang="zh-CN" sz="2000" dirty="0" err="1" smtClean="0"/>
              <a:t>cout</a:t>
            </a:r>
            <a:r>
              <a:rPr lang="en-US" altLang="zh-CN" sz="2000" dirty="0" smtClean="0"/>
              <a:t> &lt;&lt; </a:t>
            </a:r>
            <a:r>
              <a:rPr lang="en-US" altLang="zh-CN" sz="2000" dirty="0" err="1" smtClean="0"/>
              <a:t>endl</a:t>
            </a:r>
            <a:r>
              <a:rPr lang="en-US" altLang="zh-CN" sz="2000" dirty="0" smtClean="0"/>
              <a:t>;</a:t>
            </a:r>
          </a:p>
          <a:p>
            <a:pPr eaLnBrk="1" hangingPunct="1">
              <a:lnSpc>
                <a:spcPct val="80000"/>
              </a:lnSpc>
              <a:buFont typeface="Wingdings" pitchFamily="2" charset="2"/>
              <a:buNone/>
              <a:defRPr/>
            </a:pPr>
            <a:r>
              <a:rPr lang="en-US" altLang="zh-CN" sz="2000" dirty="0" smtClean="0"/>
              <a:t>	return 0;</a:t>
            </a:r>
          </a:p>
          <a:p>
            <a:pPr eaLnBrk="1" hangingPunct="1">
              <a:lnSpc>
                <a:spcPct val="80000"/>
              </a:lnSpc>
              <a:buFont typeface="Wingdings" pitchFamily="2" charset="2"/>
              <a:buNone/>
              <a:defRPr/>
            </a:pPr>
            <a:r>
              <a:rPr lang="en-US" altLang="zh-CN" sz="2000" dirty="0" smtClean="0"/>
              <a:t>}</a:t>
            </a:r>
          </a:p>
          <a:p>
            <a:pPr eaLnBrk="1" hangingPunct="1">
              <a:lnSpc>
                <a:spcPct val="80000"/>
              </a:lnSpc>
              <a:buFont typeface="Wingdings" pitchFamily="2" charset="2"/>
              <a:buNone/>
              <a:defRPr/>
            </a:pPr>
            <a:endParaRPr lang="en-US" altLang="zh-CN" sz="2000" dirty="0" smtClean="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6632"/>
            <a:ext cx="8723312" cy="1139825"/>
          </a:xfrm>
        </p:spPr>
        <p:txBody>
          <a:bodyPr/>
          <a:lstStyle/>
          <a:p>
            <a:r>
              <a:rPr lang="zh-CN" altLang="en-US" sz="3600" dirty="0" smtClean="0">
                <a:effectLst/>
              </a:rPr>
              <a:t>例：</a:t>
            </a:r>
            <a:r>
              <a:rPr lang="zh-CN" altLang="zh-CN" sz="3600" dirty="0" smtClean="0">
                <a:effectLst/>
              </a:rPr>
              <a:t>求级数</a:t>
            </a:r>
            <a:r>
              <a:rPr lang="en-US" altLang="zh-CN" sz="3600" dirty="0" smtClean="0">
                <a:effectLst/>
              </a:rPr>
              <a:t>1+x+x</a:t>
            </a:r>
            <a:r>
              <a:rPr lang="en-US" altLang="zh-CN" sz="3600" baseline="30000" dirty="0" smtClean="0">
                <a:effectLst/>
              </a:rPr>
              <a:t>2</a:t>
            </a:r>
            <a:r>
              <a:rPr lang="en-US" altLang="zh-CN" sz="3600" dirty="0" smtClean="0">
                <a:effectLst/>
              </a:rPr>
              <a:t>/2</a:t>
            </a:r>
            <a:r>
              <a:rPr lang="en-US" altLang="zh-CN" sz="3600" dirty="0">
                <a:effectLst/>
              </a:rPr>
              <a:t>!+...+x</a:t>
            </a:r>
            <a:r>
              <a:rPr lang="en-US" altLang="zh-CN" sz="3600" baseline="30000" dirty="0">
                <a:effectLst/>
              </a:rPr>
              <a:t>i</a:t>
            </a:r>
            <a:r>
              <a:rPr lang="en-US" altLang="zh-CN" sz="3600" dirty="0">
                <a:effectLst/>
              </a:rPr>
              <a:t>/</a:t>
            </a:r>
            <a:r>
              <a:rPr lang="en-US" altLang="zh-CN" sz="3600" dirty="0" err="1">
                <a:effectLst/>
              </a:rPr>
              <a:t>i</a:t>
            </a:r>
            <a:r>
              <a:rPr lang="en-US" altLang="zh-CN" sz="3600" dirty="0">
                <a:effectLst/>
              </a:rPr>
              <a:t>! </a:t>
            </a:r>
            <a:r>
              <a:rPr lang="en-US" altLang="zh-CN" sz="3600" dirty="0" smtClean="0">
                <a:effectLst/>
              </a:rPr>
              <a:t>…</a:t>
            </a:r>
            <a:r>
              <a:rPr lang="zh-CN" altLang="zh-CN" sz="3600" dirty="0" smtClean="0">
                <a:effectLst/>
              </a:rPr>
              <a:t>前</a:t>
            </a:r>
            <a:r>
              <a:rPr lang="en-US" altLang="zh-CN" sz="3600" dirty="0">
                <a:effectLst/>
              </a:rPr>
              <a:t>n</a:t>
            </a:r>
            <a:r>
              <a:rPr lang="zh-CN" altLang="zh-CN" sz="3600" dirty="0">
                <a:effectLst/>
              </a:rPr>
              <a:t>项之和</a:t>
            </a:r>
            <a:endParaRPr lang="zh-CN" altLang="en-US" sz="3600" dirty="0"/>
          </a:p>
        </p:txBody>
      </p:sp>
      <p:sp>
        <p:nvSpPr>
          <p:cNvPr id="3" name="内容占位符 2"/>
          <p:cNvSpPr>
            <a:spLocks noGrp="1"/>
          </p:cNvSpPr>
          <p:nvPr>
            <p:ph idx="1"/>
          </p:nvPr>
        </p:nvSpPr>
        <p:spPr>
          <a:xfrm>
            <a:off x="323528" y="1412776"/>
            <a:ext cx="8579296" cy="5069160"/>
          </a:xfrm>
        </p:spPr>
        <p:txBody>
          <a:bodyPr>
            <a:normAutofit lnSpcReduction="10000"/>
          </a:bodyPr>
          <a:lstStyle/>
          <a:p>
            <a:r>
              <a:rPr lang="zh-CN" altLang="en-US" dirty="0" smtClean="0"/>
              <a:t>算法基本思想：</a:t>
            </a:r>
            <a:endParaRPr lang="en-US" altLang="zh-CN" dirty="0" smtClean="0"/>
          </a:p>
          <a:p>
            <a:pPr lvl="1"/>
            <a:r>
              <a:rPr lang="zh-CN" altLang="en-US" dirty="0"/>
              <a:t>依次计算各项的值</a:t>
            </a:r>
            <a:r>
              <a:rPr lang="en-US" altLang="zh-CN" dirty="0"/>
              <a:t>x</a:t>
            </a:r>
            <a:r>
              <a:rPr lang="en-US" altLang="zh-CN" baseline="30000" dirty="0"/>
              <a:t>i</a:t>
            </a:r>
            <a:r>
              <a:rPr lang="en-US" altLang="zh-CN" dirty="0"/>
              <a:t>/</a:t>
            </a:r>
            <a:r>
              <a:rPr lang="en-US" altLang="zh-CN" dirty="0" err="1"/>
              <a:t>i</a:t>
            </a:r>
            <a:r>
              <a:rPr lang="en-US" altLang="zh-CN" dirty="0"/>
              <a:t>!</a:t>
            </a:r>
            <a:r>
              <a:rPr lang="zh-CN" altLang="en-US" dirty="0"/>
              <a:t>（</a:t>
            </a:r>
            <a:r>
              <a:rPr lang="en-US" altLang="zh-CN" dirty="0" err="1"/>
              <a:t>i</a:t>
            </a:r>
            <a:r>
              <a:rPr lang="zh-CN" altLang="en-US" dirty="0"/>
              <a:t>从</a:t>
            </a:r>
            <a:r>
              <a:rPr lang="en-US" altLang="zh-CN" dirty="0"/>
              <a:t>0</a:t>
            </a:r>
            <a:r>
              <a:rPr lang="zh-CN" altLang="en-US" dirty="0"/>
              <a:t>到</a:t>
            </a:r>
            <a:r>
              <a:rPr lang="en-US" altLang="zh-CN" dirty="0"/>
              <a:t>n-1</a:t>
            </a:r>
            <a:r>
              <a:rPr lang="zh-CN" altLang="en-US" dirty="0"/>
              <a:t>），并把它们加到某个用于求和的变量中</a:t>
            </a:r>
            <a:r>
              <a:rPr lang="zh-CN" altLang="en-US" dirty="0" smtClean="0"/>
              <a:t>去（迭代）</a:t>
            </a:r>
            <a:endParaRPr lang="en-US" altLang="zh-CN" dirty="0" smtClean="0"/>
          </a:p>
          <a:p>
            <a:r>
              <a:rPr lang="zh-CN" altLang="en-US" dirty="0" smtClean="0"/>
              <a:t>代码基本框架：</a:t>
            </a:r>
            <a:endParaRPr lang="en-US" altLang="zh-CN" dirty="0" smtClean="0"/>
          </a:p>
          <a:p>
            <a:pPr marL="457200" lvl="1" indent="0">
              <a:buNone/>
            </a:pPr>
            <a:r>
              <a:rPr lang="en-US" altLang="zh-CN" dirty="0" smtClean="0"/>
              <a:t>double x; </a:t>
            </a:r>
            <a:r>
              <a:rPr lang="en-US" altLang="zh-CN" dirty="0" err="1" smtClean="0"/>
              <a:t>int</a:t>
            </a:r>
            <a:r>
              <a:rPr lang="en-US" altLang="zh-CN" dirty="0" smtClean="0"/>
              <a:t> n;</a:t>
            </a:r>
          </a:p>
          <a:p>
            <a:pPr marL="457200" lvl="1" indent="0">
              <a:buNone/>
            </a:pPr>
            <a:r>
              <a:rPr lang="en-US" altLang="zh-CN" dirty="0" err="1" smtClean="0"/>
              <a:t>cin</a:t>
            </a:r>
            <a:r>
              <a:rPr lang="en-US" altLang="zh-CN" dirty="0" smtClean="0"/>
              <a:t> </a:t>
            </a:r>
            <a:r>
              <a:rPr lang="en-US" altLang="zh-CN" dirty="0"/>
              <a:t>&gt;&gt; x &gt;&gt; n;</a:t>
            </a:r>
          </a:p>
          <a:p>
            <a:pPr marL="457200" lvl="1" indent="0">
              <a:buNone/>
            </a:pPr>
            <a:r>
              <a:rPr lang="en-US" altLang="zh-CN" dirty="0" smtClean="0"/>
              <a:t>double sum=1+x</a:t>
            </a:r>
            <a:r>
              <a:rPr lang="en-US" altLang="zh-CN" dirty="0"/>
              <a:t>;</a:t>
            </a:r>
          </a:p>
          <a:p>
            <a:pPr marL="457200" lvl="1" indent="0">
              <a:buNone/>
            </a:pPr>
            <a:r>
              <a:rPr lang="en-US" altLang="zh-CN" dirty="0">
                <a:solidFill>
                  <a:srgbClr val="FFC000"/>
                </a:solidFill>
              </a:rPr>
              <a:t>for </a:t>
            </a:r>
            <a:r>
              <a:rPr lang="en-US" altLang="zh-CN" dirty="0" smtClean="0">
                <a:solidFill>
                  <a:srgbClr val="FFC000"/>
                </a:solidFill>
              </a:rPr>
              <a:t>(</a:t>
            </a:r>
            <a:r>
              <a:rPr lang="en-US" altLang="zh-CN" dirty="0" err="1" smtClean="0">
                <a:solidFill>
                  <a:srgbClr val="FFC000"/>
                </a:solidFill>
              </a:rPr>
              <a:t>int</a:t>
            </a:r>
            <a:r>
              <a:rPr lang="en-US" altLang="zh-CN" dirty="0" smtClean="0">
                <a:solidFill>
                  <a:srgbClr val="FFC000"/>
                </a:solidFill>
              </a:rPr>
              <a:t> </a:t>
            </a:r>
            <a:r>
              <a:rPr lang="en-US" altLang="zh-CN" dirty="0" err="1" smtClean="0">
                <a:solidFill>
                  <a:srgbClr val="FFC000"/>
                </a:solidFill>
              </a:rPr>
              <a:t>i</a:t>
            </a:r>
            <a:r>
              <a:rPr lang="en-US" altLang="zh-CN" dirty="0" smtClean="0">
                <a:solidFill>
                  <a:srgbClr val="FFC000"/>
                </a:solidFill>
              </a:rPr>
              <a:t>=2</a:t>
            </a:r>
            <a:r>
              <a:rPr lang="en-US" altLang="zh-CN" dirty="0">
                <a:solidFill>
                  <a:srgbClr val="FFC000"/>
                </a:solidFill>
              </a:rPr>
              <a:t>; </a:t>
            </a:r>
            <a:r>
              <a:rPr lang="en-US" altLang="zh-CN" dirty="0" err="1">
                <a:solidFill>
                  <a:srgbClr val="FFC000"/>
                </a:solidFill>
              </a:rPr>
              <a:t>i</a:t>
            </a:r>
            <a:r>
              <a:rPr lang="en-US" altLang="zh-CN" dirty="0">
                <a:solidFill>
                  <a:srgbClr val="FFC000"/>
                </a:solidFill>
              </a:rPr>
              <a:t>&lt;n; </a:t>
            </a:r>
            <a:r>
              <a:rPr lang="en-US" altLang="zh-CN" dirty="0" err="1">
                <a:solidFill>
                  <a:srgbClr val="FFC000"/>
                </a:solidFill>
              </a:rPr>
              <a:t>i</a:t>
            </a:r>
            <a:r>
              <a:rPr lang="en-US" altLang="zh-CN" dirty="0">
                <a:solidFill>
                  <a:srgbClr val="FFC000"/>
                </a:solidFill>
              </a:rPr>
              <a:t>++)</a:t>
            </a:r>
          </a:p>
          <a:p>
            <a:pPr marL="457200" lvl="1" indent="0">
              <a:buNone/>
            </a:pPr>
            <a:r>
              <a:rPr lang="en-US" altLang="zh-CN" dirty="0">
                <a:solidFill>
                  <a:srgbClr val="FFC000"/>
                </a:solidFill>
              </a:rPr>
              <a:t>	sum += x</a:t>
            </a:r>
            <a:r>
              <a:rPr lang="en-US" altLang="zh-CN" baseline="30000" dirty="0">
                <a:solidFill>
                  <a:srgbClr val="FFC000"/>
                </a:solidFill>
              </a:rPr>
              <a:t>i</a:t>
            </a:r>
            <a:r>
              <a:rPr lang="en-US" altLang="zh-CN" dirty="0">
                <a:solidFill>
                  <a:srgbClr val="FFC000"/>
                </a:solidFill>
              </a:rPr>
              <a:t>/</a:t>
            </a:r>
            <a:r>
              <a:rPr lang="en-US" altLang="zh-CN" dirty="0" err="1">
                <a:solidFill>
                  <a:srgbClr val="FFC000"/>
                </a:solidFill>
              </a:rPr>
              <a:t>i</a:t>
            </a:r>
            <a:r>
              <a:rPr lang="en-US" altLang="zh-CN" dirty="0">
                <a:solidFill>
                  <a:srgbClr val="FFC000"/>
                </a:solidFill>
              </a:rPr>
              <a:t>!; //</a:t>
            </a:r>
            <a:r>
              <a:rPr lang="zh-CN" altLang="en-US" dirty="0">
                <a:solidFill>
                  <a:srgbClr val="FFC000"/>
                </a:solidFill>
              </a:rPr>
              <a:t>注意</a:t>
            </a:r>
            <a:r>
              <a:rPr lang="zh-CN" altLang="en-US" dirty="0" smtClean="0">
                <a:solidFill>
                  <a:srgbClr val="FFC000"/>
                </a:solidFill>
              </a:rPr>
              <a:t>：</a:t>
            </a:r>
            <a:r>
              <a:rPr lang="en-US" altLang="zh-CN" dirty="0" smtClean="0">
                <a:solidFill>
                  <a:srgbClr val="FFC000"/>
                </a:solidFill>
              </a:rPr>
              <a:t>x</a:t>
            </a:r>
            <a:r>
              <a:rPr lang="en-US" altLang="zh-CN" baseline="30000" dirty="0" smtClean="0">
                <a:solidFill>
                  <a:srgbClr val="FFC000"/>
                </a:solidFill>
              </a:rPr>
              <a:t>i</a:t>
            </a:r>
            <a:r>
              <a:rPr lang="zh-CN" altLang="en-US" dirty="0" smtClean="0">
                <a:solidFill>
                  <a:srgbClr val="FFC000"/>
                </a:solidFill>
              </a:rPr>
              <a:t>和</a:t>
            </a:r>
            <a:r>
              <a:rPr lang="en-US" altLang="zh-CN" dirty="0" err="1" smtClean="0">
                <a:solidFill>
                  <a:srgbClr val="FFC000"/>
                </a:solidFill>
              </a:rPr>
              <a:t>i</a:t>
            </a:r>
            <a:r>
              <a:rPr lang="en-US" altLang="zh-CN" dirty="0" smtClean="0">
                <a:solidFill>
                  <a:srgbClr val="FFC000"/>
                </a:solidFill>
              </a:rPr>
              <a:t>!</a:t>
            </a:r>
            <a:r>
              <a:rPr lang="zh-CN" altLang="en-US" dirty="0" smtClean="0">
                <a:solidFill>
                  <a:srgbClr val="FFC000"/>
                </a:solidFill>
              </a:rPr>
              <a:t>要另外计算</a:t>
            </a:r>
            <a:endParaRPr lang="zh-CN" altLang="en-US" dirty="0">
              <a:solidFill>
                <a:srgbClr val="FFC000"/>
              </a:solidFill>
            </a:endParaRPr>
          </a:p>
          <a:p>
            <a:pPr marL="457200" lvl="1" indent="0">
              <a:buNone/>
            </a:pPr>
            <a:r>
              <a:rPr lang="en-US" altLang="zh-CN" dirty="0" err="1"/>
              <a:t>cout</a:t>
            </a:r>
            <a:r>
              <a:rPr lang="en-US" altLang="zh-CN" dirty="0"/>
              <a:t> &lt;&lt; sum;</a:t>
            </a:r>
          </a:p>
          <a:p>
            <a:pPr lvl="1"/>
            <a:endParaRPr lang="zh-CN" altLang="en-US" dirty="0"/>
          </a:p>
        </p:txBody>
      </p:sp>
    </p:spTree>
    <p:extLst>
      <p:ext uri="{BB962C8B-B14F-4D97-AF65-F5344CB8AC3E}">
        <p14:creationId xmlns:p14="http://schemas.microsoft.com/office/powerpoint/2010/main" val="232218704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5680" y="260648"/>
            <a:ext cx="8686800" cy="6408712"/>
          </a:xfrm>
        </p:spPr>
        <p:txBody>
          <a:bodyPr>
            <a:normAutofit fontScale="92500" lnSpcReduction="10000"/>
          </a:bodyPr>
          <a:lstStyle/>
          <a:p>
            <a:r>
              <a:rPr lang="zh-CN" altLang="en-US" dirty="0" smtClean="0"/>
              <a:t>实现</a:t>
            </a:r>
            <a:r>
              <a:rPr lang="en-US" altLang="zh-CN" dirty="0" smtClean="0"/>
              <a:t>1</a:t>
            </a:r>
          </a:p>
          <a:p>
            <a:pPr marL="457200" lvl="1" indent="0">
              <a:buNone/>
            </a:pPr>
            <a:r>
              <a:rPr lang="en-US" altLang="zh-CN" dirty="0" smtClean="0"/>
              <a:t>......</a:t>
            </a:r>
          </a:p>
          <a:p>
            <a:pPr marL="457200" lvl="1" indent="0">
              <a:buNone/>
            </a:pPr>
            <a:r>
              <a:rPr lang="en-US" altLang="zh-CN" dirty="0" smtClean="0"/>
              <a:t>for </a:t>
            </a:r>
            <a:r>
              <a:rPr lang="en-US" altLang="zh-CN" dirty="0"/>
              <a:t>(</a:t>
            </a:r>
            <a:r>
              <a:rPr lang="en-US" altLang="zh-CN" dirty="0" err="1"/>
              <a:t>int</a:t>
            </a:r>
            <a:r>
              <a:rPr lang="en-US" altLang="zh-CN" dirty="0"/>
              <a:t> </a:t>
            </a:r>
            <a:r>
              <a:rPr lang="en-US" altLang="zh-CN" dirty="0" err="1"/>
              <a:t>i</a:t>
            </a:r>
            <a:r>
              <a:rPr lang="en-US" altLang="zh-CN" dirty="0"/>
              <a:t>=2; </a:t>
            </a:r>
            <a:r>
              <a:rPr lang="en-US" altLang="zh-CN" dirty="0" err="1"/>
              <a:t>i</a:t>
            </a:r>
            <a:r>
              <a:rPr lang="en-US" altLang="zh-CN" dirty="0"/>
              <a:t>&lt;n; </a:t>
            </a:r>
            <a:r>
              <a:rPr lang="en-US" altLang="zh-CN" dirty="0" err="1"/>
              <a:t>i</a:t>
            </a:r>
            <a:r>
              <a:rPr lang="en-US" altLang="zh-CN" dirty="0" smtClean="0"/>
              <a:t>++)</a:t>
            </a:r>
            <a:endParaRPr lang="zh-CN" altLang="en-US" dirty="0"/>
          </a:p>
          <a:p>
            <a:pPr marL="457200" lvl="1" indent="0">
              <a:buNone/>
            </a:pPr>
            <a:r>
              <a:rPr lang="en-US" altLang="zh-CN" dirty="0" smtClean="0"/>
              <a:t>{</a:t>
            </a:r>
            <a:r>
              <a:rPr lang="en-US" altLang="zh-CN" dirty="0"/>
              <a:t>	</a:t>
            </a:r>
            <a:r>
              <a:rPr lang="en-US" altLang="zh-CN" dirty="0" err="1" smtClean="0"/>
              <a:t>int</a:t>
            </a:r>
            <a:r>
              <a:rPr lang="en-US" altLang="zh-CN" dirty="0" smtClean="0"/>
              <a:t> a=1</a:t>
            </a:r>
            <a:r>
              <a:rPr lang="en-US" altLang="zh-CN" dirty="0"/>
              <a:t>;</a:t>
            </a:r>
          </a:p>
          <a:p>
            <a:pPr marL="457200" lvl="1" indent="0">
              <a:buNone/>
            </a:pPr>
            <a:r>
              <a:rPr lang="en-US" altLang="zh-CN" dirty="0"/>
              <a:t>	</a:t>
            </a:r>
            <a:r>
              <a:rPr lang="en-US" altLang="zh-CN" dirty="0" smtClean="0"/>
              <a:t>double </a:t>
            </a:r>
            <a:r>
              <a:rPr lang="en-US" altLang="zh-CN" dirty="0"/>
              <a:t>b=x; </a:t>
            </a:r>
          </a:p>
          <a:p>
            <a:pPr marL="457200" lvl="1" indent="0">
              <a:buNone/>
            </a:pPr>
            <a:r>
              <a:rPr lang="en-US" altLang="zh-CN" dirty="0"/>
              <a:t>	</a:t>
            </a:r>
            <a:r>
              <a:rPr lang="en-US" altLang="zh-CN" dirty="0" smtClean="0"/>
              <a:t>for (</a:t>
            </a:r>
            <a:r>
              <a:rPr lang="en-US" altLang="zh-CN" dirty="0" err="1" smtClean="0"/>
              <a:t>int</a:t>
            </a:r>
            <a:r>
              <a:rPr lang="en-US" altLang="zh-CN" dirty="0" smtClean="0"/>
              <a:t> j=2</a:t>
            </a:r>
            <a:r>
              <a:rPr lang="en-US" altLang="zh-CN" dirty="0"/>
              <a:t>; j&lt;=</a:t>
            </a:r>
            <a:r>
              <a:rPr lang="en-US" altLang="zh-CN" dirty="0" err="1"/>
              <a:t>i</a:t>
            </a:r>
            <a:r>
              <a:rPr lang="en-US" altLang="zh-CN" dirty="0"/>
              <a:t>; </a:t>
            </a:r>
            <a:r>
              <a:rPr lang="en-US" altLang="zh-CN" dirty="0" err="1"/>
              <a:t>j++</a:t>
            </a:r>
            <a:r>
              <a:rPr lang="en-US" altLang="zh-CN" dirty="0"/>
              <a:t>) a *= j; //</a:t>
            </a:r>
            <a:r>
              <a:rPr lang="zh-CN" altLang="en-US" dirty="0"/>
              <a:t>计算</a:t>
            </a:r>
            <a:r>
              <a:rPr lang="en-US" altLang="zh-CN" dirty="0" err="1"/>
              <a:t>i</a:t>
            </a:r>
            <a:r>
              <a:rPr lang="en-US" altLang="zh-CN" dirty="0"/>
              <a:t>!</a:t>
            </a:r>
          </a:p>
          <a:p>
            <a:pPr marL="457200" lvl="1" indent="0">
              <a:buNone/>
            </a:pPr>
            <a:r>
              <a:rPr lang="en-US" altLang="zh-CN" dirty="0"/>
              <a:t>	</a:t>
            </a:r>
            <a:r>
              <a:rPr lang="en-US" altLang="zh-CN" dirty="0" smtClean="0"/>
              <a:t>for (</a:t>
            </a:r>
            <a:r>
              <a:rPr lang="en-US" altLang="zh-CN" dirty="0" err="1" smtClean="0"/>
              <a:t>int</a:t>
            </a:r>
            <a:r>
              <a:rPr lang="en-US" altLang="zh-CN" dirty="0" smtClean="0"/>
              <a:t> j=2</a:t>
            </a:r>
            <a:r>
              <a:rPr lang="en-US" altLang="zh-CN" dirty="0"/>
              <a:t>; j&lt;=</a:t>
            </a:r>
            <a:r>
              <a:rPr lang="en-US" altLang="zh-CN" dirty="0" err="1"/>
              <a:t>i</a:t>
            </a:r>
            <a:r>
              <a:rPr lang="en-US" altLang="zh-CN" dirty="0"/>
              <a:t>; </a:t>
            </a:r>
            <a:r>
              <a:rPr lang="en-US" altLang="zh-CN" dirty="0" err="1"/>
              <a:t>j++</a:t>
            </a:r>
            <a:r>
              <a:rPr lang="en-US" altLang="zh-CN" dirty="0"/>
              <a:t>) b *= x; //</a:t>
            </a:r>
            <a:r>
              <a:rPr lang="zh-CN" altLang="en-US" dirty="0"/>
              <a:t>计算</a:t>
            </a:r>
            <a:r>
              <a:rPr lang="en-US" altLang="zh-CN" dirty="0"/>
              <a:t>x</a:t>
            </a:r>
            <a:r>
              <a:rPr lang="en-US" altLang="zh-CN" baseline="30000" dirty="0"/>
              <a:t>i</a:t>
            </a:r>
          </a:p>
          <a:p>
            <a:pPr marL="457200" lvl="1" indent="0">
              <a:buNone/>
            </a:pPr>
            <a:r>
              <a:rPr lang="en-US" altLang="zh-CN" dirty="0"/>
              <a:t>	</a:t>
            </a:r>
            <a:r>
              <a:rPr lang="en-US" altLang="zh-CN" dirty="0" smtClean="0"/>
              <a:t>sum </a:t>
            </a:r>
            <a:r>
              <a:rPr lang="en-US" altLang="zh-CN" dirty="0"/>
              <a:t>+= b/a; //</a:t>
            </a:r>
            <a:r>
              <a:rPr lang="zh-CN" altLang="en-US" dirty="0"/>
              <a:t>计算</a:t>
            </a:r>
            <a:r>
              <a:rPr lang="en-US" altLang="zh-CN" dirty="0"/>
              <a:t>x</a:t>
            </a:r>
            <a:r>
              <a:rPr lang="en-US" altLang="zh-CN" baseline="30000" dirty="0"/>
              <a:t>i</a:t>
            </a:r>
            <a:r>
              <a:rPr lang="en-US" altLang="zh-CN" dirty="0"/>
              <a:t>/</a:t>
            </a:r>
            <a:r>
              <a:rPr lang="en-US" altLang="zh-CN" dirty="0" err="1"/>
              <a:t>i</a:t>
            </a:r>
            <a:r>
              <a:rPr lang="en-US" altLang="zh-CN" dirty="0"/>
              <a:t>!</a:t>
            </a:r>
            <a:r>
              <a:rPr lang="zh-CN" altLang="en-US" dirty="0"/>
              <a:t>并把它加到</a:t>
            </a:r>
            <a:r>
              <a:rPr lang="en-US" altLang="zh-CN" dirty="0"/>
              <a:t>sum</a:t>
            </a:r>
            <a:r>
              <a:rPr lang="zh-CN" altLang="en-US" dirty="0"/>
              <a:t>中</a:t>
            </a:r>
          </a:p>
          <a:p>
            <a:pPr marL="457200" lvl="1" indent="0">
              <a:buNone/>
            </a:pPr>
            <a:r>
              <a:rPr lang="en-US" altLang="zh-CN" dirty="0" smtClean="0"/>
              <a:t>}</a:t>
            </a:r>
          </a:p>
          <a:p>
            <a:pPr marL="457200" lvl="1" indent="0">
              <a:buNone/>
            </a:pPr>
            <a:r>
              <a:rPr lang="en-US" altLang="zh-CN" dirty="0" smtClean="0"/>
              <a:t>......</a:t>
            </a:r>
            <a:endParaRPr lang="en-US" altLang="zh-CN" dirty="0"/>
          </a:p>
          <a:p>
            <a:r>
              <a:rPr lang="zh-CN" altLang="en-US" dirty="0" smtClean="0">
                <a:effectLst/>
              </a:rPr>
              <a:t>注意：可以优化！</a:t>
            </a:r>
            <a:endParaRPr lang="en-US" altLang="zh-CN" dirty="0" smtClean="0">
              <a:effectLst/>
            </a:endParaRPr>
          </a:p>
          <a:p>
            <a:pPr lvl="1"/>
            <a:r>
              <a:rPr lang="zh-CN" altLang="en-US" dirty="0" smtClean="0">
                <a:effectLst/>
              </a:rPr>
              <a:t>因为</a:t>
            </a:r>
            <a:r>
              <a:rPr lang="en-US" altLang="zh-CN" dirty="0" err="1" smtClean="0">
                <a:effectLst/>
              </a:rPr>
              <a:t>i</a:t>
            </a:r>
            <a:r>
              <a:rPr lang="en-US" altLang="zh-CN" dirty="0">
                <a:effectLst/>
              </a:rPr>
              <a:t>! </a:t>
            </a:r>
            <a:r>
              <a:rPr lang="en-GB" altLang="zh-CN" dirty="0">
                <a:effectLst/>
              </a:rPr>
              <a:t>= </a:t>
            </a:r>
            <a:r>
              <a:rPr lang="en-GB" altLang="zh-CN" dirty="0" err="1">
                <a:effectLst/>
              </a:rPr>
              <a:t>i</a:t>
            </a:r>
            <a:r>
              <a:rPr lang="en-GB" altLang="zh-CN" dirty="0">
                <a:effectLst/>
              </a:rPr>
              <a:t> * (i-1)!</a:t>
            </a:r>
            <a:r>
              <a:rPr lang="zh-CN" altLang="zh-CN" dirty="0">
                <a:effectLst/>
              </a:rPr>
              <a:t>和</a:t>
            </a:r>
            <a:r>
              <a:rPr lang="en-US" altLang="zh-CN" dirty="0">
                <a:effectLst/>
              </a:rPr>
              <a:t>x</a:t>
            </a:r>
            <a:r>
              <a:rPr lang="en-US" altLang="zh-CN" baseline="30000" dirty="0">
                <a:effectLst/>
              </a:rPr>
              <a:t>i</a:t>
            </a:r>
            <a:r>
              <a:rPr lang="en-GB" altLang="zh-CN" dirty="0">
                <a:effectLst/>
              </a:rPr>
              <a:t> = x * </a:t>
            </a:r>
            <a:r>
              <a:rPr lang="en-US" altLang="zh-CN" dirty="0" smtClean="0">
                <a:effectLst/>
              </a:rPr>
              <a:t>x</a:t>
            </a:r>
            <a:r>
              <a:rPr lang="en-US" altLang="zh-CN" baseline="30000" dirty="0" smtClean="0">
                <a:effectLst/>
              </a:rPr>
              <a:t>i-1</a:t>
            </a:r>
          </a:p>
          <a:p>
            <a:pPr lvl="1"/>
            <a:r>
              <a:rPr lang="zh-CN" altLang="zh-CN" dirty="0">
                <a:effectLst/>
              </a:rPr>
              <a:t>计算</a:t>
            </a:r>
            <a:r>
              <a:rPr lang="en-US" altLang="zh-CN" dirty="0" err="1">
                <a:effectLst/>
              </a:rPr>
              <a:t>i</a:t>
            </a:r>
            <a:r>
              <a:rPr lang="en-US" altLang="zh-CN" dirty="0">
                <a:effectLst/>
              </a:rPr>
              <a:t>!</a:t>
            </a:r>
            <a:r>
              <a:rPr lang="zh-CN" altLang="zh-CN" dirty="0">
                <a:effectLst/>
              </a:rPr>
              <a:t>和</a:t>
            </a:r>
            <a:r>
              <a:rPr lang="en-US" altLang="zh-CN" dirty="0">
                <a:effectLst/>
              </a:rPr>
              <a:t>x</a:t>
            </a:r>
            <a:r>
              <a:rPr lang="en-US" altLang="zh-CN" baseline="30000" dirty="0">
                <a:effectLst/>
              </a:rPr>
              <a:t>i</a:t>
            </a:r>
            <a:r>
              <a:rPr lang="zh-CN" altLang="zh-CN" dirty="0" smtClean="0">
                <a:effectLst/>
              </a:rPr>
              <a:t>时</a:t>
            </a:r>
            <a:r>
              <a:rPr lang="zh-CN" altLang="en-US" dirty="0" smtClean="0">
                <a:effectLst/>
              </a:rPr>
              <a:t>，</a:t>
            </a:r>
            <a:r>
              <a:rPr lang="zh-CN" altLang="zh-CN" dirty="0" smtClean="0">
                <a:effectLst/>
              </a:rPr>
              <a:t>可以利用</a:t>
            </a:r>
            <a:r>
              <a:rPr lang="zh-CN" altLang="en-US" dirty="0" smtClean="0">
                <a:effectLst/>
              </a:rPr>
              <a:t>上一次循环已</a:t>
            </a:r>
            <a:r>
              <a:rPr lang="zh-CN" altLang="zh-CN" dirty="0" smtClean="0">
                <a:effectLst/>
              </a:rPr>
              <a:t>计算</a:t>
            </a:r>
            <a:r>
              <a:rPr lang="zh-CN" altLang="en-US" dirty="0" smtClean="0">
                <a:effectLst/>
              </a:rPr>
              <a:t>过</a:t>
            </a:r>
            <a:r>
              <a:rPr lang="zh-CN" altLang="zh-CN" dirty="0" smtClean="0">
                <a:effectLst/>
              </a:rPr>
              <a:t>的</a:t>
            </a:r>
            <a:r>
              <a:rPr lang="en-US" altLang="zh-CN" dirty="0">
                <a:solidFill>
                  <a:srgbClr val="FFC000"/>
                </a:solidFill>
                <a:effectLst/>
              </a:rPr>
              <a:t>(i-1)!</a:t>
            </a:r>
            <a:r>
              <a:rPr lang="zh-CN" altLang="zh-CN" dirty="0">
                <a:effectLst/>
              </a:rPr>
              <a:t>和</a:t>
            </a:r>
            <a:r>
              <a:rPr lang="en-US" altLang="zh-CN" dirty="0">
                <a:solidFill>
                  <a:srgbClr val="FFC000"/>
                </a:solidFill>
                <a:effectLst/>
              </a:rPr>
              <a:t>x</a:t>
            </a:r>
            <a:r>
              <a:rPr lang="en-US" altLang="zh-CN" baseline="30000" dirty="0">
                <a:solidFill>
                  <a:srgbClr val="FFC000"/>
                </a:solidFill>
                <a:effectLst/>
              </a:rPr>
              <a:t>i-1</a:t>
            </a:r>
            <a:r>
              <a:rPr lang="zh-CN" altLang="zh-CN" dirty="0">
                <a:effectLst/>
              </a:rPr>
              <a:t>来减少重复</a:t>
            </a:r>
            <a:r>
              <a:rPr lang="zh-CN" altLang="zh-CN" dirty="0" smtClean="0">
                <a:effectLst/>
              </a:rPr>
              <a:t>计算</a:t>
            </a:r>
            <a:r>
              <a:rPr lang="zh-CN" altLang="en-US" dirty="0" smtClean="0">
                <a:effectLst/>
              </a:rPr>
              <a:t>！</a:t>
            </a:r>
            <a:endParaRPr lang="zh-CN" altLang="en-US" dirty="0"/>
          </a:p>
        </p:txBody>
      </p:sp>
      <p:sp>
        <p:nvSpPr>
          <p:cNvPr id="4" name="文本框 3"/>
          <p:cNvSpPr txBox="1"/>
          <p:nvPr/>
        </p:nvSpPr>
        <p:spPr>
          <a:xfrm>
            <a:off x="1115616" y="2420888"/>
            <a:ext cx="6768752" cy="1046440"/>
          </a:xfrm>
          <a:prstGeom prst="rect">
            <a:avLst/>
          </a:prstGeom>
          <a:solidFill>
            <a:schemeClr val="bg1">
              <a:lumMod val="75000"/>
            </a:schemeClr>
          </a:solidFill>
        </p:spPr>
        <p:txBody>
          <a:bodyPr wrap="square" rtlCol="0">
            <a:spAutoFit/>
          </a:bodyPr>
          <a:lstStyle/>
          <a:p>
            <a:pPr>
              <a:buNone/>
            </a:pPr>
            <a:r>
              <a:rPr lang="en-US" altLang="zh-CN" sz="2000" dirty="0"/>
              <a:t>for </a:t>
            </a:r>
            <a:r>
              <a:rPr lang="en-US" altLang="zh-CN" sz="2000" dirty="0" smtClean="0"/>
              <a:t>(</a:t>
            </a:r>
            <a:r>
              <a:rPr lang="en-US" altLang="zh-CN" sz="2000" dirty="0" err="1" smtClean="0"/>
              <a:t>int</a:t>
            </a:r>
            <a:r>
              <a:rPr lang="en-US" altLang="zh-CN" sz="2000" dirty="0" smtClean="0"/>
              <a:t> j=2</a:t>
            </a:r>
            <a:r>
              <a:rPr lang="en-US" altLang="zh-CN" sz="2000" dirty="0"/>
              <a:t>; j&lt;=</a:t>
            </a:r>
            <a:r>
              <a:rPr lang="en-US" altLang="zh-CN" sz="2000" dirty="0" err="1"/>
              <a:t>i</a:t>
            </a:r>
            <a:r>
              <a:rPr lang="en-US" altLang="zh-CN" sz="2000" dirty="0"/>
              <a:t>; </a:t>
            </a:r>
            <a:r>
              <a:rPr lang="en-US" altLang="zh-CN" sz="2000" dirty="0" err="1"/>
              <a:t>j++</a:t>
            </a:r>
            <a:r>
              <a:rPr lang="en-US" altLang="zh-CN" sz="2000" dirty="0"/>
              <a:t>) </a:t>
            </a:r>
            <a:endParaRPr lang="en-US" altLang="zh-CN" sz="2000" dirty="0" smtClean="0"/>
          </a:p>
          <a:p>
            <a:pPr>
              <a:buNone/>
            </a:pPr>
            <a:r>
              <a:rPr lang="en-US" altLang="zh-CN" sz="2000" dirty="0" smtClean="0"/>
              <a:t>{ a </a:t>
            </a:r>
            <a:r>
              <a:rPr lang="en-US" altLang="zh-CN" sz="2000" dirty="0"/>
              <a:t>*= j; </a:t>
            </a:r>
            <a:r>
              <a:rPr lang="en-US" altLang="zh-CN" sz="2000" dirty="0" smtClean="0"/>
              <a:t>b *= x;</a:t>
            </a:r>
          </a:p>
          <a:p>
            <a:pPr>
              <a:buNone/>
            </a:pPr>
            <a:r>
              <a:rPr lang="en-US" altLang="zh-CN" sz="2000" dirty="0" smtClean="0"/>
              <a:t>}</a:t>
            </a:r>
            <a:endParaRPr lang="zh-CN" altLang="en-US" sz="2000" dirty="0"/>
          </a:p>
        </p:txBody>
      </p:sp>
    </p:spTree>
    <p:extLst>
      <p:ext uri="{BB962C8B-B14F-4D97-AF65-F5344CB8AC3E}">
        <p14:creationId xmlns:p14="http://schemas.microsoft.com/office/powerpoint/2010/main" val="8129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anim calcmode="lin" valueType="num">
                                      <p:cBhvr additive="base">
                                        <p:cTn id="1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anim calcmode="lin" valueType="num">
                                      <p:cBhvr additive="base">
                                        <p:cTn id="1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anim calcmode="lin" valueType="num">
                                      <p:cBhvr additive="base">
                                        <p:cTn id="2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5680" y="260648"/>
            <a:ext cx="8686800" cy="6408712"/>
          </a:xfrm>
        </p:spPr>
        <p:txBody>
          <a:bodyPr>
            <a:normAutofit fontScale="92500"/>
          </a:bodyPr>
          <a:lstStyle/>
          <a:p>
            <a:r>
              <a:rPr lang="zh-CN" altLang="en-US" dirty="0" smtClean="0"/>
              <a:t>实现</a:t>
            </a:r>
            <a:r>
              <a:rPr lang="en-US" altLang="zh-CN" dirty="0" smtClean="0"/>
              <a:t>2</a:t>
            </a:r>
          </a:p>
          <a:p>
            <a:pPr marL="457200" lvl="1" indent="0">
              <a:buNone/>
            </a:pPr>
            <a:r>
              <a:rPr lang="en-US" altLang="zh-CN" dirty="0" smtClean="0"/>
              <a:t>......</a:t>
            </a:r>
          </a:p>
          <a:p>
            <a:pPr marL="457200" lvl="1" indent="0">
              <a:buNone/>
            </a:pPr>
            <a:r>
              <a:rPr lang="en-US" altLang="zh-CN" dirty="0" err="1"/>
              <a:t>int</a:t>
            </a:r>
            <a:r>
              <a:rPr lang="en-US" altLang="zh-CN" dirty="0"/>
              <a:t> a=1</a:t>
            </a:r>
            <a:r>
              <a:rPr lang="en-US" altLang="zh-CN" dirty="0" smtClean="0"/>
              <a:t>; //</a:t>
            </a:r>
            <a:r>
              <a:rPr lang="fr-FR" altLang="zh-CN" dirty="0">
                <a:effectLst/>
              </a:rPr>
              <a:t> 1!</a:t>
            </a:r>
            <a:endParaRPr lang="en-US" altLang="zh-CN" dirty="0"/>
          </a:p>
          <a:p>
            <a:pPr marL="457200" lvl="1" indent="0">
              <a:buNone/>
            </a:pPr>
            <a:r>
              <a:rPr lang="en-US" altLang="zh-CN" dirty="0" smtClean="0"/>
              <a:t>double </a:t>
            </a:r>
            <a:r>
              <a:rPr lang="en-US" altLang="zh-CN" dirty="0"/>
              <a:t>b=x; </a:t>
            </a:r>
            <a:r>
              <a:rPr lang="en-US" altLang="zh-CN" dirty="0" smtClean="0"/>
              <a:t>//</a:t>
            </a:r>
            <a:r>
              <a:rPr lang="fr-FR" altLang="zh-CN" dirty="0">
                <a:effectLst/>
              </a:rPr>
              <a:t> x</a:t>
            </a:r>
            <a:r>
              <a:rPr lang="fr-FR" altLang="zh-CN" baseline="30000" dirty="0">
                <a:effectLst/>
              </a:rPr>
              <a:t>1</a:t>
            </a:r>
            <a:endParaRPr lang="en-US" altLang="zh-CN" dirty="0"/>
          </a:p>
          <a:p>
            <a:pPr marL="457200" lvl="1" indent="0">
              <a:buNone/>
            </a:pPr>
            <a:r>
              <a:rPr lang="en-US" altLang="zh-CN" dirty="0" smtClean="0"/>
              <a:t>for </a:t>
            </a:r>
            <a:r>
              <a:rPr lang="en-US" altLang="zh-CN" dirty="0"/>
              <a:t>(</a:t>
            </a:r>
            <a:r>
              <a:rPr lang="en-US" altLang="zh-CN" dirty="0" err="1"/>
              <a:t>int</a:t>
            </a:r>
            <a:r>
              <a:rPr lang="en-US" altLang="zh-CN" dirty="0"/>
              <a:t> </a:t>
            </a:r>
            <a:r>
              <a:rPr lang="en-US" altLang="zh-CN" dirty="0" err="1"/>
              <a:t>i</a:t>
            </a:r>
            <a:r>
              <a:rPr lang="en-US" altLang="zh-CN" dirty="0"/>
              <a:t>=2; </a:t>
            </a:r>
            <a:r>
              <a:rPr lang="en-US" altLang="zh-CN" dirty="0" err="1"/>
              <a:t>i</a:t>
            </a:r>
            <a:r>
              <a:rPr lang="en-US" altLang="zh-CN" dirty="0"/>
              <a:t>&lt;n; </a:t>
            </a:r>
            <a:r>
              <a:rPr lang="en-US" altLang="zh-CN" dirty="0" err="1"/>
              <a:t>i</a:t>
            </a:r>
            <a:r>
              <a:rPr lang="en-US" altLang="zh-CN" dirty="0" smtClean="0"/>
              <a:t>++)</a:t>
            </a:r>
            <a:endParaRPr lang="zh-CN" altLang="en-US" dirty="0"/>
          </a:p>
          <a:p>
            <a:pPr marL="457200" lvl="1" indent="0">
              <a:buNone/>
            </a:pPr>
            <a:r>
              <a:rPr lang="en-US" altLang="zh-CN" dirty="0" smtClean="0"/>
              <a:t>{</a:t>
            </a:r>
            <a:r>
              <a:rPr lang="en-US" altLang="zh-CN" dirty="0"/>
              <a:t>	</a:t>
            </a:r>
            <a:r>
              <a:rPr lang="en-US" altLang="zh-CN" dirty="0" smtClean="0"/>
              <a:t>a </a:t>
            </a:r>
            <a:r>
              <a:rPr lang="en-US" altLang="zh-CN" dirty="0"/>
              <a:t>*= </a:t>
            </a:r>
            <a:r>
              <a:rPr lang="en-US" altLang="zh-CN" dirty="0" err="1" smtClean="0"/>
              <a:t>i</a:t>
            </a:r>
            <a:r>
              <a:rPr lang="en-US" altLang="zh-CN" dirty="0" smtClean="0"/>
              <a:t>; //a</a:t>
            </a:r>
            <a:r>
              <a:rPr lang="zh-CN" altLang="en-US" dirty="0" smtClean="0"/>
              <a:t>原来的值为：</a:t>
            </a:r>
            <a:r>
              <a:rPr lang="fr-FR" altLang="zh-CN" dirty="0" smtClean="0">
                <a:effectLst/>
              </a:rPr>
              <a:t>(</a:t>
            </a:r>
            <a:r>
              <a:rPr lang="fr-FR" altLang="zh-CN" dirty="0">
                <a:effectLst/>
              </a:rPr>
              <a:t>i-1</a:t>
            </a:r>
            <a:r>
              <a:rPr lang="fr-FR" altLang="zh-CN" dirty="0" smtClean="0">
                <a:effectLst/>
              </a:rPr>
              <a:t>)!</a:t>
            </a:r>
            <a:endParaRPr lang="en-US" altLang="zh-CN" dirty="0"/>
          </a:p>
          <a:p>
            <a:pPr marL="457200" lvl="1" indent="0">
              <a:buNone/>
            </a:pPr>
            <a:r>
              <a:rPr lang="en-US" altLang="zh-CN" dirty="0"/>
              <a:t>	</a:t>
            </a:r>
            <a:r>
              <a:rPr lang="en-US" altLang="zh-CN" dirty="0" smtClean="0"/>
              <a:t>b </a:t>
            </a:r>
            <a:r>
              <a:rPr lang="en-US" altLang="zh-CN" dirty="0"/>
              <a:t>*= x; </a:t>
            </a:r>
            <a:r>
              <a:rPr lang="en-US" altLang="zh-CN" dirty="0" smtClean="0"/>
              <a:t>//b</a:t>
            </a:r>
            <a:r>
              <a:rPr lang="zh-CN" altLang="en-US" dirty="0" smtClean="0"/>
              <a:t>原来的值为：</a:t>
            </a:r>
            <a:r>
              <a:rPr lang="fr-FR" altLang="zh-CN" dirty="0" smtClean="0">
                <a:effectLst/>
              </a:rPr>
              <a:t>x</a:t>
            </a:r>
            <a:r>
              <a:rPr lang="fr-FR" altLang="zh-CN" baseline="30000" dirty="0" smtClean="0">
                <a:effectLst/>
              </a:rPr>
              <a:t>i-1</a:t>
            </a:r>
            <a:endParaRPr lang="en-US" altLang="zh-CN" baseline="30000" dirty="0"/>
          </a:p>
          <a:p>
            <a:pPr marL="457200" lvl="1" indent="0">
              <a:buNone/>
            </a:pPr>
            <a:r>
              <a:rPr lang="en-US" altLang="zh-CN" dirty="0"/>
              <a:t>	</a:t>
            </a:r>
            <a:r>
              <a:rPr lang="en-US" altLang="zh-CN" dirty="0" smtClean="0"/>
              <a:t>sum </a:t>
            </a:r>
            <a:r>
              <a:rPr lang="en-US" altLang="zh-CN" dirty="0"/>
              <a:t>+= b/a; //</a:t>
            </a:r>
            <a:r>
              <a:rPr lang="zh-CN" altLang="en-US" dirty="0"/>
              <a:t>计算</a:t>
            </a:r>
            <a:r>
              <a:rPr lang="en-US" altLang="zh-CN" dirty="0"/>
              <a:t>x</a:t>
            </a:r>
            <a:r>
              <a:rPr lang="en-US" altLang="zh-CN" baseline="30000" dirty="0"/>
              <a:t>i</a:t>
            </a:r>
            <a:r>
              <a:rPr lang="en-US" altLang="zh-CN" dirty="0"/>
              <a:t>/</a:t>
            </a:r>
            <a:r>
              <a:rPr lang="en-US" altLang="zh-CN" dirty="0" err="1"/>
              <a:t>i</a:t>
            </a:r>
            <a:r>
              <a:rPr lang="en-US" altLang="zh-CN" dirty="0"/>
              <a:t>!</a:t>
            </a:r>
            <a:r>
              <a:rPr lang="zh-CN" altLang="en-US" dirty="0"/>
              <a:t>并把它加到</a:t>
            </a:r>
            <a:r>
              <a:rPr lang="en-US" altLang="zh-CN" dirty="0"/>
              <a:t>sum</a:t>
            </a:r>
            <a:r>
              <a:rPr lang="zh-CN" altLang="en-US" dirty="0"/>
              <a:t>中</a:t>
            </a:r>
          </a:p>
          <a:p>
            <a:pPr marL="457200" lvl="1" indent="0">
              <a:buNone/>
            </a:pPr>
            <a:r>
              <a:rPr lang="en-US" altLang="zh-CN" dirty="0" smtClean="0"/>
              <a:t>}</a:t>
            </a:r>
          </a:p>
          <a:p>
            <a:pPr marL="457200" lvl="1" indent="0">
              <a:buNone/>
            </a:pPr>
            <a:r>
              <a:rPr lang="en-US" altLang="zh-CN" dirty="0" smtClean="0"/>
              <a:t>......</a:t>
            </a:r>
            <a:endParaRPr lang="en-US" altLang="zh-CN" dirty="0"/>
          </a:p>
          <a:p>
            <a:r>
              <a:rPr lang="zh-CN" altLang="en-US" dirty="0" smtClean="0">
                <a:effectLst/>
              </a:rPr>
              <a:t>注意：可以进一步优化！</a:t>
            </a:r>
            <a:endParaRPr lang="en-US" altLang="zh-CN" dirty="0" smtClean="0">
              <a:effectLst/>
            </a:endParaRPr>
          </a:p>
          <a:p>
            <a:pPr lvl="1"/>
            <a:r>
              <a:rPr lang="zh-CN" altLang="en-US" dirty="0" smtClean="0">
                <a:effectLst/>
              </a:rPr>
              <a:t>把</a:t>
            </a:r>
            <a:r>
              <a:rPr lang="en-US" altLang="zh-CN" dirty="0">
                <a:effectLst/>
              </a:rPr>
              <a:t>x</a:t>
            </a:r>
            <a:r>
              <a:rPr lang="en-US" altLang="zh-CN" baseline="30000" dirty="0">
                <a:effectLst/>
              </a:rPr>
              <a:t>i</a:t>
            </a:r>
            <a:r>
              <a:rPr lang="en-US" altLang="zh-CN" dirty="0">
                <a:effectLst/>
              </a:rPr>
              <a:t>/</a:t>
            </a:r>
            <a:r>
              <a:rPr lang="en-US" altLang="zh-CN" dirty="0" err="1">
                <a:effectLst/>
              </a:rPr>
              <a:t>i</a:t>
            </a:r>
            <a:r>
              <a:rPr lang="en-US" altLang="zh-CN" dirty="0">
                <a:effectLst/>
              </a:rPr>
              <a:t>! </a:t>
            </a:r>
            <a:r>
              <a:rPr lang="zh-CN" altLang="en-US" dirty="0" smtClean="0">
                <a:effectLst/>
              </a:rPr>
              <a:t>作为整体来计算：</a:t>
            </a:r>
            <a:r>
              <a:rPr lang="en-US" altLang="zh-CN" dirty="0" smtClean="0">
                <a:effectLst/>
              </a:rPr>
              <a:t>x</a:t>
            </a:r>
            <a:r>
              <a:rPr lang="en-US" altLang="zh-CN" baseline="30000" dirty="0" smtClean="0">
                <a:effectLst/>
              </a:rPr>
              <a:t>i</a:t>
            </a:r>
            <a:r>
              <a:rPr lang="en-US" altLang="zh-CN" dirty="0" smtClean="0">
                <a:effectLst/>
              </a:rPr>
              <a:t>/</a:t>
            </a:r>
            <a:r>
              <a:rPr lang="en-US" altLang="zh-CN" dirty="0" err="1" smtClean="0">
                <a:effectLst/>
              </a:rPr>
              <a:t>i</a:t>
            </a:r>
            <a:r>
              <a:rPr lang="en-US" altLang="zh-CN" dirty="0">
                <a:effectLst/>
              </a:rPr>
              <a:t>! = </a:t>
            </a:r>
            <a:r>
              <a:rPr lang="en-US" altLang="zh-CN" dirty="0">
                <a:solidFill>
                  <a:srgbClr val="FFC000"/>
                </a:solidFill>
                <a:effectLst/>
              </a:rPr>
              <a:t>(x</a:t>
            </a:r>
            <a:r>
              <a:rPr lang="en-US" altLang="zh-CN" baseline="30000" dirty="0">
                <a:solidFill>
                  <a:srgbClr val="FFC000"/>
                </a:solidFill>
                <a:effectLst/>
              </a:rPr>
              <a:t>i-1</a:t>
            </a:r>
            <a:r>
              <a:rPr lang="en-US" altLang="zh-CN" dirty="0">
                <a:solidFill>
                  <a:srgbClr val="FFC000"/>
                </a:solidFill>
                <a:effectLst/>
              </a:rPr>
              <a:t>/(i-1)!)</a:t>
            </a:r>
            <a:r>
              <a:rPr lang="en-US" altLang="zh-CN" dirty="0">
                <a:effectLst/>
              </a:rPr>
              <a:t>*</a:t>
            </a:r>
            <a:r>
              <a:rPr lang="en-US" altLang="zh-CN" dirty="0" smtClean="0">
                <a:effectLst/>
              </a:rPr>
              <a:t>x/</a:t>
            </a:r>
            <a:r>
              <a:rPr lang="en-US" altLang="zh-CN" dirty="0" err="1" smtClean="0">
                <a:effectLst/>
              </a:rPr>
              <a:t>i</a:t>
            </a:r>
            <a:endParaRPr lang="en-US" altLang="zh-CN" dirty="0" smtClean="0">
              <a:effectLst/>
            </a:endParaRPr>
          </a:p>
          <a:p>
            <a:pPr lvl="1" eaLnBrk="1" hangingPunct="1"/>
            <a:r>
              <a:rPr lang="zh-CN" altLang="en-US" dirty="0" smtClean="0">
                <a:effectLst/>
              </a:rPr>
              <a:t>可利用已计算过的</a:t>
            </a:r>
            <a:r>
              <a:rPr lang="en-US" altLang="zh-CN" dirty="0">
                <a:solidFill>
                  <a:srgbClr val="FFC000"/>
                </a:solidFill>
                <a:effectLst/>
              </a:rPr>
              <a:t>(x</a:t>
            </a:r>
            <a:r>
              <a:rPr lang="en-US" altLang="zh-CN" baseline="30000" dirty="0">
                <a:solidFill>
                  <a:srgbClr val="FFC000"/>
                </a:solidFill>
                <a:effectLst/>
              </a:rPr>
              <a:t>i-1</a:t>
            </a:r>
            <a:r>
              <a:rPr lang="en-US" altLang="zh-CN" dirty="0">
                <a:solidFill>
                  <a:srgbClr val="FFC000"/>
                </a:solidFill>
                <a:effectLst/>
              </a:rPr>
              <a:t>/(i-1)!)</a:t>
            </a:r>
            <a:r>
              <a:rPr lang="zh-CN" altLang="en-US" dirty="0" smtClean="0">
                <a:effectLst/>
              </a:rPr>
              <a:t>来</a:t>
            </a:r>
            <a:r>
              <a:rPr lang="zh-CN" altLang="zh-CN" dirty="0" smtClean="0">
                <a:effectLst/>
              </a:rPr>
              <a:t>进一步</a:t>
            </a:r>
            <a:r>
              <a:rPr lang="zh-CN" altLang="zh-CN" dirty="0">
                <a:effectLst/>
              </a:rPr>
              <a:t>减少计算量</a:t>
            </a:r>
            <a:r>
              <a:rPr lang="zh-CN" altLang="zh-CN" dirty="0" smtClean="0">
                <a:effectLst/>
              </a:rPr>
              <a:t>。</a:t>
            </a:r>
            <a:endParaRPr lang="zh-CN" altLang="zh-CN" dirty="0">
              <a:effectLst/>
            </a:endParaRPr>
          </a:p>
        </p:txBody>
      </p:sp>
    </p:spTree>
    <p:extLst>
      <p:ext uri="{BB962C8B-B14F-4D97-AF65-F5344CB8AC3E}">
        <p14:creationId xmlns:p14="http://schemas.microsoft.com/office/powerpoint/2010/main" val="1081865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anim calcmode="lin" valueType="num">
                                      <p:cBhvr additive="base">
                                        <p:cTn id="1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5680" y="260648"/>
            <a:ext cx="8686800" cy="6408712"/>
          </a:xfrm>
        </p:spPr>
        <p:txBody>
          <a:bodyPr>
            <a:normAutofit lnSpcReduction="10000"/>
          </a:bodyPr>
          <a:lstStyle/>
          <a:p>
            <a:r>
              <a:rPr lang="zh-CN" altLang="en-US" dirty="0" smtClean="0"/>
              <a:t>实现</a:t>
            </a:r>
            <a:r>
              <a:rPr lang="en-US" altLang="zh-CN" dirty="0" smtClean="0"/>
              <a:t>3</a:t>
            </a:r>
          </a:p>
          <a:p>
            <a:pPr marL="457200" lvl="1" indent="0">
              <a:buNone/>
            </a:pPr>
            <a:r>
              <a:rPr lang="en-US" altLang="zh-CN" dirty="0" smtClean="0"/>
              <a:t>......</a:t>
            </a:r>
          </a:p>
          <a:p>
            <a:pPr marL="457200" lvl="1" indent="0">
              <a:buNone/>
            </a:pPr>
            <a:r>
              <a:rPr lang="en-US" altLang="zh-CN" dirty="0" smtClean="0"/>
              <a:t>double item=x</a:t>
            </a:r>
            <a:r>
              <a:rPr lang="en-US" altLang="zh-CN" dirty="0"/>
              <a:t>; </a:t>
            </a:r>
            <a:r>
              <a:rPr lang="en-US" altLang="zh-CN" dirty="0" smtClean="0"/>
              <a:t>//</a:t>
            </a:r>
            <a:r>
              <a:rPr lang="fr-FR" altLang="zh-CN" dirty="0">
                <a:effectLst/>
              </a:rPr>
              <a:t> </a:t>
            </a:r>
            <a:r>
              <a:rPr lang="en-US" altLang="zh-CN" dirty="0">
                <a:effectLst/>
              </a:rPr>
              <a:t>x</a:t>
            </a:r>
            <a:r>
              <a:rPr lang="en-US" altLang="zh-CN" baseline="30000" dirty="0">
                <a:effectLst/>
              </a:rPr>
              <a:t>1</a:t>
            </a:r>
            <a:r>
              <a:rPr lang="en-US" altLang="zh-CN" dirty="0">
                <a:effectLst/>
              </a:rPr>
              <a:t>/1!</a:t>
            </a:r>
            <a:endParaRPr lang="en-US" altLang="zh-CN" dirty="0"/>
          </a:p>
          <a:p>
            <a:pPr marL="457200" lvl="1" indent="0">
              <a:buNone/>
            </a:pPr>
            <a:r>
              <a:rPr lang="en-US" altLang="zh-CN" dirty="0" smtClean="0"/>
              <a:t>for </a:t>
            </a:r>
            <a:r>
              <a:rPr lang="en-US" altLang="zh-CN" dirty="0"/>
              <a:t>(</a:t>
            </a:r>
            <a:r>
              <a:rPr lang="en-US" altLang="zh-CN" dirty="0" err="1"/>
              <a:t>int</a:t>
            </a:r>
            <a:r>
              <a:rPr lang="en-US" altLang="zh-CN" dirty="0"/>
              <a:t> </a:t>
            </a:r>
            <a:r>
              <a:rPr lang="en-US" altLang="zh-CN" dirty="0" err="1"/>
              <a:t>i</a:t>
            </a:r>
            <a:r>
              <a:rPr lang="en-US" altLang="zh-CN" dirty="0"/>
              <a:t>=2; </a:t>
            </a:r>
            <a:r>
              <a:rPr lang="en-US" altLang="zh-CN" dirty="0" err="1"/>
              <a:t>i</a:t>
            </a:r>
            <a:r>
              <a:rPr lang="en-US" altLang="zh-CN" dirty="0"/>
              <a:t>&lt;n; </a:t>
            </a:r>
            <a:r>
              <a:rPr lang="en-US" altLang="zh-CN" dirty="0" err="1"/>
              <a:t>i</a:t>
            </a:r>
            <a:r>
              <a:rPr lang="en-US" altLang="zh-CN" dirty="0" smtClean="0"/>
              <a:t>++)</a:t>
            </a:r>
            <a:endParaRPr lang="zh-CN" altLang="en-US" dirty="0"/>
          </a:p>
          <a:p>
            <a:pPr marL="457200" lvl="1" indent="0">
              <a:buNone/>
            </a:pPr>
            <a:r>
              <a:rPr lang="en-US" altLang="zh-CN" dirty="0" smtClean="0"/>
              <a:t>{</a:t>
            </a:r>
            <a:r>
              <a:rPr lang="en-US" altLang="zh-CN" dirty="0"/>
              <a:t>	</a:t>
            </a:r>
            <a:r>
              <a:rPr lang="en-US" altLang="zh-CN" dirty="0">
                <a:effectLst/>
              </a:rPr>
              <a:t>item *= x/</a:t>
            </a:r>
            <a:r>
              <a:rPr lang="en-US" altLang="zh-CN" dirty="0" err="1">
                <a:effectLst/>
              </a:rPr>
              <a:t>i</a:t>
            </a:r>
            <a:r>
              <a:rPr lang="en-US" altLang="zh-CN" dirty="0">
                <a:effectLst/>
              </a:rPr>
              <a:t>;  </a:t>
            </a:r>
            <a:r>
              <a:rPr lang="en-US" altLang="zh-CN" dirty="0" smtClean="0">
                <a:effectLst/>
              </a:rPr>
              <a:t>//</a:t>
            </a:r>
            <a:r>
              <a:rPr lang="fr-FR" altLang="zh-CN" dirty="0">
                <a:effectLst/>
              </a:rPr>
              <a:t>item</a:t>
            </a:r>
            <a:r>
              <a:rPr lang="zh-CN" altLang="zh-CN" dirty="0">
                <a:effectLst/>
              </a:rPr>
              <a:t>原来的</a:t>
            </a:r>
            <a:r>
              <a:rPr lang="zh-CN" altLang="zh-CN" dirty="0" smtClean="0">
                <a:effectLst/>
              </a:rPr>
              <a:t>值</a:t>
            </a:r>
            <a:r>
              <a:rPr lang="zh-CN" altLang="en-US" dirty="0" smtClean="0">
                <a:effectLst/>
              </a:rPr>
              <a:t>为：</a:t>
            </a:r>
            <a:r>
              <a:rPr lang="en-US" altLang="zh-CN" dirty="0" smtClean="0">
                <a:effectLst/>
              </a:rPr>
              <a:t>x</a:t>
            </a:r>
            <a:r>
              <a:rPr lang="en-US" altLang="zh-CN" baseline="30000" dirty="0" smtClean="0">
                <a:effectLst/>
              </a:rPr>
              <a:t>i-1</a:t>
            </a:r>
            <a:r>
              <a:rPr lang="en-US" altLang="zh-CN" dirty="0">
                <a:effectLst/>
              </a:rPr>
              <a:t>/(i-1</a:t>
            </a:r>
            <a:r>
              <a:rPr lang="en-US" altLang="zh-CN" dirty="0" smtClean="0">
                <a:effectLst/>
              </a:rPr>
              <a:t>)!</a:t>
            </a:r>
            <a:r>
              <a:rPr lang="zh-CN" altLang="zh-CN" dirty="0" smtClean="0">
                <a:effectLst/>
              </a:rPr>
              <a:t> </a:t>
            </a:r>
            <a:r>
              <a:rPr lang="en-US" altLang="zh-CN" dirty="0"/>
              <a:t>	</a:t>
            </a:r>
            <a:r>
              <a:rPr lang="en-US" altLang="zh-CN" dirty="0" smtClean="0"/>
              <a:t>sum </a:t>
            </a:r>
            <a:r>
              <a:rPr lang="en-US" altLang="zh-CN" dirty="0"/>
              <a:t>+= </a:t>
            </a:r>
            <a:r>
              <a:rPr lang="en-US" altLang="zh-CN" dirty="0" smtClean="0"/>
              <a:t>item; //</a:t>
            </a:r>
            <a:r>
              <a:rPr lang="zh-CN" altLang="en-US" dirty="0" smtClean="0"/>
              <a:t>把</a:t>
            </a:r>
            <a:r>
              <a:rPr lang="en-US" altLang="zh-CN" dirty="0" smtClean="0"/>
              <a:t>x</a:t>
            </a:r>
            <a:r>
              <a:rPr lang="en-US" altLang="zh-CN" baseline="30000" dirty="0" smtClean="0"/>
              <a:t>i</a:t>
            </a:r>
            <a:r>
              <a:rPr lang="en-US" altLang="zh-CN" dirty="0" smtClean="0"/>
              <a:t>/</a:t>
            </a:r>
            <a:r>
              <a:rPr lang="en-US" altLang="zh-CN" dirty="0" err="1" smtClean="0"/>
              <a:t>i</a:t>
            </a:r>
            <a:r>
              <a:rPr lang="en-US" altLang="zh-CN" dirty="0" smtClean="0"/>
              <a:t>!</a:t>
            </a:r>
            <a:r>
              <a:rPr lang="zh-CN" altLang="en-US" dirty="0" smtClean="0"/>
              <a:t> 加</a:t>
            </a:r>
            <a:r>
              <a:rPr lang="zh-CN" altLang="en-US" dirty="0"/>
              <a:t>到</a:t>
            </a:r>
            <a:r>
              <a:rPr lang="en-US" altLang="zh-CN" dirty="0"/>
              <a:t>sum</a:t>
            </a:r>
            <a:r>
              <a:rPr lang="zh-CN" altLang="en-US" dirty="0"/>
              <a:t>中</a:t>
            </a:r>
          </a:p>
          <a:p>
            <a:pPr marL="457200" lvl="1" indent="0">
              <a:buNone/>
            </a:pPr>
            <a:r>
              <a:rPr lang="en-US" altLang="zh-CN" dirty="0" smtClean="0"/>
              <a:t>}</a:t>
            </a:r>
          </a:p>
          <a:p>
            <a:pPr marL="457200" lvl="1" indent="0">
              <a:buNone/>
            </a:pPr>
            <a:r>
              <a:rPr lang="en-US" altLang="zh-CN" dirty="0" smtClean="0"/>
              <a:t>......</a:t>
            </a:r>
            <a:endParaRPr lang="en-US" altLang="zh-CN" dirty="0"/>
          </a:p>
          <a:p>
            <a:r>
              <a:rPr lang="zh-CN" altLang="en-US" dirty="0" smtClean="0">
                <a:effectLst/>
              </a:rPr>
              <a:t>注意：</a:t>
            </a:r>
            <a:endParaRPr lang="en-US" altLang="zh-CN" dirty="0" smtClean="0">
              <a:effectLst/>
            </a:endParaRPr>
          </a:p>
          <a:p>
            <a:pPr lvl="1"/>
            <a:r>
              <a:rPr lang="zh-CN" altLang="en-US" dirty="0" smtClean="0">
                <a:effectLst/>
              </a:rPr>
              <a:t>该实现有个好处：由于</a:t>
            </a:r>
            <a:r>
              <a:rPr lang="zh-CN" altLang="zh-CN" dirty="0" smtClean="0">
                <a:effectLst/>
              </a:rPr>
              <a:t>不</a:t>
            </a:r>
            <a:r>
              <a:rPr lang="zh-CN" altLang="zh-CN" dirty="0">
                <a:effectLst/>
              </a:rPr>
              <a:t>直接计算</a:t>
            </a:r>
            <a:r>
              <a:rPr lang="en-US" altLang="zh-CN" dirty="0">
                <a:effectLst/>
              </a:rPr>
              <a:t>x</a:t>
            </a:r>
            <a:r>
              <a:rPr lang="en-US" altLang="zh-CN" baseline="30000" dirty="0">
                <a:effectLst/>
              </a:rPr>
              <a:t>i</a:t>
            </a:r>
            <a:r>
              <a:rPr lang="zh-CN" altLang="zh-CN" dirty="0">
                <a:effectLst/>
              </a:rPr>
              <a:t>或 </a:t>
            </a:r>
            <a:r>
              <a:rPr lang="en-US" altLang="zh-CN" dirty="0" err="1">
                <a:effectLst/>
              </a:rPr>
              <a:t>i</a:t>
            </a:r>
            <a:r>
              <a:rPr lang="en-US" altLang="zh-CN" dirty="0">
                <a:effectLst/>
              </a:rPr>
              <a:t>!</a:t>
            </a:r>
            <a:r>
              <a:rPr lang="zh-CN" altLang="zh-CN" dirty="0">
                <a:effectLst/>
              </a:rPr>
              <a:t>，而是利用</a:t>
            </a:r>
            <a:r>
              <a:rPr lang="en-US" altLang="zh-CN" dirty="0">
                <a:effectLst/>
              </a:rPr>
              <a:t>x</a:t>
            </a:r>
            <a:r>
              <a:rPr lang="en-US" altLang="zh-CN" baseline="30000" dirty="0">
                <a:effectLst/>
              </a:rPr>
              <a:t>i-1</a:t>
            </a:r>
            <a:r>
              <a:rPr lang="en-US" altLang="zh-CN" dirty="0">
                <a:effectLst/>
              </a:rPr>
              <a:t>/(i-1)!</a:t>
            </a:r>
            <a:r>
              <a:rPr lang="zh-CN" altLang="zh-CN" dirty="0">
                <a:effectLst/>
              </a:rPr>
              <a:t>来计算</a:t>
            </a:r>
            <a:r>
              <a:rPr lang="en-US" altLang="zh-CN" dirty="0">
                <a:effectLst/>
              </a:rPr>
              <a:t>x</a:t>
            </a:r>
            <a:r>
              <a:rPr lang="en-US" altLang="zh-CN" baseline="30000" dirty="0">
                <a:effectLst/>
              </a:rPr>
              <a:t>i</a:t>
            </a:r>
            <a:r>
              <a:rPr lang="en-US" altLang="zh-CN" dirty="0">
                <a:effectLst/>
              </a:rPr>
              <a:t>/</a:t>
            </a:r>
            <a:r>
              <a:rPr lang="en-US" altLang="zh-CN" dirty="0" err="1">
                <a:effectLst/>
              </a:rPr>
              <a:t>i</a:t>
            </a:r>
            <a:r>
              <a:rPr lang="en-US" altLang="zh-CN" dirty="0">
                <a:effectLst/>
              </a:rPr>
              <a:t>!</a:t>
            </a:r>
            <a:r>
              <a:rPr lang="zh-CN" altLang="zh-CN" dirty="0" smtClean="0">
                <a:effectLst/>
              </a:rPr>
              <a:t>，</a:t>
            </a:r>
            <a:r>
              <a:rPr lang="zh-CN" altLang="zh-CN" dirty="0">
                <a:effectLst/>
              </a:rPr>
              <a:t>当</a:t>
            </a:r>
            <a:r>
              <a:rPr lang="en-US" altLang="zh-CN" dirty="0">
                <a:effectLst/>
              </a:rPr>
              <a:t>x</a:t>
            </a:r>
            <a:r>
              <a:rPr lang="en-US" altLang="zh-CN" baseline="30000" dirty="0">
                <a:effectLst/>
              </a:rPr>
              <a:t>i</a:t>
            </a:r>
            <a:r>
              <a:rPr lang="en-US" altLang="zh-CN" dirty="0">
                <a:effectLst/>
              </a:rPr>
              <a:t>/</a:t>
            </a:r>
            <a:r>
              <a:rPr lang="en-US" altLang="zh-CN" dirty="0" err="1">
                <a:effectLst/>
              </a:rPr>
              <a:t>i</a:t>
            </a:r>
            <a:r>
              <a:rPr lang="en-US" altLang="zh-CN" dirty="0">
                <a:effectLst/>
              </a:rPr>
              <a:t>!</a:t>
            </a:r>
            <a:r>
              <a:rPr lang="zh-CN" altLang="zh-CN" dirty="0">
                <a:effectLst/>
              </a:rPr>
              <a:t>不太大，而</a:t>
            </a:r>
            <a:r>
              <a:rPr lang="en-US" altLang="zh-CN" dirty="0">
                <a:effectLst/>
              </a:rPr>
              <a:t>x</a:t>
            </a:r>
            <a:r>
              <a:rPr lang="en-US" altLang="zh-CN" baseline="30000" dirty="0">
                <a:effectLst/>
              </a:rPr>
              <a:t>i</a:t>
            </a:r>
            <a:r>
              <a:rPr lang="zh-CN" altLang="zh-CN" dirty="0">
                <a:effectLst/>
              </a:rPr>
              <a:t>或 </a:t>
            </a:r>
            <a:r>
              <a:rPr lang="en-US" altLang="zh-CN" dirty="0" err="1">
                <a:effectLst/>
              </a:rPr>
              <a:t>i</a:t>
            </a:r>
            <a:r>
              <a:rPr lang="en-US" altLang="zh-CN" dirty="0">
                <a:effectLst/>
              </a:rPr>
              <a:t>!</a:t>
            </a:r>
            <a:r>
              <a:rPr lang="zh-CN" altLang="zh-CN" dirty="0">
                <a:effectLst/>
              </a:rPr>
              <a:t>很大以至于超出</a:t>
            </a:r>
            <a:r>
              <a:rPr lang="zh-CN" altLang="zh-CN" dirty="0" smtClean="0">
                <a:effectLst/>
              </a:rPr>
              <a:t>了</a:t>
            </a:r>
            <a:r>
              <a:rPr lang="en-US" altLang="zh-CN" dirty="0" smtClean="0">
                <a:effectLst/>
              </a:rPr>
              <a:t>double</a:t>
            </a:r>
            <a:r>
              <a:rPr lang="zh-CN" altLang="en-US" dirty="0" smtClean="0">
                <a:effectLst/>
              </a:rPr>
              <a:t>和</a:t>
            </a:r>
            <a:r>
              <a:rPr lang="en-US" altLang="zh-CN" dirty="0" err="1" smtClean="0">
                <a:effectLst/>
              </a:rPr>
              <a:t>int</a:t>
            </a:r>
            <a:r>
              <a:rPr lang="zh-CN" altLang="en-US" dirty="0" smtClean="0">
                <a:effectLst/>
              </a:rPr>
              <a:t>的</a:t>
            </a:r>
            <a:r>
              <a:rPr lang="zh-CN" altLang="zh-CN" dirty="0" smtClean="0">
                <a:effectLst/>
              </a:rPr>
              <a:t>数值</a:t>
            </a:r>
            <a:r>
              <a:rPr lang="zh-CN" altLang="zh-CN" dirty="0">
                <a:effectLst/>
              </a:rPr>
              <a:t>范围时</a:t>
            </a:r>
            <a:r>
              <a:rPr lang="zh-CN" altLang="zh-CN" dirty="0" smtClean="0">
                <a:effectLst/>
              </a:rPr>
              <a:t>，</a:t>
            </a:r>
            <a:r>
              <a:rPr lang="zh-CN" altLang="en-US" dirty="0" smtClean="0">
                <a:effectLst/>
              </a:rPr>
              <a:t>该实现能给出正确结果。</a:t>
            </a:r>
            <a:endParaRPr lang="en-US" altLang="zh-CN" dirty="0" smtClean="0">
              <a:effectLst/>
            </a:endParaRPr>
          </a:p>
          <a:p>
            <a:pPr lvl="1"/>
            <a:r>
              <a:rPr lang="zh-CN" altLang="en-US" dirty="0">
                <a:effectLst/>
              </a:rPr>
              <a:t>该</a:t>
            </a:r>
            <a:r>
              <a:rPr lang="zh-CN" altLang="en-US" dirty="0" smtClean="0">
                <a:effectLst/>
              </a:rPr>
              <a:t>实现的不足：</a:t>
            </a:r>
            <a:r>
              <a:rPr lang="en-US" altLang="zh-CN" dirty="0">
                <a:effectLst/>
              </a:rPr>
              <a:t> </a:t>
            </a:r>
            <a:r>
              <a:rPr lang="en-US" altLang="zh-CN" dirty="0" smtClean="0">
                <a:effectLst/>
              </a:rPr>
              <a:t>x</a:t>
            </a:r>
            <a:r>
              <a:rPr lang="en-US" altLang="zh-CN" baseline="30000" dirty="0" smtClean="0">
                <a:effectLst/>
              </a:rPr>
              <a:t>i</a:t>
            </a:r>
            <a:r>
              <a:rPr lang="en-US" altLang="zh-CN" dirty="0" smtClean="0">
                <a:effectLst/>
              </a:rPr>
              <a:t>/</a:t>
            </a:r>
            <a:r>
              <a:rPr lang="en-US" altLang="zh-CN" dirty="0" err="1" smtClean="0">
                <a:effectLst/>
              </a:rPr>
              <a:t>i</a:t>
            </a:r>
            <a:r>
              <a:rPr lang="en-US" altLang="zh-CN" dirty="0" smtClean="0">
                <a:effectLst/>
              </a:rPr>
              <a:t>!</a:t>
            </a:r>
            <a:r>
              <a:rPr lang="zh-CN" altLang="en-US" dirty="0" smtClean="0">
                <a:effectLst/>
              </a:rPr>
              <a:t>的计算精度有</a:t>
            </a:r>
            <a:r>
              <a:rPr lang="zh-CN" altLang="en-US" dirty="0" smtClean="0">
                <a:solidFill>
                  <a:srgbClr val="FFC000"/>
                </a:solidFill>
                <a:effectLst/>
              </a:rPr>
              <a:t>累积</a:t>
            </a:r>
            <a:r>
              <a:rPr lang="zh-CN" altLang="en-US" dirty="0">
                <a:solidFill>
                  <a:srgbClr val="FFC000"/>
                </a:solidFill>
                <a:effectLst/>
              </a:rPr>
              <a:t>损失</a:t>
            </a:r>
            <a:r>
              <a:rPr lang="zh-CN" altLang="en-US" dirty="0" smtClean="0">
                <a:effectLst/>
              </a:rPr>
              <a:t>！</a:t>
            </a:r>
            <a:endParaRPr lang="zh-CN" altLang="zh-CN" dirty="0">
              <a:effectLst/>
            </a:endParaRPr>
          </a:p>
        </p:txBody>
      </p:sp>
    </p:spTree>
    <p:extLst>
      <p:ext uri="{BB962C8B-B14F-4D97-AF65-F5344CB8AC3E}">
        <p14:creationId xmlns:p14="http://schemas.microsoft.com/office/powerpoint/2010/main" val="116470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例：“百元买百鸡”问题</a:t>
            </a:r>
            <a:endParaRPr lang="zh-CN" altLang="en-US" dirty="0"/>
          </a:p>
        </p:txBody>
      </p:sp>
      <p:sp>
        <p:nvSpPr>
          <p:cNvPr id="3" name="内容占位符 2"/>
          <p:cNvSpPr>
            <a:spLocks noGrp="1"/>
          </p:cNvSpPr>
          <p:nvPr>
            <p:ph idx="1"/>
          </p:nvPr>
        </p:nvSpPr>
        <p:spPr>
          <a:xfrm>
            <a:off x="251520" y="1600200"/>
            <a:ext cx="8651304" cy="4925144"/>
          </a:xfrm>
        </p:spPr>
        <p:txBody>
          <a:bodyPr>
            <a:normAutofit/>
          </a:bodyPr>
          <a:lstStyle/>
          <a:p>
            <a:pPr eaLnBrk="1" hangingPunct="1"/>
            <a:r>
              <a:rPr lang="zh-CN" altLang="en-US" dirty="0"/>
              <a:t>我国古代数学家张丘建在</a:t>
            </a:r>
            <a:r>
              <a:rPr lang="en-US" altLang="zh-CN" dirty="0"/>
              <a:t>《</a:t>
            </a:r>
            <a:r>
              <a:rPr lang="zh-CN" altLang="en-US" dirty="0"/>
              <a:t>算经</a:t>
            </a:r>
            <a:r>
              <a:rPr lang="en-US" altLang="zh-CN" dirty="0"/>
              <a:t>》</a:t>
            </a:r>
            <a:r>
              <a:rPr lang="zh-CN" altLang="en-US" dirty="0"/>
              <a:t>一书中曾提出过著名的“</a:t>
            </a:r>
            <a:r>
              <a:rPr lang="zh-CN" altLang="en-US" dirty="0">
                <a:solidFill>
                  <a:srgbClr val="FFC000"/>
                </a:solidFill>
              </a:rPr>
              <a:t>百钱买百鸡</a:t>
            </a:r>
            <a:r>
              <a:rPr lang="zh-CN" altLang="en-US" dirty="0"/>
              <a:t>”</a:t>
            </a:r>
            <a:r>
              <a:rPr lang="zh-CN" altLang="en-US" dirty="0" smtClean="0"/>
              <a:t>问题：</a:t>
            </a:r>
            <a:endParaRPr lang="en-US" altLang="zh-CN" dirty="0" smtClean="0"/>
          </a:p>
          <a:p>
            <a:pPr lvl="1" eaLnBrk="1" hangingPunct="1"/>
            <a:r>
              <a:rPr lang="zh-CN" altLang="en-US" dirty="0" smtClean="0"/>
              <a:t>鸡</a:t>
            </a:r>
            <a:r>
              <a:rPr lang="zh-CN" altLang="en-US" dirty="0"/>
              <a:t>翁一，值钱五；鸡母一，值钱三；鸡雏三，值钱一；百钱买百鸡，则翁、母、雏各几何</a:t>
            </a:r>
            <a:r>
              <a:rPr lang="zh-CN" altLang="en-US" dirty="0" smtClean="0"/>
              <a:t>？</a:t>
            </a:r>
            <a:endParaRPr lang="en-US" altLang="zh-CN" dirty="0" smtClean="0"/>
          </a:p>
          <a:p>
            <a:r>
              <a:rPr lang="zh-CN" altLang="en-US" dirty="0" smtClean="0"/>
              <a:t>用</a:t>
            </a:r>
            <a:r>
              <a:rPr lang="en-US" altLang="zh-CN" dirty="0" smtClean="0"/>
              <a:t>100</a:t>
            </a:r>
            <a:r>
              <a:rPr lang="zh-CN" altLang="en-US" dirty="0" smtClean="0"/>
              <a:t>元钱买</a:t>
            </a:r>
            <a:r>
              <a:rPr lang="en-US" altLang="zh-CN" dirty="0" smtClean="0"/>
              <a:t>100</a:t>
            </a:r>
            <a:r>
              <a:rPr lang="zh-CN" altLang="en-US" dirty="0" smtClean="0"/>
              <a:t>只鸡：</a:t>
            </a:r>
            <a:endParaRPr lang="en-US" altLang="zh-CN" dirty="0" smtClean="0"/>
          </a:p>
          <a:p>
            <a:pPr lvl="1"/>
            <a:r>
              <a:rPr lang="zh-CN" altLang="en-US" dirty="0" smtClean="0"/>
              <a:t>公鸡</a:t>
            </a:r>
            <a:r>
              <a:rPr lang="en-US" altLang="zh-CN" dirty="0" smtClean="0"/>
              <a:t>5</a:t>
            </a:r>
            <a:r>
              <a:rPr lang="zh-CN" altLang="en-US" dirty="0" smtClean="0"/>
              <a:t>元</a:t>
            </a:r>
            <a:r>
              <a:rPr lang="en-US" altLang="zh-CN" dirty="0" smtClean="0"/>
              <a:t>1</a:t>
            </a:r>
            <a:r>
              <a:rPr lang="zh-CN" altLang="en-US" dirty="0" smtClean="0"/>
              <a:t>只</a:t>
            </a:r>
            <a:endParaRPr lang="en-US" altLang="zh-CN" dirty="0" smtClean="0"/>
          </a:p>
          <a:p>
            <a:pPr lvl="1"/>
            <a:r>
              <a:rPr lang="zh-CN" altLang="en-US" dirty="0"/>
              <a:t>母鸡</a:t>
            </a:r>
            <a:r>
              <a:rPr lang="en-US" altLang="zh-CN" dirty="0"/>
              <a:t>3</a:t>
            </a:r>
            <a:r>
              <a:rPr lang="zh-CN" altLang="en-US" dirty="0"/>
              <a:t>元</a:t>
            </a:r>
            <a:r>
              <a:rPr lang="en-US" altLang="zh-CN" dirty="0"/>
              <a:t>1</a:t>
            </a:r>
            <a:r>
              <a:rPr lang="zh-CN" altLang="en-US" dirty="0"/>
              <a:t>只</a:t>
            </a:r>
            <a:endParaRPr lang="en-US" altLang="zh-CN" dirty="0"/>
          </a:p>
          <a:p>
            <a:pPr lvl="1"/>
            <a:r>
              <a:rPr lang="zh-CN" altLang="en-US" dirty="0" smtClean="0"/>
              <a:t>小鸡</a:t>
            </a:r>
            <a:r>
              <a:rPr lang="en-US" altLang="zh-CN" dirty="0" smtClean="0"/>
              <a:t>1</a:t>
            </a:r>
            <a:r>
              <a:rPr lang="zh-CN" altLang="en-US" dirty="0" smtClean="0"/>
              <a:t>元</a:t>
            </a:r>
            <a:r>
              <a:rPr lang="en-US" altLang="zh-CN" dirty="0" smtClean="0"/>
              <a:t>3</a:t>
            </a:r>
            <a:r>
              <a:rPr lang="zh-CN" altLang="en-US" dirty="0" smtClean="0"/>
              <a:t>只（</a:t>
            </a:r>
            <a:r>
              <a:rPr lang="zh-CN" altLang="en-US" dirty="0" smtClean="0">
                <a:solidFill>
                  <a:srgbClr val="FFC000"/>
                </a:solidFill>
              </a:rPr>
              <a:t>必须整</a:t>
            </a:r>
            <a:r>
              <a:rPr lang="en-US" altLang="zh-CN" dirty="0" smtClean="0">
                <a:solidFill>
                  <a:srgbClr val="FFC000"/>
                </a:solidFill>
              </a:rPr>
              <a:t>3</a:t>
            </a:r>
            <a:r>
              <a:rPr lang="zh-CN" altLang="en-US" dirty="0" smtClean="0">
                <a:solidFill>
                  <a:srgbClr val="FFC000"/>
                </a:solidFill>
              </a:rPr>
              <a:t>只买！</a:t>
            </a:r>
            <a:r>
              <a:rPr lang="zh-CN" altLang="en-US" dirty="0" smtClean="0"/>
              <a:t>）</a:t>
            </a:r>
            <a:endParaRPr lang="en-US" altLang="zh-CN" dirty="0" smtClean="0"/>
          </a:p>
          <a:p>
            <a:pPr lvl="1"/>
            <a:r>
              <a:rPr lang="zh-CN" altLang="en-US" dirty="0" smtClean="0"/>
              <a:t>有几种买法？（公鸡、母鸡、小鸡各几只？）</a:t>
            </a:r>
            <a:endParaRPr lang="en-US" altLang="zh-CN" dirty="0" smtClean="0"/>
          </a:p>
          <a:p>
            <a:pPr lvl="1"/>
            <a:endParaRPr lang="zh-CN" altLang="en-US" dirty="0"/>
          </a:p>
        </p:txBody>
      </p:sp>
    </p:spTree>
    <p:extLst>
      <p:ext uri="{BB962C8B-B14F-4D97-AF65-F5344CB8AC3E}">
        <p14:creationId xmlns:p14="http://schemas.microsoft.com/office/powerpoint/2010/main" val="301015534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620688"/>
            <a:ext cx="8712968" cy="5256584"/>
          </a:xfrm>
        </p:spPr>
        <p:txBody>
          <a:bodyPr>
            <a:normAutofit fontScale="92500" lnSpcReduction="10000"/>
          </a:bodyPr>
          <a:lstStyle/>
          <a:p>
            <a:pPr eaLnBrk="1" hangingPunct="1"/>
            <a:r>
              <a:rPr lang="zh-CN" altLang="en-US" dirty="0"/>
              <a:t>问题</a:t>
            </a:r>
            <a:r>
              <a:rPr lang="zh-CN" altLang="en-US" dirty="0" smtClean="0"/>
              <a:t>抽象</a:t>
            </a:r>
            <a:r>
              <a:rPr lang="zh-CN" altLang="en-US" dirty="0"/>
              <a:t>：</a:t>
            </a:r>
            <a:r>
              <a:rPr lang="zh-CN" altLang="en-US" dirty="0" smtClean="0"/>
              <a:t>用</a:t>
            </a:r>
            <a:r>
              <a:rPr lang="en-US" altLang="zh-CN" dirty="0" smtClean="0"/>
              <a:t>roosters</a:t>
            </a:r>
            <a:r>
              <a:rPr lang="zh-CN" altLang="en-US" dirty="0" smtClean="0"/>
              <a:t>、</a:t>
            </a:r>
            <a:r>
              <a:rPr lang="en-US" altLang="zh-CN" dirty="0" smtClean="0"/>
              <a:t>hens</a:t>
            </a:r>
            <a:r>
              <a:rPr lang="zh-CN" altLang="en-US" dirty="0" smtClean="0"/>
              <a:t>、</a:t>
            </a:r>
            <a:r>
              <a:rPr lang="en-US" altLang="zh-CN" dirty="0" smtClean="0"/>
              <a:t>chickens</a:t>
            </a:r>
            <a:r>
              <a:rPr lang="zh-CN" altLang="en-US" dirty="0" smtClean="0"/>
              <a:t>分别表示公鸡、母鸡和小鸡的数量，尝试下面所有可能的值（穷举法）：</a:t>
            </a:r>
            <a:endParaRPr lang="en-US" altLang="zh-CN" dirty="0" smtClean="0"/>
          </a:p>
          <a:p>
            <a:pPr lvl="1" eaLnBrk="1" hangingPunct="1"/>
            <a:r>
              <a:rPr lang="en-US" altLang="zh-CN" dirty="0"/>
              <a:t>0 ≤ roosters ≤ 100</a:t>
            </a:r>
          </a:p>
          <a:p>
            <a:pPr lvl="1" eaLnBrk="1" hangingPunct="1"/>
            <a:r>
              <a:rPr lang="en-US" altLang="zh-CN" dirty="0"/>
              <a:t>0 ≤ </a:t>
            </a:r>
            <a:r>
              <a:rPr lang="en-US" altLang="zh-CN" dirty="0" smtClean="0"/>
              <a:t>hens ≤ </a:t>
            </a:r>
            <a:r>
              <a:rPr lang="en-US" altLang="zh-CN" dirty="0"/>
              <a:t>100</a:t>
            </a:r>
          </a:p>
          <a:p>
            <a:pPr lvl="1" eaLnBrk="1" hangingPunct="1"/>
            <a:r>
              <a:rPr lang="en-US" altLang="zh-CN" dirty="0"/>
              <a:t>0 ≤ </a:t>
            </a:r>
            <a:r>
              <a:rPr lang="en-US" altLang="zh-CN" dirty="0" smtClean="0"/>
              <a:t>chickens ≤ 100</a:t>
            </a:r>
          </a:p>
          <a:p>
            <a:pPr marL="457200" lvl="1" indent="0">
              <a:buNone/>
            </a:pPr>
            <a:r>
              <a:rPr lang="zh-CN" altLang="en-US" dirty="0" smtClean="0"/>
              <a:t>如果它们满足下面</a:t>
            </a:r>
            <a:r>
              <a:rPr lang="zh-CN" altLang="en-US" dirty="0"/>
              <a:t>的</a:t>
            </a:r>
            <a:r>
              <a:rPr lang="zh-CN" altLang="en-US" dirty="0" smtClean="0"/>
              <a:t>条件：</a:t>
            </a:r>
            <a:endParaRPr lang="en-US" altLang="zh-CN" dirty="0"/>
          </a:p>
          <a:p>
            <a:pPr lvl="1"/>
            <a:r>
              <a:rPr lang="en-US" altLang="zh-CN" dirty="0" smtClean="0"/>
              <a:t>roosters + hens + chickens = 100</a:t>
            </a:r>
            <a:r>
              <a:rPr lang="zh-CN" altLang="en-US" dirty="0" smtClean="0"/>
              <a:t>（只）</a:t>
            </a:r>
            <a:endParaRPr lang="en-US" altLang="zh-CN" dirty="0" smtClean="0"/>
          </a:p>
          <a:p>
            <a:pPr lvl="1"/>
            <a:r>
              <a:rPr lang="en-US" altLang="zh-CN" dirty="0" smtClean="0"/>
              <a:t>chickens%3 = 0</a:t>
            </a:r>
          </a:p>
          <a:p>
            <a:pPr lvl="1" eaLnBrk="1" hangingPunct="1"/>
            <a:r>
              <a:rPr lang="en-US" altLang="zh-CN" dirty="0" smtClean="0"/>
              <a:t>roosters*5 + hens*3 + chickens/3 = 100</a:t>
            </a:r>
            <a:r>
              <a:rPr lang="zh-CN" altLang="en-US" dirty="0" smtClean="0"/>
              <a:t>（元）</a:t>
            </a:r>
            <a:endParaRPr lang="en-US" altLang="zh-CN" dirty="0" smtClean="0"/>
          </a:p>
          <a:p>
            <a:pPr marL="457200" lvl="1" indent="0">
              <a:buNone/>
            </a:pPr>
            <a:r>
              <a:rPr lang="zh-CN" altLang="en-US" dirty="0" smtClean="0"/>
              <a:t>则它们是一个解。</a:t>
            </a:r>
            <a:endParaRPr lang="en-US" altLang="zh-CN" dirty="0" smtClean="0"/>
          </a:p>
          <a:p>
            <a:pPr lvl="1"/>
            <a:endParaRPr lang="zh-CN" altLang="en-US" dirty="0"/>
          </a:p>
        </p:txBody>
      </p:sp>
    </p:spTree>
    <p:extLst>
      <p:ext uri="{BB962C8B-B14F-4D97-AF65-F5344CB8AC3E}">
        <p14:creationId xmlns:p14="http://schemas.microsoft.com/office/powerpoint/2010/main" val="133812809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0832" y="116632"/>
            <a:ext cx="8733656" cy="6624736"/>
          </a:xfrm>
        </p:spPr>
        <p:txBody>
          <a:bodyPr>
            <a:normAutofit fontScale="62500" lnSpcReduction="20000"/>
          </a:bodyPr>
          <a:lstStyle/>
          <a:p>
            <a:r>
              <a:rPr lang="zh-CN" altLang="en-US" sz="4000" dirty="0" smtClean="0"/>
              <a:t>基本程序如下：</a:t>
            </a:r>
            <a:endParaRPr lang="en-US" altLang="zh-CN" sz="4000" dirty="0" smtClean="0"/>
          </a:p>
          <a:p>
            <a:pPr marL="0" indent="0">
              <a:buNone/>
            </a:pPr>
            <a:r>
              <a:rPr lang="en-US" altLang="zh-CN" dirty="0" err="1" smtClean="0"/>
              <a:t>const</a:t>
            </a:r>
            <a:r>
              <a:rPr lang="en-US" altLang="zh-CN" dirty="0" smtClean="0"/>
              <a:t> </a:t>
            </a:r>
            <a:r>
              <a:rPr lang="en-US" altLang="zh-CN" dirty="0" err="1" smtClean="0"/>
              <a:t>int</a:t>
            </a:r>
            <a:r>
              <a:rPr lang="en-US" altLang="zh-CN" dirty="0" smtClean="0"/>
              <a:t> MONEY_TOTAL=100; //</a:t>
            </a:r>
            <a:r>
              <a:rPr lang="zh-CN" altLang="en-US" dirty="0" smtClean="0"/>
              <a:t>钱的总数：</a:t>
            </a:r>
            <a:r>
              <a:rPr lang="en-US" altLang="zh-CN" dirty="0" smtClean="0"/>
              <a:t>100</a:t>
            </a:r>
            <a:r>
              <a:rPr lang="zh-CN" altLang="en-US" dirty="0" smtClean="0"/>
              <a:t>元</a:t>
            </a:r>
            <a:endParaRPr lang="en-US" altLang="zh-CN" dirty="0" smtClean="0"/>
          </a:p>
          <a:p>
            <a:pPr marL="0" indent="0">
              <a:buNone/>
            </a:pPr>
            <a:r>
              <a:rPr lang="en-US" altLang="zh-CN" dirty="0" err="1"/>
              <a:t>const</a:t>
            </a:r>
            <a:r>
              <a:rPr lang="en-US" altLang="zh-CN" dirty="0"/>
              <a:t> </a:t>
            </a:r>
            <a:r>
              <a:rPr lang="en-US" altLang="zh-CN" dirty="0" err="1"/>
              <a:t>int</a:t>
            </a:r>
            <a:r>
              <a:rPr lang="en-US" altLang="zh-CN" dirty="0"/>
              <a:t> </a:t>
            </a:r>
            <a:r>
              <a:rPr lang="en-US" altLang="zh-CN" dirty="0" smtClean="0"/>
              <a:t>NUM_TOTAL=100; //</a:t>
            </a:r>
            <a:r>
              <a:rPr lang="zh-CN" altLang="en-US" dirty="0" smtClean="0"/>
              <a:t>鸡的总数：</a:t>
            </a:r>
            <a:r>
              <a:rPr lang="en-US" altLang="zh-CN" dirty="0" smtClean="0"/>
              <a:t>100</a:t>
            </a:r>
            <a:r>
              <a:rPr lang="zh-CN" altLang="en-US" dirty="0" smtClean="0"/>
              <a:t>只</a:t>
            </a:r>
            <a:endParaRPr lang="en-US" altLang="zh-CN" dirty="0" smtClean="0"/>
          </a:p>
          <a:p>
            <a:pPr marL="0" indent="0">
              <a:buNone/>
            </a:pPr>
            <a:r>
              <a:rPr lang="en-US" altLang="zh-CN" dirty="0" smtClean="0"/>
              <a:t>......</a:t>
            </a:r>
          </a:p>
          <a:p>
            <a:pPr marL="0" indent="0">
              <a:buNone/>
            </a:pPr>
            <a:r>
              <a:rPr lang="en-US" altLang="zh-CN" dirty="0" err="1" smtClean="0"/>
              <a:t>cout</a:t>
            </a:r>
            <a:r>
              <a:rPr lang="en-US" altLang="zh-CN" dirty="0" smtClean="0"/>
              <a:t> &lt;&lt; "</a:t>
            </a:r>
            <a:r>
              <a:rPr lang="zh-CN" altLang="en-US" dirty="0" smtClean="0"/>
              <a:t>“百</a:t>
            </a:r>
            <a:r>
              <a:rPr lang="zh-CN" altLang="en-US" dirty="0"/>
              <a:t>元买百</a:t>
            </a:r>
            <a:r>
              <a:rPr lang="zh-CN" altLang="en-US" dirty="0" smtClean="0"/>
              <a:t>鸡”问题</a:t>
            </a:r>
            <a:r>
              <a:rPr lang="zh-CN" altLang="en-US" dirty="0"/>
              <a:t>所有可能的解如下：</a:t>
            </a:r>
            <a:r>
              <a:rPr lang="en-US" altLang="zh-CN" dirty="0"/>
              <a:t>\n</a:t>
            </a:r>
            <a:r>
              <a:rPr lang="en-US" altLang="zh-CN" dirty="0" smtClean="0"/>
              <a:t>";</a:t>
            </a:r>
            <a:endParaRPr lang="en-US" altLang="zh-CN" dirty="0"/>
          </a:p>
          <a:p>
            <a:pPr marL="0" indent="0">
              <a:buNone/>
            </a:pPr>
            <a:r>
              <a:rPr lang="en-US" altLang="zh-CN" dirty="0"/>
              <a:t> </a:t>
            </a:r>
          </a:p>
          <a:p>
            <a:pPr marL="0" indent="0">
              <a:buNone/>
            </a:pPr>
            <a:r>
              <a:rPr lang="en-US" altLang="zh-CN" dirty="0" smtClean="0"/>
              <a:t>for (</a:t>
            </a:r>
            <a:r>
              <a:rPr lang="en-US" altLang="zh-CN" dirty="0" err="1" smtClean="0"/>
              <a:t>int</a:t>
            </a:r>
            <a:r>
              <a:rPr lang="en-US" altLang="zh-CN" dirty="0" smtClean="0"/>
              <a:t> r=0</a:t>
            </a:r>
            <a:r>
              <a:rPr lang="en-US" altLang="zh-CN" dirty="0"/>
              <a:t>; </a:t>
            </a:r>
            <a:r>
              <a:rPr lang="en-US" altLang="zh-CN" dirty="0" smtClean="0"/>
              <a:t>r </a:t>
            </a:r>
            <a:r>
              <a:rPr lang="en-US" altLang="zh-CN" dirty="0"/>
              <a:t>&lt;= NUM_TOTAL; </a:t>
            </a:r>
            <a:r>
              <a:rPr lang="en-US" altLang="zh-CN" dirty="0" smtClean="0"/>
              <a:t>r++) //r</a:t>
            </a:r>
            <a:r>
              <a:rPr lang="zh-CN" altLang="en-US" dirty="0" smtClean="0"/>
              <a:t>：公鸡的数量</a:t>
            </a:r>
            <a:endParaRPr lang="en-US" altLang="zh-CN" dirty="0"/>
          </a:p>
          <a:p>
            <a:pPr marL="0" indent="0">
              <a:buNone/>
            </a:pPr>
            <a:r>
              <a:rPr lang="en-US" altLang="zh-CN" dirty="0" smtClean="0"/>
              <a:t>{  for (</a:t>
            </a:r>
            <a:r>
              <a:rPr lang="en-US" altLang="zh-CN" dirty="0" err="1" smtClean="0"/>
              <a:t>int</a:t>
            </a:r>
            <a:r>
              <a:rPr lang="en-US" altLang="zh-CN" dirty="0" smtClean="0"/>
              <a:t> h=0</a:t>
            </a:r>
            <a:r>
              <a:rPr lang="en-US" altLang="zh-CN" dirty="0"/>
              <a:t>; </a:t>
            </a:r>
            <a:r>
              <a:rPr lang="en-US" altLang="zh-CN" dirty="0" smtClean="0"/>
              <a:t>h </a:t>
            </a:r>
            <a:r>
              <a:rPr lang="en-US" altLang="zh-CN" dirty="0"/>
              <a:t>&lt;= NUM_TOTAL; </a:t>
            </a:r>
            <a:r>
              <a:rPr lang="en-US" altLang="zh-CN" dirty="0" smtClean="0"/>
              <a:t>h++ ) //h</a:t>
            </a:r>
            <a:r>
              <a:rPr lang="zh-CN" altLang="en-US" dirty="0" smtClean="0"/>
              <a:t>：母鸡</a:t>
            </a:r>
            <a:r>
              <a:rPr lang="zh-CN" altLang="en-US" dirty="0"/>
              <a:t>的数量</a:t>
            </a:r>
            <a:endParaRPr lang="en-US" altLang="zh-CN" dirty="0"/>
          </a:p>
          <a:p>
            <a:pPr marL="0" indent="0">
              <a:buNone/>
            </a:pPr>
            <a:r>
              <a:rPr lang="en-US" altLang="zh-CN" dirty="0" smtClean="0"/>
              <a:t>    { for (</a:t>
            </a:r>
            <a:r>
              <a:rPr lang="en-US" altLang="zh-CN" dirty="0" err="1" smtClean="0"/>
              <a:t>int</a:t>
            </a:r>
            <a:r>
              <a:rPr lang="en-US" altLang="zh-CN" dirty="0" smtClean="0"/>
              <a:t> c=0</a:t>
            </a:r>
            <a:r>
              <a:rPr lang="en-US" altLang="zh-CN" dirty="0"/>
              <a:t>; </a:t>
            </a:r>
            <a:r>
              <a:rPr lang="en-US" altLang="zh-CN" dirty="0" smtClean="0"/>
              <a:t>c </a:t>
            </a:r>
            <a:r>
              <a:rPr lang="en-US" altLang="zh-CN" dirty="0"/>
              <a:t>&lt;= NUM_TOTAL; </a:t>
            </a:r>
            <a:r>
              <a:rPr lang="en-US" altLang="zh-CN" dirty="0" err="1" smtClean="0"/>
              <a:t>c++</a:t>
            </a:r>
            <a:r>
              <a:rPr lang="en-US" altLang="zh-CN" dirty="0" smtClean="0"/>
              <a:t> ) //c</a:t>
            </a:r>
            <a:r>
              <a:rPr lang="zh-CN" altLang="en-US" dirty="0" smtClean="0"/>
              <a:t>：小鸡</a:t>
            </a:r>
            <a:r>
              <a:rPr lang="zh-CN" altLang="en-US" dirty="0"/>
              <a:t>的数量</a:t>
            </a:r>
            <a:endParaRPr lang="en-US" altLang="zh-CN" dirty="0"/>
          </a:p>
          <a:p>
            <a:pPr marL="0" indent="0">
              <a:buNone/>
            </a:pPr>
            <a:r>
              <a:rPr lang="en-US" altLang="zh-CN" dirty="0" smtClean="0"/>
              <a:t>       { //</a:t>
            </a:r>
            <a:r>
              <a:rPr lang="zh-CN" altLang="en-US" dirty="0" smtClean="0">
                <a:solidFill>
                  <a:srgbClr val="FFC000"/>
                </a:solidFill>
              </a:rPr>
              <a:t>这里能获得</a:t>
            </a:r>
            <a:r>
              <a:rPr lang="en-US" altLang="zh-CN" dirty="0" smtClean="0">
                <a:solidFill>
                  <a:srgbClr val="FFC000"/>
                </a:solidFill>
              </a:rPr>
              <a:t>r</a:t>
            </a:r>
            <a:r>
              <a:rPr lang="zh-CN" altLang="en-US" dirty="0" smtClean="0">
                <a:solidFill>
                  <a:srgbClr val="FFC000"/>
                </a:solidFill>
              </a:rPr>
              <a:t>、</a:t>
            </a:r>
            <a:r>
              <a:rPr lang="en-US" altLang="zh-CN" dirty="0" smtClean="0">
                <a:solidFill>
                  <a:srgbClr val="FFC000"/>
                </a:solidFill>
              </a:rPr>
              <a:t>h</a:t>
            </a:r>
            <a:r>
              <a:rPr lang="zh-CN" altLang="en-US" dirty="0">
                <a:solidFill>
                  <a:srgbClr val="FFC000"/>
                </a:solidFill>
              </a:rPr>
              <a:t>和</a:t>
            </a:r>
            <a:r>
              <a:rPr lang="en-US" altLang="zh-CN" dirty="0" smtClean="0">
                <a:solidFill>
                  <a:srgbClr val="FFC000"/>
                </a:solidFill>
              </a:rPr>
              <a:t>c</a:t>
            </a:r>
            <a:r>
              <a:rPr lang="zh-CN" altLang="en-US" dirty="0" smtClean="0">
                <a:solidFill>
                  <a:srgbClr val="FFC000"/>
                </a:solidFill>
              </a:rPr>
              <a:t>的所有可能的值</a:t>
            </a:r>
            <a:endParaRPr lang="en-US" altLang="zh-CN" dirty="0" smtClean="0">
              <a:solidFill>
                <a:srgbClr val="FFC000"/>
              </a:solidFill>
            </a:endParaRPr>
          </a:p>
          <a:p>
            <a:pPr marL="0" indent="0">
              <a:buNone/>
            </a:pPr>
            <a:r>
              <a:rPr lang="en-US" altLang="zh-CN" dirty="0" smtClean="0"/>
              <a:t>          if (</a:t>
            </a:r>
            <a:r>
              <a:rPr lang="en-US" altLang="zh-CN" dirty="0" err="1" smtClean="0"/>
              <a:t>r+h+c</a:t>
            </a:r>
            <a:r>
              <a:rPr lang="en-US" altLang="zh-CN" dirty="0" smtClean="0"/>
              <a:t> == </a:t>
            </a:r>
            <a:r>
              <a:rPr lang="en-US" altLang="zh-CN" dirty="0"/>
              <a:t>NUM_TOTAL </a:t>
            </a:r>
            <a:r>
              <a:rPr lang="en-US" altLang="zh-CN" dirty="0" smtClean="0"/>
              <a:t>&amp;&amp; c%3 == 0     </a:t>
            </a:r>
          </a:p>
          <a:p>
            <a:pPr marL="0" indent="0">
              <a:buNone/>
            </a:pPr>
            <a:r>
              <a:rPr lang="en-US" altLang="zh-CN" dirty="0"/>
              <a:t> </a:t>
            </a:r>
            <a:r>
              <a:rPr lang="en-US" altLang="zh-CN" dirty="0" smtClean="0"/>
              <a:t>             &amp;&amp; r*5+h*3+c/3 == MONEY_TOTAL</a:t>
            </a:r>
            <a:r>
              <a:rPr lang="en-US" altLang="zh-CN" dirty="0"/>
              <a:t>)</a:t>
            </a:r>
          </a:p>
          <a:p>
            <a:pPr marL="0" indent="0">
              <a:buNone/>
            </a:pPr>
            <a:r>
              <a:rPr lang="en-US" altLang="zh-CN" dirty="0"/>
              <a:t>         </a:t>
            </a:r>
            <a:r>
              <a:rPr lang="en-US" altLang="zh-CN" dirty="0" smtClean="0"/>
              <a:t> {  //</a:t>
            </a:r>
            <a:r>
              <a:rPr lang="zh-CN" altLang="en-US" dirty="0" smtClean="0">
                <a:solidFill>
                  <a:srgbClr val="FFC000"/>
                </a:solidFill>
              </a:rPr>
              <a:t>输出这个解</a:t>
            </a:r>
            <a:endParaRPr lang="en-US" altLang="zh-CN" dirty="0" smtClean="0">
              <a:solidFill>
                <a:srgbClr val="FFC000"/>
              </a:solidFill>
            </a:endParaRPr>
          </a:p>
          <a:p>
            <a:pPr marL="0" indent="0">
              <a:buNone/>
            </a:pPr>
            <a:r>
              <a:rPr lang="en-US" altLang="zh-CN" dirty="0" smtClean="0"/>
              <a:t>              </a:t>
            </a:r>
            <a:r>
              <a:rPr lang="en-US" altLang="zh-CN" dirty="0" err="1" smtClean="0"/>
              <a:t>cout</a:t>
            </a:r>
            <a:r>
              <a:rPr lang="en-US" altLang="zh-CN" dirty="0" smtClean="0"/>
              <a:t> &lt;&lt; "</a:t>
            </a:r>
            <a:r>
              <a:rPr lang="zh-CN" altLang="en-US" dirty="0" smtClean="0"/>
              <a:t>公鸡 </a:t>
            </a:r>
            <a:r>
              <a:rPr lang="en-US" altLang="zh-CN" dirty="0" smtClean="0"/>
              <a:t>" &lt;&lt; r &lt;&lt; "</a:t>
            </a:r>
            <a:r>
              <a:rPr lang="zh-CN" altLang="en-US" dirty="0" smtClean="0"/>
              <a:t>只，</a:t>
            </a:r>
            <a:r>
              <a:rPr lang="en-US" altLang="zh-CN" dirty="0" smtClean="0"/>
              <a:t>";</a:t>
            </a:r>
          </a:p>
          <a:p>
            <a:pPr marL="0" indent="0">
              <a:buNone/>
            </a:pPr>
            <a:r>
              <a:rPr lang="en-US" altLang="zh-CN" dirty="0"/>
              <a:t> </a:t>
            </a:r>
            <a:r>
              <a:rPr lang="en-US" altLang="zh-CN" dirty="0" smtClean="0"/>
              <a:t>             </a:t>
            </a:r>
            <a:r>
              <a:rPr lang="en-US" altLang="zh-CN" dirty="0" err="1" smtClean="0"/>
              <a:t>cout</a:t>
            </a:r>
            <a:r>
              <a:rPr lang="en-US" altLang="zh-CN" dirty="0" smtClean="0"/>
              <a:t> &lt;&lt; "</a:t>
            </a:r>
            <a:r>
              <a:rPr lang="zh-CN" altLang="en-US" dirty="0" smtClean="0"/>
              <a:t>母鸡 </a:t>
            </a:r>
            <a:r>
              <a:rPr lang="en-US" altLang="zh-CN" dirty="0" smtClean="0"/>
              <a:t>" &lt;&lt; h &lt;&lt; "</a:t>
            </a:r>
            <a:r>
              <a:rPr lang="zh-CN" altLang="en-US" dirty="0" smtClean="0"/>
              <a:t>只，</a:t>
            </a:r>
            <a:r>
              <a:rPr lang="en-US" altLang="zh-CN" dirty="0" smtClean="0"/>
              <a:t>";</a:t>
            </a:r>
          </a:p>
          <a:p>
            <a:pPr marL="0" indent="0">
              <a:buNone/>
            </a:pPr>
            <a:r>
              <a:rPr lang="en-US" altLang="zh-CN" dirty="0"/>
              <a:t> </a:t>
            </a:r>
            <a:r>
              <a:rPr lang="en-US" altLang="zh-CN" dirty="0" smtClean="0"/>
              <a:t>             </a:t>
            </a:r>
            <a:r>
              <a:rPr lang="en-US" altLang="zh-CN" dirty="0" err="1" smtClean="0"/>
              <a:t>cout</a:t>
            </a:r>
            <a:r>
              <a:rPr lang="en-US" altLang="zh-CN" dirty="0" smtClean="0"/>
              <a:t> &lt;&lt; "</a:t>
            </a:r>
            <a:r>
              <a:rPr lang="zh-CN" altLang="en-US" dirty="0" smtClean="0"/>
              <a:t>小鸡 </a:t>
            </a:r>
            <a:r>
              <a:rPr lang="en-US" altLang="zh-CN" dirty="0" smtClean="0"/>
              <a:t>" &lt;&lt; c &lt;&lt; "</a:t>
            </a:r>
            <a:r>
              <a:rPr lang="zh-CN" altLang="en-US" dirty="0" smtClean="0"/>
              <a:t>只</a:t>
            </a:r>
            <a:r>
              <a:rPr lang="en-US" altLang="zh-CN" dirty="0"/>
              <a:t>\n</a:t>
            </a:r>
            <a:r>
              <a:rPr lang="en-US" altLang="zh-CN" dirty="0" smtClean="0"/>
              <a:t>";</a:t>
            </a:r>
            <a:endParaRPr lang="en-US" altLang="zh-CN" dirty="0"/>
          </a:p>
          <a:p>
            <a:pPr marL="0" indent="0">
              <a:buNone/>
            </a:pPr>
            <a:r>
              <a:rPr lang="en-US" altLang="zh-CN" dirty="0"/>
              <a:t>         </a:t>
            </a:r>
            <a:r>
              <a:rPr lang="en-US" altLang="zh-CN" dirty="0" smtClean="0"/>
              <a:t> }</a:t>
            </a:r>
            <a:endParaRPr lang="en-US" altLang="zh-CN" dirty="0"/>
          </a:p>
          <a:p>
            <a:pPr marL="0" indent="0">
              <a:buNone/>
            </a:pPr>
            <a:r>
              <a:rPr lang="en-US" altLang="zh-CN" dirty="0"/>
              <a:t>      </a:t>
            </a:r>
            <a:r>
              <a:rPr lang="en-US" altLang="zh-CN" dirty="0" smtClean="0"/>
              <a:t> }</a:t>
            </a:r>
          </a:p>
          <a:p>
            <a:pPr marL="0" indent="0">
              <a:buNone/>
            </a:pPr>
            <a:r>
              <a:rPr lang="en-US" altLang="zh-CN" dirty="0"/>
              <a:t> </a:t>
            </a:r>
            <a:r>
              <a:rPr lang="en-US" altLang="zh-CN" dirty="0" smtClean="0"/>
              <a:t>   }</a:t>
            </a:r>
          </a:p>
          <a:p>
            <a:pPr marL="0" indent="0">
              <a:buNone/>
            </a:pPr>
            <a:r>
              <a:rPr lang="en-US" altLang="zh-CN" dirty="0"/>
              <a:t>}</a:t>
            </a:r>
            <a:endParaRPr lang="en-US" altLang="zh-CN" dirty="0" smtClean="0"/>
          </a:p>
          <a:p>
            <a:pPr marL="0" indent="0">
              <a:buNone/>
            </a:pPr>
            <a:r>
              <a:rPr lang="en-US" altLang="zh-CN" dirty="0" smtClean="0"/>
              <a:t>......</a:t>
            </a:r>
            <a:endParaRPr lang="zh-CN" altLang="en-US" dirty="0"/>
          </a:p>
        </p:txBody>
      </p:sp>
    </p:spTree>
    <p:extLst>
      <p:ext uri="{BB962C8B-B14F-4D97-AF65-F5344CB8AC3E}">
        <p14:creationId xmlns:p14="http://schemas.microsoft.com/office/powerpoint/2010/main" val="138039643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88640"/>
            <a:ext cx="8784976" cy="6552728"/>
          </a:xfrm>
        </p:spPr>
        <p:txBody>
          <a:bodyPr>
            <a:normAutofit fontScale="55000" lnSpcReduction="20000"/>
          </a:bodyPr>
          <a:lstStyle/>
          <a:p>
            <a:r>
              <a:rPr lang="zh-CN" altLang="en-US" sz="4500" dirty="0" smtClean="0"/>
              <a:t>优化：</a:t>
            </a:r>
            <a:endParaRPr lang="en-US" altLang="zh-CN" sz="4500" dirty="0" smtClean="0"/>
          </a:p>
          <a:p>
            <a:pPr lvl="1"/>
            <a:r>
              <a:rPr lang="zh-CN" altLang="en-US" sz="3300" dirty="0" smtClean="0"/>
              <a:t>公鸡数量</a:t>
            </a:r>
            <a:r>
              <a:rPr lang="en-US" altLang="zh-CN" sz="3300" dirty="0" smtClean="0"/>
              <a:t>r</a:t>
            </a:r>
            <a:r>
              <a:rPr lang="zh-CN" altLang="en-US" sz="3300" dirty="0" smtClean="0"/>
              <a:t>最多只能有“</a:t>
            </a:r>
            <a:r>
              <a:rPr lang="en-US" altLang="zh-CN" sz="3300" dirty="0" smtClean="0"/>
              <a:t>MONEY_TOTAL/5</a:t>
            </a:r>
            <a:r>
              <a:rPr lang="zh-CN" altLang="en-US" sz="3300" dirty="0" smtClean="0"/>
              <a:t>”只</a:t>
            </a:r>
            <a:endParaRPr lang="en-US" altLang="zh-CN" sz="3300" dirty="0" smtClean="0"/>
          </a:p>
          <a:p>
            <a:pPr lvl="1"/>
            <a:r>
              <a:rPr lang="zh-CN" altLang="en-US" sz="3300" dirty="0"/>
              <a:t>公鸡数量</a:t>
            </a:r>
            <a:r>
              <a:rPr lang="en-US" altLang="zh-CN" sz="3300" dirty="0" smtClean="0"/>
              <a:t>r</a:t>
            </a:r>
            <a:r>
              <a:rPr lang="zh-CN" altLang="en-US" sz="3300" dirty="0" smtClean="0"/>
              <a:t>确定后，</a:t>
            </a:r>
            <a:r>
              <a:rPr lang="zh-CN" altLang="en-US" sz="3300" dirty="0"/>
              <a:t>母鸡数量</a:t>
            </a:r>
            <a:r>
              <a:rPr lang="en-US" altLang="zh-CN" sz="3300" dirty="0" smtClean="0"/>
              <a:t>h</a:t>
            </a:r>
            <a:r>
              <a:rPr lang="zh-CN" altLang="en-US" sz="3300" dirty="0" smtClean="0"/>
              <a:t>最多只能有“</a:t>
            </a:r>
            <a:r>
              <a:rPr lang="en-US" altLang="zh-CN" sz="3300" dirty="0"/>
              <a:t>(MONEY_TOTAL-r*5)/3</a:t>
            </a:r>
            <a:r>
              <a:rPr lang="zh-CN" altLang="en-US" sz="3300" dirty="0" smtClean="0"/>
              <a:t>”只</a:t>
            </a:r>
            <a:endParaRPr lang="en-US" altLang="zh-CN" sz="3300" dirty="0" smtClean="0"/>
          </a:p>
          <a:p>
            <a:pPr lvl="1"/>
            <a:r>
              <a:rPr lang="zh-CN" altLang="en-US" sz="3300" dirty="0" smtClean="0"/>
              <a:t>公鸡和母鸡数量</a:t>
            </a:r>
            <a:r>
              <a:rPr lang="en-US" altLang="zh-CN" sz="3300" dirty="0" smtClean="0"/>
              <a:t>r</a:t>
            </a:r>
            <a:r>
              <a:rPr lang="zh-CN" altLang="en-US" sz="3300" dirty="0" smtClean="0"/>
              <a:t>和</a:t>
            </a:r>
            <a:r>
              <a:rPr lang="en-US" altLang="zh-CN" sz="3300" dirty="0" smtClean="0"/>
              <a:t>h</a:t>
            </a:r>
            <a:r>
              <a:rPr lang="zh-CN" altLang="en-US" sz="3300" dirty="0" smtClean="0"/>
              <a:t>确定后，小鸡的数量</a:t>
            </a:r>
            <a:r>
              <a:rPr lang="en-US" altLang="zh-CN" sz="3300" dirty="0" smtClean="0"/>
              <a:t>c</a:t>
            </a:r>
            <a:r>
              <a:rPr lang="zh-CN" altLang="en-US" sz="3300" dirty="0" smtClean="0"/>
              <a:t>就固定了：“</a:t>
            </a:r>
            <a:r>
              <a:rPr lang="en-US" altLang="zh-CN" sz="3300" dirty="0" smtClean="0"/>
              <a:t>NUM_TOTAL-r-h</a:t>
            </a:r>
            <a:r>
              <a:rPr lang="zh-CN" altLang="en-US" sz="3300" dirty="0" smtClean="0"/>
              <a:t>”</a:t>
            </a:r>
            <a:endParaRPr lang="en-US" altLang="zh-CN" sz="3300" dirty="0" smtClean="0"/>
          </a:p>
          <a:p>
            <a:pPr marL="0" indent="0">
              <a:buNone/>
            </a:pPr>
            <a:endParaRPr lang="en-US" altLang="zh-CN" sz="3600" dirty="0" smtClean="0"/>
          </a:p>
          <a:p>
            <a:pPr marL="0" indent="0">
              <a:buNone/>
            </a:pPr>
            <a:r>
              <a:rPr lang="en-US" altLang="zh-CN" sz="3600" dirty="0" err="1" smtClean="0"/>
              <a:t>const</a:t>
            </a:r>
            <a:r>
              <a:rPr lang="en-US" altLang="zh-CN" sz="3600" dirty="0" smtClean="0"/>
              <a:t> </a:t>
            </a:r>
            <a:r>
              <a:rPr lang="en-US" altLang="zh-CN" sz="3600" dirty="0" err="1" smtClean="0"/>
              <a:t>int</a:t>
            </a:r>
            <a:r>
              <a:rPr lang="en-US" altLang="zh-CN" sz="3600" dirty="0" smtClean="0"/>
              <a:t> MONEY_TOTAL=100;</a:t>
            </a:r>
          </a:p>
          <a:p>
            <a:pPr marL="0" indent="0">
              <a:buNone/>
            </a:pPr>
            <a:r>
              <a:rPr lang="en-US" altLang="zh-CN" sz="3600" dirty="0" err="1" smtClean="0"/>
              <a:t>const</a:t>
            </a:r>
            <a:r>
              <a:rPr lang="en-US" altLang="zh-CN" sz="3600" dirty="0" smtClean="0"/>
              <a:t> </a:t>
            </a:r>
            <a:r>
              <a:rPr lang="en-US" altLang="zh-CN" sz="3600" dirty="0" err="1" smtClean="0"/>
              <a:t>int</a:t>
            </a:r>
            <a:r>
              <a:rPr lang="en-US" altLang="zh-CN" sz="3600" dirty="0" smtClean="0"/>
              <a:t> </a:t>
            </a:r>
            <a:r>
              <a:rPr lang="en-US" altLang="zh-CN" sz="3600" dirty="0"/>
              <a:t>NUM_TOTAL=100</a:t>
            </a:r>
            <a:r>
              <a:rPr lang="en-US" altLang="zh-CN" sz="3600" dirty="0" smtClean="0"/>
              <a:t>;</a:t>
            </a:r>
          </a:p>
          <a:p>
            <a:pPr marL="0" indent="0">
              <a:buNone/>
            </a:pPr>
            <a:r>
              <a:rPr lang="en-US" altLang="zh-CN" sz="3600" dirty="0" smtClean="0"/>
              <a:t>......</a:t>
            </a:r>
          </a:p>
          <a:p>
            <a:pPr marL="0" indent="0">
              <a:buNone/>
            </a:pPr>
            <a:r>
              <a:rPr lang="en-US" altLang="zh-CN" sz="3600" dirty="0" err="1" smtClean="0"/>
              <a:t>cout</a:t>
            </a:r>
            <a:r>
              <a:rPr lang="en-US" altLang="zh-CN" sz="3600" dirty="0" smtClean="0"/>
              <a:t> &lt;&lt; "</a:t>
            </a:r>
            <a:r>
              <a:rPr lang="zh-CN" altLang="en-US" sz="3600" dirty="0" smtClean="0"/>
              <a:t>“百元买百鸡”问题所有可能的解如下：</a:t>
            </a:r>
            <a:r>
              <a:rPr lang="en-US" altLang="zh-CN" sz="3600" dirty="0" smtClean="0"/>
              <a:t>\n";</a:t>
            </a:r>
          </a:p>
          <a:p>
            <a:pPr marL="0" indent="0">
              <a:buNone/>
            </a:pPr>
            <a:r>
              <a:rPr lang="en-US" altLang="zh-CN" sz="3600" dirty="0" smtClean="0"/>
              <a:t> </a:t>
            </a:r>
          </a:p>
          <a:p>
            <a:pPr marL="0" indent="0">
              <a:buNone/>
            </a:pPr>
            <a:r>
              <a:rPr lang="en-US" altLang="zh-CN" sz="3600" dirty="0" smtClean="0"/>
              <a:t>for (</a:t>
            </a:r>
            <a:r>
              <a:rPr lang="en-US" altLang="zh-CN" sz="3600" dirty="0" err="1" smtClean="0"/>
              <a:t>int</a:t>
            </a:r>
            <a:r>
              <a:rPr lang="en-US" altLang="zh-CN" sz="3600" dirty="0"/>
              <a:t> </a:t>
            </a:r>
            <a:r>
              <a:rPr lang="en-US" altLang="zh-CN" sz="3600" dirty="0" smtClean="0"/>
              <a:t>r=0; </a:t>
            </a:r>
            <a:r>
              <a:rPr lang="en-US" altLang="zh-CN" sz="3600" dirty="0"/>
              <a:t>r </a:t>
            </a:r>
            <a:r>
              <a:rPr lang="en-US" altLang="zh-CN" sz="3600" dirty="0" smtClean="0"/>
              <a:t>&lt;= MONEY_TOTAL/5; r++)</a:t>
            </a:r>
          </a:p>
          <a:p>
            <a:pPr marL="0" indent="0">
              <a:buNone/>
            </a:pPr>
            <a:r>
              <a:rPr lang="en-US" altLang="zh-CN" sz="3600" dirty="0" smtClean="0"/>
              <a:t>{  for (</a:t>
            </a:r>
            <a:r>
              <a:rPr lang="en-US" altLang="zh-CN" sz="3600" dirty="0" err="1" smtClean="0"/>
              <a:t>int</a:t>
            </a:r>
            <a:r>
              <a:rPr lang="en-US" altLang="zh-CN" sz="3600" dirty="0" smtClean="0"/>
              <a:t> h=0; h &lt;= (</a:t>
            </a:r>
            <a:r>
              <a:rPr lang="en-US" altLang="zh-CN" sz="3600" dirty="0"/>
              <a:t>MONEY_TOTAL-r*5)/</a:t>
            </a:r>
            <a:r>
              <a:rPr lang="en-US" altLang="zh-CN" sz="3600" dirty="0" smtClean="0"/>
              <a:t>3; h++)</a:t>
            </a:r>
          </a:p>
          <a:p>
            <a:pPr marL="0" indent="0">
              <a:buNone/>
            </a:pPr>
            <a:r>
              <a:rPr lang="en-US" altLang="zh-CN" sz="3600" dirty="0" smtClean="0"/>
              <a:t>    { </a:t>
            </a:r>
            <a:r>
              <a:rPr lang="en-US" altLang="zh-CN" sz="3600" dirty="0" err="1" smtClean="0"/>
              <a:t>int</a:t>
            </a:r>
            <a:r>
              <a:rPr lang="en-US" altLang="zh-CN" sz="3600" dirty="0"/>
              <a:t> </a:t>
            </a:r>
            <a:r>
              <a:rPr lang="en-US" altLang="zh-CN" sz="3600" dirty="0" smtClean="0"/>
              <a:t>c=NUM_TOTAL-r-h; </a:t>
            </a:r>
          </a:p>
          <a:p>
            <a:pPr marL="0" indent="0">
              <a:buNone/>
            </a:pPr>
            <a:r>
              <a:rPr lang="en-US" altLang="zh-CN" sz="3600" dirty="0" smtClean="0"/>
              <a:t>       if (c%3 == 0 &amp;&amp; r*5+h*3+c/3 </a:t>
            </a:r>
            <a:r>
              <a:rPr lang="en-US" altLang="zh-CN" sz="3600" dirty="0"/>
              <a:t>== MONEY_TOTAL)</a:t>
            </a:r>
            <a:endParaRPr lang="en-US" altLang="zh-CN" sz="3600" dirty="0" smtClean="0"/>
          </a:p>
          <a:p>
            <a:pPr marL="0" indent="0">
              <a:buNone/>
            </a:pPr>
            <a:r>
              <a:rPr lang="en-US" altLang="zh-CN" sz="3600" dirty="0" smtClean="0"/>
              <a:t>       {  </a:t>
            </a:r>
            <a:r>
              <a:rPr lang="en-US" altLang="zh-CN" sz="3600" dirty="0" err="1" smtClean="0"/>
              <a:t>cout</a:t>
            </a:r>
            <a:r>
              <a:rPr lang="en-US" altLang="zh-CN" sz="3600" dirty="0" smtClean="0"/>
              <a:t> &lt;&lt; "</a:t>
            </a:r>
            <a:r>
              <a:rPr lang="zh-CN" altLang="en-US" sz="3600" dirty="0" smtClean="0"/>
              <a:t>公鸡 </a:t>
            </a:r>
            <a:r>
              <a:rPr lang="en-US" altLang="zh-CN" sz="3600" dirty="0" smtClean="0"/>
              <a:t>" &lt;&lt; r &lt;&lt; "</a:t>
            </a:r>
            <a:r>
              <a:rPr lang="zh-CN" altLang="en-US" sz="3600" dirty="0" smtClean="0"/>
              <a:t>只，</a:t>
            </a:r>
            <a:r>
              <a:rPr lang="en-US" altLang="zh-CN" sz="3600" dirty="0" smtClean="0"/>
              <a:t>";</a:t>
            </a:r>
          </a:p>
          <a:p>
            <a:pPr marL="0" indent="0">
              <a:buNone/>
            </a:pPr>
            <a:r>
              <a:rPr lang="en-US" altLang="zh-CN" sz="3600" dirty="0" smtClean="0"/>
              <a:t>           </a:t>
            </a:r>
            <a:r>
              <a:rPr lang="en-US" altLang="zh-CN" sz="3600" dirty="0" err="1" smtClean="0"/>
              <a:t>cout</a:t>
            </a:r>
            <a:r>
              <a:rPr lang="en-US" altLang="zh-CN" sz="3600" dirty="0" smtClean="0"/>
              <a:t> &lt;&lt; "</a:t>
            </a:r>
            <a:r>
              <a:rPr lang="zh-CN" altLang="en-US" sz="3600" dirty="0" smtClean="0"/>
              <a:t>母鸡 </a:t>
            </a:r>
            <a:r>
              <a:rPr lang="en-US" altLang="zh-CN" sz="3600" dirty="0" smtClean="0"/>
              <a:t>" &lt;&lt; h &lt;&lt; "</a:t>
            </a:r>
            <a:r>
              <a:rPr lang="zh-CN" altLang="en-US" sz="3600" dirty="0" smtClean="0"/>
              <a:t>只，</a:t>
            </a:r>
            <a:r>
              <a:rPr lang="en-US" altLang="zh-CN" sz="3600" dirty="0" smtClean="0"/>
              <a:t>";</a:t>
            </a:r>
          </a:p>
          <a:p>
            <a:pPr marL="0" indent="0">
              <a:buNone/>
            </a:pPr>
            <a:r>
              <a:rPr lang="en-US" altLang="zh-CN" sz="3600" dirty="0" smtClean="0"/>
              <a:t>           </a:t>
            </a:r>
            <a:r>
              <a:rPr lang="en-US" altLang="zh-CN" sz="3600" dirty="0" err="1" smtClean="0"/>
              <a:t>cout</a:t>
            </a:r>
            <a:r>
              <a:rPr lang="en-US" altLang="zh-CN" sz="3600" dirty="0" smtClean="0"/>
              <a:t> &lt;&lt; "</a:t>
            </a:r>
            <a:r>
              <a:rPr lang="zh-CN" altLang="en-US" sz="3600" dirty="0" smtClean="0"/>
              <a:t>小鸡 </a:t>
            </a:r>
            <a:r>
              <a:rPr lang="en-US" altLang="zh-CN" sz="3600" dirty="0" smtClean="0"/>
              <a:t>" &lt;&lt; c &lt;&lt; "</a:t>
            </a:r>
            <a:r>
              <a:rPr lang="zh-CN" altLang="en-US" sz="3600" dirty="0" smtClean="0"/>
              <a:t>只</a:t>
            </a:r>
            <a:r>
              <a:rPr lang="en-US" altLang="zh-CN" sz="3600" dirty="0" smtClean="0"/>
              <a:t>\n";</a:t>
            </a:r>
          </a:p>
          <a:p>
            <a:pPr marL="0" indent="0">
              <a:buNone/>
            </a:pPr>
            <a:r>
              <a:rPr lang="en-US" altLang="zh-CN" sz="3600" dirty="0" smtClean="0"/>
              <a:t>       }</a:t>
            </a:r>
          </a:p>
          <a:p>
            <a:pPr marL="0" indent="0">
              <a:buNone/>
            </a:pPr>
            <a:r>
              <a:rPr lang="en-US" altLang="zh-CN" sz="3600" dirty="0" smtClean="0"/>
              <a:t>    }</a:t>
            </a:r>
          </a:p>
          <a:p>
            <a:pPr marL="0" indent="0">
              <a:buNone/>
            </a:pPr>
            <a:r>
              <a:rPr lang="en-US" altLang="zh-CN" sz="3600" dirty="0"/>
              <a:t>}</a:t>
            </a:r>
            <a:endParaRPr lang="en-US" altLang="zh-CN" sz="3600" dirty="0" smtClean="0"/>
          </a:p>
          <a:p>
            <a:pPr marL="0" indent="0">
              <a:buNone/>
            </a:pPr>
            <a:r>
              <a:rPr lang="en-US" altLang="zh-CN" sz="3600" dirty="0" smtClean="0"/>
              <a:t>......</a:t>
            </a:r>
            <a:endParaRPr lang="zh-CN" altLang="en-US" sz="3600" dirty="0"/>
          </a:p>
        </p:txBody>
      </p:sp>
    </p:spTree>
    <p:extLst>
      <p:ext uri="{BB962C8B-B14F-4D97-AF65-F5344CB8AC3E}">
        <p14:creationId xmlns:p14="http://schemas.microsoft.com/office/powerpoint/2010/main" val="332343906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68313" y="57150"/>
            <a:ext cx="8229600" cy="1139825"/>
          </a:xfrm>
        </p:spPr>
        <p:txBody>
          <a:bodyPr/>
          <a:lstStyle/>
          <a:p>
            <a:pPr eaLnBrk="1" hangingPunct="1">
              <a:defRPr/>
            </a:pPr>
            <a:r>
              <a:rPr lang="zh-CN" altLang="en-US" dirty="0" smtClean="0"/>
              <a:t>无条件转移控制 </a:t>
            </a:r>
          </a:p>
        </p:txBody>
      </p:sp>
      <p:sp>
        <p:nvSpPr>
          <p:cNvPr id="28675" name="Rectangle 3"/>
          <p:cNvSpPr>
            <a:spLocks noGrp="1" noChangeArrowheads="1"/>
          </p:cNvSpPr>
          <p:nvPr>
            <p:ph type="body" idx="1"/>
          </p:nvPr>
        </p:nvSpPr>
        <p:spPr>
          <a:xfrm>
            <a:off x="250825" y="1600200"/>
            <a:ext cx="8435975" cy="4530725"/>
          </a:xfrm>
        </p:spPr>
        <p:txBody>
          <a:bodyPr/>
          <a:lstStyle/>
          <a:p>
            <a:pPr eaLnBrk="1" hangingPunct="1">
              <a:defRPr/>
            </a:pPr>
            <a:r>
              <a:rPr lang="zh-CN" altLang="en-US" dirty="0" smtClean="0"/>
              <a:t>除了有条件的流程控制语句外，为了提高流程控制的灵活性，</a:t>
            </a:r>
            <a:r>
              <a:rPr lang="en-US" altLang="zh-CN" dirty="0" smtClean="0"/>
              <a:t>C++</a:t>
            </a:r>
            <a:r>
              <a:rPr lang="zh-CN" altLang="en-US" dirty="0" smtClean="0"/>
              <a:t>还提供了一些无条件的转移语句：</a:t>
            </a:r>
          </a:p>
          <a:p>
            <a:pPr lvl="1" eaLnBrk="1" hangingPunct="1">
              <a:defRPr/>
            </a:pPr>
            <a:r>
              <a:rPr lang="en-US" altLang="zh-CN" dirty="0" err="1" smtClean="0"/>
              <a:t>goto</a:t>
            </a:r>
            <a:endParaRPr lang="en-US" altLang="zh-CN" dirty="0" smtClean="0"/>
          </a:p>
          <a:p>
            <a:pPr lvl="1" eaLnBrk="1" hangingPunct="1">
              <a:defRPr/>
            </a:pPr>
            <a:r>
              <a:rPr lang="en-US" altLang="zh-CN" dirty="0" smtClean="0"/>
              <a:t>break</a:t>
            </a:r>
          </a:p>
          <a:p>
            <a:pPr lvl="1" eaLnBrk="1" hangingPunct="1">
              <a:defRPr/>
            </a:pPr>
            <a:r>
              <a:rPr lang="en-US" altLang="zh-CN" dirty="0" smtClean="0"/>
              <a:t>continue</a:t>
            </a:r>
          </a:p>
          <a:p>
            <a:pPr lvl="1" eaLnBrk="1" hangingPunct="1">
              <a:defRPr/>
            </a:pPr>
            <a:r>
              <a:rPr lang="en-US" altLang="zh-CN" dirty="0" smtClean="0"/>
              <a:t>return</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68313" y="206375"/>
            <a:ext cx="8229600" cy="774700"/>
          </a:xfrm>
        </p:spPr>
        <p:txBody>
          <a:bodyPr/>
          <a:lstStyle/>
          <a:p>
            <a:pPr eaLnBrk="1" hangingPunct="1">
              <a:defRPr/>
            </a:pPr>
            <a:r>
              <a:rPr lang="en-US" altLang="zh-CN" dirty="0" err="1"/>
              <a:t>goto</a:t>
            </a:r>
            <a:r>
              <a:rPr lang="zh-CN" altLang="en-US" dirty="0"/>
              <a:t>语句</a:t>
            </a:r>
          </a:p>
        </p:txBody>
      </p:sp>
      <p:sp>
        <p:nvSpPr>
          <p:cNvPr id="205827" name="Rectangle 3"/>
          <p:cNvSpPr>
            <a:spLocks noGrp="1" noChangeArrowheads="1"/>
          </p:cNvSpPr>
          <p:nvPr>
            <p:ph type="body" idx="1"/>
          </p:nvPr>
        </p:nvSpPr>
        <p:spPr>
          <a:xfrm>
            <a:off x="250825" y="1628775"/>
            <a:ext cx="8713788" cy="4464521"/>
          </a:xfrm>
        </p:spPr>
        <p:txBody>
          <a:bodyPr/>
          <a:lstStyle/>
          <a:p>
            <a:pPr eaLnBrk="1" hangingPunct="1">
              <a:defRPr/>
            </a:pPr>
            <a:r>
              <a:rPr lang="en-US" altLang="zh-CN" dirty="0" err="1" smtClean="0"/>
              <a:t>goto</a:t>
            </a:r>
            <a:r>
              <a:rPr lang="zh-CN" altLang="en-US" dirty="0" smtClean="0"/>
              <a:t>语句的格式如下：</a:t>
            </a:r>
          </a:p>
          <a:p>
            <a:pPr lvl="1" eaLnBrk="1" hangingPunct="1">
              <a:lnSpc>
                <a:spcPct val="120000"/>
              </a:lnSpc>
              <a:buFontTx/>
              <a:buNone/>
              <a:defRPr/>
            </a:pPr>
            <a:r>
              <a:rPr lang="zh-CN" altLang="en-US" sz="2400" dirty="0" smtClean="0"/>
              <a:t>	</a:t>
            </a:r>
            <a:r>
              <a:rPr lang="en-US" altLang="zh-CN" sz="2400" b="1" dirty="0" err="1" smtClean="0">
                <a:solidFill>
                  <a:srgbClr val="FFC000"/>
                </a:solidFill>
              </a:rPr>
              <a:t>goto</a:t>
            </a:r>
            <a:r>
              <a:rPr lang="en-US" altLang="zh-CN" sz="2400" dirty="0" smtClean="0"/>
              <a:t> &lt;</a:t>
            </a:r>
            <a:r>
              <a:rPr lang="zh-CN" altLang="en-US" sz="2400" dirty="0" smtClean="0"/>
              <a:t>语句标号</a:t>
            </a:r>
            <a:r>
              <a:rPr lang="en-US" altLang="zh-CN" sz="2400" dirty="0" smtClean="0"/>
              <a:t>&gt;</a:t>
            </a:r>
            <a:r>
              <a:rPr lang="en-US" altLang="zh-CN" sz="2400" b="1" dirty="0" smtClean="0">
                <a:solidFill>
                  <a:srgbClr val="FFC000"/>
                </a:solidFill>
              </a:rPr>
              <a:t>;</a:t>
            </a:r>
            <a:endParaRPr lang="zh-CN" altLang="en-US" sz="2400" b="1" dirty="0" smtClean="0">
              <a:solidFill>
                <a:srgbClr val="FFC000"/>
              </a:solidFill>
            </a:endParaRPr>
          </a:p>
          <a:p>
            <a:pPr lvl="1" eaLnBrk="1" hangingPunct="1">
              <a:defRPr/>
            </a:pPr>
            <a:r>
              <a:rPr lang="en-US" altLang="zh-CN" dirty="0" smtClean="0">
                <a:cs typeface="Times New Roman" pitchFamily="18" charset="0"/>
              </a:rPr>
              <a:t>&lt;</a:t>
            </a:r>
            <a:r>
              <a:rPr lang="zh-CN" altLang="en-US" dirty="0" smtClean="0"/>
              <a:t>语句标号</a:t>
            </a:r>
            <a:r>
              <a:rPr lang="en-US" altLang="zh-CN" dirty="0" smtClean="0">
                <a:cs typeface="Times New Roman" pitchFamily="18" charset="0"/>
              </a:rPr>
              <a:t>&gt;</a:t>
            </a:r>
            <a:r>
              <a:rPr lang="zh-CN" altLang="en-US" dirty="0" smtClean="0"/>
              <a:t>为标识符，它可以定义在任何语句的前面，其定义格式为：</a:t>
            </a:r>
            <a:endParaRPr lang="zh-CN" altLang="en-US" dirty="0" smtClean="0">
              <a:cs typeface="Times New Roman" pitchFamily="18" charset="0"/>
            </a:endParaRPr>
          </a:p>
          <a:p>
            <a:pPr lvl="1" eaLnBrk="1" hangingPunct="1">
              <a:lnSpc>
                <a:spcPct val="130000"/>
              </a:lnSpc>
              <a:buFontTx/>
              <a:buNone/>
              <a:defRPr/>
            </a:pPr>
            <a:r>
              <a:rPr lang="zh-CN" altLang="en-US" sz="2400" dirty="0" smtClean="0">
                <a:cs typeface="Courier New" pitchFamily="49" charset="0"/>
              </a:rPr>
              <a:t>	</a:t>
            </a:r>
            <a:r>
              <a:rPr lang="en-US" altLang="zh-CN" sz="2400" dirty="0" smtClean="0">
                <a:cs typeface="Courier New" pitchFamily="49" charset="0"/>
              </a:rPr>
              <a:t>	&lt;</a:t>
            </a:r>
            <a:r>
              <a:rPr lang="zh-CN" altLang="en-US" sz="2400" dirty="0" smtClean="0"/>
              <a:t>语句标号</a:t>
            </a:r>
            <a:r>
              <a:rPr lang="en-US" altLang="zh-CN" sz="2400" dirty="0" smtClean="0">
                <a:cs typeface="Courier New" pitchFamily="49" charset="0"/>
              </a:rPr>
              <a:t>&gt;</a:t>
            </a:r>
            <a:r>
              <a:rPr lang="en-US" altLang="zh-CN" sz="2400" b="1" dirty="0" smtClean="0">
                <a:solidFill>
                  <a:srgbClr val="FFC000"/>
                </a:solidFill>
              </a:rPr>
              <a:t>:</a:t>
            </a:r>
            <a:r>
              <a:rPr lang="en-US" altLang="zh-CN" sz="2400" dirty="0" smtClean="0"/>
              <a:t> </a:t>
            </a:r>
            <a:r>
              <a:rPr lang="en-US" altLang="zh-CN" sz="2400" dirty="0" smtClean="0">
                <a:cs typeface="Courier New" pitchFamily="49" charset="0"/>
              </a:rPr>
              <a:t>&lt;</a:t>
            </a:r>
            <a:r>
              <a:rPr lang="zh-CN" altLang="en-US" sz="2400" dirty="0" smtClean="0"/>
              <a:t>语句</a:t>
            </a:r>
            <a:r>
              <a:rPr lang="en-US" altLang="zh-CN" sz="2400" dirty="0" smtClean="0">
                <a:cs typeface="Courier New" pitchFamily="49" charset="0"/>
              </a:rPr>
              <a:t>&gt;</a:t>
            </a:r>
          </a:p>
          <a:p>
            <a:pPr eaLnBrk="1" hangingPunct="1">
              <a:defRPr/>
            </a:pPr>
            <a:r>
              <a:rPr lang="en-US" altLang="zh-CN" sz="2800" dirty="0" err="1" smtClean="0">
                <a:cs typeface="Courier New" pitchFamily="49" charset="0"/>
              </a:rPr>
              <a:t>goto</a:t>
            </a:r>
            <a:r>
              <a:rPr lang="zh-CN" altLang="en-US" sz="2800" dirty="0" smtClean="0">
                <a:cs typeface="Courier New" pitchFamily="49" charset="0"/>
              </a:rPr>
              <a:t>的含义是：</a:t>
            </a:r>
            <a:endParaRPr lang="en-US" altLang="zh-CN" sz="2800" dirty="0" smtClean="0">
              <a:cs typeface="Courier New" pitchFamily="49" charset="0"/>
            </a:endParaRPr>
          </a:p>
          <a:p>
            <a:pPr lvl="1" eaLnBrk="1" hangingPunct="1">
              <a:defRPr/>
            </a:pPr>
            <a:r>
              <a:rPr lang="zh-CN" altLang="en-US" sz="2400" dirty="0" smtClean="0">
                <a:cs typeface="Courier New" pitchFamily="49" charset="0"/>
              </a:rPr>
              <a:t>程序转移到带有</a:t>
            </a:r>
            <a:r>
              <a:rPr lang="en-US" altLang="zh-CN" sz="2400" dirty="0" smtClean="0">
                <a:cs typeface="Courier New" pitchFamily="49" charset="0"/>
              </a:rPr>
              <a:t>&lt;</a:t>
            </a:r>
            <a:r>
              <a:rPr lang="zh-CN" altLang="en-US" sz="2400" dirty="0" smtClean="0">
                <a:cs typeface="Courier New" pitchFamily="49" charset="0"/>
              </a:rPr>
              <a:t>语句标号</a:t>
            </a:r>
            <a:r>
              <a:rPr lang="en-US" altLang="zh-CN" sz="2400" dirty="0" smtClean="0">
                <a:cs typeface="Courier New" pitchFamily="49" charset="0"/>
              </a:rPr>
              <a:t>&gt;</a:t>
            </a:r>
            <a:r>
              <a:rPr lang="zh-CN" altLang="en-US" sz="2400" dirty="0" smtClean="0">
                <a:cs typeface="Courier New" pitchFamily="49" charset="0"/>
              </a:rPr>
              <a:t>的语句去执行</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457200" y="115888"/>
            <a:ext cx="8229600" cy="1139825"/>
          </a:xfrm>
        </p:spPr>
        <p:txBody>
          <a:bodyPr/>
          <a:lstStyle/>
          <a:p>
            <a:pPr eaLnBrk="1" hangingPunct="1">
              <a:defRPr/>
            </a:pPr>
            <a:r>
              <a:rPr lang="zh-CN" altLang="en-US" smtClean="0"/>
              <a:t>用</a:t>
            </a:r>
            <a:r>
              <a:rPr lang="en-US" altLang="zh-CN" smtClean="0"/>
              <a:t>goto</a:t>
            </a:r>
            <a:r>
              <a:rPr lang="zh-CN" altLang="en-US" smtClean="0"/>
              <a:t>语句求</a:t>
            </a:r>
            <a:r>
              <a:rPr lang="en-US" altLang="zh-CN" smtClean="0"/>
              <a:t>n! </a:t>
            </a:r>
          </a:p>
        </p:txBody>
      </p:sp>
      <p:sp>
        <p:nvSpPr>
          <p:cNvPr id="206851" name="Rectangle 3"/>
          <p:cNvSpPr>
            <a:spLocks noGrp="1" noChangeArrowheads="1"/>
          </p:cNvSpPr>
          <p:nvPr>
            <p:ph type="body" idx="1"/>
          </p:nvPr>
        </p:nvSpPr>
        <p:spPr>
          <a:xfrm>
            <a:off x="250825" y="1484313"/>
            <a:ext cx="8686800" cy="5257800"/>
          </a:xfrm>
        </p:spPr>
        <p:txBody>
          <a:bodyPr/>
          <a:lstStyle/>
          <a:p>
            <a:pPr eaLnBrk="1" hangingPunct="1">
              <a:lnSpc>
                <a:spcPct val="9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a:t>
            </a:r>
          </a:p>
          <a:p>
            <a:pPr eaLnBrk="1" hangingPunct="1">
              <a:lnSpc>
                <a:spcPct val="9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a:t>
            </a:r>
          </a:p>
          <a:p>
            <a:pPr eaLnBrk="1" hangingPunct="1">
              <a:lnSpc>
                <a:spcPct val="90000"/>
              </a:lnSpc>
              <a:buFont typeface="Wingdings" pitchFamily="2" charset="2"/>
              <a:buNone/>
              <a:defRPr/>
            </a:pPr>
            <a:r>
              <a:rPr lang="en-US" altLang="zh-CN" sz="2400" dirty="0" err="1" smtClean="0"/>
              <a:t>int</a:t>
            </a:r>
            <a:r>
              <a:rPr lang="en-US" altLang="zh-CN" sz="2400" dirty="0" smtClean="0"/>
              <a:t> main()</a:t>
            </a:r>
          </a:p>
          <a:p>
            <a:pPr eaLnBrk="1" hangingPunct="1">
              <a:lnSpc>
                <a:spcPct val="90000"/>
              </a:lnSpc>
              <a:buFont typeface="Wingdings" pitchFamily="2" charset="2"/>
              <a:buNone/>
              <a:defRPr/>
            </a:pPr>
            <a:r>
              <a:rPr lang="en-US" altLang="zh-CN" sz="2400" dirty="0" smtClean="0"/>
              <a:t>{	</a:t>
            </a:r>
            <a:r>
              <a:rPr lang="en-US" altLang="zh-CN" sz="2400" dirty="0" err="1" smtClean="0"/>
              <a:t>int</a:t>
            </a:r>
            <a:r>
              <a:rPr lang="en-US" altLang="zh-CN" sz="2400" dirty="0" smtClean="0"/>
              <a:t> n;</a:t>
            </a:r>
          </a:p>
          <a:p>
            <a:pPr eaLnBrk="1" hangingPunct="1">
              <a:lnSpc>
                <a:spcPct val="90000"/>
              </a:lnSpc>
              <a:buFont typeface="Wingdings" pitchFamily="2" charset="2"/>
              <a:buNone/>
              <a:defRPr/>
            </a:pPr>
            <a:r>
              <a:rPr lang="en-US" altLang="zh-CN" sz="2400" dirty="0" smtClean="0"/>
              <a:t>	</a:t>
            </a:r>
            <a:r>
              <a:rPr lang="en-US" altLang="zh-CN" sz="2400" dirty="0" err="1" smtClean="0"/>
              <a:t>cin</a:t>
            </a:r>
            <a:r>
              <a:rPr lang="en-US" altLang="zh-CN" sz="2400" dirty="0" smtClean="0"/>
              <a:t> &gt;&gt; n;</a:t>
            </a:r>
          </a:p>
          <a:p>
            <a:pPr eaLnBrk="1" hangingPunct="1">
              <a:lnSpc>
                <a:spcPct val="90000"/>
              </a:lnSpc>
              <a:buFont typeface="Wingdings" pitchFamily="2" charset="2"/>
              <a:buNone/>
              <a:defRPr/>
            </a:pPr>
            <a:r>
              <a:rPr lang="en-US" altLang="zh-CN" sz="2400" dirty="0" smtClean="0"/>
              <a:t>	</a:t>
            </a:r>
            <a:r>
              <a:rPr lang="en-US" altLang="zh-CN" sz="2400" dirty="0" err="1" smtClean="0"/>
              <a:t>int</a:t>
            </a:r>
            <a:r>
              <a:rPr lang="en-US" altLang="zh-CN" sz="2400" dirty="0" smtClean="0"/>
              <a:t> </a:t>
            </a:r>
            <a:r>
              <a:rPr lang="en-US" altLang="zh-CN" sz="2400" dirty="0" err="1" smtClean="0"/>
              <a:t>i</a:t>
            </a:r>
            <a:r>
              <a:rPr lang="en-US" altLang="zh-CN" sz="2400" dirty="0" smtClean="0"/>
              <a:t>=1,f=1;</a:t>
            </a:r>
          </a:p>
          <a:p>
            <a:pPr eaLnBrk="1" hangingPunct="1">
              <a:lnSpc>
                <a:spcPct val="90000"/>
              </a:lnSpc>
              <a:buNone/>
              <a:defRPr/>
            </a:pPr>
            <a:r>
              <a:rPr lang="en-US" altLang="zh-CN" sz="2400" dirty="0" smtClean="0">
                <a:solidFill>
                  <a:srgbClr val="FFC000"/>
                </a:solidFill>
              </a:rPr>
              <a:t>loop</a:t>
            </a:r>
            <a:r>
              <a:rPr lang="en-US" altLang="zh-CN" sz="2400" dirty="0" smtClean="0"/>
              <a:t>: </a:t>
            </a:r>
            <a:r>
              <a:rPr lang="en-US" altLang="zh-CN" sz="2400" dirty="0"/>
              <a:t>f *= </a:t>
            </a:r>
            <a:r>
              <a:rPr lang="en-US" altLang="zh-CN" sz="2400" dirty="0" err="1"/>
              <a:t>i</a:t>
            </a:r>
            <a:r>
              <a:rPr lang="en-US" altLang="zh-CN" sz="2400" dirty="0"/>
              <a:t>;</a:t>
            </a:r>
          </a:p>
          <a:p>
            <a:pPr eaLnBrk="1" hangingPunct="1">
              <a:lnSpc>
                <a:spcPct val="90000"/>
              </a:lnSpc>
              <a:buFont typeface="Wingdings" pitchFamily="2" charset="2"/>
              <a:buNone/>
              <a:defRPr/>
            </a:pPr>
            <a:r>
              <a:rPr lang="en-US" altLang="zh-CN" sz="2400" dirty="0" smtClean="0"/>
              <a:t>	</a:t>
            </a:r>
            <a:r>
              <a:rPr lang="en-US" altLang="zh-CN" sz="2400" dirty="0" err="1" smtClean="0"/>
              <a:t>i</a:t>
            </a:r>
            <a:r>
              <a:rPr lang="en-US" altLang="zh-CN" sz="2400" dirty="0" smtClean="0"/>
              <a:t>++;</a:t>
            </a:r>
          </a:p>
          <a:p>
            <a:pPr eaLnBrk="1" hangingPunct="1">
              <a:lnSpc>
                <a:spcPct val="90000"/>
              </a:lnSpc>
              <a:buFont typeface="Wingdings" pitchFamily="2" charset="2"/>
              <a:buNone/>
              <a:defRPr/>
            </a:pPr>
            <a:r>
              <a:rPr lang="en-US" altLang="zh-CN" sz="2400" dirty="0" smtClean="0"/>
              <a:t>	if (</a:t>
            </a:r>
            <a:r>
              <a:rPr lang="en-US" altLang="zh-CN" sz="2400" dirty="0" err="1" smtClean="0"/>
              <a:t>i</a:t>
            </a:r>
            <a:r>
              <a:rPr lang="en-US" altLang="zh-CN" sz="2400" dirty="0" smtClean="0"/>
              <a:t> &lt;= n) </a:t>
            </a:r>
            <a:r>
              <a:rPr lang="en-US" altLang="zh-CN" sz="2400" dirty="0" err="1" smtClean="0">
                <a:solidFill>
                  <a:srgbClr val="FFC000"/>
                </a:solidFill>
              </a:rPr>
              <a:t>goto</a:t>
            </a:r>
            <a:r>
              <a:rPr lang="en-US" altLang="zh-CN" sz="2400" dirty="0" smtClean="0">
                <a:solidFill>
                  <a:srgbClr val="FFC000"/>
                </a:solidFill>
              </a:rPr>
              <a:t> loop</a:t>
            </a:r>
            <a:r>
              <a:rPr lang="en-US" altLang="zh-CN" sz="2400" dirty="0" smtClean="0"/>
              <a:t>;</a:t>
            </a:r>
          </a:p>
          <a:p>
            <a:pPr eaLnBrk="1" hangingPunct="1">
              <a:lnSpc>
                <a:spcPct val="90000"/>
              </a:lnSpc>
              <a:buFont typeface="Wingdings" pitchFamily="2" charset="2"/>
              <a:buNone/>
              <a:defRPr/>
            </a:pPr>
            <a:r>
              <a:rPr lang="en-US" altLang="zh-CN" sz="2400" dirty="0" smtClean="0"/>
              <a:t>	</a:t>
            </a:r>
            <a:r>
              <a:rPr lang="en-US" altLang="zh-CN" sz="2400" dirty="0" err="1" smtClean="0"/>
              <a:t>cout</a:t>
            </a:r>
            <a:r>
              <a:rPr lang="en-US" altLang="zh-CN" sz="2400" dirty="0" smtClean="0"/>
              <a:t> &lt;&lt; "factorial of " &lt;&lt; n &lt;&lt; "=" &lt;&lt; f &lt;&lt; </a:t>
            </a:r>
            <a:r>
              <a:rPr lang="en-US" altLang="zh-CN" sz="2400" dirty="0" err="1" smtClean="0"/>
              <a:t>endl</a:t>
            </a:r>
            <a:r>
              <a:rPr lang="en-US" altLang="zh-CN" sz="2400" dirty="0" smtClean="0"/>
              <a:t>;</a:t>
            </a:r>
          </a:p>
          <a:p>
            <a:pPr eaLnBrk="1" hangingPunct="1">
              <a:lnSpc>
                <a:spcPct val="90000"/>
              </a:lnSpc>
              <a:buFont typeface="Wingdings" pitchFamily="2" charset="2"/>
              <a:buNone/>
              <a:defRPr/>
            </a:pPr>
            <a:r>
              <a:rPr lang="en-US" altLang="zh-CN" sz="2400" dirty="0" smtClean="0"/>
              <a:t>	return 0;</a:t>
            </a:r>
          </a:p>
          <a:p>
            <a:pPr eaLnBrk="1" hangingPunct="1">
              <a:lnSpc>
                <a:spcPct val="90000"/>
              </a:lnSpc>
              <a:buFont typeface="Wingdings" pitchFamily="2" charset="2"/>
              <a:buNone/>
              <a:defRPr/>
            </a:pPr>
            <a:r>
              <a:rPr lang="en-US" altLang="zh-CN" sz="2400" dirty="0" smtClean="0"/>
              <a:t>}</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1" name="Rectangle 3"/>
          <p:cNvSpPr>
            <a:spLocks noGrp="1" noChangeArrowheads="1"/>
          </p:cNvSpPr>
          <p:nvPr>
            <p:ph type="body" idx="1"/>
          </p:nvPr>
        </p:nvSpPr>
        <p:spPr>
          <a:xfrm>
            <a:off x="395536" y="764704"/>
            <a:ext cx="8352928" cy="5976664"/>
          </a:xfrm>
        </p:spPr>
        <p:txBody>
          <a:bodyPr>
            <a:normAutofit lnSpcReduction="10000"/>
          </a:bodyPr>
          <a:lstStyle/>
          <a:p>
            <a:pPr eaLnBrk="1" hangingPunct="1">
              <a:lnSpc>
                <a:spcPct val="120000"/>
              </a:lnSpc>
              <a:defRPr/>
            </a:pPr>
            <a:r>
              <a:rPr lang="en-US" altLang="zh-CN" sz="2400" dirty="0" err="1"/>
              <a:t>goto</a:t>
            </a:r>
            <a:r>
              <a:rPr lang="zh-CN" altLang="en-US" sz="2400" dirty="0"/>
              <a:t>语句</a:t>
            </a:r>
            <a:r>
              <a:rPr lang="zh-CN" altLang="en-US" sz="2400" dirty="0">
                <a:solidFill>
                  <a:srgbClr val="FFC000"/>
                </a:solidFill>
              </a:rPr>
              <a:t>不能掠过带有初始化的变量定义</a:t>
            </a:r>
            <a:r>
              <a:rPr lang="zh-CN" altLang="en-US" sz="2400" dirty="0" smtClean="0"/>
              <a:t>。</a:t>
            </a:r>
            <a:endParaRPr lang="en-US" altLang="zh-CN" sz="2400" dirty="0" smtClean="0"/>
          </a:p>
          <a:p>
            <a:pPr eaLnBrk="1" hangingPunct="1">
              <a:lnSpc>
                <a:spcPct val="120000"/>
              </a:lnSpc>
              <a:defRPr/>
            </a:pPr>
            <a:r>
              <a:rPr lang="zh-CN" altLang="en-US" sz="2400" dirty="0" smtClean="0"/>
              <a:t>例如：</a:t>
            </a:r>
            <a:endParaRPr lang="es-CL" altLang="zh-CN" sz="2400" dirty="0" smtClean="0"/>
          </a:p>
          <a:p>
            <a:pPr marL="717550" eaLnBrk="1" hangingPunct="1">
              <a:lnSpc>
                <a:spcPct val="120000"/>
              </a:lnSpc>
              <a:buNone/>
              <a:defRPr/>
            </a:pPr>
            <a:r>
              <a:rPr lang="es-CL" altLang="zh-CN" sz="2400" dirty="0" smtClean="0"/>
              <a:t>int </a:t>
            </a:r>
            <a:r>
              <a:rPr lang="es-CL" altLang="zh-CN" sz="2400" dirty="0"/>
              <a:t>main()</a:t>
            </a:r>
          </a:p>
          <a:p>
            <a:pPr marL="717550" eaLnBrk="1" hangingPunct="1">
              <a:lnSpc>
                <a:spcPct val="120000"/>
              </a:lnSpc>
              <a:buNone/>
              <a:defRPr/>
            </a:pPr>
            <a:r>
              <a:rPr lang="es-CL" altLang="zh-CN" sz="2400" dirty="0"/>
              <a:t>{	......</a:t>
            </a:r>
          </a:p>
          <a:p>
            <a:pPr marL="717550" eaLnBrk="1" hangingPunct="1">
              <a:lnSpc>
                <a:spcPct val="120000"/>
              </a:lnSpc>
              <a:buNone/>
              <a:defRPr/>
            </a:pPr>
            <a:r>
              <a:rPr lang="es-CL" altLang="zh-CN" sz="2400" dirty="0"/>
              <a:t>	</a:t>
            </a:r>
            <a:r>
              <a:rPr lang="es-CL" altLang="zh-CN" sz="2400" dirty="0" smtClean="0"/>
              <a:t>... goto L;  </a:t>
            </a:r>
            <a:r>
              <a:rPr lang="es-CL" altLang="zh-CN" sz="2400" dirty="0"/>
              <a:t>//</a:t>
            </a:r>
            <a:r>
              <a:rPr lang="es-CL" altLang="zh-CN" sz="2400" dirty="0">
                <a:solidFill>
                  <a:srgbClr val="FFC000"/>
                </a:solidFill>
              </a:rPr>
              <a:t>Error</a:t>
            </a:r>
          </a:p>
          <a:p>
            <a:pPr marL="717550" eaLnBrk="1" hangingPunct="1">
              <a:lnSpc>
                <a:spcPct val="120000"/>
              </a:lnSpc>
              <a:buNone/>
              <a:defRPr/>
            </a:pPr>
            <a:r>
              <a:rPr lang="es-CL" altLang="zh-CN" sz="2400" dirty="0"/>
              <a:t>	......</a:t>
            </a:r>
          </a:p>
          <a:p>
            <a:pPr marL="717550" eaLnBrk="1" hangingPunct="1">
              <a:lnSpc>
                <a:spcPct val="120000"/>
              </a:lnSpc>
              <a:buNone/>
              <a:defRPr/>
            </a:pPr>
            <a:r>
              <a:rPr lang="en-US" altLang="zh-CN" sz="2400" dirty="0"/>
              <a:t>	</a:t>
            </a:r>
            <a:r>
              <a:rPr lang="en-US" altLang="zh-CN" sz="2400" dirty="0" err="1"/>
              <a:t>int</a:t>
            </a:r>
            <a:r>
              <a:rPr lang="en-US" altLang="zh-CN" sz="2400" dirty="0"/>
              <a:t> </a:t>
            </a:r>
            <a:r>
              <a:rPr lang="en-US" altLang="zh-CN" sz="2400" dirty="0">
                <a:solidFill>
                  <a:srgbClr val="FFC000"/>
                </a:solidFill>
              </a:rPr>
              <a:t>x</a:t>
            </a:r>
            <a:r>
              <a:rPr lang="en-US" altLang="zh-CN" sz="2400" dirty="0"/>
              <a:t>=0; //</a:t>
            </a:r>
            <a:r>
              <a:rPr lang="zh-CN" altLang="en-US" sz="2400" dirty="0"/>
              <a:t>带有初始化的变量定义</a:t>
            </a:r>
            <a:endParaRPr lang="en-US" altLang="zh-CN" sz="2400" dirty="0"/>
          </a:p>
          <a:p>
            <a:pPr marL="717550" eaLnBrk="1" hangingPunct="1">
              <a:lnSpc>
                <a:spcPct val="120000"/>
              </a:lnSpc>
              <a:buNone/>
              <a:defRPr/>
            </a:pPr>
            <a:r>
              <a:rPr lang="en-US" altLang="zh-CN" sz="2400" dirty="0"/>
              <a:t>	</a:t>
            </a:r>
            <a:r>
              <a:rPr lang="en-US" altLang="zh-CN" sz="2400" dirty="0" smtClean="0"/>
              <a:t>L: ... </a:t>
            </a:r>
            <a:r>
              <a:rPr lang="en-US" altLang="zh-CN" sz="2400" dirty="0"/>
              <a:t>//</a:t>
            </a:r>
            <a:r>
              <a:rPr lang="zh-CN" altLang="en-US" sz="2400" dirty="0" smtClean="0"/>
              <a:t>这里</a:t>
            </a:r>
            <a:r>
              <a:rPr lang="zh-CN" altLang="en-US" sz="2400" dirty="0"/>
              <a:t>之后</a:t>
            </a:r>
            <a:r>
              <a:rPr lang="zh-CN" altLang="en-US" sz="2400" dirty="0" smtClean="0"/>
              <a:t>会</a:t>
            </a:r>
            <a:r>
              <a:rPr lang="zh-CN" altLang="en-US" sz="2400" dirty="0"/>
              <a:t>用到</a:t>
            </a:r>
            <a:r>
              <a:rPr lang="en-US" altLang="zh-CN" sz="2400" dirty="0"/>
              <a:t>x</a:t>
            </a:r>
          </a:p>
          <a:p>
            <a:pPr marL="717550" eaLnBrk="1" hangingPunct="1">
              <a:lnSpc>
                <a:spcPct val="120000"/>
              </a:lnSpc>
              <a:buNone/>
              <a:defRPr/>
            </a:pPr>
            <a:r>
              <a:rPr lang="en-US" altLang="zh-CN" sz="2400" dirty="0"/>
              <a:t>	......</a:t>
            </a:r>
          </a:p>
          <a:p>
            <a:pPr marL="717550" eaLnBrk="1" hangingPunct="1">
              <a:lnSpc>
                <a:spcPct val="120000"/>
              </a:lnSpc>
              <a:buNone/>
              <a:defRPr/>
            </a:pPr>
            <a:r>
              <a:rPr lang="en-US" altLang="zh-CN" sz="2400" dirty="0"/>
              <a:t>	</a:t>
            </a:r>
            <a:r>
              <a:rPr lang="en-US" altLang="zh-CN" sz="2400" dirty="0" smtClean="0"/>
              <a:t>... </a:t>
            </a:r>
            <a:r>
              <a:rPr lang="en-US" altLang="zh-CN" sz="2400" dirty="0" err="1" smtClean="0"/>
              <a:t>goto</a:t>
            </a:r>
            <a:r>
              <a:rPr lang="en-US" altLang="zh-CN" sz="2400" dirty="0" smtClean="0"/>
              <a:t> L; </a:t>
            </a:r>
            <a:r>
              <a:rPr lang="en-US" altLang="zh-CN" sz="2400" dirty="0"/>
              <a:t>//OK</a:t>
            </a:r>
          </a:p>
          <a:p>
            <a:pPr marL="717550" eaLnBrk="1" hangingPunct="1">
              <a:lnSpc>
                <a:spcPct val="120000"/>
              </a:lnSpc>
              <a:buNone/>
              <a:defRPr/>
            </a:pPr>
            <a:r>
              <a:rPr lang="en-US" altLang="zh-CN" sz="2400" dirty="0"/>
              <a:t>	......</a:t>
            </a:r>
          </a:p>
          <a:p>
            <a:pPr marL="717550" eaLnBrk="1" hangingPunct="1">
              <a:lnSpc>
                <a:spcPct val="120000"/>
              </a:lnSpc>
              <a:buNone/>
              <a:defRPr/>
            </a:pPr>
            <a:r>
              <a:rPr lang="en-US" altLang="zh-CN" sz="2400" dirty="0"/>
              <a:t>}</a:t>
            </a:r>
            <a:endParaRPr lang="en-US" altLang="zh-CN" sz="2400" dirty="0" smtClean="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3184" y="260648"/>
            <a:ext cx="8507288" cy="6408712"/>
          </a:xfrm>
        </p:spPr>
        <p:txBody>
          <a:bodyPr>
            <a:normAutofit fontScale="70000" lnSpcReduction="20000"/>
          </a:bodyPr>
          <a:lstStyle/>
          <a:p>
            <a:pPr eaLnBrk="1" hangingPunct="1">
              <a:defRPr/>
            </a:pPr>
            <a:r>
              <a:rPr lang="en-US" altLang="zh-CN" sz="3400" dirty="0" err="1"/>
              <a:t>goto</a:t>
            </a:r>
            <a:r>
              <a:rPr lang="zh-CN" altLang="en-US" sz="3400" dirty="0"/>
              <a:t>语句可以：</a:t>
            </a:r>
          </a:p>
          <a:p>
            <a:pPr lvl="1" eaLnBrk="1" hangingPunct="1">
              <a:defRPr/>
            </a:pPr>
            <a:r>
              <a:rPr lang="zh-CN" altLang="en-US" dirty="0"/>
              <a:t>从内层复合语句转到外层复合语句。</a:t>
            </a:r>
          </a:p>
          <a:p>
            <a:pPr lvl="1" eaLnBrk="1" hangingPunct="1">
              <a:defRPr/>
            </a:pPr>
            <a:r>
              <a:rPr lang="zh-CN" altLang="en-US" dirty="0"/>
              <a:t>从外层复合语句转入内层复合语句。</a:t>
            </a:r>
          </a:p>
          <a:p>
            <a:pPr eaLnBrk="1" hangingPunct="1">
              <a:defRPr/>
            </a:pPr>
            <a:r>
              <a:rPr lang="zh-CN" altLang="en-US" sz="3400" dirty="0" smtClean="0"/>
              <a:t>例如：</a:t>
            </a:r>
            <a:endParaRPr lang="es-CL" altLang="zh-CN" sz="3400" dirty="0" smtClean="0"/>
          </a:p>
          <a:p>
            <a:pPr marL="717550" eaLnBrk="1" hangingPunct="1">
              <a:lnSpc>
                <a:spcPct val="100000"/>
              </a:lnSpc>
              <a:buNone/>
              <a:defRPr/>
            </a:pPr>
            <a:r>
              <a:rPr lang="es-CL" altLang="zh-CN" dirty="0" smtClean="0"/>
              <a:t>int </a:t>
            </a:r>
            <a:r>
              <a:rPr lang="es-CL" altLang="zh-CN" dirty="0"/>
              <a:t>main()</a:t>
            </a:r>
          </a:p>
          <a:p>
            <a:pPr marL="717550" eaLnBrk="1" hangingPunct="1">
              <a:lnSpc>
                <a:spcPct val="100000"/>
              </a:lnSpc>
              <a:buNone/>
              <a:defRPr/>
            </a:pPr>
            <a:r>
              <a:rPr lang="es-CL" altLang="zh-CN" dirty="0"/>
              <a:t>{	......</a:t>
            </a:r>
          </a:p>
          <a:p>
            <a:pPr marL="717550" eaLnBrk="1" hangingPunct="1">
              <a:lnSpc>
                <a:spcPct val="100000"/>
              </a:lnSpc>
              <a:buNone/>
              <a:defRPr/>
            </a:pPr>
            <a:r>
              <a:rPr lang="es-CL" altLang="zh-CN" dirty="0"/>
              <a:t>	</a:t>
            </a:r>
            <a:r>
              <a:rPr lang="en-US" altLang="zh-CN" dirty="0" smtClean="0"/>
              <a:t>... </a:t>
            </a:r>
            <a:r>
              <a:rPr lang="es-CL" altLang="zh-CN" dirty="0" smtClean="0"/>
              <a:t>goto </a:t>
            </a:r>
            <a:r>
              <a:rPr lang="es-CL" altLang="zh-CN" dirty="0">
                <a:solidFill>
                  <a:srgbClr val="FFC000"/>
                </a:solidFill>
              </a:rPr>
              <a:t>L1</a:t>
            </a:r>
            <a:r>
              <a:rPr lang="es-CL" altLang="zh-CN" dirty="0"/>
              <a:t>;  //OK</a:t>
            </a:r>
            <a:endParaRPr lang="es-CL" altLang="zh-CN" dirty="0">
              <a:solidFill>
                <a:srgbClr val="FFC000"/>
              </a:solidFill>
            </a:endParaRPr>
          </a:p>
          <a:p>
            <a:pPr marL="717550" eaLnBrk="1" hangingPunct="1">
              <a:lnSpc>
                <a:spcPct val="100000"/>
              </a:lnSpc>
              <a:buNone/>
              <a:defRPr/>
            </a:pPr>
            <a:r>
              <a:rPr lang="es-CL" altLang="zh-CN" dirty="0"/>
              <a:t>	......</a:t>
            </a:r>
          </a:p>
          <a:p>
            <a:pPr marL="717550" eaLnBrk="1" hangingPunct="1">
              <a:lnSpc>
                <a:spcPct val="100000"/>
              </a:lnSpc>
              <a:buNone/>
              <a:defRPr/>
            </a:pPr>
            <a:r>
              <a:rPr lang="en-US" altLang="zh-CN" dirty="0"/>
              <a:t>	while (...)</a:t>
            </a:r>
          </a:p>
          <a:p>
            <a:pPr marL="717550" eaLnBrk="1" hangingPunct="1">
              <a:lnSpc>
                <a:spcPct val="100000"/>
              </a:lnSpc>
              <a:buNone/>
              <a:defRPr/>
            </a:pPr>
            <a:r>
              <a:rPr lang="en-US" altLang="zh-CN" dirty="0"/>
              <a:t>    { ......</a:t>
            </a:r>
          </a:p>
          <a:p>
            <a:pPr marL="717550" eaLnBrk="1" hangingPunct="1">
              <a:lnSpc>
                <a:spcPct val="100000"/>
              </a:lnSpc>
              <a:buNone/>
              <a:defRPr/>
            </a:pPr>
            <a:r>
              <a:rPr lang="en-US" altLang="zh-CN" dirty="0"/>
              <a:t>	   </a:t>
            </a:r>
            <a:r>
              <a:rPr lang="en-US" altLang="zh-CN" dirty="0">
                <a:solidFill>
                  <a:srgbClr val="FFC000"/>
                </a:solidFill>
              </a:rPr>
              <a:t>L1</a:t>
            </a:r>
            <a:r>
              <a:rPr lang="en-US" altLang="zh-CN" dirty="0"/>
              <a:t>: ...</a:t>
            </a:r>
          </a:p>
          <a:p>
            <a:pPr marL="717550" eaLnBrk="1" hangingPunct="1">
              <a:lnSpc>
                <a:spcPct val="100000"/>
              </a:lnSpc>
              <a:buNone/>
              <a:defRPr/>
            </a:pPr>
            <a:r>
              <a:rPr lang="en-US" altLang="zh-CN" dirty="0"/>
              <a:t>	   ......</a:t>
            </a:r>
          </a:p>
          <a:p>
            <a:pPr marL="717550" eaLnBrk="1" hangingPunct="1">
              <a:lnSpc>
                <a:spcPct val="100000"/>
              </a:lnSpc>
              <a:buNone/>
              <a:defRPr/>
            </a:pPr>
            <a:r>
              <a:rPr lang="en-US" altLang="zh-CN" dirty="0"/>
              <a:t>	   </a:t>
            </a:r>
            <a:r>
              <a:rPr lang="en-US" altLang="zh-CN" dirty="0" smtClean="0"/>
              <a:t>... </a:t>
            </a:r>
            <a:r>
              <a:rPr lang="en-US" altLang="zh-CN" dirty="0" err="1" smtClean="0"/>
              <a:t>goto</a:t>
            </a:r>
            <a:r>
              <a:rPr lang="en-US" altLang="zh-CN" dirty="0" smtClean="0"/>
              <a:t> </a:t>
            </a:r>
            <a:r>
              <a:rPr lang="en-US" altLang="zh-CN" dirty="0">
                <a:solidFill>
                  <a:srgbClr val="92D050"/>
                </a:solidFill>
              </a:rPr>
              <a:t>L2</a:t>
            </a:r>
            <a:r>
              <a:rPr lang="en-US" altLang="zh-CN" dirty="0"/>
              <a:t>; //OK</a:t>
            </a:r>
          </a:p>
          <a:p>
            <a:pPr marL="717550" eaLnBrk="1" hangingPunct="1">
              <a:lnSpc>
                <a:spcPct val="100000"/>
              </a:lnSpc>
              <a:buNone/>
              <a:defRPr/>
            </a:pPr>
            <a:r>
              <a:rPr lang="en-US" altLang="zh-CN" dirty="0"/>
              <a:t>	   ......</a:t>
            </a:r>
          </a:p>
          <a:p>
            <a:pPr marL="717550" eaLnBrk="1" hangingPunct="1">
              <a:lnSpc>
                <a:spcPct val="100000"/>
              </a:lnSpc>
              <a:buNone/>
              <a:defRPr/>
            </a:pPr>
            <a:r>
              <a:rPr lang="en-US" altLang="zh-CN" dirty="0"/>
              <a:t>    }</a:t>
            </a:r>
          </a:p>
          <a:p>
            <a:pPr marL="717550" eaLnBrk="1" hangingPunct="1">
              <a:lnSpc>
                <a:spcPct val="100000"/>
              </a:lnSpc>
              <a:buNone/>
              <a:defRPr/>
            </a:pPr>
            <a:r>
              <a:rPr lang="en-US" altLang="zh-CN" dirty="0"/>
              <a:t>    </a:t>
            </a:r>
            <a:r>
              <a:rPr lang="en-US" altLang="zh-CN" dirty="0">
                <a:solidFill>
                  <a:srgbClr val="92D050"/>
                </a:solidFill>
              </a:rPr>
              <a:t>L2</a:t>
            </a:r>
            <a:r>
              <a:rPr lang="en-US" altLang="zh-CN" dirty="0"/>
              <a:t>: ...</a:t>
            </a:r>
          </a:p>
          <a:p>
            <a:pPr marL="717550" eaLnBrk="1" hangingPunct="1">
              <a:lnSpc>
                <a:spcPct val="100000"/>
              </a:lnSpc>
              <a:buNone/>
              <a:defRPr/>
            </a:pPr>
            <a:r>
              <a:rPr lang="en-US" altLang="zh-CN" dirty="0"/>
              <a:t>    ......</a:t>
            </a:r>
          </a:p>
          <a:p>
            <a:pPr marL="717550" eaLnBrk="1" hangingPunct="1">
              <a:lnSpc>
                <a:spcPct val="100000"/>
              </a:lnSpc>
              <a:buNone/>
              <a:defRPr/>
            </a:pPr>
            <a:r>
              <a:rPr lang="en-US" altLang="zh-CN" dirty="0"/>
              <a:t>}</a:t>
            </a:r>
            <a:r>
              <a:rPr lang="es-CL" altLang="zh-CN" dirty="0"/>
              <a:t> </a:t>
            </a:r>
          </a:p>
          <a:p>
            <a:endParaRPr lang="zh-CN" altLang="en-US" dirty="0"/>
          </a:p>
        </p:txBody>
      </p:sp>
    </p:spTree>
    <p:extLst>
      <p:ext uri="{BB962C8B-B14F-4D97-AF65-F5344CB8AC3E}">
        <p14:creationId xmlns:p14="http://schemas.microsoft.com/office/powerpoint/2010/main" val="14025082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976664"/>
          </a:xfrm>
        </p:spPr>
        <p:txBody>
          <a:bodyPr>
            <a:normAutofit/>
          </a:bodyPr>
          <a:lstStyle/>
          <a:p>
            <a:pPr eaLnBrk="1" hangingPunct="1"/>
            <a:r>
              <a:rPr lang="zh-CN" altLang="en-US" dirty="0" smtClean="0"/>
              <a:t>虽然，</a:t>
            </a:r>
            <a:endParaRPr lang="en-US" altLang="zh-CN" dirty="0" smtClean="0"/>
          </a:p>
          <a:p>
            <a:pPr lvl="1" eaLnBrk="1" hangingPunct="1"/>
            <a:r>
              <a:rPr lang="zh-CN" altLang="en-US" dirty="0" smtClean="0"/>
              <a:t>只要有</a:t>
            </a:r>
            <a:r>
              <a:rPr lang="en-US" altLang="zh-CN" dirty="0" err="1" smtClean="0"/>
              <a:t>goto</a:t>
            </a:r>
            <a:r>
              <a:rPr lang="zh-CN" altLang="en-US" dirty="0" smtClean="0"/>
              <a:t>语句和</a:t>
            </a:r>
            <a:r>
              <a:rPr lang="en-US" altLang="zh-CN" dirty="0" smtClean="0"/>
              <a:t>if</a:t>
            </a:r>
            <a:r>
              <a:rPr lang="zh-CN" altLang="en-US" dirty="0" smtClean="0"/>
              <a:t>语句，所有的循环语句都可以不要了。</a:t>
            </a:r>
            <a:endParaRPr lang="en-US" altLang="zh-CN" dirty="0" smtClean="0"/>
          </a:p>
          <a:p>
            <a:pPr lvl="1" eaLnBrk="1" hangingPunct="1"/>
            <a:r>
              <a:rPr lang="zh-CN" altLang="en-US" dirty="0" smtClean="0"/>
              <a:t>用</a:t>
            </a:r>
            <a:r>
              <a:rPr lang="en-US" altLang="zh-CN" dirty="0" err="1" smtClean="0"/>
              <a:t>goto</a:t>
            </a:r>
            <a:r>
              <a:rPr lang="zh-CN" altLang="en-US" dirty="0" smtClean="0"/>
              <a:t>语句来实现循环</a:t>
            </a:r>
            <a:r>
              <a:rPr lang="zh-CN" altLang="en-US" dirty="0"/>
              <a:t>有时</a:t>
            </a:r>
            <a:r>
              <a:rPr lang="zh-CN" altLang="en-US" dirty="0" smtClean="0"/>
              <a:t>会更加</a:t>
            </a:r>
            <a:r>
              <a:rPr lang="zh-CN" altLang="en-US" dirty="0" smtClean="0">
                <a:solidFill>
                  <a:srgbClr val="FFC000"/>
                </a:solidFill>
              </a:rPr>
              <a:t>方便</a:t>
            </a:r>
            <a:r>
              <a:rPr lang="zh-CN" altLang="en-US" dirty="0" smtClean="0"/>
              <a:t>和</a:t>
            </a:r>
            <a:r>
              <a:rPr lang="zh-CN" altLang="en-US" dirty="0" smtClean="0">
                <a:solidFill>
                  <a:srgbClr val="FFC000"/>
                </a:solidFill>
              </a:rPr>
              <a:t>高效</a:t>
            </a:r>
            <a:r>
              <a:rPr lang="zh-CN" altLang="en-US" dirty="0" smtClean="0"/>
              <a:t>。</a:t>
            </a:r>
            <a:endParaRPr lang="en-US" altLang="zh-CN" dirty="0" smtClean="0"/>
          </a:p>
          <a:p>
            <a:pPr eaLnBrk="1" hangingPunct="1"/>
            <a:r>
              <a:rPr lang="zh-CN" altLang="en-US" dirty="0" smtClean="0"/>
              <a:t>但是，</a:t>
            </a:r>
            <a:endParaRPr lang="en-US" altLang="zh-CN" dirty="0" smtClean="0"/>
          </a:p>
          <a:p>
            <a:pPr lvl="1" eaLnBrk="1" hangingPunct="1"/>
            <a:r>
              <a:rPr lang="en-US" altLang="zh-CN" dirty="0" err="1" smtClean="0"/>
              <a:t>goto</a:t>
            </a:r>
            <a:r>
              <a:rPr lang="zh-CN" altLang="en-US" dirty="0" smtClean="0"/>
              <a:t>语句太灵活，</a:t>
            </a:r>
            <a:r>
              <a:rPr lang="zh-CN" altLang="en-US" dirty="0" smtClean="0">
                <a:solidFill>
                  <a:srgbClr val="FFC000"/>
                </a:solidFill>
              </a:rPr>
              <a:t>使用不当</a:t>
            </a:r>
            <a:r>
              <a:rPr lang="zh-CN" altLang="en-US" dirty="0" smtClean="0"/>
              <a:t>会使得程序的结构不好，容易出错，也不利于维护！</a:t>
            </a:r>
            <a:endParaRPr lang="en-US" altLang="zh-CN" dirty="0" smtClean="0"/>
          </a:p>
          <a:p>
            <a:pPr lvl="1" eaLnBrk="1" hangingPunct="1"/>
            <a:r>
              <a:rPr lang="zh-CN" altLang="en-US" dirty="0" smtClean="0">
                <a:solidFill>
                  <a:srgbClr val="FFC000"/>
                </a:solidFill>
              </a:rPr>
              <a:t>大范围</a:t>
            </a:r>
            <a:r>
              <a:rPr lang="zh-CN" altLang="en-US" dirty="0" smtClean="0"/>
              <a:t>的</a:t>
            </a:r>
            <a:r>
              <a:rPr lang="en-US" altLang="zh-CN" dirty="0" err="1" smtClean="0"/>
              <a:t>goto</a:t>
            </a:r>
            <a:r>
              <a:rPr lang="zh-CN" altLang="en-US" dirty="0" smtClean="0"/>
              <a:t>语句可能会导致程序效率下降！（</a:t>
            </a:r>
            <a:r>
              <a:rPr lang="zh-CN" altLang="en-US" dirty="0" smtClean="0">
                <a:solidFill>
                  <a:srgbClr val="FFC000"/>
                </a:solidFill>
              </a:rPr>
              <a:t>为什么？</a:t>
            </a:r>
            <a:r>
              <a:rPr lang="zh-CN" altLang="en-US" dirty="0" smtClean="0"/>
              <a:t>）</a:t>
            </a:r>
            <a:endParaRPr lang="en-US" altLang="zh-CN" dirty="0" smtClean="0"/>
          </a:p>
        </p:txBody>
      </p:sp>
    </p:spTree>
    <p:extLst>
      <p:ext uri="{BB962C8B-B14F-4D97-AF65-F5344CB8AC3E}">
        <p14:creationId xmlns:p14="http://schemas.microsoft.com/office/powerpoint/2010/main" val="6476048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eaLnBrk="1" hangingPunct="1"/>
            <a:r>
              <a:rPr lang="en-US" altLang="zh-CN" dirty="0" err="1"/>
              <a:t>goto</a:t>
            </a:r>
            <a:r>
              <a:rPr lang="zh-CN" altLang="en-US" dirty="0"/>
              <a:t>语句属于</a:t>
            </a:r>
            <a:r>
              <a:rPr lang="zh-CN" altLang="en-US" dirty="0">
                <a:solidFill>
                  <a:srgbClr val="FFC000"/>
                </a:solidFill>
              </a:rPr>
              <a:t>非结构化</a:t>
            </a:r>
            <a:r>
              <a:rPr lang="zh-CN" altLang="en-US" dirty="0"/>
              <a:t>的无条件转移控制</a:t>
            </a:r>
            <a:r>
              <a:rPr lang="zh-CN" altLang="en-US" dirty="0" smtClean="0"/>
              <a:t>，由于它太灵活，</a:t>
            </a:r>
            <a:r>
              <a:rPr lang="en-US" altLang="zh-CN" dirty="0"/>
              <a:t>C++</a:t>
            </a:r>
            <a:r>
              <a:rPr lang="zh-CN" altLang="en-US" dirty="0"/>
              <a:t>还</a:t>
            </a:r>
            <a:r>
              <a:rPr lang="zh-CN" altLang="en-US" dirty="0" smtClean="0"/>
              <a:t>提供了两个有限制的</a:t>
            </a:r>
            <a:r>
              <a:rPr lang="zh-CN" altLang="en-US" dirty="0" smtClean="0">
                <a:solidFill>
                  <a:srgbClr val="FFC000"/>
                </a:solidFill>
              </a:rPr>
              <a:t>半</a:t>
            </a:r>
            <a:r>
              <a:rPr lang="zh-CN" altLang="en-US" dirty="0">
                <a:solidFill>
                  <a:srgbClr val="FFC000"/>
                </a:solidFill>
              </a:rPr>
              <a:t>结构化</a:t>
            </a:r>
            <a:r>
              <a:rPr lang="zh-CN" altLang="en-US" dirty="0"/>
              <a:t>的无条件转移控制：</a:t>
            </a:r>
            <a:endParaRPr lang="en-US" altLang="zh-CN" dirty="0"/>
          </a:p>
          <a:p>
            <a:pPr lvl="1" eaLnBrk="1" hangingPunct="1"/>
            <a:r>
              <a:rPr lang="en-US" altLang="zh-CN" dirty="0"/>
              <a:t>break</a:t>
            </a:r>
            <a:r>
              <a:rPr lang="zh-CN" altLang="en-US" dirty="0"/>
              <a:t>语句</a:t>
            </a:r>
            <a:endParaRPr lang="en-US" altLang="zh-CN" dirty="0"/>
          </a:p>
          <a:p>
            <a:pPr lvl="1" eaLnBrk="1" hangingPunct="1"/>
            <a:r>
              <a:rPr lang="en-US" altLang="zh-CN" dirty="0"/>
              <a:t>continue</a:t>
            </a:r>
            <a:r>
              <a:rPr lang="zh-CN" altLang="en-US" dirty="0"/>
              <a:t>语句</a:t>
            </a:r>
          </a:p>
          <a:p>
            <a:endParaRPr lang="zh-CN" altLang="en-US" dirty="0"/>
          </a:p>
        </p:txBody>
      </p:sp>
    </p:spTree>
    <p:extLst>
      <p:ext uri="{BB962C8B-B14F-4D97-AF65-F5344CB8AC3E}">
        <p14:creationId xmlns:p14="http://schemas.microsoft.com/office/powerpoint/2010/main" val="349856348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5800" y="115888"/>
            <a:ext cx="7772400" cy="1143000"/>
          </a:xfrm>
        </p:spPr>
        <p:txBody>
          <a:bodyPr/>
          <a:lstStyle/>
          <a:p>
            <a:pPr eaLnBrk="1" hangingPunct="1">
              <a:defRPr/>
            </a:pPr>
            <a:r>
              <a:rPr lang="en-US" altLang="zh-CN" smtClean="0"/>
              <a:t>break</a:t>
            </a:r>
            <a:r>
              <a:rPr lang="zh-CN" altLang="en-US" smtClean="0"/>
              <a:t>语句 </a:t>
            </a:r>
          </a:p>
        </p:txBody>
      </p:sp>
      <p:sp>
        <p:nvSpPr>
          <p:cNvPr id="30723" name="Rectangle 3"/>
          <p:cNvSpPr>
            <a:spLocks noGrp="1" noChangeArrowheads="1"/>
          </p:cNvSpPr>
          <p:nvPr>
            <p:ph type="body" idx="1"/>
          </p:nvPr>
        </p:nvSpPr>
        <p:spPr>
          <a:xfrm>
            <a:off x="228600" y="1412875"/>
            <a:ext cx="8664575" cy="5256213"/>
          </a:xfrm>
        </p:spPr>
        <p:txBody>
          <a:bodyPr/>
          <a:lstStyle/>
          <a:p>
            <a:pPr algn="just" eaLnBrk="1" hangingPunct="1">
              <a:defRPr/>
            </a:pPr>
            <a:r>
              <a:rPr lang="en-US" altLang="zh-CN" dirty="0" smtClean="0">
                <a:cs typeface="Times New Roman" pitchFamily="18" charset="0"/>
              </a:rPr>
              <a:t>break</a:t>
            </a:r>
            <a:r>
              <a:rPr lang="zh-CN" altLang="en-US" dirty="0" smtClean="0"/>
              <a:t>语句的格式：</a:t>
            </a:r>
          </a:p>
          <a:p>
            <a:pPr lvl="1" algn="just" eaLnBrk="1" hangingPunct="1">
              <a:buFontTx/>
              <a:buNone/>
              <a:defRPr/>
            </a:pPr>
            <a:r>
              <a:rPr lang="zh-CN" altLang="en-US" dirty="0" smtClean="0"/>
              <a:t>	</a:t>
            </a:r>
            <a:r>
              <a:rPr lang="en-US" altLang="zh-CN" b="1" dirty="0" smtClean="0">
                <a:solidFill>
                  <a:srgbClr val="FFC000"/>
                </a:solidFill>
              </a:rPr>
              <a:t>break;</a:t>
            </a:r>
            <a:r>
              <a:rPr lang="en-US" altLang="zh-CN" dirty="0" smtClean="0"/>
              <a:t> </a:t>
            </a:r>
          </a:p>
          <a:p>
            <a:pPr algn="just" eaLnBrk="1" hangingPunct="1">
              <a:defRPr/>
            </a:pPr>
            <a:r>
              <a:rPr lang="en-US" altLang="zh-CN" dirty="0" smtClean="0">
                <a:cs typeface="Times New Roman" pitchFamily="18" charset="0"/>
              </a:rPr>
              <a:t>break</a:t>
            </a:r>
            <a:r>
              <a:rPr lang="zh-CN" altLang="en-US" dirty="0" smtClean="0"/>
              <a:t>语句的使用场合和含义有两个：</a:t>
            </a:r>
          </a:p>
          <a:p>
            <a:pPr lvl="1" algn="just" eaLnBrk="1" hangingPunct="1">
              <a:defRPr/>
            </a:pPr>
            <a:r>
              <a:rPr lang="zh-CN" altLang="en-US" sz="2400" dirty="0" smtClean="0"/>
              <a:t>在</a:t>
            </a:r>
            <a:r>
              <a:rPr lang="en-US" altLang="zh-CN" sz="2400" dirty="0" smtClean="0"/>
              <a:t>switch</a:t>
            </a:r>
            <a:r>
              <a:rPr lang="zh-CN" altLang="en-US" sz="2400" dirty="0" smtClean="0"/>
              <a:t>语句中，结束</a:t>
            </a:r>
            <a:r>
              <a:rPr lang="en-US" altLang="zh-CN" sz="2400" dirty="0" smtClean="0">
                <a:cs typeface="Times New Roman" pitchFamily="18" charset="0"/>
              </a:rPr>
              <a:t>switch</a:t>
            </a:r>
            <a:r>
              <a:rPr lang="zh-CN" altLang="en-US" sz="2400" dirty="0" smtClean="0"/>
              <a:t>语句的某个分支的执行。</a:t>
            </a:r>
            <a:endParaRPr lang="zh-CN" altLang="en-US" sz="2400" dirty="0" smtClean="0">
              <a:cs typeface="Times New Roman" pitchFamily="18" charset="0"/>
            </a:endParaRPr>
          </a:p>
          <a:p>
            <a:pPr lvl="1" algn="just" eaLnBrk="1" hangingPunct="1">
              <a:defRPr/>
            </a:pPr>
            <a:r>
              <a:rPr lang="zh-CN" altLang="en-US" sz="2400" dirty="0" smtClean="0"/>
              <a:t>在循环体中</a:t>
            </a:r>
            <a:r>
              <a:rPr lang="zh-CN" altLang="en-US" sz="2400" dirty="0"/>
              <a:t>，立即跳出（结束）循环，循环体中跟在</a:t>
            </a:r>
            <a:r>
              <a:rPr lang="en-US" altLang="zh-CN" sz="2400" dirty="0"/>
              <a:t>break</a:t>
            </a:r>
            <a:r>
              <a:rPr lang="zh-CN" altLang="en-US" sz="2400" dirty="0"/>
              <a:t>语句后面的语句将不再执行，程序继续执行循环之后的语句。</a:t>
            </a:r>
            <a:endParaRPr lang="en-US" altLang="zh-CN" sz="2400" dirty="0"/>
          </a:p>
          <a:p>
            <a:pPr algn="just" eaLnBrk="1" hangingPunct="1">
              <a:defRPr/>
            </a:pPr>
            <a:r>
              <a:rPr lang="zh-CN" altLang="en-US" sz="2800" dirty="0" smtClean="0"/>
              <a:t>在</a:t>
            </a:r>
            <a:r>
              <a:rPr lang="zh-CN" altLang="en-US" sz="2800" dirty="0"/>
              <a:t>循环体中，</a:t>
            </a:r>
            <a:r>
              <a:rPr lang="en-US" altLang="zh-CN" sz="2800" dirty="0"/>
              <a:t>break</a:t>
            </a:r>
            <a:r>
              <a:rPr lang="zh-CN" altLang="en-US" sz="2800" dirty="0"/>
              <a:t>语句一般作为某个</a:t>
            </a:r>
            <a:r>
              <a:rPr lang="en-US" altLang="zh-CN" sz="2800" dirty="0"/>
              <a:t>if</a:t>
            </a:r>
            <a:r>
              <a:rPr lang="zh-CN" altLang="en-US" sz="2800" dirty="0"/>
              <a:t>语句的</a:t>
            </a:r>
            <a:r>
              <a:rPr lang="zh-CN" altLang="en-US" sz="2800" dirty="0" smtClean="0"/>
              <a:t>子句。</a:t>
            </a:r>
            <a:endParaRPr lang="en-US" altLang="zh-CN" sz="2800" dirty="0" smtClean="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Rectangle 3"/>
          <p:cNvSpPr>
            <a:spLocks noGrp="1" noChangeArrowheads="1"/>
          </p:cNvSpPr>
          <p:nvPr>
            <p:ph type="body" idx="1"/>
          </p:nvPr>
        </p:nvSpPr>
        <p:spPr>
          <a:xfrm>
            <a:off x="457200" y="836712"/>
            <a:ext cx="8229600" cy="5616922"/>
          </a:xfrm>
        </p:spPr>
        <p:txBody>
          <a:bodyPr/>
          <a:lstStyle/>
          <a:p>
            <a:pPr eaLnBrk="1" hangingPunct="1">
              <a:lnSpc>
                <a:spcPct val="80000"/>
              </a:lnSpc>
              <a:defRPr/>
            </a:pPr>
            <a:r>
              <a:rPr lang="zh-CN" altLang="en-US" dirty="0"/>
              <a:t>用</a:t>
            </a:r>
            <a:r>
              <a:rPr lang="en-US" altLang="zh-CN" dirty="0" err="1"/>
              <a:t>goto</a:t>
            </a:r>
            <a:r>
              <a:rPr lang="zh-CN" altLang="en-US" dirty="0" smtClean="0"/>
              <a:t>语句解释</a:t>
            </a:r>
            <a:r>
              <a:rPr lang="en-US" altLang="zh-CN" dirty="0" smtClean="0"/>
              <a:t>break</a:t>
            </a:r>
            <a:r>
              <a:rPr lang="zh-CN" altLang="en-US" dirty="0"/>
              <a:t>语句的功能</a:t>
            </a:r>
            <a:endParaRPr lang="en-US" altLang="zh-CN" dirty="0" smtClean="0"/>
          </a:p>
          <a:p>
            <a:pPr eaLnBrk="1" hangingPunct="1">
              <a:lnSpc>
                <a:spcPct val="80000"/>
              </a:lnSpc>
              <a:buFont typeface="Wingdings" pitchFamily="2" charset="2"/>
              <a:buNone/>
              <a:defRPr/>
            </a:pPr>
            <a:endParaRPr lang="en-US" altLang="zh-CN" sz="2400" dirty="0" smtClean="0"/>
          </a:p>
          <a:p>
            <a:pPr eaLnBrk="1" hangingPunct="1">
              <a:lnSpc>
                <a:spcPct val="80000"/>
              </a:lnSpc>
              <a:buFont typeface="Wingdings" pitchFamily="2" charset="2"/>
              <a:buNone/>
              <a:defRPr/>
            </a:pPr>
            <a:r>
              <a:rPr lang="en-US" altLang="zh-CN" sz="2400" dirty="0" smtClean="0"/>
              <a:t>while (...)</a:t>
            </a:r>
          </a:p>
          <a:p>
            <a:pPr eaLnBrk="1" hangingPunct="1">
              <a:lnSpc>
                <a:spcPct val="80000"/>
              </a:lnSpc>
              <a:buFont typeface="Wingdings" pitchFamily="2" charset="2"/>
              <a:buNone/>
              <a:defRPr/>
            </a:pPr>
            <a:r>
              <a:rPr lang="en-US" altLang="zh-CN" sz="2400" dirty="0" smtClean="0"/>
              <a:t>{	......</a:t>
            </a:r>
          </a:p>
          <a:p>
            <a:pPr eaLnBrk="1" hangingPunct="1">
              <a:lnSpc>
                <a:spcPct val="80000"/>
              </a:lnSpc>
              <a:buFont typeface="Wingdings" pitchFamily="2" charset="2"/>
              <a:buNone/>
              <a:defRPr/>
            </a:pPr>
            <a:r>
              <a:rPr lang="en-US" altLang="zh-CN" sz="2400" dirty="0" smtClean="0"/>
              <a:t>	if (...) </a:t>
            </a:r>
            <a:r>
              <a:rPr lang="en-US" altLang="zh-CN" sz="2400" dirty="0" smtClean="0">
                <a:solidFill>
                  <a:srgbClr val="FFC000"/>
                </a:solidFill>
              </a:rPr>
              <a:t>break;</a:t>
            </a:r>
            <a:r>
              <a:rPr lang="en-US" altLang="zh-CN" sz="2400" dirty="0" smtClean="0"/>
              <a:t> </a:t>
            </a:r>
          </a:p>
          <a:p>
            <a:pPr eaLnBrk="1" hangingPunct="1">
              <a:lnSpc>
                <a:spcPct val="80000"/>
              </a:lnSpc>
              <a:buFont typeface="Wingdings" pitchFamily="2" charset="2"/>
              <a:buNone/>
              <a:defRPr/>
            </a:pPr>
            <a:r>
              <a:rPr lang="en-US" altLang="zh-CN" sz="2400" dirty="0" smtClean="0"/>
              <a:t>	......</a:t>
            </a:r>
          </a:p>
          <a:p>
            <a:pPr eaLnBrk="1" hangingPunct="1">
              <a:lnSpc>
                <a:spcPct val="80000"/>
              </a:lnSpc>
              <a:buFont typeface="Wingdings" pitchFamily="2" charset="2"/>
              <a:buNone/>
              <a:defRPr/>
            </a:pPr>
            <a:r>
              <a:rPr lang="en-US" altLang="zh-CN" sz="2400" dirty="0" smtClean="0"/>
              <a:t>}</a:t>
            </a:r>
          </a:p>
          <a:p>
            <a:pPr eaLnBrk="1" hangingPunct="1">
              <a:lnSpc>
                <a:spcPct val="80000"/>
              </a:lnSpc>
              <a:buFont typeface="Wingdings" pitchFamily="2" charset="2"/>
              <a:buNone/>
              <a:defRPr/>
            </a:pPr>
            <a:r>
              <a:rPr lang="en-US" altLang="zh-CN" sz="2400" dirty="0" smtClean="0"/>
              <a:t>......</a:t>
            </a:r>
          </a:p>
          <a:p>
            <a:pPr eaLnBrk="1" hangingPunct="1">
              <a:lnSpc>
                <a:spcPct val="80000"/>
              </a:lnSpc>
              <a:defRPr/>
            </a:pPr>
            <a:r>
              <a:rPr lang="zh-CN" altLang="en-US" sz="2400" dirty="0" smtClean="0"/>
              <a:t>上述程序等价于：</a:t>
            </a:r>
          </a:p>
          <a:p>
            <a:pPr eaLnBrk="1" hangingPunct="1">
              <a:lnSpc>
                <a:spcPct val="80000"/>
              </a:lnSpc>
              <a:buFont typeface="Wingdings" pitchFamily="2" charset="2"/>
              <a:buNone/>
              <a:defRPr/>
            </a:pPr>
            <a:r>
              <a:rPr lang="en-US" altLang="zh-CN" sz="2400" dirty="0" smtClean="0"/>
              <a:t>while (...)</a:t>
            </a:r>
          </a:p>
          <a:p>
            <a:pPr eaLnBrk="1" hangingPunct="1">
              <a:lnSpc>
                <a:spcPct val="80000"/>
              </a:lnSpc>
              <a:buFont typeface="Wingdings" pitchFamily="2" charset="2"/>
              <a:buNone/>
              <a:defRPr/>
            </a:pPr>
            <a:r>
              <a:rPr lang="en-US" altLang="zh-CN" sz="2400" dirty="0" smtClean="0"/>
              <a:t>{	......</a:t>
            </a:r>
          </a:p>
          <a:p>
            <a:pPr eaLnBrk="1" hangingPunct="1">
              <a:lnSpc>
                <a:spcPct val="80000"/>
              </a:lnSpc>
              <a:buFont typeface="Wingdings" pitchFamily="2" charset="2"/>
              <a:buNone/>
              <a:defRPr/>
            </a:pPr>
            <a:r>
              <a:rPr lang="en-US" altLang="zh-CN" sz="2400" dirty="0" smtClean="0"/>
              <a:t>	if (...) </a:t>
            </a:r>
            <a:r>
              <a:rPr lang="en-US" altLang="zh-CN" sz="2400" dirty="0" err="1" smtClean="0">
                <a:solidFill>
                  <a:srgbClr val="FFC000"/>
                </a:solidFill>
              </a:rPr>
              <a:t>goto</a:t>
            </a:r>
            <a:r>
              <a:rPr lang="en-US" altLang="zh-CN" sz="2400" dirty="0" smtClean="0">
                <a:solidFill>
                  <a:srgbClr val="FFC000"/>
                </a:solidFill>
              </a:rPr>
              <a:t> L;</a:t>
            </a:r>
            <a:r>
              <a:rPr lang="en-US" altLang="zh-CN" sz="2400" dirty="0" smtClean="0"/>
              <a:t> </a:t>
            </a:r>
          </a:p>
          <a:p>
            <a:pPr eaLnBrk="1" hangingPunct="1">
              <a:lnSpc>
                <a:spcPct val="80000"/>
              </a:lnSpc>
              <a:buFont typeface="Wingdings" pitchFamily="2" charset="2"/>
              <a:buNone/>
              <a:defRPr/>
            </a:pPr>
            <a:r>
              <a:rPr lang="en-US" altLang="zh-CN" sz="2400" dirty="0" smtClean="0"/>
              <a:t>	......</a:t>
            </a:r>
          </a:p>
          <a:p>
            <a:pPr eaLnBrk="1" hangingPunct="1">
              <a:lnSpc>
                <a:spcPct val="80000"/>
              </a:lnSpc>
              <a:buFont typeface="Wingdings" pitchFamily="2" charset="2"/>
              <a:buNone/>
              <a:defRPr/>
            </a:pPr>
            <a:r>
              <a:rPr lang="en-US" altLang="zh-CN" sz="2400" dirty="0" smtClean="0"/>
              <a:t>}</a:t>
            </a:r>
          </a:p>
          <a:p>
            <a:pPr eaLnBrk="1" hangingPunct="1">
              <a:lnSpc>
                <a:spcPct val="80000"/>
              </a:lnSpc>
              <a:buFont typeface="Wingdings" pitchFamily="2" charset="2"/>
              <a:buNone/>
              <a:defRPr/>
            </a:pPr>
            <a:r>
              <a:rPr lang="en-US" altLang="zh-CN" sz="2400" dirty="0" smtClean="0">
                <a:solidFill>
                  <a:srgbClr val="FFC000"/>
                </a:solidFill>
              </a:rPr>
              <a:t>L:</a:t>
            </a:r>
            <a:r>
              <a:rPr lang="en-US" altLang="zh-CN" sz="2400" dirty="0" smtClean="0"/>
              <a:t> ......</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Rectangle 1027"/>
          <p:cNvSpPr>
            <a:spLocks noGrp="1" noChangeArrowheads="1"/>
          </p:cNvSpPr>
          <p:nvPr>
            <p:ph type="body" idx="1"/>
          </p:nvPr>
        </p:nvSpPr>
        <p:spPr>
          <a:xfrm>
            <a:off x="251520" y="260648"/>
            <a:ext cx="8651304" cy="5472608"/>
          </a:xfrm>
        </p:spPr>
        <p:txBody>
          <a:bodyPr>
            <a:normAutofit fontScale="85000" lnSpcReduction="20000"/>
          </a:bodyPr>
          <a:lstStyle/>
          <a:p>
            <a:pPr eaLnBrk="1" hangingPunct="1">
              <a:lnSpc>
                <a:spcPct val="120000"/>
              </a:lnSpc>
              <a:defRPr/>
            </a:pPr>
            <a:r>
              <a:rPr lang="zh-CN" altLang="en-US" dirty="0" smtClean="0"/>
              <a:t>循环中何时需要使用</a:t>
            </a:r>
            <a:r>
              <a:rPr lang="en-US" altLang="zh-CN" dirty="0" smtClean="0"/>
              <a:t>break</a:t>
            </a:r>
            <a:r>
              <a:rPr lang="zh-CN" altLang="en-US" dirty="0"/>
              <a:t>？</a:t>
            </a:r>
            <a:endParaRPr lang="en-US" altLang="zh-CN" dirty="0" smtClean="0"/>
          </a:p>
          <a:p>
            <a:pPr eaLnBrk="1" hangingPunct="1">
              <a:lnSpc>
                <a:spcPct val="120000"/>
              </a:lnSpc>
              <a:defRPr/>
            </a:pPr>
            <a:r>
              <a:rPr lang="zh-CN" altLang="en-US" dirty="0" smtClean="0"/>
              <a:t>对于事件</a:t>
            </a:r>
            <a:r>
              <a:rPr lang="zh-CN" altLang="en-US" dirty="0"/>
              <a:t>控制的循环</a:t>
            </a:r>
            <a:r>
              <a:rPr lang="zh-CN" altLang="en-US" dirty="0" smtClean="0"/>
              <a:t>，循环</a:t>
            </a:r>
            <a:r>
              <a:rPr lang="zh-CN" altLang="en-US" dirty="0"/>
              <a:t>条件有时比较</a:t>
            </a:r>
            <a:r>
              <a:rPr lang="zh-CN" altLang="en-US" dirty="0" smtClean="0"/>
              <a:t>复杂，不容易表达和理解，这时</a:t>
            </a:r>
            <a:r>
              <a:rPr lang="zh-CN" altLang="en-US" dirty="0"/>
              <a:t>，</a:t>
            </a:r>
            <a:r>
              <a:rPr lang="zh-CN" altLang="en-US" dirty="0" smtClean="0"/>
              <a:t>可以对循环条件进行分解：</a:t>
            </a:r>
            <a:endParaRPr lang="en-US" altLang="zh-CN" dirty="0" smtClean="0"/>
          </a:p>
          <a:p>
            <a:pPr lvl="1" eaLnBrk="1" hangingPunct="1">
              <a:lnSpc>
                <a:spcPct val="120000"/>
              </a:lnSpc>
              <a:defRPr/>
            </a:pPr>
            <a:r>
              <a:rPr lang="zh-CN" altLang="en-US" dirty="0" smtClean="0"/>
              <a:t>在</a:t>
            </a:r>
            <a:r>
              <a:rPr lang="zh-CN" altLang="en-US" dirty="0"/>
              <a:t>循环条件表达式中给出</a:t>
            </a:r>
            <a:r>
              <a:rPr lang="zh-CN" altLang="en-US" dirty="0">
                <a:solidFill>
                  <a:srgbClr val="FFC000"/>
                </a:solidFill>
              </a:rPr>
              <a:t>主要</a:t>
            </a:r>
            <a:r>
              <a:rPr lang="zh-CN" altLang="en-US" dirty="0"/>
              <a:t>的循环控制</a:t>
            </a:r>
            <a:r>
              <a:rPr lang="zh-CN" altLang="en-US" dirty="0" smtClean="0"/>
              <a:t>描述</a:t>
            </a:r>
            <a:endParaRPr lang="en-US" altLang="zh-CN" dirty="0" smtClean="0"/>
          </a:p>
          <a:p>
            <a:pPr lvl="1" eaLnBrk="1" hangingPunct="1">
              <a:lnSpc>
                <a:spcPct val="120000"/>
              </a:lnSpc>
              <a:defRPr/>
            </a:pPr>
            <a:r>
              <a:rPr lang="zh-CN" altLang="en-US" dirty="0" smtClean="0"/>
              <a:t>在</a:t>
            </a:r>
            <a:r>
              <a:rPr lang="zh-CN" altLang="en-US" dirty="0"/>
              <a:t>循环体中</a:t>
            </a:r>
            <a:r>
              <a:rPr lang="zh-CN" altLang="en-US" dirty="0" smtClean="0"/>
              <a:t>进行</a:t>
            </a:r>
            <a:r>
              <a:rPr lang="zh-CN" altLang="en-US" dirty="0" smtClean="0">
                <a:solidFill>
                  <a:srgbClr val="FFC000"/>
                </a:solidFill>
              </a:rPr>
              <a:t>特殊情况</a:t>
            </a:r>
            <a:r>
              <a:rPr lang="zh-CN" altLang="en-US" dirty="0" smtClean="0"/>
              <a:t>的循环控制（用</a:t>
            </a:r>
            <a:r>
              <a:rPr lang="en-US" altLang="zh-CN" dirty="0" smtClean="0"/>
              <a:t>break</a:t>
            </a:r>
            <a:r>
              <a:rPr lang="zh-CN" altLang="en-US" dirty="0" smtClean="0"/>
              <a:t>退出）</a:t>
            </a:r>
            <a:endParaRPr lang="en-US" altLang="zh-CN" dirty="0" smtClean="0"/>
          </a:p>
          <a:p>
            <a:pPr eaLnBrk="1" hangingPunct="1">
              <a:lnSpc>
                <a:spcPct val="120000"/>
              </a:lnSpc>
              <a:defRPr/>
            </a:pPr>
            <a:r>
              <a:rPr lang="zh-CN" altLang="en-US" dirty="0" smtClean="0"/>
              <a:t>例如，判断</a:t>
            </a:r>
            <a:r>
              <a:rPr lang="en-US" altLang="zh-CN" dirty="0" smtClean="0"/>
              <a:t>n</a:t>
            </a:r>
            <a:r>
              <a:rPr lang="zh-CN" altLang="en-US" dirty="0" smtClean="0"/>
              <a:t>是否为素数的循环也可写成：</a:t>
            </a:r>
          </a:p>
          <a:p>
            <a:pPr eaLnBrk="1" hangingPunct="1">
              <a:lnSpc>
                <a:spcPct val="90000"/>
              </a:lnSpc>
              <a:buFont typeface="Wingdings" pitchFamily="2" charset="2"/>
              <a:buNone/>
              <a:defRPr/>
            </a:pPr>
            <a:endParaRPr lang="zh-CN" altLang="en-US" dirty="0" smtClean="0"/>
          </a:p>
          <a:p>
            <a:pPr eaLnBrk="1" hangingPunct="1">
              <a:lnSpc>
                <a:spcPct val="90000"/>
              </a:lnSpc>
              <a:buFont typeface="Wingdings" pitchFamily="2" charset="2"/>
              <a:buNone/>
              <a:defRPr/>
            </a:pPr>
            <a:r>
              <a:rPr lang="en-US" altLang="zh-CN" sz="2800" dirty="0" err="1" smtClean="0"/>
              <a:t>int</a:t>
            </a:r>
            <a:r>
              <a:rPr lang="en-US" altLang="zh-CN" sz="2800" dirty="0" smtClean="0"/>
              <a:t> </a:t>
            </a:r>
            <a:r>
              <a:rPr lang="en-US" altLang="zh-CN" sz="2800" dirty="0" err="1" smtClean="0"/>
              <a:t>i</a:t>
            </a:r>
            <a:r>
              <a:rPr lang="en-US" altLang="zh-CN" sz="2800" dirty="0" smtClean="0"/>
              <a:t>=2,k=</a:t>
            </a:r>
            <a:r>
              <a:rPr lang="en-US" altLang="zh-CN" sz="2800" dirty="0" err="1" smtClean="0"/>
              <a:t>sqrt</a:t>
            </a:r>
            <a:r>
              <a:rPr lang="en-US" altLang="zh-CN" sz="2800" dirty="0" smtClean="0"/>
              <a:t>((double)n);</a:t>
            </a:r>
          </a:p>
          <a:p>
            <a:pPr eaLnBrk="1" hangingPunct="1">
              <a:lnSpc>
                <a:spcPct val="90000"/>
              </a:lnSpc>
              <a:buFont typeface="Wingdings" pitchFamily="2" charset="2"/>
              <a:buNone/>
              <a:defRPr/>
            </a:pPr>
            <a:r>
              <a:rPr lang="en-US" altLang="zh-CN" sz="2800" dirty="0" smtClean="0"/>
              <a:t>while (</a:t>
            </a:r>
            <a:r>
              <a:rPr lang="en-US" altLang="zh-CN" sz="2800" dirty="0" err="1" smtClean="0">
                <a:solidFill>
                  <a:srgbClr val="FFC000"/>
                </a:solidFill>
              </a:rPr>
              <a:t>i</a:t>
            </a:r>
            <a:r>
              <a:rPr lang="en-US" altLang="zh-CN" sz="2800" dirty="0" smtClean="0">
                <a:solidFill>
                  <a:srgbClr val="FFC000"/>
                </a:solidFill>
              </a:rPr>
              <a:t> &lt;= k</a:t>
            </a:r>
            <a:r>
              <a:rPr lang="en-US" altLang="zh-CN" sz="2800" dirty="0" smtClean="0"/>
              <a:t>)</a:t>
            </a:r>
          </a:p>
          <a:p>
            <a:pPr eaLnBrk="1" hangingPunct="1">
              <a:lnSpc>
                <a:spcPct val="90000"/>
              </a:lnSpc>
              <a:buFont typeface="Wingdings" pitchFamily="2" charset="2"/>
              <a:buNone/>
              <a:defRPr/>
            </a:pPr>
            <a:r>
              <a:rPr lang="en-US" altLang="zh-CN" sz="2800" dirty="0" smtClean="0"/>
              <a:t>{	if (</a:t>
            </a:r>
            <a:r>
              <a:rPr lang="en-US" altLang="zh-CN" sz="2800" dirty="0" err="1" smtClean="0">
                <a:solidFill>
                  <a:srgbClr val="FFC000"/>
                </a:solidFill>
              </a:rPr>
              <a:t>n%i</a:t>
            </a:r>
            <a:r>
              <a:rPr lang="en-US" altLang="zh-CN" sz="2800" dirty="0" smtClean="0">
                <a:solidFill>
                  <a:srgbClr val="FFC000"/>
                </a:solidFill>
              </a:rPr>
              <a:t> == 0</a:t>
            </a:r>
            <a:r>
              <a:rPr lang="en-US" altLang="zh-CN" sz="2800" dirty="0" smtClean="0"/>
              <a:t>) break; //</a:t>
            </a:r>
            <a:r>
              <a:rPr lang="zh-CN" altLang="en-US" sz="2800" dirty="0" smtClean="0"/>
              <a:t>退出循环</a:t>
            </a:r>
          </a:p>
          <a:p>
            <a:pPr eaLnBrk="1" hangingPunct="1">
              <a:lnSpc>
                <a:spcPct val="90000"/>
              </a:lnSpc>
              <a:buFont typeface="Wingdings" pitchFamily="2" charset="2"/>
              <a:buNone/>
              <a:defRPr/>
            </a:pPr>
            <a:r>
              <a:rPr lang="zh-CN" altLang="en-US" sz="2800" dirty="0" smtClean="0"/>
              <a:t>	</a:t>
            </a:r>
            <a:r>
              <a:rPr lang="en-US" altLang="zh-CN" sz="2800" dirty="0" err="1" smtClean="0"/>
              <a:t>i</a:t>
            </a:r>
            <a:r>
              <a:rPr lang="en-US" altLang="zh-CN" sz="2800" dirty="0" smtClean="0"/>
              <a:t>++;</a:t>
            </a:r>
          </a:p>
          <a:p>
            <a:pPr eaLnBrk="1" hangingPunct="1">
              <a:lnSpc>
                <a:spcPct val="90000"/>
              </a:lnSpc>
              <a:buFont typeface="Wingdings" pitchFamily="2" charset="2"/>
              <a:buNone/>
              <a:defRPr/>
            </a:pPr>
            <a:r>
              <a:rPr lang="en-US" altLang="zh-CN" sz="2800" dirty="0" smtClean="0"/>
              <a:t>}</a:t>
            </a:r>
          </a:p>
          <a:p>
            <a:pPr eaLnBrk="1" hangingPunct="1">
              <a:lnSpc>
                <a:spcPct val="90000"/>
              </a:lnSpc>
              <a:buNone/>
              <a:defRPr/>
            </a:pPr>
            <a:r>
              <a:rPr lang="en-US" altLang="zh-CN" sz="2800" dirty="0"/>
              <a:t>if </a:t>
            </a:r>
            <a:r>
              <a:rPr lang="en-US" altLang="zh-CN" sz="2800" dirty="0" smtClean="0"/>
              <a:t>(</a:t>
            </a:r>
            <a:r>
              <a:rPr lang="en-US" altLang="zh-CN" sz="2800" dirty="0" err="1" smtClean="0"/>
              <a:t>i</a:t>
            </a:r>
            <a:r>
              <a:rPr lang="en-US" altLang="zh-CN" sz="2800" dirty="0" smtClean="0"/>
              <a:t> </a:t>
            </a:r>
            <a:r>
              <a:rPr lang="en-US" altLang="zh-CN" sz="2800" dirty="0"/>
              <a:t>&gt; k) </a:t>
            </a:r>
            <a:r>
              <a:rPr lang="en-US" altLang="zh-CN" sz="2800" dirty="0" smtClean="0"/>
              <a:t>//n</a:t>
            </a:r>
            <a:r>
              <a:rPr lang="zh-CN" altLang="en-US" sz="2800" dirty="0" smtClean="0"/>
              <a:t>是</a:t>
            </a:r>
            <a:r>
              <a:rPr lang="zh-CN" altLang="en-US" sz="2800" dirty="0"/>
              <a:t>素数</a:t>
            </a:r>
            <a:r>
              <a:rPr lang="zh-CN" altLang="en-US" sz="2800" dirty="0" smtClean="0"/>
              <a:t>。</a:t>
            </a:r>
            <a:endParaRPr lang="en-US" altLang="zh-CN" sz="2800" dirty="0" smtClean="0"/>
          </a:p>
          <a:p>
            <a:pPr eaLnBrk="1" hangingPunct="1">
              <a:lnSpc>
                <a:spcPct val="90000"/>
              </a:lnSpc>
              <a:buNone/>
              <a:defRPr/>
            </a:pPr>
            <a:r>
              <a:rPr lang="en-US" altLang="zh-CN" sz="2800" dirty="0"/>
              <a:t>	</a:t>
            </a:r>
            <a:r>
              <a:rPr lang="en-US" altLang="zh-CN" sz="2800" dirty="0" smtClean="0"/>
              <a:t>......</a:t>
            </a:r>
            <a:endParaRPr lang="zh-CN" altLang="en-US" sz="2800" dirty="0"/>
          </a:p>
        </p:txBody>
      </p:sp>
      <p:sp>
        <p:nvSpPr>
          <p:cNvPr id="2" name="TextBox 1"/>
          <p:cNvSpPr txBox="1"/>
          <p:nvPr/>
        </p:nvSpPr>
        <p:spPr>
          <a:xfrm>
            <a:off x="4568606" y="4357319"/>
            <a:ext cx="4427815" cy="2456057"/>
          </a:xfrm>
          <a:prstGeom prst="rect">
            <a:avLst/>
          </a:prstGeom>
          <a:solidFill>
            <a:schemeClr val="bg1">
              <a:lumMod val="75000"/>
            </a:schemeClr>
          </a:solidFill>
        </p:spPr>
        <p:txBody>
          <a:bodyPr wrap="none" rtlCol="0">
            <a:spAutoFit/>
          </a:bodyPr>
          <a:lstStyle/>
          <a:p>
            <a:pPr marL="342900" indent="-342900">
              <a:defRPr/>
            </a:pPr>
            <a:r>
              <a:rPr lang="zh-CN" altLang="en-US" sz="2400" dirty="0" smtClean="0"/>
              <a:t>等价于：</a:t>
            </a:r>
            <a:endParaRPr lang="en-US" altLang="zh-CN" sz="2400" dirty="0" smtClean="0"/>
          </a:p>
          <a:p>
            <a:pPr>
              <a:buNone/>
              <a:defRPr/>
            </a:pPr>
            <a:r>
              <a:rPr lang="en-US" altLang="zh-CN" sz="2400" dirty="0" err="1" smtClean="0"/>
              <a:t>int</a:t>
            </a:r>
            <a:r>
              <a:rPr lang="en-US" altLang="zh-CN" sz="2400" dirty="0" smtClean="0"/>
              <a:t> </a:t>
            </a:r>
            <a:r>
              <a:rPr lang="en-US" altLang="zh-CN" sz="2400" dirty="0" err="1" smtClean="0"/>
              <a:t>i</a:t>
            </a:r>
            <a:r>
              <a:rPr lang="en-US" altLang="zh-CN" sz="2400" dirty="0" smtClean="0"/>
              <a:t>=2,k=</a:t>
            </a:r>
            <a:r>
              <a:rPr lang="en-US" altLang="zh-CN" sz="2400" dirty="0" err="1" smtClean="0"/>
              <a:t>sqrt</a:t>
            </a:r>
            <a:r>
              <a:rPr lang="en-US" altLang="zh-CN" sz="2400" dirty="0" smtClean="0"/>
              <a:t>((double)n);</a:t>
            </a:r>
            <a:endParaRPr lang="en-US" altLang="zh-CN" sz="2400" dirty="0"/>
          </a:p>
          <a:p>
            <a:pPr>
              <a:buNone/>
              <a:defRPr/>
            </a:pPr>
            <a:r>
              <a:rPr lang="en-US" altLang="zh-CN" sz="2400" dirty="0"/>
              <a:t>while </a:t>
            </a:r>
            <a:r>
              <a:rPr lang="en-US" altLang="zh-CN" sz="2400" dirty="0" smtClean="0"/>
              <a:t>(</a:t>
            </a:r>
            <a:r>
              <a:rPr lang="en-US" altLang="zh-CN" sz="2400" dirty="0" err="1" smtClean="0">
                <a:solidFill>
                  <a:srgbClr val="FFC000"/>
                </a:solidFill>
              </a:rPr>
              <a:t>i</a:t>
            </a:r>
            <a:r>
              <a:rPr lang="en-US" altLang="zh-CN" sz="2400" dirty="0" smtClean="0">
                <a:solidFill>
                  <a:srgbClr val="FFC000"/>
                </a:solidFill>
              </a:rPr>
              <a:t> </a:t>
            </a:r>
            <a:r>
              <a:rPr lang="en-US" altLang="zh-CN" sz="2400" dirty="0">
                <a:solidFill>
                  <a:srgbClr val="FFC000"/>
                </a:solidFill>
              </a:rPr>
              <a:t>&lt;= k</a:t>
            </a:r>
            <a:r>
              <a:rPr lang="en-US" altLang="zh-CN" sz="2400" dirty="0"/>
              <a:t> &amp;&amp; </a:t>
            </a:r>
            <a:r>
              <a:rPr lang="en-US" altLang="zh-CN" sz="2400" dirty="0" err="1" smtClean="0">
                <a:solidFill>
                  <a:srgbClr val="FFC000"/>
                </a:solidFill>
              </a:rPr>
              <a:t>n%i</a:t>
            </a:r>
            <a:r>
              <a:rPr lang="en-US" altLang="zh-CN" sz="2400" dirty="0" smtClean="0">
                <a:solidFill>
                  <a:srgbClr val="FFC000"/>
                </a:solidFill>
              </a:rPr>
              <a:t> </a:t>
            </a:r>
            <a:r>
              <a:rPr lang="en-US" altLang="zh-CN" sz="2400" dirty="0">
                <a:solidFill>
                  <a:srgbClr val="FFC000"/>
                </a:solidFill>
              </a:rPr>
              <a:t>!= 0</a:t>
            </a:r>
            <a:r>
              <a:rPr lang="en-US" altLang="zh-CN" sz="2400" dirty="0"/>
              <a:t>)</a:t>
            </a:r>
          </a:p>
          <a:p>
            <a:pPr>
              <a:buNone/>
              <a:defRPr/>
            </a:pPr>
            <a:r>
              <a:rPr lang="en-US" altLang="zh-CN" sz="2400" dirty="0" smtClean="0"/>
              <a:t>   </a:t>
            </a:r>
            <a:r>
              <a:rPr lang="en-US" altLang="zh-CN" sz="2400" dirty="0" err="1" smtClean="0"/>
              <a:t>i</a:t>
            </a:r>
            <a:r>
              <a:rPr lang="en-US" altLang="zh-CN" sz="2400" dirty="0" smtClean="0"/>
              <a:t>++;</a:t>
            </a:r>
            <a:endParaRPr lang="en-US" altLang="zh-CN" sz="2400" dirty="0"/>
          </a:p>
          <a:p>
            <a:pPr>
              <a:buNone/>
              <a:defRPr/>
            </a:pPr>
            <a:r>
              <a:rPr lang="en-US" altLang="zh-CN" sz="2400" dirty="0"/>
              <a:t>if </a:t>
            </a:r>
            <a:r>
              <a:rPr lang="en-US" altLang="zh-CN" sz="2400" dirty="0" smtClean="0"/>
              <a:t>(</a:t>
            </a:r>
            <a:r>
              <a:rPr lang="en-US" altLang="zh-CN" sz="2400" dirty="0" err="1" smtClean="0"/>
              <a:t>i</a:t>
            </a:r>
            <a:r>
              <a:rPr lang="en-US" altLang="zh-CN" sz="2400" dirty="0" smtClean="0"/>
              <a:t> </a:t>
            </a:r>
            <a:r>
              <a:rPr lang="en-US" altLang="zh-CN" sz="2400" dirty="0"/>
              <a:t>&gt; k) </a:t>
            </a:r>
            <a:r>
              <a:rPr lang="en-US" altLang="zh-CN" sz="2400" dirty="0" smtClean="0"/>
              <a:t>//n</a:t>
            </a:r>
            <a:r>
              <a:rPr lang="zh-CN" altLang="en-US" sz="2400" dirty="0" smtClean="0"/>
              <a:t>是</a:t>
            </a:r>
            <a:r>
              <a:rPr lang="zh-CN" altLang="en-US" sz="2400" dirty="0"/>
              <a:t>素数</a:t>
            </a:r>
            <a:r>
              <a:rPr lang="zh-CN" altLang="en-US" sz="2400" dirty="0" smtClean="0"/>
              <a:t>。</a:t>
            </a:r>
            <a:endParaRPr lang="en-US" altLang="zh-CN" sz="2400" dirty="0" smtClean="0"/>
          </a:p>
          <a:p>
            <a:pPr>
              <a:buNone/>
              <a:defRPr/>
            </a:pPr>
            <a:r>
              <a:rPr lang="en-US" altLang="zh-CN" sz="2400" dirty="0" smtClean="0"/>
              <a:t>   ......</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9">
                                            <p:txEl>
                                              <p:pRg st="1" end="1"/>
                                            </p:txEl>
                                          </p:spTgt>
                                        </p:tgtEl>
                                        <p:attrNameLst>
                                          <p:attrName>style.visibility</p:attrName>
                                        </p:attrNameLst>
                                      </p:cBhvr>
                                      <p:to>
                                        <p:strVal val="visible"/>
                                      </p:to>
                                    </p:set>
                                    <p:anim calcmode="lin" valueType="num">
                                      <p:cBhvr additive="base">
                                        <p:cTn id="7" dur="500" fill="hold"/>
                                        <p:tgtEl>
                                          <p:spTgt spid="1372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7219">
                                            <p:txEl>
                                              <p:pRg st="2" end="2"/>
                                            </p:txEl>
                                          </p:spTgt>
                                        </p:tgtEl>
                                        <p:attrNameLst>
                                          <p:attrName>style.visibility</p:attrName>
                                        </p:attrNameLst>
                                      </p:cBhvr>
                                      <p:to>
                                        <p:strVal val="visible"/>
                                      </p:to>
                                    </p:set>
                                    <p:anim calcmode="lin" valueType="num">
                                      <p:cBhvr additive="base">
                                        <p:cTn id="11" dur="500" fill="hold"/>
                                        <p:tgtEl>
                                          <p:spTgt spid="13721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721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7219">
                                            <p:txEl>
                                              <p:pRg st="3" end="3"/>
                                            </p:txEl>
                                          </p:spTgt>
                                        </p:tgtEl>
                                        <p:attrNameLst>
                                          <p:attrName>style.visibility</p:attrName>
                                        </p:attrNameLst>
                                      </p:cBhvr>
                                      <p:to>
                                        <p:strVal val="visible"/>
                                      </p:to>
                                    </p:set>
                                    <p:anim calcmode="lin" valueType="num">
                                      <p:cBhvr additive="base">
                                        <p:cTn id="15" dur="500" fill="hold"/>
                                        <p:tgtEl>
                                          <p:spTgt spid="13721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721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7219">
                                            <p:txEl>
                                              <p:pRg st="4" end="4"/>
                                            </p:txEl>
                                          </p:spTgt>
                                        </p:tgtEl>
                                        <p:attrNameLst>
                                          <p:attrName>style.visibility</p:attrName>
                                        </p:attrNameLst>
                                      </p:cBhvr>
                                      <p:to>
                                        <p:strVal val="visible"/>
                                      </p:to>
                                    </p:set>
                                    <p:anim calcmode="lin" valueType="num">
                                      <p:cBhvr additive="base">
                                        <p:cTn id="19" dur="500" fill="hold"/>
                                        <p:tgtEl>
                                          <p:spTgt spid="13721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721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7219">
                                            <p:txEl>
                                              <p:pRg st="6" end="6"/>
                                            </p:txEl>
                                          </p:spTgt>
                                        </p:tgtEl>
                                        <p:attrNameLst>
                                          <p:attrName>style.visibility</p:attrName>
                                        </p:attrNameLst>
                                      </p:cBhvr>
                                      <p:to>
                                        <p:strVal val="visible"/>
                                      </p:to>
                                    </p:set>
                                    <p:anim calcmode="lin" valueType="num">
                                      <p:cBhvr additive="base">
                                        <p:cTn id="23" dur="500" fill="hold"/>
                                        <p:tgtEl>
                                          <p:spTgt spid="137219">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37219">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7219">
                                            <p:txEl>
                                              <p:pRg st="7" end="7"/>
                                            </p:txEl>
                                          </p:spTgt>
                                        </p:tgtEl>
                                        <p:attrNameLst>
                                          <p:attrName>style.visibility</p:attrName>
                                        </p:attrNameLst>
                                      </p:cBhvr>
                                      <p:to>
                                        <p:strVal val="visible"/>
                                      </p:to>
                                    </p:set>
                                    <p:anim calcmode="lin" valueType="num">
                                      <p:cBhvr additive="base">
                                        <p:cTn id="27" dur="500" fill="hold"/>
                                        <p:tgtEl>
                                          <p:spTgt spid="13721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7219">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37219">
                                            <p:txEl>
                                              <p:pRg st="8" end="8"/>
                                            </p:txEl>
                                          </p:spTgt>
                                        </p:tgtEl>
                                        <p:attrNameLst>
                                          <p:attrName>style.visibility</p:attrName>
                                        </p:attrNameLst>
                                      </p:cBhvr>
                                      <p:to>
                                        <p:strVal val="visible"/>
                                      </p:to>
                                    </p:set>
                                    <p:anim calcmode="lin" valueType="num">
                                      <p:cBhvr additive="base">
                                        <p:cTn id="31" dur="500" fill="hold"/>
                                        <p:tgtEl>
                                          <p:spTgt spid="137219">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7219">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7219">
                                            <p:txEl>
                                              <p:pRg st="9" end="9"/>
                                            </p:txEl>
                                          </p:spTgt>
                                        </p:tgtEl>
                                        <p:attrNameLst>
                                          <p:attrName>style.visibility</p:attrName>
                                        </p:attrNameLst>
                                      </p:cBhvr>
                                      <p:to>
                                        <p:strVal val="visible"/>
                                      </p:to>
                                    </p:set>
                                    <p:anim calcmode="lin" valueType="num">
                                      <p:cBhvr additive="base">
                                        <p:cTn id="35" dur="500" fill="hold"/>
                                        <p:tgtEl>
                                          <p:spTgt spid="137219">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7219">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37219">
                                            <p:txEl>
                                              <p:pRg st="10" end="10"/>
                                            </p:txEl>
                                          </p:spTgt>
                                        </p:tgtEl>
                                        <p:attrNameLst>
                                          <p:attrName>style.visibility</p:attrName>
                                        </p:attrNameLst>
                                      </p:cBhvr>
                                      <p:to>
                                        <p:strVal val="visible"/>
                                      </p:to>
                                    </p:set>
                                    <p:anim calcmode="lin" valueType="num">
                                      <p:cBhvr additive="base">
                                        <p:cTn id="39" dur="500" fill="hold"/>
                                        <p:tgtEl>
                                          <p:spTgt spid="137219">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7219">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37219">
                                            <p:txEl>
                                              <p:pRg st="11" end="11"/>
                                            </p:txEl>
                                          </p:spTgt>
                                        </p:tgtEl>
                                        <p:attrNameLst>
                                          <p:attrName>style.visibility</p:attrName>
                                        </p:attrNameLst>
                                      </p:cBhvr>
                                      <p:to>
                                        <p:strVal val="visible"/>
                                      </p:to>
                                    </p:set>
                                    <p:anim calcmode="lin" valueType="num">
                                      <p:cBhvr additive="base">
                                        <p:cTn id="43" dur="500" fill="hold"/>
                                        <p:tgtEl>
                                          <p:spTgt spid="137219">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37219">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37219">
                                            <p:txEl>
                                              <p:pRg st="12" end="12"/>
                                            </p:txEl>
                                          </p:spTgt>
                                        </p:tgtEl>
                                        <p:attrNameLst>
                                          <p:attrName>style.visibility</p:attrName>
                                        </p:attrNameLst>
                                      </p:cBhvr>
                                      <p:to>
                                        <p:strVal val="visible"/>
                                      </p:to>
                                    </p:set>
                                    <p:anim calcmode="lin" valueType="num">
                                      <p:cBhvr additive="base">
                                        <p:cTn id="47" dur="500" fill="hold"/>
                                        <p:tgtEl>
                                          <p:spTgt spid="137219">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3721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anim calcmode="lin" valueType="num">
                                      <p:cBhvr additive="base">
                                        <p:cTn id="53" dur="500" fill="hold"/>
                                        <p:tgtEl>
                                          <p:spTgt spid="2"/>
                                        </p:tgtEl>
                                        <p:attrNameLst>
                                          <p:attrName>ppt_x</p:attrName>
                                        </p:attrNameLst>
                                      </p:cBhvr>
                                      <p:tavLst>
                                        <p:tav tm="0">
                                          <p:val>
                                            <p:strVal val="#ppt_x"/>
                                          </p:val>
                                        </p:tav>
                                        <p:tav tm="100000">
                                          <p:val>
                                            <p:strVal val="#ppt_x"/>
                                          </p:val>
                                        </p:tav>
                                      </p:tavLst>
                                    </p:anim>
                                    <p:anim calcmode="lin" valueType="num">
                                      <p:cBhvr additive="base">
                                        <p:cTn id="5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3184" y="548680"/>
            <a:ext cx="8507288" cy="5582245"/>
          </a:xfrm>
        </p:spPr>
        <p:txBody>
          <a:bodyPr>
            <a:normAutofit fontScale="62500" lnSpcReduction="20000"/>
          </a:bodyPr>
          <a:lstStyle/>
          <a:p>
            <a:pPr>
              <a:lnSpc>
                <a:spcPct val="120000"/>
              </a:lnSpc>
            </a:pPr>
            <a:r>
              <a:rPr lang="zh-CN" altLang="en-US" sz="4000" dirty="0" smtClean="0">
                <a:solidFill>
                  <a:srgbClr val="FFC000"/>
                </a:solidFill>
              </a:rPr>
              <a:t>注意：</a:t>
            </a:r>
            <a:r>
              <a:rPr lang="zh-CN" altLang="en-US" sz="4000" dirty="0" smtClean="0"/>
              <a:t>对于</a:t>
            </a:r>
            <a:r>
              <a:rPr lang="zh-CN" altLang="en-US" sz="4000" dirty="0"/>
              <a:t>多重循环，内层循环语句循环体中的</a:t>
            </a:r>
            <a:r>
              <a:rPr lang="en-US" altLang="zh-CN" sz="4000" dirty="0"/>
              <a:t>break</a:t>
            </a:r>
            <a:r>
              <a:rPr lang="zh-CN" altLang="en-US" sz="4000" dirty="0"/>
              <a:t>语句只能用于结束内层循环语句的</a:t>
            </a:r>
            <a:r>
              <a:rPr lang="zh-CN" altLang="en-US" sz="4000" dirty="0" smtClean="0"/>
              <a:t>执行。</a:t>
            </a:r>
            <a:endParaRPr lang="en-US" altLang="zh-CN" sz="4000" dirty="0" smtClean="0"/>
          </a:p>
          <a:p>
            <a:pPr marL="0" indent="0">
              <a:lnSpc>
                <a:spcPct val="120000"/>
              </a:lnSpc>
              <a:buNone/>
            </a:pPr>
            <a:r>
              <a:rPr lang="en-US" altLang="zh-CN" dirty="0" smtClean="0"/>
              <a:t>while </a:t>
            </a:r>
            <a:r>
              <a:rPr lang="en-US" altLang="zh-CN" dirty="0"/>
              <a:t>(...) //</a:t>
            </a:r>
            <a:r>
              <a:rPr lang="zh-CN" altLang="en-US" dirty="0"/>
              <a:t>外层循环</a:t>
            </a:r>
          </a:p>
          <a:p>
            <a:pPr marL="0" indent="0">
              <a:lnSpc>
                <a:spcPct val="120000"/>
              </a:lnSpc>
              <a:buNone/>
            </a:pPr>
            <a:r>
              <a:rPr lang="en-US" altLang="zh-CN" dirty="0" smtClean="0"/>
              <a:t>{  ......</a:t>
            </a:r>
            <a:endParaRPr lang="en-US" altLang="zh-CN" dirty="0"/>
          </a:p>
          <a:p>
            <a:pPr marL="0" indent="446088">
              <a:lnSpc>
                <a:spcPct val="120000"/>
              </a:lnSpc>
              <a:buNone/>
            </a:pPr>
            <a:r>
              <a:rPr lang="en-US" altLang="zh-CN" dirty="0" smtClean="0"/>
              <a:t>for </a:t>
            </a:r>
            <a:r>
              <a:rPr lang="en-US" altLang="zh-CN" dirty="0"/>
              <a:t>(...) //</a:t>
            </a:r>
            <a:r>
              <a:rPr lang="zh-CN" altLang="en-US" dirty="0"/>
              <a:t>内层循环</a:t>
            </a:r>
          </a:p>
          <a:p>
            <a:pPr marL="0" indent="446088">
              <a:lnSpc>
                <a:spcPct val="120000"/>
              </a:lnSpc>
              <a:buNone/>
            </a:pPr>
            <a:r>
              <a:rPr lang="en-US" altLang="zh-CN" dirty="0" smtClean="0"/>
              <a:t>{   ......</a:t>
            </a:r>
            <a:endParaRPr lang="en-US" altLang="zh-CN" dirty="0"/>
          </a:p>
          <a:p>
            <a:pPr marL="0" indent="446088">
              <a:lnSpc>
                <a:spcPct val="120000"/>
              </a:lnSpc>
              <a:buNone/>
            </a:pPr>
            <a:r>
              <a:rPr lang="en-US" altLang="zh-CN" dirty="0"/>
              <a:t>	... break; </a:t>
            </a:r>
            <a:r>
              <a:rPr lang="en-US" altLang="zh-CN" dirty="0" smtClean="0"/>
              <a:t>//</a:t>
            </a:r>
            <a:r>
              <a:rPr lang="zh-CN" altLang="en-US" dirty="0" smtClean="0"/>
              <a:t>转</a:t>
            </a:r>
            <a:r>
              <a:rPr lang="zh-CN" altLang="en-US" dirty="0"/>
              <a:t>到紧接在</a:t>
            </a:r>
            <a:r>
              <a:rPr lang="en-US" altLang="zh-CN" dirty="0"/>
              <a:t>for</a:t>
            </a:r>
            <a:r>
              <a:rPr lang="zh-CN" altLang="en-US" dirty="0"/>
              <a:t>循环语句后面的</a:t>
            </a:r>
            <a:r>
              <a:rPr lang="zh-CN" altLang="en-US" dirty="0" smtClean="0"/>
              <a:t>语句（</a:t>
            </a:r>
            <a:r>
              <a:rPr lang="zh-CN" altLang="en-US" dirty="0" smtClean="0">
                <a:solidFill>
                  <a:srgbClr val="FFC000"/>
                </a:solidFill>
              </a:rPr>
              <a:t>退出</a:t>
            </a:r>
            <a:r>
              <a:rPr lang="en-US" altLang="zh-CN" dirty="0">
                <a:solidFill>
                  <a:srgbClr val="FFC000"/>
                </a:solidFill>
              </a:rPr>
              <a:t>for</a:t>
            </a:r>
            <a:r>
              <a:rPr lang="zh-CN" altLang="en-US" dirty="0" smtClean="0">
                <a:solidFill>
                  <a:srgbClr val="FFC000"/>
                </a:solidFill>
              </a:rPr>
              <a:t>循环</a:t>
            </a:r>
            <a:r>
              <a:rPr lang="zh-CN" altLang="en-US" dirty="0" smtClean="0"/>
              <a:t>）</a:t>
            </a:r>
            <a:endParaRPr lang="zh-CN" altLang="en-US" dirty="0"/>
          </a:p>
          <a:p>
            <a:pPr marL="0" indent="446088">
              <a:lnSpc>
                <a:spcPct val="120000"/>
              </a:lnSpc>
              <a:buNone/>
            </a:pPr>
            <a:r>
              <a:rPr lang="zh-CN" altLang="en-US" dirty="0"/>
              <a:t>	</a:t>
            </a:r>
            <a:r>
              <a:rPr lang="en-US" altLang="zh-CN" dirty="0"/>
              <a:t>......</a:t>
            </a:r>
          </a:p>
          <a:p>
            <a:pPr marL="0" indent="446088">
              <a:lnSpc>
                <a:spcPct val="120000"/>
              </a:lnSpc>
              <a:buNone/>
            </a:pPr>
            <a:r>
              <a:rPr lang="en-US" altLang="zh-CN" dirty="0"/>
              <a:t>	... </a:t>
            </a:r>
            <a:r>
              <a:rPr lang="en-US" altLang="zh-CN" dirty="0" err="1"/>
              <a:t>goto</a:t>
            </a:r>
            <a:r>
              <a:rPr lang="en-US" altLang="zh-CN" dirty="0"/>
              <a:t> L; //</a:t>
            </a:r>
            <a:r>
              <a:rPr lang="zh-CN" altLang="en-US" dirty="0"/>
              <a:t>转到标号为</a:t>
            </a:r>
            <a:r>
              <a:rPr lang="en-US" altLang="zh-CN" dirty="0"/>
              <a:t>L</a:t>
            </a:r>
            <a:r>
              <a:rPr lang="zh-CN" altLang="en-US" dirty="0"/>
              <a:t>的语句</a:t>
            </a:r>
            <a:r>
              <a:rPr lang="zh-CN" altLang="en-US" dirty="0" smtClean="0"/>
              <a:t>处（</a:t>
            </a:r>
            <a:r>
              <a:rPr lang="zh-CN" altLang="en-US" dirty="0" smtClean="0">
                <a:solidFill>
                  <a:srgbClr val="FFC000"/>
                </a:solidFill>
              </a:rPr>
              <a:t>退出</a:t>
            </a:r>
            <a:r>
              <a:rPr lang="en-US" altLang="zh-CN" dirty="0">
                <a:solidFill>
                  <a:srgbClr val="FFC000"/>
                </a:solidFill>
              </a:rPr>
              <a:t>while</a:t>
            </a:r>
            <a:r>
              <a:rPr lang="zh-CN" altLang="en-US" dirty="0" smtClean="0">
                <a:solidFill>
                  <a:srgbClr val="FFC000"/>
                </a:solidFill>
              </a:rPr>
              <a:t>循环</a:t>
            </a:r>
            <a:r>
              <a:rPr lang="zh-CN" altLang="en-US" dirty="0" smtClean="0"/>
              <a:t>）</a:t>
            </a:r>
            <a:endParaRPr lang="zh-CN" altLang="en-US" dirty="0"/>
          </a:p>
          <a:p>
            <a:pPr marL="0" indent="446088">
              <a:lnSpc>
                <a:spcPct val="120000"/>
              </a:lnSpc>
              <a:buNone/>
            </a:pPr>
            <a:r>
              <a:rPr lang="en-US" altLang="zh-CN" dirty="0" smtClean="0"/>
              <a:t>}</a:t>
            </a:r>
            <a:endParaRPr lang="en-US" altLang="zh-CN" dirty="0"/>
          </a:p>
          <a:p>
            <a:pPr marL="0" indent="446088">
              <a:lnSpc>
                <a:spcPct val="120000"/>
              </a:lnSpc>
              <a:buNone/>
            </a:pPr>
            <a:r>
              <a:rPr lang="en-US" altLang="zh-CN" dirty="0" smtClean="0"/>
              <a:t>...... //break</a:t>
            </a:r>
            <a:r>
              <a:rPr lang="zh-CN" altLang="en-US" dirty="0" smtClean="0"/>
              <a:t>转到这里</a:t>
            </a:r>
            <a:endParaRPr lang="en-US" altLang="zh-CN" dirty="0"/>
          </a:p>
          <a:p>
            <a:pPr marL="0" indent="0">
              <a:lnSpc>
                <a:spcPct val="120000"/>
              </a:lnSpc>
              <a:buNone/>
            </a:pPr>
            <a:r>
              <a:rPr lang="en-US" altLang="zh-CN" dirty="0"/>
              <a:t>}</a:t>
            </a:r>
          </a:p>
          <a:p>
            <a:pPr marL="0" indent="0">
              <a:lnSpc>
                <a:spcPct val="120000"/>
              </a:lnSpc>
              <a:buNone/>
            </a:pPr>
            <a:r>
              <a:rPr lang="en-US" altLang="zh-CN" dirty="0"/>
              <a:t>L: </a:t>
            </a:r>
            <a:r>
              <a:rPr lang="en-US" altLang="zh-CN" dirty="0" smtClean="0"/>
              <a:t>...... //</a:t>
            </a:r>
            <a:r>
              <a:rPr lang="en-US" altLang="zh-CN" dirty="0" err="1" smtClean="0"/>
              <a:t>goto</a:t>
            </a:r>
            <a:r>
              <a:rPr lang="zh-CN" altLang="en-US" dirty="0" smtClean="0"/>
              <a:t>转到这里</a:t>
            </a:r>
            <a:endParaRPr lang="zh-CN" altLang="en-US" dirty="0"/>
          </a:p>
        </p:txBody>
      </p:sp>
    </p:spTree>
    <p:extLst>
      <p:ext uri="{BB962C8B-B14F-4D97-AF65-F5344CB8AC3E}">
        <p14:creationId xmlns:p14="http://schemas.microsoft.com/office/powerpoint/2010/main" val="57270242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152400"/>
            <a:ext cx="7772400" cy="828675"/>
          </a:xfrm>
        </p:spPr>
        <p:txBody>
          <a:bodyPr/>
          <a:lstStyle/>
          <a:p>
            <a:pPr eaLnBrk="1" hangingPunct="1">
              <a:defRPr/>
            </a:pPr>
            <a:r>
              <a:rPr lang="en-US" altLang="zh-CN" smtClean="0"/>
              <a:t>continue</a:t>
            </a:r>
            <a:r>
              <a:rPr lang="zh-CN" altLang="en-US" smtClean="0"/>
              <a:t>语句 </a:t>
            </a:r>
          </a:p>
        </p:txBody>
      </p:sp>
      <p:sp>
        <p:nvSpPr>
          <p:cNvPr id="31747" name="Rectangle 3"/>
          <p:cNvSpPr>
            <a:spLocks noGrp="1" noChangeArrowheads="1"/>
          </p:cNvSpPr>
          <p:nvPr>
            <p:ph type="body" idx="1"/>
          </p:nvPr>
        </p:nvSpPr>
        <p:spPr>
          <a:xfrm>
            <a:off x="323528" y="1219200"/>
            <a:ext cx="8531993" cy="4730080"/>
          </a:xfrm>
        </p:spPr>
        <p:txBody>
          <a:bodyPr>
            <a:normAutofit fontScale="85000" lnSpcReduction="20000"/>
          </a:bodyPr>
          <a:lstStyle/>
          <a:p>
            <a:pPr algn="just" eaLnBrk="1" hangingPunct="1">
              <a:lnSpc>
                <a:spcPct val="110000"/>
              </a:lnSpc>
              <a:defRPr/>
            </a:pPr>
            <a:r>
              <a:rPr lang="en-US" altLang="zh-CN" dirty="0" smtClean="0">
                <a:cs typeface="Times New Roman" pitchFamily="18" charset="0"/>
              </a:rPr>
              <a:t>continue</a:t>
            </a:r>
            <a:r>
              <a:rPr lang="zh-CN" altLang="en-US" dirty="0" smtClean="0"/>
              <a:t>语句的格式如下：</a:t>
            </a:r>
          </a:p>
          <a:p>
            <a:pPr algn="just" eaLnBrk="1" hangingPunct="1">
              <a:lnSpc>
                <a:spcPct val="110000"/>
              </a:lnSpc>
              <a:buFont typeface="Wingdings" pitchFamily="2" charset="2"/>
              <a:buNone/>
              <a:defRPr/>
            </a:pPr>
            <a:r>
              <a:rPr lang="zh-CN" altLang="en-US" b="1" dirty="0" smtClean="0">
                <a:latin typeface="Courier New" pitchFamily="49" charset="0"/>
                <a:cs typeface="Courier New" pitchFamily="49" charset="0"/>
              </a:rPr>
              <a:t>      </a:t>
            </a:r>
            <a:r>
              <a:rPr lang="en-US" altLang="zh-CN" b="1" dirty="0" smtClean="0">
                <a:solidFill>
                  <a:srgbClr val="FFC000"/>
                </a:solidFill>
                <a:cs typeface="Courier New" pitchFamily="49" charset="0"/>
              </a:rPr>
              <a:t>continue;</a:t>
            </a:r>
          </a:p>
          <a:p>
            <a:pPr algn="just" eaLnBrk="1" hangingPunct="1">
              <a:lnSpc>
                <a:spcPct val="110000"/>
              </a:lnSpc>
              <a:defRPr/>
            </a:pPr>
            <a:r>
              <a:rPr lang="en-US" altLang="zh-CN" dirty="0" smtClean="0"/>
              <a:t>continue</a:t>
            </a:r>
            <a:r>
              <a:rPr lang="zh-CN" altLang="en-US" dirty="0" smtClean="0"/>
              <a:t>语句只能用在循环语句的循环体中，其含义是：</a:t>
            </a:r>
            <a:endParaRPr lang="en-US" altLang="zh-CN" dirty="0" smtClean="0"/>
          </a:p>
          <a:p>
            <a:pPr lvl="1" algn="just" eaLnBrk="1" hangingPunct="1">
              <a:lnSpc>
                <a:spcPct val="110000"/>
              </a:lnSpc>
              <a:defRPr/>
            </a:pPr>
            <a:r>
              <a:rPr lang="zh-CN" altLang="en-US" dirty="0" smtClean="0"/>
              <a:t>立即结束当前循环，准备进入下一次循环。</a:t>
            </a:r>
          </a:p>
          <a:p>
            <a:pPr lvl="1" algn="just" eaLnBrk="1" hangingPunct="1">
              <a:lnSpc>
                <a:spcPct val="110000"/>
              </a:lnSpc>
              <a:defRPr/>
            </a:pPr>
            <a:r>
              <a:rPr lang="zh-CN" altLang="en-US" dirty="0" smtClean="0"/>
              <a:t>对于</a:t>
            </a:r>
            <a:r>
              <a:rPr lang="en-US" altLang="zh-CN" dirty="0" smtClean="0"/>
              <a:t>while</a:t>
            </a:r>
            <a:r>
              <a:rPr lang="zh-CN" altLang="en-US" dirty="0" smtClean="0"/>
              <a:t>和</a:t>
            </a:r>
            <a:r>
              <a:rPr lang="en-US" altLang="zh-CN" dirty="0" smtClean="0"/>
              <a:t>do-while</a:t>
            </a:r>
            <a:r>
              <a:rPr lang="zh-CN" altLang="en-US" dirty="0" smtClean="0"/>
              <a:t>语句，</a:t>
            </a:r>
            <a:r>
              <a:rPr lang="en-US" altLang="zh-CN" dirty="0" smtClean="0"/>
              <a:t>continue</a:t>
            </a:r>
            <a:r>
              <a:rPr lang="zh-CN" altLang="en-US" dirty="0" smtClean="0"/>
              <a:t>语句将使控制转到循环条件的判断；</a:t>
            </a:r>
          </a:p>
          <a:p>
            <a:pPr lvl="1" algn="just" eaLnBrk="1" hangingPunct="1">
              <a:lnSpc>
                <a:spcPct val="110000"/>
              </a:lnSpc>
              <a:defRPr/>
            </a:pPr>
            <a:r>
              <a:rPr lang="zh-CN" altLang="en-US" dirty="0" smtClean="0"/>
              <a:t>对于</a:t>
            </a:r>
            <a:r>
              <a:rPr lang="en-US" altLang="zh-CN" dirty="0" smtClean="0"/>
              <a:t>for</a:t>
            </a:r>
            <a:r>
              <a:rPr lang="zh-CN" altLang="en-US" dirty="0" smtClean="0"/>
              <a:t>语句，</a:t>
            </a:r>
            <a:r>
              <a:rPr lang="en-US" altLang="zh-CN" dirty="0" smtClean="0"/>
              <a:t>continue</a:t>
            </a:r>
            <a:r>
              <a:rPr lang="zh-CN" altLang="en-US" dirty="0" smtClean="0"/>
              <a:t>语句将使控制转到</a:t>
            </a:r>
            <a:r>
              <a:rPr lang="en-US" altLang="zh-CN" dirty="0" smtClean="0"/>
              <a:t>&lt;</a:t>
            </a:r>
            <a:r>
              <a:rPr lang="zh-CN" altLang="en-US" dirty="0" smtClean="0"/>
              <a:t>表达式</a:t>
            </a:r>
            <a:r>
              <a:rPr lang="en-US" altLang="zh-CN" dirty="0" smtClean="0"/>
              <a:t>3&gt;</a:t>
            </a:r>
            <a:r>
              <a:rPr lang="zh-CN" altLang="en-US" dirty="0" smtClean="0"/>
              <a:t>的计算，然后判断</a:t>
            </a:r>
            <a:r>
              <a:rPr lang="en-US" altLang="zh-CN" dirty="0"/>
              <a:t>&lt;</a:t>
            </a:r>
            <a:r>
              <a:rPr lang="zh-CN" altLang="en-US" dirty="0" smtClean="0"/>
              <a:t>表达式</a:t>
            </a:r>
            <a:r>
              <a:rPr lang="en-US" altLang="zh-CN" dirty="0" smtClean="0"/>
              <a:t>2&gt;</a:t>
            </a:r>
            <a:r>
              <a:rPr lang="zh-CN" altLang="en-US" dirty="0" smtClean="0"/>
              <a:t>的条件。</a:t>
            </a:r>
            <a:endParaRPr lang="en-US" altLang="zh-CN" dirty="0" smtClean="0"/>
          </a:p>
          <a:p>
            <a:pPr algn="just" eaLnBrk="1" hangingPunct="1">
              <a:lnSpc>
                <a:spcPct val="110000"/>
              </a:lnSpc>
              <a:defRPr/>
            </a:pPr>
            <a:r>
              <a:rPr lang="zh-CN" altLang="en-US" dirty="0"/>
              <a:t>在循环体中</a:t>
            </a:r>
            <a:r>
              <a:rPr lang="zh-CN" altLang="en-US" dirty="0" smtClean="0"/>
              <a:t>，</a:t>
            </a:r>
            <a:r>
              <a:rPr lang="en-US" altLang="zh-CN" dirty="0" smtClean="0"/>
              <a:t>continue</a:t>
            </a:r>
            <a:r>
              <a:rPr lang="zh-CN" altLang="en-US" dirty="0" smtClean="0"/>
              <a:t>语句</a:t>
            </a:r>
            <a:r>
              <a:rPr lang="zh-CN" altLang="en-US" dirty="0"/>
              <a:t>一般作为某个</a:t>
            </a:r>
            <a:r>
              <a:rPr lang="en-US" altLang="zh-CN" dirty="0">
                <a:cs typeface="Times New Roman" pitchFamily="18" charset="0"/>
              </a:rPr>
              <a:t>if</a:t>
            </a:r>
            <a:r>
              <a:rPr lang="zh-CN" altLang="en-US" dirty="0"/>
              <a:t>语句的</a:t>
            </a:r>
            <a:r>
              <a:rPr lang="zh-CN" altLang="en-US" dirty="0" smtClean="0"/>
              <a:t>子句。</a:t>
            </a:r>
            <a:endParaRPr lang="en-US" altLang="zh-CN"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1026"/>
          <p:cNvSpPr>
            <a:spLocks noGrp="1" noChangeArrowheads="1"/>
          </p:cNvSpPr>
          <p:nvPr>
            <p:ph type="title"/>
          </p:nvPr>
        </p:nvSpPr>
        <p:spPr/>
        <p:txBody>
          <a:bodyPr/>
          <a:lstStyle/>
          <a:p>
            <a:pPr eaLnBrk="1" hangingPunct="1">
              <a:defRPr/>
            </a:pPr>
            <a:r>
              <a:rPr lang="zh-CN" altLang="en-US" sz="4000" dirty="0" smtClean="0"/>
              <a:t> </a:t>
            </a:r>
          </a:p>
        </p:txBody>
      </p:sp>
      <p:sp>
        <p:nvSpPr>
          <p:cNvPr id="142339" name="Rectangle 1027"/>
          <p:cNvSpPr>
            <a:spLocks noGrp="1" noChangeArrowheads="1"/>
          </p:cNvSpPr>
          <p:nvPr>
            <p:ph type="body" idx="1"/>
          </p:nvPr>
        </p:nvSpPr>
        <p:spPr>
          <a:xfrm>
            <a:off x="457200" y="476672"/>
            <a:ext cx="8229600" cy="6120978"/>
          </a:xfrm>
        </p:spPr>
        <p:txBody>
          <a:bodyPr/>
          <a:lstStyle/>
          <a:p>
            <a:pPr eaLnBrk="1" hangingPunct="1">
              <a:lnSpc>
                <a:spcPct val="90000"/>
              </a:lnSpc>
              <a:defRPr/>
            </a:pPr>
            <a:r>
              <a:rPr lang="zh-CN" altLang="en-US" sz="2800" dirty="0" smtClean="0"/>
              <a:t>用</a:t>
            </a:r>
            <a:r>
              <a:rPr lang="en-US" altLang="zh-CN" sz="2800" dirty="0" err="1" smtClean="0"/>
              <a:t>goto</a:t>
            </a:r>
            <a:r>
              <a:rPr lang="zh-CN" altLang="en-US" sz="2800" dirty="0" smtClean="0"/>
              <a:t>语句解释</a:t>
            </a:r>
            <a:r>
              <a:rPr lang="en-US" altLang="zh-CN" sz="2800" dirty="0" smtClean="0"/>
              <a:t>continue</a:t>
            </a:r>
            <a:r>
              <a:rPr lang="zh-CN" altLang="en-US" sz="2800" dirty="0"/>
              <a:t>语句的功能</a:t>
            </a:r>
            <a:endParaRPr lang="en-US" altLang="zh-CN" sz="2800" dirty="0" smtClean="0"/>
          </a:p>
          <a:p>
            <a:pPr eaLnBrk="1" hangingPunct="1">
              <a:lnSpc>
                <a:spcPct val="90000"/>
              </a:lnSpc>
              <a:buFont typeface="Wingdings" pitchFamily="2" charset="2"/>
              <a:buNone/>
              <a:defRPr/>
            </a:pPr>
            <a:endParaRPr lang="en-US" altLang="zh-CN" sz="2400" dirty="0" smtClean="0"/>
          </a:p>
          <a:p>
            <a:pPr eaLnBrk="1" hangingPunct="1">
              <a:lnSpc>
                <a:spcPct val="90000"/>
              </a:lnSpc>
              <a:buFont typeface="Wingdings" pitchFamily="2" charset="2"/>
              <a:buNone/>
              <a:defRPr/>
            </a:pPr>
            <a:r>
              <a:rPr lang="en-US" altLang="zh-CN" sz="2400" dirty="0" smtClean="0"/>
              <a:t>while (...)</a:t>
            </a:r>
          </a:p>
          <a:p>
            <a:pPr eaLnBrk="1" hangingPunct="1">
              <a:lnSpc>
                <a:spcPct val="90000"/>
              </a:lnSpc>
              <a:buFont typeface="Wingdings" pitchFamily="2" charset="2"/>
              <a:buNone/>
              <a:defRPr/>
            </a:pPr>
            <a:r>
              <a:rPr lang="en-US" altLang="zh-CN" sz="2400" dirty="0" smtClean="0"/>
              <a:t>{	......</a:t>
            </a:r>
          </a:p>
          <a:p>
            <a:pPr eaLnBrk="1" hangingPunct="1">
              <a:lnSpc>
                <a:spcPct val="90000"/>
              </a:lnSpc>
              <a:buFont typeface="Wingdings" pitchFamily="2" charset="2"/>
              <a:buNone/>
              <a:defRPr/>
            </a:pPr>
            <a:r>
              <a:rPr lang="en-US" altLang="zh-CN" sz="2400" dirty="0" smtClean="0"/>
              <a:t>	if (...) </a:t>
            </a:r>
            <a:r>
              <a:rPr lang="en-US" altLang="zh-CN" sz="2400" dirty="0" smtClean="0">
                <a:solidFill>
                  <a:srgbClr val="FFC000"/>
                </a:solidFill>
              </a:rPr>
              <a:t>continue</a:t>
            </a:r>
            <a:r>
              <a:rPr lang="en-US" altLang="zh-CN" sz="2400" dirty="0" smtClean="0"/>
              <a:t>; </a:t>
            </a:r>
          </a:p>
          <a:p>
            <a:pPr eaLnBrk="1" hangingPunct="1">
              <a:lnSpc>
                <a:spcPct val="90000"/>
              </a:lnSpc>
              <a:buFont typeface="Wingdings" pitchFamily="2" charset="2"/>
              <a:buNone/>
              <a:defRPr/>
            </a:pPr>
            <a:r>
              <a:rPr lang="en-US" altLang="zh-CN" sz="2400" dirty="0" smtClean="0"/>
              <a:t>	...... </a:t>
            </a:r>
          </a:p>
          <a:p>
            <a:pPr eaLnBrk="1" hangingPunct="1">
              <a:lnSpc>
                <a:spcPct val="90000"/>
              </a:lnSpc>
              <a:buFont typeface="Wingdings" pitchFamily="2" charset="2"/>
              <a:buNone/>
              <a:defRPr/>
            </a:pPr>
            <a:r>
              <a:rPr lang="en-US" altLang="zh-CN" sz="2400" dirty="0" smtClean="0"/>
              <a:t>}</a:t>
            </a:r>
          </a:p>
          <a:p>
            <a:pPr eaLnBrk="1" hangingPunct="1">
              <a:lnSpc>
                <a:spcPct val="90000"/>
              </a:lnSpc>
              <a:defRPr/>
            </a:pPr>
            <a:r>
              <a:rPr lang="zh-CN" altLang="en-US" sz="2400" dirty="0" smtClean="0"/>
              <a:t>上述程序等价于：</a:t>
            </a:r>
          </a:p>
          <a:p>
            <a:pPr eaLnBrk="1" hangingPunct="1">
              <a:lnSpc>
                <a:spcPct val="90000"/>
              </a:lnSpc>
              <a:buFont typeface="Wingdings" pitchFamily="2" charset="2"/>
              <a:buNone/>
              <a:defRPr/>
            </a:pPr>
            <a:r>
              <a:rPr lang="en-US" altLang="zh-CN" sz="2400" dirty="0" smtClean="0"/>
              <a:t>while (...)</a:t>
            </a:r>
          </a:p>
          <a:p>
            <a:pPr eaLnBrk="1" hangingPunct="1">
              <a:lnSpc>
                <a:spcPct val="90000"/>
              </a:lnSpc>
              <a:buFont typeface="Wingdings" pitchFamily="2" charset="2"/>
              <a:buNone/>
              <a:defRPr/>
            </a:pPr>
            <a:r>
              <a:rPr lang="en-US" altLang="zh-CN" sz="2400" dirty="0" smtClean="0"/>
              <a:t>{	......</a:t>
            </a:r>
          </a:p>
          <a:p>
            <a:pPr eaLnBrk="1" hangingPunct="1">
              <a:lnSpc>
                <a:spcPct val="90000"/>
              </a:lnSpc>
              <a:buFont typeface="Wingdings" pitchFamily="2" charset="2"/>
              <a:buNone/>
              <a:defRPr/>
            </a:pPr>
            <a:r>
              <a:rPr lang="en-US" altLang="zh-CN" sz="2400" dirty="0" smtClean="0"/>
              <a:t>	if (...) </a:t>
            </a:r>
            <a:r>
              <a:rPr lang="en-US" altLang="zh-CN" sz="2400" dirty="0" err="1" smtClean="0">
                <a:solidFill>
                  <a:srgbClr val="FFC000"/>
                </a:solidFill>
              </a:rPr>
              <a:t>goto</a:t>
            </a:r>
            <a:r>
              <a:rPr lang="en-US" altLang="zh-CN" sz="2400" dirty="0" smtClean="0">
                <a:solidFill>
                  <a:srgbClr val="FFC000"/>
                </a:solidFill>
              </a:rPr>
              <a:t> end</a:t>
            </a:r>
            <a:r>
              <a:rPr lang="en-US" altLang="zh-CN" sz="2400" dirty="0" smtClean="0"/>
              <a:t>; </a:t>
            </a:r>
          </a:p>
          <a:p>
            <a:pPr eaLnBrk="1" hangingPunct="1">
              <a:lnSpc>
                <a:spcPct val="90000"/>
              </a:lnSpc>
              <a:buFont typeface="Wingdings" pitchFamily="2" charset="2"/>
              <a:buNone/>
              <a:defRPr/>
            </a:pPr>
            <a:r>
              <a:rPr lang="en-US" altLang="zh-CN" sz="2400" dirty="0" smtClean="0"/>
              <a:t>	......</a:t>
            </a:r>
          </a:p>
          <a:p>
            <a:pPr eaLnBrk="1" hangingPunct="1">
              <a:lnSpc>
                <a:spcPct val="90000"/>
              </a:lnSpc>
              <a:buFont typeface="Wingdings" pitchFamily="2" charset="2"/>
              <a:buNone/>
              <a:defRPr/>
            </a:pPr>
            <a:r>
              <a:rPr lang="en-US" altLang="zh-CN" sz="2400" dirty="0" smtClean="0"/>
              <a:t>	</a:t>
            </a:r>
            <a:r>
              <a:rPr lang="en-US" altLang="zh-CN" sz="2400" dirty="0" smtClean="0">
                <a:solidFill>
                  <a:srgbClr val="FFC000"/>
                </a:solidFill>
              </a:rPr>
              <a:t>end:</a:t>
            </a:r>
            <a:r>
              <a:rPr lang="en-US" altLang="zh-CN" sz="2400" dirty="0" smtClean="0"/>
              <a:t>; //</a:t>
            </a:r>
            <a:r>
              <a:rPr lang="zh-CN" altLang="en-US" sz="2400" dirty="0" smtClean="0"/>
              <a:t>这里是个带标号的空语句</a:t>
            </a:r>
            <a:endParaRPr lang="en-US" altLang="zh-CN" sz="2400" dirty="0" smtClean="0"/>
          </a:p>
          <a:p>
            <a:pPr eaLnBrk="1" hangingPunct="1">
              <a:lnSpc>
                <a:spcPct val="90000"/>
              </a:lnSpc>
              <a:buFont typeface="Wingdings" pitchFamily="2" charset="2"/>
              <a:buNone/>
              <a:defRPr/>
            </a:pPr>
            <a:r>
              <a:rPr lang="en-US" altLang="zh-CN" sz="2400" dirty="0" smtClean="0"/>
              <a:t>}</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87313" y="61913"/>
            <a:ext cx="8229600" cy="990600"/>
          </a:xfrm>
        </p:spPr>
        <p:txBody>
          <a:bodyPr/>
          <a:lstStyle/>
          <a:p>
            <a:pPr algn="l" eaLnBrk="1" hangingPunct="1">
              <a:defRPr/>
            </a:pPr>
            <a:r>
              <a:rPr lang="zh-CN" altLang="en-US" sz="3200" smtClean="0"/>
              <a:t>例：从键盘输入一些非零整数，然后输出其中所有正数的平方根。 </a:t>
            </a:r>
          </a:p>
        </p:txBody>
      </p:sp>
      <p:sp>
        <p:nvSpPr>
          <p:cNvPr id="138243" name="Rectangle 3"/>
          <p:cNvSpPr>
            <a:spLocks noGrp="1" noChangeArrowheads="1"/>
          </p:cNvSpPr>
          <p:nvPr>
            <p:ph type="body" idx="1"/>
          </p:nvPr>
        </p:nvSpPr>
        <p:spPr>
          <a:xfrm>
            <a:off x="250825" y="1412429"/>
            <a:ext cx="8435975" cy="5328939"/>
          </a:xfrm>
        </p:spPr>
        <p:txBody>
          <a:bodyPr>
            <a:normAutofit fontScale="85000" lnSpcReduction="20000"/>
          </a:bodyPr>
          <a:lstStyle/>
          <a:p>
            <a:pPr eaLnBrk="1" hangingPunct="1">
              <a:lnSpc>
                <a:spcPct val="120000"/>
              </a:lnSpc>
              <a:buFont typeface="Wingdings" pitchFamily="2" charset="2"/>
              <a:buNone/>
              <a:defRPr/>
            </a:pPr>
            <a:r>
              <a:rPr lang="en-US" altLang="zh-CN" sz="2400" dirty="0" smtClean="0"/>
              <a:t>#include &lt;</a:t>
            </a:r>
            <a:r>
              <a:rPr lang="en-US" altLang="zh-CN" sz="2400" dirty="0" err="1" smtClean="0"/>
              <a:t>iostream</a:t>
            </a:r>
            <a:r>
              <a:rPr lang="en-US" altLang="zh-CN" sz="2400" dirty="0" smtClean="0"/>
              <a:t>&gt;</a:t>
            </a:r>
          </a:p>
          <a:p>
            <a:pPr eaLnBrk="1" hangingPunct="1">
              <a:lnSpc>
                <a:spcPct val="120000"/>
              </a:lnSpc>
              <a:buFont typeface="Wingdings" pitchFamily="2" charset="2"/>
              <a:buNone/>
              <a:defRPr/>
            </a:pPr>
            <a:r>
              <a:rPr lang="en-US" altLang="zh-CN" sz="2400" dirty="0" smtClean="0"/>
              <a:t>#include &lt;</a:t>
            </a:r>
            <a:r>
              <a:rPr lang="en-US" altLang="zh-CN" sz="2400" dirty="0" err="1" smtClean="0"/>
              <a:t>cmath</a:t>
            </a:r>
            <a:r>
              <a:rPr lang="en-US" altLang="zh-CN" sz="2400" dirty="0" smtClean="0"/>
              <a:t>&gt;</a:t>
            </a:r>
          </a:p>
          <a:p>
            <a:pPr eaLnBrk="1" hangingPunct="1">
              <a:lnSpc>
                <a:spcPct val="120000"/>
              </a:lnSpc>
              <a:buFont typeface="Wingdings" pitchFamily="2" charset="2"/>
              <a:buNone/>
              <a:defRPr/>
            </a:pPr>
            <a:r>
              <a:rPr lang="en-US" altLang="zh-CN" sz="2400" dirty="0" smtClean="0"/>
              <a:t>using namespace </a:t>
            </a:r>
            <a:r>
              <a:rPr lang="en-US" altLang="zh-CN" sz="2400" dirty="0" err="1" smtClean="0"/>
              <a:t>std</a:t>
            </a:r>
            <a:r>
              <a:rPr lang="en-US" altLang="zh-CN" sz="2400" dirty="0" smtClean="0"/>
              <a:t>;</a:t>
            </a:r>
          </a:p>
          <a:p>
            <a:pPr eaLnBrk="1" hangingPunct="1">
              <a:lnSpc>
                <a:spcPct val="120000"/>
              </a:lnSpc>
              <a:buFont typeface="Wingdings" pitchFamily="2" charset="2"/>
              <a:buNone/>
              <a:defRPr/>
            </a:pPr>
            <a:r>
              <a:rPr lang="en-US" altLang="zh-CN" sz="2400" dirty="0" err="1" smtClean="0"/>
              <a:t>int</a:t>
            </a:r>
            <a:r>
              <a:rPr lang="en-US" altLang="zh-CN" sz="2400" dirty="0" smtClean="0"/>
              <a:t> main()</a:t>
            </a:r>
          </a:p>
          <a:p>
            <a:pPr eaLnBrk="1" hangingPunct="1">
              <a:lnSpc>
                <a:spcPct val="120000"/>
              </a:lnSpc>
              <a:buFont typeface="Wingdings" pitchFamily="2" charset="2"/>
              <a:buNone/>
              <a:defRPr/>
            </a:pPr>
            <a:r>
              <a:rPr lang="en-US" altLang="zh-CN" sz="2400" dirty="0" smtClean="0"/>
              <a:t>{	</a:t>
            </a:r>
            <a:r>
              <a:rPr lang="en-US" altLang="zh-CN" sz="2400" dirty="0" err="1" smtClean="0"/>
              <a:t>int</a:t>
            </a:r>
            <a:r>
              <a:rPr lang="en-US" altLang="zh-CN" sz="2400" dirty="0" smtClean="0"/>
              <a:t> n;</a:t>
            </a:r>
          </a:p>
          <a:p>
            <a:pPr eaLnBrk="1" hangingPunct="1">
              <a:lnSpc>
                <a:spcPct val="120000"/>
              </a:lnSpc>
              <a:buFont typeface="Wingdings" pitchFamily="2" charset="2"/>
              <a:buNone/>
              <a:defRPr/>
            </a:pPr>
            <a:r>
              <a:rPr lang="en-US" altLang="zh-CN" sz="2400" dirty="0" smtClean="0"/>
              <a:t>	double </a:t>
            </a:r>
            <a:r>
              <a:rPr lang="en-US" altLang="zh-CN" sz="2400" dirty="0" err="1" smtClean="0"/>
              <a:t>square_root</a:t>
            </a:r>
            <a:r>
              <a:rPr lang="en-US" altLang="zh-CN" sz="2400" dirty="0" smtClean="0"/>
              <a:t>;</a:t>
            </a:r>
          </a:p>
          <a:p>
            <a:pPr eaLnBrk="1" hangingPunct="1">
              <a:lnSpc>
                <a:spcPct val="120000"/>
              </a:lnSpc>
              <a:buFont typeface="Wingdings" pitchFamily="2" charset="2"/>
              <a:buNone/>
              <a:defRPr/>
            </a:pPr>
            <a:r>
              <a:rPr lang="en-US" altLang="zh-CN" sz="2400" dirty="0" smtClean="0"/>
              <a:t>	</a:t>
            </a:r>
            <a:r>
              <a:rPr lang="en-US" altLang="zh-CN" sz="2400" dirty="0" err="1" smtClean="0"/>
              <a:t>cout</a:t>
            </a:r>
            <a:r>
              <a:rPr lang="en-US" altLang="zh-CN" sz="2400" dirty="0" smtClean="0"/>
              <a:t> &lt;&lt; "</a:t>
            </a:r>
            <a:r>
              <a:rPr lang="zh-CN" altLang="en-US" sz="2400" dirty="0" smtClean="0"/>
              <a:t>请输入若干整数（以</a:t>
            </a:r>
            <a:r>
              <a:rPr lang="en-US" altLang="zh-CN" sz="2400" dirty="0" smtClean="0"/>
              <a:t>0</a:t>
            </a:r>
            <a:r>
              <a:rPr lang="zh-CN" altLang="en-US" sz="2400" dirty="0" smtClean="0"/>
              <a:t>结束）：</a:t>
            </a:r>
            <a:r>
              <a:rPr lang="en-US" altLang="zh-CN" sz="2400" dirty="0" smtClean="0"/>
              <a:t>";</a:t>
            </a:r>
          </a:p>
          <a:p>
            <a:pPr eaLnBrk="1" hangingPunct="1">
              <a:lnSpc>
                <a:spcPct val="120000"/>
              </a:lnSpc>
              <a:buFont typeface="Wingdings" pitchFamily="2" charset="2"/>
              <a:buNone/>
              <a:defRPr/>
            </a:pPr>
            <a:r>
              <a:rPr lang="en-US" altLang="zh-CN" sz="2400" dirty="0" smtClean="0"/>
              <a:t>	for (</a:t>
            </a:r>
            <a:r>
              <a:rPr lang="en-US" altLang="zh-CN" sz="2400" dirty="0" err="1" smtClean="0"/>
              <a:t>cin</a:t>
            </a:r>
            <a:r>
              <a:rPr lang="en-US" altLang="zh-CN" sz="2400" dirty="0" smtClean="0"/>
              <a:t>&gt;&gt;n; n!=0; </a:t>
            </a:r>
            <a:r>
              <a:rPr lang="en-US" altLang="zh-CN" sz="2400" dirty="0" err="1" smtClean="0"/>
              <a:t>cin</a:t>
            </a:r>
            <a:r>
              <a:rPr lang="en-US" altLang="zh-CN" sz="2400" dirty="0" smtClean="0"/>
              <a:t>&gt;&gt;n)</a:t>
            </a:r>
          </a:p>
          <a:p>
            <a:pPr eaLnBrk="1" hangingPunct="1">
              <a:lnSpc>
                <a:spcPct val="120000"/>
              </a:lnSpc>
              <a:buFont typeface="Wingdings" pitchFamily="2" charset="2"/>
              <a:buNone/>
              <a:defRPr/>
            </a:pPr>
            <a:r>
              <a:rPr lang="en-US" altLang="zh-CN" sz="2400" dirty="0" smtClean="0"/>
              <a:t>	{	if (n &lt; 0) continue; //</a:t>
            </a:r>
            <a:r>
              <a:rPr lang="zh-CN" altLang="en-US" sz="2400" dirty="0" smtClean="0"/>
              <a:t>准备进入下一次循环</a:t>
            </a:r>
          </a:p>
          <a:p>
            <a:pPr eaLnBrk="1" hangingPunct="1">
              <a:lnSpc>
                <a:spcPct val="120000"/>
              </a:lnSpc>
              <a:buFont typeface="Wingdings" pitchFamily="2" charset="2"/>
              <a:buNone/>
              <a:defRPr/>
            </a:pPr>
            <a:r>
              <a:rPr lang="zh-CN" altLang="en-US" sz="2400" dirty="0" smtClean="0"/>
              <a:t>		</a:t>
            </a:r>
            <a:r>
              <a:rPr lang="en-US" altLang="zh-CN" sz="2400" dirty="0" err="1" smtClean="0"/>
              <a:t>square_root</a:t>
            </a:r>
            <a:r>
              <a:rPr lang="en-US" altLang="zh-CN" sz="2400" dirty="0" smtClean="0"/>
              <a:t> = </a:t>
            </a:r>
            <a:r>
              <a:rPr lang="en-US" altLang="zh-CN" sz="2400" dirty="0" err="1" smtClean="0"/>
              <a:t>sqrt</a:t>
            </a:r>
            <a:r>
              <a:rPr lang="en-US" altLang="zh-CN" sz="2400" dirty="0" smtClean="0"/>
              <a:t>((double)n);</a:t>
            </a:r>
          </a:p>
          <a:p>
            <a:pPr eaLnBrk="1" hangingPunct="1">
              <a:lnSpc>
                <a:spcPct val="120000"/>
              </a:lnSpc>
              <a:buFont typeface="Wingdings" pitchFamily="2" charset="2"/>
              <a:buNone/>
              <a:defRPr/>
            </a:pPr>
            <a:r>
              <a:rPr lang="en-US" altLang="zh-CN" sz="2400" dirty="0" smtClean="0"/>
              <a:t>		</a:t>
            </a:r>
            <a:r>
              <a:rPr lang="en-US" altLang="zh-CN" sz="2400" dirty="0" err="1" smtClean="0"/>
              <a:t>cout</a:t>
            </a:r>
            <a:r>
              <a:rPr lang="en-US" altLang="zh-CN" sz="2400" dirty="0" smtClean="0"/>
              <a:t> &lt;&lt; n &lt;&lt; "</a:t>
            </a:r>
            <a:r>
              <a:rPr lang="zh-CN" altLang="en-US" sz="2400" dirty="0" smtClean="0"/>
              <a:t>的平方根是</a:t>
            </a:r>
            <a:r>
              <a:rPr lang="zh-CN" altLang="en-GB" sz="2400" dirty="0" smtClean="0"/>
              <a:t>：</a:t>
            </a:r>
            <a:r>
              <a:rPr lang="en-US" altLang="zh-CN" sz="2400" dirty="0" smtClean="0"/>
              <a:t>" &lt;&lt; </a:t>
            </a:r>
            <a:r>
              <a:rPr lang="en-US" altLang="zh-CN" sz="2400" dirty="0" err="1" smtClean="0"/>
              <a:t>square_root</a:t>
            </a:r>
            <a:r>
              <a:rPr lang="en-US" altLang="zh-CN" sz="2400" dirty="0" smtClean="0"/>
              <a:t> &lt;&lt; </a:t>
            </a:r>
            <a:r>
              <a:rPr lang="en-US" altLang="zh-CN" sz="2400" dirty="0" err="1" smtClean="0"/>
              <a:t>endl</a:t>
            </a:r>
            <a:r>
              <a:rPr lang="en-US" altLang="zh-CN" sz="2400" dirty="0" smtClean="0"/>
              <a:t>;</a:t>
            </a:r>
          </a:p>
          <a:p>
            <a:pPr eaLnBrk="1" hangingPunct="1">
              <a:lnSpc>
                <a:spcPct val="120000"/>
              </a:lnSpc>
              <a:buFont typeface="Wingdings" pitchFamily="2" charset="2"/>
              <a:buNone/>
              <a:defRPr/>
            </a:pPr>
            <a:r>
              <a:rPr lang="en-US" altLang="zh-CN" sz="2400" dirty="0" smtClean="0"/>
              <a:t>	}</a:t>
            </a:r>
          </a:p>
          <a:p>
            <a:pPr eaLnBrk="1" hangingPunct="1">
              <a:lnSpc>
                <a:spcPct val="120000"/>
              </a:lnSpc>
              <a:buFont typeface="Wingdings" pitchFamily="2" charset="2"/>
              <a:buNone/>
              <a:defRPr/>
            </a:pPr>
            <a:r>
              <a:rPr lang="en-US" altLang="zh-CN" sz="2400" dirty="0" smtClean="0"/>
              <a:t>	return 0;</a:t>
            </a:r>
          </a:p>
          <a:p>
            <a:pPr eaLnBrk="1" hangingPunct="1">
              <a:lnSpc>
                <a:spcPct val="120000"/>
              </a:lnSpc>
              <a:buFont typeface="Wingdings" pitchFamily="2" charset="2"/>
              <a:buNone/>
              <a:defRPr/>
            </a:pPr>
            <a:r>
              <a:rPr lang="en-US" altLang="zh-CN" sz="2400" dirty="0" smtClean="0"/>
              <a:t>}</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t>上面的循环也可以写成：</a:t>
            </a:r>
            <a:endParaRPr lang="en-US" altLang="zh-CN" dirty="0" smtClean="0"/>
          </a:p>
          <a:p>
            <a:pPr marL="400050" lvl="1" indent="0">
              <a:buNone/>
            </a:pPr>
            <a:r>
              <a:rPr lang="en-US" altLang="zh-CN" sz="2400" dirty="0" smtClean="0"/>
              <a:t>for </a:t>
            </a:r>
            <a:r>
              <a:rPr lang="en-US" altLang="zh-CN" sz="2400" dirty="0"/>
              <a:t>(</a:t>
            </a:r>
            <a:r>
              <a:rPr lang="en-US" altLang="zh-CN" sz="2400" dirty="0" err="1"/>
              <a:t>cin</a:t>
            </a:r>
            <a:r>
              <a:rPr lang="en-US" altLang="zh-CN" sz="2400" dirty="0"/>
              <a:t>&gt;&gt;n; n!=0; </a:t>
            </a:r>
            <a:r>
              <a:rPr lang="en-US" altLang="zh-CN" sz="2400" dirty="0" err="1"/>
              <a:t>cin</a:t>
            </a:r>
            <a:r>
              <a:rPr lang="en-US" altLang="zh-CN" sz="2400" dirty="0"/>
              <a:t>&gt;&gt;n)</a:t>
            </a:r>
          </a:p>
          <a:p>
            <a:pPr marL="400050" lvl="1" indent="0">
              <a:buNone/>
            </a:pPr>
            <a:r>
              <a:rPr lang="en-US" altLang="zh-CN" sz="2400" dirty="0" smtClean="0"/>
              <a:t>{  if </a:t>
            </a:r>
            <a:r>
              <a:rPr lang="en-US" altLang="zh-CN" sz="2400" dirty="0"/>
              <a:t>(n &gt;</a:t>
            </a:r>
            <a:r>
              <a:rPr lang="en-US" altLang="zh-CN" sz="2400" dirty="0" smtClean="0"/>
              <a:t> </a:t>
            </a:r>
            <a:r>
              <a:rPr lang="en-US" altLang="zh-CN" sz="2400" dirty="0"/>
              <a:t>0</a:t>
            </a:r>
            <a:r>
              <a:rPr lang="en-US" altLang="zh-CN" sz="2400" dirty="0" smtClean="0"/>
              <a:t>)</a:t>
            </a:r>
            <a:endParaRPr lang="zh-CN" altLang="en-US" sz="2400" dirty="0"/>
          </a:p>
          <a:p>
            <a:pPr marL="400050" lvl="1" indent="0">
              <a:buNone/>
            </a:pPr>
            <a:r>
              <a:rPr lang="zh-CN" altLang="en-US" sz="2400" dirty="0" smtClean="0"/>
              <a:t>    </a:t>
            </a:r>
            <a:r>
              <a:rPr lang="en-US" altLang="zh-CN" sz="2400" dirty="0" smtClean="0"/>
              <a:t>{ </a:t>
            </a:r>
            <a:r>
              <a:rPr lang="en-US" altLang="zh-CN" sz="2400" dirty="0" err="1" smtClean="0"/>
              <a:t>square_root</a:t>
            </a:r>
            <a:r>
              <a:rPr lang="en-US" altLang="zh-CN" sz="2400" dirty="0" smtClean="0"/>
              <a:t> </a:t>
            </a:r>
            <a:r>
              <a:rPr lang="en-US" altLang="zh-CN" sz="2400" dirty="0"/>
              <a:t>= </a:t>
            </a:r>
            <a:r>
              <a:rPr lang="en-US" altLang="zh-CN" sz="2400" dirty="0" err="1"/>
              <a:t>sqrt</a:t>
            </a:r>
            <a:r>
              <a:rPr lang="en-US" altLang="zh-CN" sz="2400" dirty="0"/>
              <a:t>((double)n);</a:t>
            </a:r>
          </a:p>
          <a:p>
            <a:pPr marL="400050" lvl="1" indent="0">
              <a:buNone/>
            </a:pPr>
            <a:r>
              <a:rPr lang="en-US" altLang="zh-CN" sz="2400" dirty="0" smtClean="0"/>
              <a:t>       </a:t>
            </a:r>
            <a:r>
              <a:rPr lang="en-US" altLang="zh-CN" sz="2400" dirty="0" err="1" smtClean="0"/>
              <a:t>cout</a:t>
            </a:r>
            <a:r>
              <a:rPr lang="en-US" altLang="zh-CN" sz="2400" dirty="0" smtClean="0"/>
              <a:t> </a:t>
            </a:r>
            <a:r>
              <a:rPr lang="en-US" altLang="zh-CN" sz="2400" dirty="0"/>
              <a:t>&lt;&lt; n &lt;&lt; "</a:t>
            </a:r>
            <a:r>
              <a:rPr lang="zh-CN" altLang="en-US" sz="2400" dirty="0"/>
              <a:t>的平方根是：</a:t>
            </a:r>
            <a:r>
              <a:rPr lang="en-US" altLang="zh-CN" sz="2400" dirty="0"/>
              <a:t>" </a:t>
            </a:r>
            <a:endParaRPr lang="en-US" altLang="zh-CN" sz="2400" dirty="0" smtClean="0"/>
          </a:p>
          <a:p>
            <a:pPr marL="400050" lvl="1" indent="0">
              <a:buNone/>
            </a:pPr>
            <a:r>
              <a:rPr lang="en-US" altLang="zh-CN" sz="2400" dirty="0"/>
              <a:t> </a:t>
            </a:r>
            <a:r>
              <a:rPr lang="en-US" altLang="zh-CN" sz="2400" dirty="0" smtClean="0"/>
              <a:t>             &lt;&lt; </a:t>
            </a:r>
            <a:r>
              <a:rPr lang="en-US" altLang="zh-CN" sz="2400" dirty="0" err="1"/>
              <a:t>square_root</a:t>
            </a:r>
            <a:r>
              <a:rPr lang="en-US" altLang="zh-CN" sz="2400" dirty="0"/>
              <a:t> &lt;&lt; </a:t>
            </a:r>
            <a:r>
              <a:rPr lang="en-US" altLang="zh-CN" sz="2400" dirty="0" err="1"/>
              <a:t>endl</a:t>
            </a:r>
            <a:r>
              <a:rPr lang="en-US" altLang="zh-CN" sz="2400" dirty="0"/>
              <a:t>;</a:t>
            </a:r>
          </a:p>
          <a:p>
            <a:pPr marL="400050" lvl="1" indent="0">
              <a:buNone/>
            </a:pPr>
            <a:r>
              <a:rPr lang="en-US" altLang="zh-CN" sz="2400" dirty="0" smtClean="0"/>
              <a:t>    }</a:t>
            </a:r>
            <a:endParaRPr lang="en-US" altLang="zh-CN" sz="2400" dirty="0"/>
          </a:p>
          <a:p>
            <a:pPr marL="400050" lvl="1" indent="0">
              <a:buNone/>
            </a:pPr>
            <a:r>
              <a:rPr lang="en-US" altLang="zh-CN" sz="2400" dirty="0" smtClean="0"/>
              <a:t>}</a:t>
            </a:r>
            <a:endParaRPr lang="zh-CN" altLang="en-US" sz="2400" dirty="0"/>
          </a:p>
        </p:txBody>
      </p:sp>
    </p:spTree>
    <p:extLst>
      <p:ext uri="{BB962C8B-B14F-4D97-AF65-F5344CB8AC3E}">
        <p14:creationId xmlns:p14="http://schemas.microsoft.com/office/powerpoint/2010/main" val="48565339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332656"/>
            <a:ext cx="8784976" cy="6480720"/>
          </a:xfrm>
          <a:solidFill>
            <a:schemeClr val="bg1">
              <a:lumMod val="50000"/>
            </a:schemeClr>
          </a:solidFill>
        </p:spPr>
        <p:txBody>
          <a:bodyPr>
            <a:normAutofit fontScale="85000" lnSpcReduction="20000"/>
          </a:bodyPr>
          <a:lstStyle/>
          <a:p>
            <a:pPr eaLnBrk="1" hangingPunct="1">
              <a:lnSpc>
                <a:spcPct val="120000"/>
              </a:lnSpc>
            </a:pPr>
            <a:r>
              <a:rPr lang="zh-CN" altLang="en-US" dirty="0" smtClean="0"/>
              <a:t>何时需要使用</a:t>
            </a:r>
            <a:r>
              <a:rPr lang="en-US" altLang="zh-CN" dirty="0" smtClean="0"/>
              <a:t>continue</a:t>
            </a:r>
            <a:r>
              <a:rPr lang="zh-CN" altLang="en-US" dirty="0" smtClean="0"/>
              <a:t>？</a:t>
            </a:r>
            <a:endParaRPr lang="en-US" altLang="zh-CN" dirty="0" smtClean="0"/>
          </a:p>
          <a:p>
            <a:pPr eaLnBrk="1" hangingPunct="1">
              <a:lnSpc>
                <a:spcPct val="120000"/>
              </a:lnSpc>
            </a:pPr>
            <a:r>
              <a:rPr lang="zh-CN" altLang="en-US" dirty="0" smtClean="0"/>
              <a:t>在循环体的主计算过程中，可以用</a:t>
            </a:r>
            <a:r>
              <a:rPr lang="en-US" altLang="zh-CN" dirty="0" smtClean="0"/>
              <a:t>continue</a:t>
            </a:r>
            <a:r>
              <a:rPr lang="zh-CN" altLang="en-US" dirty="0" smtClean="0"/>
              <a:t>语句</a:t>
            </a:r>
            <a:r>
              <a:rPr lang="zh-CN" altLang="en-US" dirty="0" smtClean="0">
                <a:solidFill>
                  <a:srgbClr val="FFC000"/>
                </a:solidFill>
              </a:rPr>
              <a:t>过滤</a:t>
            </a:r>
            <a:r>
              <a:rPr lang="zh-CN" altLang="en-US" dirty="0" smtClean="0"/>
              <a:t>掉一些不符合主计算条件的情况，使得代码更清晰。</a:t>
            </a:r>
            <a:endParaRPr lang="en-US" altLang="zh-CN" dirty="0" smtClean="0"/>
          </a:p>
          <a:p>
            <a:pPr eaLnBrk="1" hangingPunct="1">
              <a:lnSpc>
                <a:spcPct val="120000"/>
              </a:lnSpc>
            </a:pPr>
            <a:r>
              <a:rPr lang="zh-CN" altLang="en-US" dirty="0"/>
              <a:t>例如</a:t>
            </a:r>
            <a:endParaRPr lang="en-US" altLang="zh-CN" dirty="0" smtClean="0"/>
          </a:p>
          <a:p>
            <a:pPr marL="400050" lvl="1" indent="0">
              <a:lnSpc>
                <a:spcPct val="120000"/>
              </a:lnSpc>
              <a:buNone/>
            </a:pPr>
            <a:r>
              <a:rPr lang="en-US" altLang="zh-CN" dirty="0">
                <a:effectLst>
                  <a:outerShdw blurRad="38100" dist="38100" dir="2700000" algn="tl">
                    <a:srgbClr val="000000">
                      <a:alpha val="43137"/>
                    </a:srgbClr>
                  </a:outerShdw>
                </a:effectLst>
              </a:rPr>
              <a:t>while (...)</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a:t>
            </a:r>
            <a:r>
              <a:rPr lang="en-US" altLang="zh-CN" dirty="0" smtClean="0">
                <a:effectLst>
                  <a:outerShdw blurRad="38100" dist="38100" dir="2700000" algn="tl">
                    <a:srgbClr val="000000">
                      <a:alpha val="43137"/>
                    </a:srgbClr>
                  </a:outerShdw>
                </a:effectLst>
              </a:rPr>
              <a:t>......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1</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if (b1) continue;</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a:t>
            </a:r>
            <a:r>
              <a:rPr lang="en-US" altLang="zh-CN" dirty="0" smtClean="0">
                <a:effectLst>
                  <a:outerShdw blurRad="38100" dist="38100" dir="2700000" algn="tl">
                    <a:srgbClr val="000000">
                      <a:alpha val="43137"/>
                    </a:srgbClr>
                  </a:outerShdw>
                </a:effectLst>
              </a:rPr>
              <a:t>......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2</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a:t>
            </a:r>
            <a:r>
              <a:rPr lang="en-US" altLang="zh-CN" dirty="0" smtClean="0">
                <a:effectLst>
                  <a:outerShdw blurRad="38100" dist="38100" dir="2700000" algn="tl">
                    <a:srgbClr val="000000">
                      <a:alpha val="43137"/>
                    </a:srgbClr>
                  </a:outerShdw>
                </a:effectLst>
              </a:rPr>
              <a:t>   if </a:t>
            </a:r>
            <a:r>
              <a:rPr lang="en-US" altLang="zh-CN" dirty="0">
                <a:effectLst>
                  <a:outerShdw blurRad="38100" dist="38100" dir="2700000" algn="tl">
                    <a:srgbClr val="000000">
                      <a:alpha val="43137"/>
                    </a:srgbClr>
                  </a:outerShdw>
                </a:effectLst>
              </a:rPr>
              <a:t>(b2) continue; </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3</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if (b3) continue; </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a:effectLst>
                  <a:outerShdw blurRad="38100" dist="38100" dir="2700000" algn="tl">
                    <a:srgbClr val="000000">
                      <a:alpha val="43137"/>
                    </a:srgbClr>
                  </a:outerShdw>
                </a:effectLst>
              </a:rPr>
              <a:t>	...... //</a:t>
            </a:r>
            <a:r>
              <a:rPr lang="zh-CN" altLang="en-US" dirty="0" smtClean="0">
                <a:effectLst>
                  <a:outerShdw blurRad="38100" dist="38100" dir="2700000" algn="tl">
                    <a:srgbClr val="000000">
                      <a:alpha val="43137"/>
                    </a:srgbClr>
                  </a:outerShdw>
                </a:effectLst>
              </a:rPr>
              <a:t>代码</a:t>
            </a:r>
            <a:r>
              <a:rPr lang="en-US" altLang="zh-CN" dirty="0" smtClean="0">
                <a:effectLst>
                  <a:outerShdw blurRad="38100" dist="38100" dir="2700000" algn="tl">
                    <a:srgbClr val="000000">
                      <a:alpha val="43137"/>
                    </a:srgbClr>
                  </a:outerShdw>
                </a:effectLst>
              </a:rPr>
              <a:t>4</a:t>
            </a:r>
            <a:endParaRPr lang="zh-CN" altLang="zh-CN" dirty="0">
              <a:effectLst>
                <a:outerShdw blurRad="38100" dist="38100" dir="2700000" algn="tl">
                  <a:srgbClr val="000000">
                    <a:alpha val="43137"/>
                  </a:srgbClr>
                </a:outerShdw>
              </a:effectLst>
            </a:endParaRPr>
          </a:p>
          <a:p>
            <a:pPr marL="400050" lvl="1" indent="0">
              <a:lnSpc>
                <a:spcPct val="120000"/>
              </a:lnSpc>
              <a:buNone/>
            </a:pPr>
            <a:r>
              <a:rPr lang="en-US" altLang="zh-CN" dirty="0" smtClean="0">
                <a:effectLst>
                  <a:outerShdw blurRad="38100" dist="38100" dir="2700000" algn="tl">
                    <a:srgbClr val="000000">
                      <a:alpha val="43137"/>
                    </a:srgbClr>
                  </a:outerShdw>
                </a:effectLst>
              </a:rPr>
              <a:t>}</a:t>
            </a:r>
            <a:endParaRPr lang="en-US" altLang="zh-CN" dirty="0" smtClean="0">
              <a:effectLst/>
            </a:endParaRPr>
          </a:p>
          <a:p>
            <a:pPr marL="457200" indent="-457200">
              <a:lnSpc>
                <a:spcPct val="120000"/>
              </a:lnSpc>
            </a:pPr>
            <a:r>
              <a:rPr lang="zh-CN" altLang="en-US" dirty="0" smtClean="0">
                <a:effectLst/>
              </a:rPr>
              <a:t>上面程序不用</a:t>
            </a:r>
            <a:r>
              <a:rPr lang="en-US" altLang="zh-CN" dirty="0" smtClean="0">
                <a:effectLst/>
              </a:rPr>
              <a:t>continue</a:t>
            </a:r>
            <a:r>
              <a:rPr lang="zh-CN" altLang="en-US" dirty="0" smtClean="0">
                <a:effectLst/>
              </a:rPr>
              <a:t>语句将是什么样的？</a:t>
            </a:r>
            <a:endParaRPr lang="zh-CN" altLang="zh-CN" dirty="0">
              <a:effectLst/>
            </a:endParaRPr>
          </a:p>
        </p:txBody>
      </p:sp>
      <p:sp>
        <p:nvSpPr>
          <p:cNvPr id="4" name="文本框 3"/>
          <p:cNvSpPr txBox="1"/>
          <p:nvPr/>
        </p:nvSpPr>
        <p:spPr>
          <a:xfrm>
            <a:off x="4932040" y="1772816"/>
            <a:ext cx="3888432" cy="4493538"/>
          </a:xfrm>
          <a:prstGeom prst="rect">
            <a:avLst/>
          </a:prstGeom>
          <a:solidFill>
            <a:schemeClr val="bg1">
              <a:lumMod val="75000"/>
            </a:schemeClr>
          </a:solidFill>
        </p:spPr>
        <p:txBody>
          <a:bodyPr wrap="square" rtlCol="0">
            <a:spAutoFit/>
          </a:bodyPr>
          <a:lstStyle/>
          <a:p>
            <a:pPr marL="400050" lvl="1" indent="0">
              <a:buNone/>
            </a:pPr>
            <a:r>
              <a:rPr lang="en-US" altLang="zh-CN" sz="2200" dirty="0"/>
              <a:t>while (...)</a:t>
            </a:r>
            <a:endParaRPr lang="zh-CN" altLang="zh-CN" sz="2200" dirty="0"/>
          </a:p>
          <a:p>
            <a:pPr marL="400050" lvl="1" indent="0">
              <a:buNone/>
            </a:pPr>
            <a:r>
              <a:rPr lang="en-US" altLang="zh-CN" sz="2200" dirty="0"/>
              <a:t>{	</a:t>
            </a:r>
            <a:r>
              <a:rPr lang="en-US" altLang="zh-CN" sz="2200" dirty="0" smtClean="0"/>
              <a:t>...... </a:t>
            </a:r>
            <a:r>
              <a:rPr lang="en-US" altLang="zh-CN" sz="2200" dirty="0"/>
              <a:t>//</a:t>
            </a:r>
            <a:r>
              <a:rPr lang="zh-CN" altLang="en-US" sz="2200" dirty="0"/>
              <a:t>代码</a:t>
            </a:r>
            <a:r>
              <a:rPr lang="en-US" altLang="zh-CN" sz="2200" dirty="0"/>
              <a:t>1</a:t>
            </a:r>
            <a:endParaRPr lang="zh-CN" altLang="zh-CN" sz="2200" dirty="0"/>
          </a:p>
          <a:p>
            <a:pPr marL="400050" lvl="1" indent="0">
              <a:buNone/>
            </a:pPr>
            <a:r>
              <a:rPr lang="en-US" altLang="zh-CN" sz="2200" dirty="0"/>
              <a:t>	if </a:t>
            </a:r>
            <a:r>
              <a:rPr lang="en-US" altLang="zh-CN" sz="2200" dirty="0" smtClean="0"/>
              <a:t>(</a:t>
            </a:r>
            <a:r>
              <a:rPr lang="en-US" altLang="zh-CN" sz="2200" dirty="0"/>
              <a:t>!</a:t>
            </a:r>
            <a:r>
              <a:rPr lang="en-US" altLang="zh-CN" sz="2200" dirty="0" smtClean="0"/>
              <a:t>b1)</a:t>
            </a:r>
            <a:endParaRPr lang="zh-CN" altLang="zh-CN" sz="2200" dirty="0"/>
          </a:p>
          <a:p>
            <a:pPr marL="400050" lvl="1" indent="0">
              <a:buNone/>
            </a:pPr>
            <a:r>
              <a:rPr lang="en-US" altLang="zh-CN" sz="2200" dirty="0"/>
              <a:t>	</a:t>
            </a:r>
            <a:r>
              <a:rPr lang="en-US" altLang="zh-CN" sz="2200" dirty="0" smtClean="0"/>
              <a:t>{ ......</a:t>
            </a:r>
            <a:r>
              <a:rPr lang="en-US" altLang="zh-CN" sz="2200" dirty="0"/>
              <a:t> //</a:t>
            </a:r>
            <a:r>
              <a:rPr lang="zh-CN" altLang="en-US" sz="2200" dirty="0" smtClean="0"/>
              <a:t>代码</a:t>
            </a:r>
            <a:r>
              <a:rPr lang="en-US" altLang="zh-CN" sz="2200" dirty="0" smtClean="0"/>
              <a:t>2</a:t>
            </a:r>
            <a:endParaRPr lang="zh-CN" altLang="zh-CN" sz="2200" dirty="0"/>
          </a:p>
          <a:p>
            <a:pPr marL="400050" lvl="1" indent="0">
              <a:buNone/>
            </a:pPr>
            <a:r>
              <a:rPr lang="en-US" altLang="zh-CN" sz="2200" dirty="0"/>
              <a:t>    </a:t>
            </a:r>
            <a:r>
              <a:rPr lang="en-US" altLang="zh-CN" sz="2200" dirty="0" smtClean="0"/>
              <a:t>    if (!b2</a:t>
            </a:r>
            <a:r>
              <a:rPr lang="en-US" altLang="zh-CN" sz="2200" dirty="0"/>
              <a:t>) </a:t>
            </a:r>
            <a:endParaRPr lang="zh-CN" altLang="zh-CN" sz="2200" dirty="0"/>
          </a:p>
          <a:p>
            <a:pPr marL="400050" lvl="1" indent="0">
              <a:buNone/>
            </a:pPr>
            <a:r>
              <a:rPr lang="en-US" altLang="zh-CN" sz="2200" dirty="0"/>
              <a:t>	</a:t>
            </a:r>
            <a:r>
              <a:rPr lang="en-US" altLang="zh-CN" sz="2200" dirty="0" smtClean="0"/>
              <a:t>   { ......</a:t>
            </a:r>
            <a:r>
              <a:rPr lang="en-US" altLang="zh-CN" sz="2200" dirty="0"/>
              <a:t> //</a:t>
            </a:r>
            <a:r>
              <a:rPr lang="zh-CN" altLang="en-US" sz="2200" dirty="0" smtClean="0"/>
              <a:t>代码</a:t>
            </a:r>
            <a:r>
              <a:rPr lang="en-US" altLang="zh-CN" sz="2200" dirty="0" smtClean="0"/>
              <a:t>3</a:t>
            </a:r>
            <a:endParaRPr lang="zh-CN" altLang="zh-CN" sz="2200" dirty="0"/>
          </a:p>
          <a:p>
            <a:pPr marL="400050" lvl="1" indent="0">
              <a:buNone/>
            </a:pPr>
            <a:r>
              <a:rPr lang="en-US" altLang="zh-CN" sz="2200" dirty="0"/>
              <a:t>	</a:t>
            </a:r>
            <a:r>
              <a:rPr lang="en-US" altLang="zh-CN" sz="2200" dirty="0" smtClean="0"/>
              <a:t>      if (!b3) </a:t>
            </a:r>
            <a:endParaRPr lang="zh-CN" altLang="zh-CN" sz="2200" dirty="0"/>
          </a:p>
          <a:p>
            <a:pPr marL="400050" lvl="1" indent="0">
              <a:buNone/>
            </a:pPr>
            <a:r>
              <a:rPr lang="en-US" altLang="zh-CN" sz="2200" dirty="0"/>
              <a:t>	</a:t>
            </a:r>
            <a:r>
              <a:rPr lang="en-US" altLang="zh-CN" sz="2200" dirty="0" smtClean="0"/>
              <a:t>      { ......</a:t>
            </a:r>
            <a:r>
              <a:rPr lang="en-US" altLang="zh-CN" sz="2200" dirty="0"/>
              <a:t> //</a:t>
            </a:r>
            <a:r>
              <a:rPr lang="zh-CN" altLang="en-US" sz="2200" dirty="0" smtClean="0"/>
              <a:t>代码</a:t>
            </a:r>
            <a:r>
              <a:rPr lang="en-US" altLang="zh-CN" sz="2200" dirty="0" smtClean="0"/>
              <a:t>4</a:t>
            </a:r>
          </a:p>
          <a:p>
            <a:pPr marL="400050" lvl="1" indent="0">
              <a:buNone/>
            </a:pPr>
            <a:r>
              <a:rPr lang="en-US" altLang="zh-CN" sz="2200" dirty="0" smtClean="0"/>
              <a:t>           }</a:t>
            </a:r>
          </a:p>
          <a:p>
            <a:pPr marL="400050" lvl="1" indent="0">
              <a:buNone/>
            </a:pPr>
            <a:r>
              <a:rPr lang="en-US" altLang="zh-CN" sz="2200" dirty="0"/>
              <a:t> </a:t>
            </a:r>
            <a:r>
              <a:rPr lang="en-US" altLang="zh-CN" sz="2200" dirty="0" smtClean="0"/>
              <a:t>       }</a:t>
            </a:r>
          </a:p>
          <a:p>
            <a:pPr marL="400050" lvl="1" indent="0">
              <a:buNone/>
            </a:pPr>
            <a:r>
              <a:rPr lang="en-US" altLang="zh-CN" sz="2200" dirty="0"/>
              <a:t> </a:t>
            </a:r>
            <a:r>
              <a:rPr lang="en-US" altLang="zh-CN" sz="2200" dirty="0" smtClean="0"/>
              <a:t>    }</a:t>
            </a:r>
            <a:endParaRPr lang="zh-CN" altLang="zh-CN" sz="2200" dirty="0"/>
          </a:p>
          <a:p>
            <a:pPr marL="400050" lvl="1" indent="0">
              <a:buNone/>
            </a:pPr>
            <a:r>
              <a:rPr lang="en-US" altLang="zh-CN" sz="2200" dirty="0" smtClean="0"/>
              <a:t>}</a:t>
            </a:r>
            <a:endParaRPr lang="en-US" altLang="zh-CN" sz="2200" dirty="0"/>
          </a:p>
        </p:txBody>
      </p:sp>
    </p:spTree>
    <p:extLst>
      <p:ext uri="{BB962C8B-B14F-4D97-AF65-F5344CB8AC3E}">
        <p14:creationId xmlns:p14="http://schemas.microsoft.com/office/powerpoint/2010/main" val="120556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 calcmode="lin" valueType="num">
                                      <p:cBhvr additive="base">
                                        <p:cTn id="4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anim calcmode="lin" valueType="num">
                                      <p:cBhvr additive="base">
                                        <p:cTn id="5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additive="base">
                                        <p:cTn id="59" dur="500" fill="hold"/>
                                        <p:tgtEl>
                                          <p:spTgt spid="4"/>
                                        </p:tgtEl>
                                        <p:attrNameLst>
                                          <p:attrName>ppt_x</p:attrName>
                                        </p:attrNameLst>
                                      </p:cBhvr>
                                      <p:tavLst>
                                        <p:tav tm="0">
                                          <p:val>
                                            <p:strVal val="#ppt_x"/>
                                          </p:val>
                                        </p:tav>
                                        <p:tav tm="100000">
                                          <p:val>
                                            <p:strVal val="#ppt_x"/>
                                          </p:val>
                                        </p:tav>
                                      </p:tavLst>
                                    </p:anim>
                                    <p:anim calcmode="lin" valueType="num">
                                      <p:cBhvr additive="base">
                                        <p:cTn id="6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76200"/>
            <a:ext cx="7772400" cy="1143000"/>
          </a:xfrm>
        </p:spPr>
        <p:txBody>
          <a:bodyPr/>
          <a:lstStyle/>
          <a:p>
            <a:pPr eaLnBrk="1" hangingPunct="1">
              <a:defRPr/>
            </a:pPr>
            <a:r>
              <a:rPr lang="zh-CN" altLang="en-GB" smtClean="0"/>
              <a:t>程序设计风格</a:t>
            </a:r>
            <a:r>
              <a:rPr lang="zh-CN" altLang="en-US" smtClean="0"/>
              <a:t> </a:t>
            </a:r>
          </a:p>
        </p:txBody>
      </p:sp>
      <p:sp>
        <p:nvSpPr>
          <p:cNvPr id="29699" name="Rectangle 3"/>
          <p:cNvSpPr>
            <a:spLocks noGrp="1" noChangeArrowheads="1"/>
          </p:cNvSpPr>
          <p:nvPr>
            <p:ph type="body" idx="1"/>
          </p:nvPr>
        </p:nvSpPr>
        <p:spPr>
          <a:xfrm>
            <a:off x="179388" y="1219200"/>
            <a:ext cx="8713787" cy="5378152"/>
          </a:xfrm>
        </p:spPr>
        <p:txBody>
          <a:bodyPr>
            <a:normAutofit fontScale="85000" lnSpcReduction="20000"/>
          </a:bodyPr>
          <a:lstStyle/>
          <a:p>
            <a:pPr eaLnBrk="1" hangingPunct="1">
              <a:lnSpc>
                <a:spcPct val="120000"/>
              </a:lnSpc>
              <a:defRPr/>
            </a:pPr>
            <a:r>
              <a:rPr lang="zh-CN" altLang="en-GB" dirty="0" smtClean="0">
                <a:solidFill>
                  <a:schemeClr val="folHlink"/>
                </a:solidFill>
              </a:rPr>
              <a:t>程序设计风格</a:t>
            </a:r>
            <a:r>
              <a:rPr lang="zh-CN" altLang="en-US" dirty="0" smtClean="0"/>
              <a:t>（</a:t>
            </a:r>
            <a:r>
              <a:rPr lang="en-US" altLang="zh-CN" dirty="0" smtClean="0"/>
              <a:t>Programming Style</a:t>
            </a:r>
            <a:r>
              <a:rPr lang="zh-CN" altLang="en-US" dirty="0" smtClean="0"/>
              <a:t>）</a:t>
            </a:r>
            <a:r>
              <a:rPr lang="zh-CN" altLang="en-GB" dirty="0" smtClean="0"/>
              <a:t>通常是指对程序进行</a:t>
            </a:r>
            <a:r>
              <a:rPr lang="zh-CN" altLang="en-GB" dirty="0" smtClean="0">
                <a:solidFill>
                  <a:srgbClr val="FFC000"/>
                </a:solidFill>
              </a:rPr>
              <a:t>静态分析</a:t>
            </a:r>
            <a:r>
              <a:rPr lang="zh-CN" altLang="en-US" dirty="0" smtClean="0"/>
              <a:t>（不运行程序）</a:t>
            </a:r>
            <a:r>
              <a:rPr lang="zh-CN" altLang="en-GB" dirty="0" smtClean="0"/>
              <a:t>所能确认的程序特性，它涉及程序的易读性</a:t>
            </a:r>
            <a:r>
              <a:rPr lang="zh-CN" altLang="en-US" dirty="0" smtClean="0"/>
              <a:t>和可维护性</a:t>
            </a:r>
            <a:r>
              <a:rPr lang="zh-CN" altLang="en-GB" dirty="0" smtClean="0"/>
              <a:t>。</a:t>
            </a:r>
            <a:endParaRPr lang="en-US" altLang="zh-CN" dirty="0" smtClean="0"/>
          </a:p>
          <a:p>
            <a:pPr eaLnBrk="1" hangingPunct="1">
              <a:lnSpc>
                <a:spcPct val="120000"/>
              </a:lnSpc>
              <a:defRPr/>
            </a:pPr>
            <a:r>
              <a:rPr lang="zh-CN" altLang="en-US" dirty="0" smtClean="0"/>
              <a:t>下面是一些良好的</a:t>
            </a:r>
            <a:r>
              <a:rPr lang="zh-CN" altLang="en-US" dirty="0"/>
              <a:t>程序设计</a:t>
            </a:r>
            <a:r>
              <a:rPr lang="zh-CN" altLang="en-US" dirty="0" smtClean="0"/>
              <a:t>风格： </a:t>
            </a:r>
          </a:p>
          <a:p>
            <a:pPr lvl="1" eaLnBrk="1" hangingPunct="1">
              <a:lnSpc>
                <a:spcPct val="120000"/>
              </a:lnSpc>
              <a:defRPr/>
            </a:pPr>
            <a:r>
              <a:rPr lang="zh-CN" altLang="en-GB" dirty="0" smtClean="0"/>
              <a:t>采用一致</a:t>
            </a:r>
            <a:r>
              <a:rPr lang="zh-CN" altLang="en-GB" dirty="0" smtClean="0">
                <a:latin typeface="宋体" charset="-122"/>
                <a:cs typeface="Times New Roman" pitchFamily="18" charset="0"/>
              </a:rPr>
              <a:t>/</a:t>
            </a:r>
            <a:r>
              <a:rPr lang="zh-CN" altLang="en-GB" dirty="0" smtClean="0"/>
              <a:t>有意义的标识符为程序实体（如：变量、函数等）命名</a:t>
            </a:r>
          </a:p>
          <a:p>
            <a:pPr lvl="1" eaLnBrk="1" hangingPunct="1">
              <a:lnSpc>
                <a:spcPct val="120000"/>
              </a:lnSpc>
              <a:defRPr/>
            </a:pPr>
            <a:r>
              <a:rPr lang="zh-CN" altLang="en-GB" dirty="0" smtClean="0"/>
              <a:t>使用符号常量</a:t>
            </a:r>
          </a:p>
          <a:p>
            <a:pPr lvl="1" eaLnBrk="1" hangingPunct="1">
              <a:lnSpc>
                <a:spcPct val="120000"/>
              </a:lnSpc>
              <a:defRPr/>
            </a:pPr>
            <a:r>
              <a:rPr lang="zh-CN" altLang="en-GB" dirty="0" smtClean="0"/>
              <a:t>为程序书写注释</a:t>
            </a:r>
          </a:p>
          <a:p>
            <a:pPr lvl="1" eaLnBrk="1" hangingPunct="1">
              <a:lnSpc>
                <a:spcPct val="120000"/>
              </a:lnSpc>
              <a:defRPr/>
            </a:pPr>
            <a:r>
              <a:rPr lang="zh-CN" altLang="en-GB" dirty="0" smtClean="0"/>
              <a:t>采用代码的缩进格式</a:t>
            </a:r>
            <a:endParaRPr lang="en-US" altLang="zh-CN" dirty="0" smtClean="0"/>
          </a:p>
          <a:p>
            <a:pPr lvl="1" eaLnBrk="1" hangingPunct="1">
              <a:lnSpc>
                <a:spcPct val="120000"/>
              </a:lnSpc>
              <a:defRPr/>
            </a:pPr>
            <a:r>
              <a:rPr lang="en-US" altLang="zh-CN" dirty="0" smtClean="0"/>
              <a:t>......</a:t>
            </a:r>
            <a:endParaRPr lang="zh-CN" altLang="en-GB" dirty="0" smtClean="0"/>
          </a:p>
          <a:p>
            <a:pPr eaLnBrk="1" hangingPunct="1">
              <a:lnSpc>
                <a:spcPct val="120000"/>
              </a:lnSpc>
              <a:defRPr/>
            </a:pPr>
            <a:r>
              <a:rPr lang="zh-CN" altLang="en-GB" dirty="0" smtClean="0"/>
              <a:t>除此之外，</a:t>
            </a:r>
            <a:r>
              <a:rPr lang="zh-CN" altLang="en-GB" dirty="0" smtClean="0">
                <a:solidFill>
                  <a:schemeClr val="folHlink"/>
                </a:solidFill>
              </a:rPr>
              <a:t>结构化程序设计</a:t>
            </a:r>
            <a:r>
              <a:rPr lang="zh-CN" altLang="en-US" dirty="0" smtClean="0"/>
              <a:t>为</a:t>
            </a:r>
            <a:r>
              <a:rPr lang="zh-CN" altLang="en-GB" dirty="0" smtClean="0"/>
              <a:t>程序设计</a:t>
            </a:r>
            <a:r>
              <a:rPr lang="zh-CN" altLang="en-US" dirty="0" smtClean="0"/>
              <a:t>提供了</a:t>
            </a:r>
            <a:r>
              <a:rPr lang="zh-CN" altLang="en-GB" dirty="0" smtClean="0"/>
              <a:t>一</a:t>
            </a:r>
            <a:r>
              <a:rPr lang="zh-CN" altLang="en-GB" dirty="0"/>
              <a:t>种</a:t>
            </a:r>
            <a:r>
              <a:rPr lang="zh-CN" altLang="en-GB" dirty="0">
                <a:solidFill>
                  <a:srgbClr val="FFC000"/>
                </a:solidFill>
              </a:rPr>
              <a:t>良好</a:t>
            </a:r>
            <a:r>
              <a:rPr lang="zh-CN" altLang="en-GB" dirty="0" smtClean="0"/>
              <a:t>风格的典范。</a:t>
            </a:r>
            <a:endParaRPr lang="zh-CN" altLang="en-US" dirty="0"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84213" y="68486"/>
            <a:ext cx="7772400" cy="984250"/>
          </a:xfrm>
        </p:spPr>
        <p:txBody>
          <a:bodyPr/>
          <a:lstStyle/>
          <a:p>
            <a:pPr eaLnBrk="1" hangingPunct="1">
              <a:defRPr/>
            </a:pPr>
            <a:r>
              <a:rPr lang="zh-CN" altLang="en-US" dirty="0" smtClean="0"/>
              <a:t>结构化程序设计 </a:t>
            </a:r>
          </a:p>
        </p:txBody>
      </p:sp>
      <p:sp>
        <p:nvSpPr>
          <p:cNvPr id="34819" name="Rectangle 3"/>
          <p:cNvSpPr>
            <a:spLocks noGrp="1" noChangeArrowheads="1"/>
          </p:cNvSpPr>
          <p:nvPr>
            <p:ph type="body" idx="1"/>
          </p:nvPr>
        </p:nvSpPr>
        <p:spPr>
          <a:xfrm>
            <a:off x="228600" y="1412776"/>
            <a:ext cx="8686800" cy="5157192"/>
          </a:xfrm>
        </p:spPr>
        <p:txBody>
          <a:bodyPr/>
          <a:lstStyle/>
          <a:p>
            <a:pPr eaLnBrk="1" hangingPunct="1">
              <a:spcBef>
                <a:spcPct val="40000"/>
              </a:spcBef>
              <a:defRPr/>
            </a:pPr>
            <a:r>
              <a:rPr lang="zh-CN" altLang="en-GB" sz="2800" dirty="0" smtClean="0"/>
              <a:t>结构化程序设计</a:t>
            </a:r>
            <a:r>
              <a:rPr lang="zh-CN" altLang="en-US" sz="2800" dirty="0" smtClean="0"/>
              <a:t>（</a:t>
            </a:r>
            <a:r>
              <a:rPr lang="en-GB" altLang="zh-CN" sz="2800" dirty="0" smtClean="0">
                <a:cs typeface="Times New Roman" pitchFamily="18" charset="0"/>
              </a:rPr>
              <a:t>Structured Programming</a:t>
            </a:r>
            <a:r>
              <a:rPr lang="en-GB" altLang="zh-CN" sz="2800" dirty="0" smtClean="0"/>
              <a:t>，</a:t>
            </a:r>
            <a:r>
              <a:rPr lang="zh-CN" altLang="en-GB" sz="2800" dirty="0" smtClean="0"/>
              <a:t>简称</a:t>
            </a:r>
            <a:r>
              <a:rPr lang="en-GB" altLang="zh-CN" sz="2800" dirty="0" smtClean="0">
                <a:cs typeface="Times New Roman" pitchFamily="18" charset="0"/>
              </a:rPr>
              <a:t>SP</a:t>
            </a:r>
            <a:r>
              <a:rPr lang="zh-CN" altLang="en-US" sz="2800" dirty="0" smtClean="0"/>
              <a:t>）是指</a:t>
            </a:r>
            <a:r>
              <a:rPr lang="zh-CN" altLang="en-US" sz="2800" dirty="0" smtClean="0">
                <a:latin typeface="Arial"/>
              </a:rPr>
              <a:t>“</a:t>
            </a:r>
            <a:r>
              <a:rPr lang="zh-CN" altLang="en-GB" sz="2800" dirty="0" smtClean="0">
                <a:solidFill>
                  <a:schemeClr val="folHlink"/>
                </a:solidFill>
              </a:rPr>
              <a:t>按照一组能够提高程序易读性与易维护性的规则进行程序设计的方法</a:t>
            </a:r>
            <a:r>
              <a:rPr lang="zh-CN" altLang="en-US" sz="2800" dirty="0" smtClean="0">
                <a:latin typeface="Arial"/>
              </a:rPr>
              <a:t>”：</a:t>
            </a:r>
            <a:endParaRPr lang="en-GB" altLang="zh-CN" sz="2800" dirty="0" smtClean="0"/>
          </a:p>
          <a:p>
            <a:pPr lvl="1" eaLnBrk="1" hangingPunct="1">
              <a:spcBef>
                <a:spcPct val="40000"/>
              </a:spcBef>
              <a:defRPr/>
            </a:pPr>
            <a:r>
              <a:rPr lang="zh-CN" altLang="en-GB" sz="2400" dirty="0" smtClean="0"/>
              <a:t>不仅要求所编出的</a:t>
            </a:r>
            <a:r>
              <a:rPr lang="zh-CN" altLang="en-GB" sz="2400" dirty="0" smtClean="0">
                <a:solidFill>
                  <a:schemeClr val="folHlink"/>
                </a:solidFill>
              </a:rPr>
              <a:t>程序</a:t>
            </a:r>
            <a:r>
              <a:rPr lang="zh-CN" altLang="en-US" sz="2400" dirty="0" smtClean="0">
                <a:solidFill>
                  <a:schemeClr val="folHlink"/>
                </a:solidFill>
              </a:rPr>
              <a:t>本身</a:t>
            </a:r>
            <a:r>
              <a:rPr lang="zh-CN" altLang="en-US" sz="2400" dirty="0" smtClean="0"/>
              <a:t>是</a:t>
            </a:r>
            <a:r>
              <a:rPr lang="zh-CN" altLang="en-GB" sz="2400" dirty="0" smtClean="0"/>
              <a:t>结构良好</a:t>
            </a:r>
            <a:r>
              <a:rPr lang="zh-CN" altLang="en-US" sz="2400" dirty="0" smtClean="0"/>
              <a:t>的</a:t>
            </a:r>
            <a:endParaRPr lang="en-US" altLang="zh-CN" sz="2400" dirty="0" smtClean="0"/>
          </a:p>
          <a:p>
            <a:pPr lvl="1" eaLnBrk="1" hangingPunct="1">
              <a:spcBef>
                <a:spcPct val="40000"/>
              </a:spcBef>
              <a:defRPr/>
            </a:pPr>
            <a:r>
              <a:rPr lang="zh-CN" altLang="en-GB" sz="2400" dirty="0" smtClean="0"/>
              <a:t>而且还要求</a:t>
            </a:r>
            <a:r>
              <a:rPr lang="zh-CN" altLang="en-GB" sz="2400" dirty="0" smtClean="0">
                <a:solidFill>
                  <a:schemeClr val="folHlink"/>
                </a:solidFill>
              </a:rPr>
              <a:t>程序设计过程</a:t>
            </a:r>
            <a:r>
              <a:rPr lang="zh-CN" altLang="en-GB" sz="2400" dirty="0" smtClean="0"/>
              <a:t>也是结构良好的</a:t>
            </a:r>
            <a:endParaRPr lang="en-US" altLang="zh-CN" sz="2400" dirty="0" smtClean="0"/>
          </a:p>
          <a:p>
            <a:pPr lvl="1" eaLnBrk="1" hangingPunct="1">
              <a:spcBef>
                <a:spcPct val="40000"/>
              </a:spcBef>
              <a:defRPr/>
            </a:pPr>
            <a:r>
              <a:rPr lang="zh-CN" altLang="en-GB" sz="2400" dirty="0" smtClean="0"/>
              <a:t>后者是前者的基础。</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12168"/>
            <a:ext cx="8229600" cy="4925144"/>
          </a:xfrm>
        </p:spPr>
        <p:txBody>
          <a:bodyPr/>
          <a:lstStyle/>
          <a:p>
            <a:pPr eaLnBrk="1" hangingPunct="1">
              <a:spcBef>
                <a:spcPct val="40000"/>
              </a:spcBef>
              <a:defRPr/>
            </a:pPr>
            <a:r>
              <a:rPr lang="zh-CN" altLang="en-GB" sz="2800" dirty="0"/>
              <a:t>对程序而言，“结构良好”是指：</a:t>
            </a:r>
          </a:p>
          <a:p>
            <a:pPr lvl="1" eaLnBrk="1" hangingPunct="1">
              <a:defRPr/>
            </a:pPr>
            <a:r>
              <a:rPr lang="zh-CN" altLang="en-GB" sz="2400" dirty="0"/>
              <a:t>每个程序单位应具有</a:t>
            </a:r>
            <a:r>
              <a:rPr lang="zh-CN" altLang="en-GB" sz="2400" dirty="0">
                <a:solidFill>
                  <a:schemeClr val="folHlink"/>
                </a:solidFill>
              </a:rPr>
              <a:t>单入口、单出口</a:t>
            </a:r>
            <a:r>
              <a:rPr lang="zh-CN" altLang="en-GB" sz="2400" dirty="0"/>
              <a:t>的性质</a:t>
            </a:r>
            <a:r>
              <a:rPr lang="zh-CN" altLang="en-US" sz="2400" dirty="0"/>
              <a:t>（降低</a:t>
            </a:r>
            <a:r>
              <a:rPr lang="zh-CN" altLang="en-US" sz="2400" dirty="0" smtClean="0">
                <a:solidFill>
                  <a:srgbClr val="FFC000"/>
                </a:solidFill>
              </a:rPr>
              <a:t>耦合，</a:t>
            </a:r>
            <a:r>
              <a:rPr lang="zh-CN" altLang="en-US" sz="2400" dirty="0" smtClean="0"/>
              <a:t>避免各部分之间纠缠不清）</a:t>
            </a:r>
            <a:r>
              <a:rPr lang="zh-CN" altLang="en-GB" sz="2400" dirty="0"/>
              <a:t>。</a:t>
            </a:r>
          </a:p>
          <a:p>
            <a:pPr lvl="1" eaLnBrk="1" hangingPunct="1">
              <a:spcBef>
                <a:spcPct val="40000"/>
              </a:spcBef>
              <a:defRPr/>
            </a:pPr>
            <a:r>
              <a:rPr lang="zh-CN" altLang="en-GB" sz="2400" dirty="0"/>
              <a:t>不包含不会停止执行的语句，程序在有限时间内结束。</a:t>
            </a:r>
          </a:p>
          <a:p>
            <a:pPr lvl="1" eaLnBrk="1" hangingPunct="1">
              <a:spcBef>
                <a:spcPct val="40000"/>
              </a:spcBef>
              <a:defRPr/>
            </a:pPr>
            <a:r>
              <a:rPr lang="zh-CN" altLang="en-GB" sz="2400" dirty="0"/>
              <a:t>程序中没有无用语句，程序中所有语句都有被执行的机会。</a:t>
            </a:r>
            <a:endParaRPr lang="zh-CN" altLang="en-US" sz="2400" dirty="0"/>
          </a:p>
          <a:p>
            <a:pPr eaLnBrk="1" hangingPunct="1">
              <a:spcBef>
                <a:spcPct val="40000"/>
              </a:spcBef>
              <a:defRPr/>
            </a:pPr>
            <a:r>
              <a:rPr lang="zh-CN" altLang="en-GB" sz="2800" dirty="0"/>
              <a:t>对程序设计过程而言，“结构良好”是</a:t>
            </a:r>
            <a:r>
              <a:rPr lang="zh-CN" altLang="en-GB" sz="2800" dirty="0" smtClean="0"/>
              <a:t>指</a:t>
            </a:r>
            <a:r>
              <a:rPr lang="zh-CN" altLang="en-US" sz="2800" dirty="0"/>
              <a:t>：</a:t>
            </a:r>
            <a:endParaRPr lang="zh-CN" altLang="en-GB" sz="2800" dirty="0"/>
          </a:p>
          <a:p>
            <a:pPr lvl="1" eaLnBrk="1" hangingPunct="1">
              <a:spcBef>
                <a:spcPct val="30000"/>
              </a:spcBef>
              <a:defRPr/>
            </a:pPr>
            <a:r>
              <a:rPr lang="zh-CN" altLang="en-GB" sz="2400" dirty="0"/>
              <a:t>采用分解和抽象的方法来完成程序设计</a:t>
            </a:r>
            <a:r>
              <a:rPr lang="zh-CN" altLang="en-GB" sz="2400" dirty="0" smtClean="0"/>
              <a:t>任务</a:t>
            </a:r>
            <a:r>
              <a:rPr lang="zh-CN" altLang="en-US" sz="2400" dirty="0" smtClean="0"/>
              <a:t>。</a:t>
            </a:r>
            <a:endParaRPr lang="zh-CN" altLang="en-GB" sz="2400" dirty="0"/>
          </a:p>
          <a:p>
            <a:pPr lvl="1" eaLnBrk="1" hangingPunct="1">
              <a:spcBef>
                <a:spcPct val="40000"/>
              </a:spcBef>
              <a:defRPr/>
            </a:pPr>
            <a:r>
              <a:rPr lang="zh-CN" altLang="en-GB" sz="2400" dirty="0"/>
              <a:t>具体体现为：“自顶向下、逐步精化”的程序设计过程。</a:t>
            </a:r>
            <a:r>
              <a:rPr lang="zh-CN" altLang="en-US" sz="2400" dirty="0"/>
              <a:t> </a:t>
            </a:r>
          </a:p>
        </p:txBody>
      </p:sp>
    </p:spTree>
    <p:extLst>
      <p:ext uri="{BB962C8B-B14F-4D97-AF65-F5344CB8AC3E}">
        <p14:creationId xmlns:p14="http://schemas.microsoft.com/office/powerpoint/2010/main" val="154649109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1"/>
          </p:nvPr>
        </p:nvSpPr>
        <p:spPr>
          <a:xfrm>
            <a:off x="228600" y="1277938"/>
            <a:ext cx="8664575" cy="638175"/>
          </a:xfrm>
        </p:spPr>
        <p:txBody>
          <a:bodyPr/>
          <a:lstStyle/>
          <a:p>
            <a:pPr eaLnBrk="1" hangingPunct="1">
              <a:lnSpc>
                <a:spcPct val="90000"/>
              </a:lnSpc>
              <a:defRPr/>
            </a:pPr>
            <a:r>
              <a:rPr lang="zh-CN" altLang="en-GB" sz="2800" dirty="0" smtClean="0"/>
              <a:t>结构化程序设计通常可用三种基本结构来</a:t>
            </a:r>
            <a:r>
              <a:rPr lang="zh-CN" altLang="en-US" sz="2800" dirty="0" smtClean="0"/>
              <a:t>表示程序：</a:t>
            </a:r>
            <a:endParaRPr lang="zh-CN" altLang="en-GB" sz="2800" dirty="0" smtClean="0"/>
          </a:p>
        </p:txBody>
      </p:sp>
      <p:sp>
        <p:nvSpPr>
          <p:cNvPr id="141315" name="Line 1027"/>
          <p:cNvSpPr>
            <a:spLocks noChangeShapeType="1"/>
          </p:cNvSpPr>
          <p:nvPr/>
        </p:nvSpPr>
        <p:spPr bwMode="auto">
          <a:xfrm>
            <a:off x="1547813" y="2195513"/>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16" name="Rectangle 1028"/>
          <p:cNvSpPr>
            <a:spLocks noChangeArrowheads="1"/>
          </p:cNvSpPr>
          <p:nvPr/>
        </p:nvSpPr>
        <p:spPr bwMode="auto">
          <a:xfrm>
            <a:off x="1187450" y="2555875"/>
            <a:ext cx="720725" cy="35877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18" name="Rectangle 1030"/>
          <p:cNvSpPr>
            <a:spLocks noChangeArrowheads="1"/>
          </p:cNvSpPr>
          <p:nvPr/>
        </p:nvSpPr>
        <p:spPr bwMode="auto">
          <a:xfrm>
            <a:off x="1187450" y="3278188"/>
            <a:ext cx="720725" cy="35877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19" name="Line 1031"/>
          <p:cNvSpPr>
            <a:spLocks noChangeShapeType="1"/>
          </p:cNvSpPr>
          <p:nvPr/>
        </p:nvSpPr>
        <p:spPr bwMode="auto">
          <a:xfrm>
            <a:off x="1547813" y="3635375"/>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0" name="Line 1032"/>
          <p:cNvSpPr>
            <a:spLocks noChangeShapeType="1"/>
          </p:cNvSpPr>
          <p:nvPr/>
        </p:nvSpPr>
        <p:spPr bwMode="auto">
          <a:xfrm>
            <a:off x="1547813" y="2916238"/>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1" name="Line 1033"/>
          <p:cNvSpPr>
            <a:spLocks noChangeShapeType="1"/>
          </p:cNvSpPr>
          <p:nvPr/>
        </p:nvSpPr>
        <p:spPr bwMode="auto">
          <a:xfrm>
            <a:off x="3563938" y="2195513"/>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2" name="AutoShape 1034"/>
          <p:cNvSpPr>
            <a:spLocks noChangeArrowheads="1"/>
          </p:cNvSpPr>
          <p:nvPr/>
        </p:nvSpPr>
        <p:spPr bwMode="auto">
          <a:xfrm>
            <a:off x="3203575" y="2555875"/>
            <a:ext cx="792163" cy="358775"/>
          </a:xfrm>
          <a:prstGeom prst="flowChartDecision">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23" name="Rectangle 1035"/>
          <p:cNvSpPr>
            <a:spLocks noChangeArrowheads="1"/>
          </p:cNvSpPr>
          <p:nvPr/>
        </p:nvSpPr>
        <p:spPr bwMode="auto">
          <a:xfrm>
            <a:off x="2698750" y="3059113"/>
            <a:ext cx="720725" cy="35877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24" name="Rectangle 1036"/>
          <p:cNvSpPr>
            <a:spLocks noChangeArrowheads="1"/>
          </p:cNvSpPr>
          <p:nvPr/>
        </p:nvSpPr>
        <p:spPr bwMode="auto">
          <a:xfrm>
            <a:off x="3851275" y="3060700"/>
            <a:ext cx="720725" cy="35877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25" name="Line 1037"/>
          <p:cNvSpPr>
            <a:spLocks noChangeShapeType="1"/>
          </p:cNvSpPr>
          <p:nvPr/>
        </p:nvSpPr>
        <p:spPr bwMode="auto">
          <a:xfrm flipH="1">
            <a:off x="2979738" y="2746375"/>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6" name="Line 1038"/>
          <p:cNvSpPr>
            <a:spLocks noChangeShapeType="1"/>
          </p:cNvSpPr>
          <p:nvPr/>
        </p:nvSpPr>
        <p:spPr bwMode="auto">
          <a:xfrm>
            <a:off x="2987675" y="2771775"/>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7" name="Line 1039"/>
          <p:cNvSpPr>
            <a:spLocks noChangeShapeType="1"/>
          </p:cNvSpPr>
          <p:nvPr/>
        </p:nvSpPr>
        <p:spPr bwMode="auto">
          <a:xfrm>
            <a:off x="4211638" y="2771775"/>
            <a:ext cx="0" cy="287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8" name="Line 1040"/>
          <p:cNvSpPr>
            <a:spLocks noChangeShapeType="1"/>
          </p:cNvSpPr>
          <p:nvPr/>
        </p:nvSpPr>
        <p:spPr bwMode="auto">
          <a:xfrm flipH="1">
            <a:off x="3995738" y="2746375"/>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29" name="Line 1041"/>
          <p:cNvSpPr>
            <a:spLocks noChangeShapeType="1"/>
          </p:cNvSpPr>
          <p:nvPr/>
        </p:nvSpPr>
        <p:spPr bwMode="auto">
          <a:xfrm>
            <a:off x="2987675" y="3419475"/>
            <a:ext cx="0" cy="217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0" name="Line 1042"/>
          <p:cNvSpPr>
            <a:spLocks noChangeShapeType="1"/>
          </p:cNvSpPr>
          <p:nvPr/>
        </p:nvSpPr>
        <p:spPr bwMode="auto">
          <a:xfrm>
            <a:off x="4211638" y="3419475"/>
            <a:ext cx="0" cy="217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1" name="Line 1043"/>
          <p:cNvSpPr>
            <a:spLocks noChangeShapeType="1"/>
          </p:cNvSpPr>
          <p:nvPr/>
        </p:nvSpPr>
        <p:spPr bwMode="auto">
          <a:xfrm flipH="1">
            <a:off x="2987675" y="3636963"/>
            <a:ext cx="12239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2" name="Line 1044"/>
          <p:cNvSpPr>
            <a:spLocks noChangeShapeType="1"/>
          </p:cNvSpPr>
          <p:nvPr/>
        </p:nvSpPr>
        <p:spPr bwMode="auto">
          <a:xfrm>
            <a:off x="3563938" y="3635375"/>
            <a:ext cx="0" cy="360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3" name="Line 1045"/>
          <p:cNvSpPr>
            <a:spLocks noChangeShapeType="1"/>
          </p:cNvSpPr>
          <p:nvPr/>
        </p:nvSpPr>
        <p:spPr bwMode="auto">
          <a:xfrm>
            <a:off x="6084888" y="2195513"/>
            <a:ext cx="0"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34" name="AutoShape 1046"/>
          <p:cNvSpPr>
            <a:spLocks noChangeArrowheads="1"/>
          </p:cNvSpPr>
          <p:nvPr/>
        </p:nvSpPr>
        <p:spPr bwMode="auto">
          <a:xfrm>
            <a:off x="5667375" y="2555875"/>
            <a:ext cx="792163" cy="358775"/>
          </a:xfrm>
          <a:prstGeom prst="flowChartDecision">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36" name="Rectangle 1048"/>
          <p:cNvSpPr>
            <a:spLocks noChangeArrowheads="1"/>
          </p:cNvSpPr>
          <p:nvPr/>
        </p:nvSpPr>
        <p:spPr bwMode="auto">
          <a:xfrm>
            <a:off x="5724525" y="3205163"/>
            <a:ext cx="720725" cy="358775"/>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41339" name="Line 1051"/>
          <p:cNvSpPr>
            <a:spLocks noChangeShapeType="1"/>
          </p:cNvSpPr>
          <p:nvPr/>
        </p:nvSpPr>
        <p:spPr bwMode="auto">
          <a:xfrm>
            <a:off x="6084888" y="2916238"/>
            <a:ext cx="0" cy="287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0" name="Line 1052"/>
          <p:cNvSpPr>
            <a:spLocks noChangeShapeType="1"/>
          </p:cNvSpPr>
          <p:nvPr/>
        </p:nvSpPr>
        <p:spPr bwMode="auto">
          <a:xfrm flipH="1">
            <a:off x="5364163" y="3924300"/>
            <a:ext cx="7207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2" name="Line 1054"/>
          <p:cNvSpPr>
            <a:spLocks noChangeShapeType="1"/>
          </p:cNvSpPr>
          <p:nvPr/>
        </p:nvSpPr>
        <p:spPr bwMode="auto">
          <a:xfrm>
            <a:off x="5364163" y="2778125"/>
            <a:ext cx="0" cy="1146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4" name="Line 1056"/>
          <p:cNvSpPr>
            <a:spLocks noChangeShapeType="1"/>
          </p:cNvSpPr>
          <p:nvPr/>
        </p:nvSpPr>
        <p:spPr bwMode="auto">
          <a:xfrm>
            <a:off x="5364163" y="2740025"/>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5" name="Line 1057"/>
          <p:cNvSpPr>
            <a:spLocks noChangeShapeType="1"/>
          </p:cNvSpPr>
          <p:nvPr/>
        </p:nvSpPr>
        <p:spPr bwMode="auto">
          <a:xfrm flipV="1">
            <a:off x="6084888" y="3563938"/>
            <a:ext cx="0"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6" name="Line 1058"/>
          <p:cNvSpPr>
            <a:spLocks noChangeShapeType="1"/>
          </p:cNvSpPr>
          <p:nvPr/>
        </p:nvSpPr>
        <p:spPr bwMode="auto">
          <a:xfrm>
            <a:off x="6459538" y="2740025"/>
            <a:ext cx="5048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a:p>
        </p:txBody>
      </p:sp>
      <p:sp>
        <p:nvSpPr>
          <p:cNvPr id="141347" name="Text Box 1059"/>
          <p:cNvSpPr txBox="1">
            <a:spLocks noChangeArrowheads="1"/>
          </p:cNvSpPr>
          <p:nvPr/>
        </p:nvSpPr>
        <p:spPr bwMode="auto">
          <a:xfrm>
            <a:off x="971550" y="4313238"/>
            <a:ext cx="1098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a:effectLst>
                  <a:outerShdw blurRad="38100" dist="38100" dir="2700000" algn="tl">
                    <a:srgbClr val="000000"/>
                  </a:outerShdw>
                </a:effectLst>
              </a:rPr>
              <a:t>（顺序）</a:t>
            </a:r>
          </a:p>
        </p:txBody>
      </p:sp>
      <p:sp>
        <p:nvSpPr>
          <p:cNvPr id="141348" name="Text Box 1060"/>
          <p:cNvSpPr txBox="1">
            <a:spLocks noChangeArrowheads="1"/>
          </p:cNvSpPr>
          <p:nvPr/>
        </p:nvSpPr>
        <p:spPr bwMode="auto">
          <a:xfrm>
            <a:off x="3059113" y="4284663"/>
            <a:ext cx="1098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a:effectLst>
                  <a:outerShdw blurRad="38100" dist="38100" dir="2700000" algn="tl">
                    <a:srgbClr val="000000"/>
                  </a:outerShdw>
                </a:effectLst>
              </a:rPr>
              <a:t>（选择）</a:t>
            </a:r>
          </a:p>
        </p:txBody>
      </p:sp>
      <p:sp>
        <p:nvSpPr>
          <p:cNvPr id="141349" name="Text Box 1061"/>
          <p:cNvSpPr txBox="1">
            <a:spLocks noChangeArrowheads="1"/>
          </p:cNvSpPr>
          <p:nvPr/>
        </p:nvSpPr>
        <p:spPr bwMode="auto">
          <a:xfrm>
            <a:off x="5508625" y="4284663"/>
            <a:ext cx="1098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a:effectLst>
                  <a:outerShdw blurRad="38100" dist="38100" dir="2700000" algn="tl">
                    <a:srgbClr val="000000"/>
                  </a:outerShdw>
                </a:effectLst>
              </a:rPr>
              <a:t>（循环）</a:t>
            </a:r>
          </a:p>
        </p:txBody>
      </p:sp>
      <p:sp>
        <p:nvSpPr>
          <p:cNvPr id="141350" name="Rectangle 1062"/>
          <p:cNvSpPr>
            <a:spLocks noChangeArrowheads="1"/>
          </p:cNvSpPr>
          <p:nvPr/>
        </p:nvSpPr>
        <p:spPr bwMode="auto">
          <a:xfrm>
            <a:off x="179388" y="5094288"/>
            <a:ext cx="8686800" cy="1503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Verdana" pitchFamily="34" charset="0"/>
                <a:ea typeface="宋体" charset="-122"/>
              </a:defRPr>
            </a:lvl1pPr>
            <a:lvl2pPr marL="742950" indent="-285750">
              <a:buClr>
                <a:schemeClr val="tx1"/>
              </a:buClr>
              <a:defRPr sz="2800">
                <a:solidFill>
                  <a:schemeClr val="tx1"/>
                </a:solidFill>
                <a:effectLst>
                  <a:outerShdw blurRad="38100" dist="38100" dir="2700000" algn="tl">
                    <a:srgbClr val="000000"/>
                  </a:outerShdw>
                </a:effectLst>
                <a:latin typeface="Verdana" pitchFamily="34" charset="0"/>
                <a:ea typeface="宋体" charset="-122"/>
              </a:defRPr>
            </a:lvl2pPr>
            <a:lvl3pPr marL="1143000" indent="-228600">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Verdana" pitchFamily="34" charset="0"/>
                <a:ea typeface="宋体" charset="-122"/>
              </a:defRPr>
            </a:lvl3pPr>
            <a:lvl4pPr marL="1600200" indent="-228600">
              <a:buClr>
                <a:schemeClr val="tx2"/>
              </a:buClr>
              <a:defRPr sz="2000">
                <a:solidFill>
                  <a:schemeClr val="tx1"/>
                </a:solidFill>
                <a:effectLst>
                  <a:outerShdw blurRad="38100" dist="38100" dir="2700000" algn="tl">
                    <a:srgbClr val="000000"/>
                  </a:outerShdw>
                </a:effectLst>
                <a:latin typeface="Verdana" pitchFamily="34" charset="0"/>
                <a:ea typeface="宋体" charset="-122"/>
              </a:defRPr>
            </a:lvl4pPr>
            <a:lvl5pPr marL="2057400" indent="-228600">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Verdana" pitchFamily="34" charset="0"/>
                <a:ea typeface="宋体" charset="-122"/>
              </a:defRPr>
            </a:lvl5pPr>
            <a:lvl6pPr marL="2514600" indent="-22860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Verdana" pitchFamily="34" charset="0"/>
                <a:ea typeface="宋体" charset="-122"/>
              </a:defRPr>
            </a:lvl6pPr>
            <a:lvl7pPr marL="2971800" indent="-22860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Verdana" pitchFamily="34" charset="0"/>
                <a:ea typeface="宋体" charset="-122"/>
              </a:defRPr>
            </a:lvl7pPr>
            <a:lvl8pPr marL="3429000" indent="-22860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Verdana" pitchFamily="34" charset="0"/>
                <a:ea typeface="宋体" charset="-122"/>
              </a:defRPr>
            </a:lvl8pPr>
            <a:lvl9pPr marL="3886200" indent="-22860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Verdana" pitchFamily="34" charset="0"/>
                <a:ea typeface="宋体" charset="-122"/>
              </a:defRPr>
            </a:lvl9pPr>
          </a:lstStyle>
          <a:p>
            <a:pPr>
              <a:defRPr/>
            </a:pPr>
            <a:r>
              <a:rPr lang="zh-CN" altLang="en-GB" sz="2800" dirty="0" smtClean="0"/>
              <a:t>上面三种结构都具有</a:t>
            </a:r>
            <a:r>
              <a:rPr lang="zh-CN" altLang="en-GB" sz="2800" dirty="0" smtClean="0">
                <a:solidFill>
                  <a:srgbClr val="FFC000"/>
                </a:solidFill>
              </a:rPr>
              <a:t>单入口</a:t>
            </a:r>
            <a:r>
              <a:rPr lang="zh-CN" altLang="en-GB" sz="2800" dirty="0" smtClean="0"/>
              <a:t>、</a:t>
            </a:r>
            <a:r>
              <a:rPr lang="zh-CN" altLang="en-GB" sz="2800" dirty="0" smtClean="0">
                <a:solidFill>
                  <a:srgbClr val="FFC000"/>
                </a:solidFill>
              </a:rPr>
              <a:t>单出口</a:t>
            </a:r>
            <a:r>
              <a:rPr lang="zh-CN" altLang="en-GB" sz="2800" dirty="0" smtClean="0"/>
              <a:t>的性质</a:t>
            </a:r>
            <a:r>
              <a:rPr lang="zh-CN" altLang="en-US" sz="2800" dirty="0" smtClean="0"/>
              <a:t>，从而减少程序各部分之间的</a:t>
            </a:r>
            <a:r>
              <a:rPr lang="zh-CN" altLang="en-US" sz="2800" dirty="0" smtClean="0">
                <a:solidFill>
                  <a:srgbClr val="FFC000"/>
                </a:solidFill>
              </a:rPr>
              <a:t>耦合度</a:t>
            </a:r>
            <a:r>
              <a:rPr lang="zh-CN" altLang="en-US" sz="2800" dirty="0" smtClean="0"/>
              <a:t>（纠缠度），便于程序的设计、理解与维护，保证程序的正确性</a:t>
            </a:r>
            <a:r>
              <a:rPr lang="zh-CN" altLang="en-GB" sz="2800" dirty="0" smtClean="0"/>
              <a:t>。</a:t>
            </a:r>
            <a:r>
              <a:rPr lang="zh-CN" altLang="en-GB" dirty="0" smtClean="0"/>
              <a:t> </a:t>
            </a:r>
            <a:endParaRPr lang="zh-CN" altLang="en-GB" sz="2400" dirty="0" smtClean="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57200" y="116632"/>
            <a:ext cx="8229600" cy="1139825"/>
          </a:xfrm>
        </p:spPr>
        <p:txBody>
          <a:bodyPr/>
          <a:lstStyle/>
          <a:p>
            <a:pPr eaLnBrk="1" hangingPunct="1">
              <a:defRPr/>
            </a:pPr>
            <a:r>
              <a:rPr lang="zh-CN" altLang="en-US" dirty="0" smtClean="0"/>
              <a:t>关于</a:t>
            </a:r>
            <a:r>
              <a:rPr lang="en-US" altLang="zh-CN" dirty="0" err="1" smtClean="0"/>
              <a:t>goto</a:t>
            </a:r>
            <a:r>
              <a:rPr lang="zh-CN" altLang="en-US" dirty="0" smtClean="0"/>
              <a:t>语句 </a:t>
            </a:r>
          </a:p>
        </p:txBody>
      </p:sp>
      <p:sp>
        <p:nvSpPr>
          <p:cNvPr id="143363" name="Rectangle 3"/>
          <p:cNvSpPr>
            <a:spLocks noGrp="1" noChangeArrowheads="1"/>
          </p:cNvSpPr>
          <p:nvPr>
            <p:ph type="body" idx="1"/>
          </p:nvPr>
        </p:nvSpPr>
        <p:spPr>
          <a:xfrm>
            <a:off x="251520" y="1484784"/>
            <a:ext cx="8651304" cy="5069160"/>
          </a:xfrm>
        </p:spPr>
        <p:txBody>
          <a:bodyPr>
            <a:normAutofit/>
          </a:bodyPr>
          <a:lstStyle/>
          <a:p>
            <a:pPr eaLnBrk="1" hangingPunct="1">
              <a:defRPr/>
            </a:pPr>
            <a:r>
              <a:rPr lang="en-US" altLang="zh-CN" sz="2800" dirty="0" err="1" smtClean="0"/>
              <a:t>goto</a:t>
            </a:r>
            <a:r>
              <a:rPr lang="zh-CN" altLang="en-US" sz="2800" dirty="0" smtClean="0"/>
              <a:t>语句</a:t>
            </a:r>
            <a:endParaRPr lang="en-US" altLang="zh-CN" sz="2800" dirty="0" smtClean="0"/>
          </a:p>
          <a:p>
            <a:pPr lvl="1" eaLnBrk="1" hangingPunct="1">
              <a:defRPr/>
            </a:pPr>
            <a:r>
              <a:rPr lang="zh-CN" altLang="en-US" sz="2400" dirty="0" smtClean="0"/>
              <a:t>会使得程序的静态结构和动态结构不一致，导致程序难以理解、可靠性下降和不容易维护。</a:t>
            </a:r>
            <a:endParaRPr lang="en-US" altLang="zh-CN" sz="2400" dirty="0" smtClean="0"/>
          </a:p>
          <a:p>
            <a:pPr lvl="1" eaLnBrk="1" hangingPunct="1">
              <a:defRPr/>
            </a:pPr>
            <a:r>
              <a:rPr lang="zh-CN" altLang="en-US" sz="2400" dirty="0" smtClean="0"/>
              <a:t>有时会导致程序效率的下降。 </a:t>
            </a:r>
          </a:p>
          <a:p>
            <a:pPr eaLnBrk="1" hangingPunct="1">
              <a:defRPr/>
            </a:pPr>
            <a:r>
              <a:rPr lang="zh-CN" altLang="en-US" sz="2800" dirty="0" smtClean="0"/>
              <a:t>从结构化程序设计的角度讲， </a:t>
            </a:r>
            <a:endParaRPr lang="en-US" altLang="zh-CN" sz="2800" dirty="0" smtClean="0"/>
          </a:p>
          <a:p>
            <a:pPr lvl="1" eaLnBrk="1" hangingPunct="1">
              <a:defRPr/>
            </a:pPr>
            <a:r>
              <a:rPr lang="en-US" altLang="zh-CN" sz="2400" dirty="0" err="1" smtClean="0"/>
              <a:t>goto</a:t>
            </a:r>
            <a:r>
              <a:rPr lang="zh-CN" altLang="en-US" sz="2400" dirty="0" smtClean="0"/>
              <a:t>语句会破坏程序中每个部分所具有的单入口</a:t>
            </a:r>
            <a:r>
              <a:rPr lang="en-US" altLang="zh-CN" sz="2400" dirty="0" smtClean="0"/>
              <a:t>/</a:t>
            </a:r>
            <a:r>
              <a:rPr lang="zh-CN" altLang="en-US" sz="2400" dirty="0" smtClean="0"/>
              <a:t>单出口的性质</a:t>
            </a:r>
            <a:r>
              <a:rPr lang="zh-CN" altLang="en-US" sz="2400" dirty="0"/>
              <a:t>，使得各部分之间纠缠不清。</a:t>
            </a:r>
            <a:endParaRPr lang="zh-CN" altLang="en-US" sz="2400" dirty="0" smtClean="0"/>
          </a:p>
          <a:p>
            <a:pPr eaLnBrk="1" hangingPunct="1">
              <a:defRPr/>
            </a:pPr>
            <a:r>
              <a:rPr lang="zh-CN" altLang="en-US" sz="2800" dirty="0" smtClean="0"/>
              <a:t>实际上，</a:t>
            </a:r>
            <a:r>
              <a:rPr lang="en-US" altLang="zh-CN" sz="2800" dirty="0" err="1" smtClean="0"/>
              <a:t>goto</a:t>
            </a:r>
            <a:r>
              <a:rPr lang="zh-CN" altLang="en-US" sz="2800" dirty="0" smtClean="0"/>
              <a:t>语句的使用可以分成两类：</a:t>
            </a:r>
          </a:p>
          <a:p>
            <a:pPr lvl="1" eaLnBrk="1" hangingPunct="1">
              <a:defRPr/>
            </a:pPr>
            <a:r>
              <a:rPr lang="zh-CN" altLang="en-US" sz="2400" dirty="0" smtClean="0"/>
              <a:t>向前的转移（</a:t>
            </a:r>
            <a:r>
              <a:rPr lang="en-US" altLang="zh-CN" sz="2400" dirty="0" smtClean="0"/>
              <a:t>forward</a:t>
            </a:r>
            <a:r>
              <a:rPr lang="zh-CN" altLang="en-US" sz="2400" dirty="0" smtClean="0"/>
              <a:t>）：可用分支结构实现</a:t>
            </a:r>
          </a:p>
          <a:p>
            <a:pPr lvl="1" eaLnBrk="1" hangingPunct="1">
              <a:defRPr/>
            </a:pPr>
            <a:r>
              <a:rPr lang="zh-CN" altLang="en-US" sz="2400" dirty="0" smtClean="0"/>
              <a:t>往回的转移（</a:t>
            </a:r>
            <a:r>
              <a:rPr lang="en-US" altLang="zh-CN" sz="2400" dirty="0" smtClean="0"/>
              <a:t>backward</a:t>
            </a:r>
            <a:r>
              <a:rPr lang="zh-CN" altLang="en-US" sz="2400" dirty="0" smtClean="0"/>
              <a:t>）：可用循环结构实现</a:t>
            </a:r>
          </a:p>
          <a:p>
            <a:pPr eaLnBrk="1" hangingPunct="1">
              <a:defRPr/>
            </a:pPr>
            <a:r>
              <a:rPr lang="zh-CN" altLang="en-US" sz="2800" dirty="0" smtClean="0">
                <a:solidFill>
                  <a:srgbClr val="FFC000"/>
                </a:solidFill>
              </a:rPr>
              <a:t>尽量不要使用</a:t>
            </a:r>
            <a:r>
              <a:rPr lang="en-US" altLang="zh-CN" sz="2800" dirty="0" err="1" smtClean="0">
                <a:solidFill>
                  <a:srgbClr val="FFC000"/>
                </a:solidFill>
              </a:rPr>
              <a:t>goto</a:t>
            </a:r>
            <a:r>
              <a:rPr lang="zh-CN" altLang="en-US" sz="2800" dirty="0" smtClean="0">
                <a:solidFill>
                  <a:srgbClr val="FFC000"/>
                </a:solidFill>
              </a:rPr>
              <a:t>语句！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e">
  <a:themeElements>
    <a:clrScheme name="Globe 12">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Char char="•"/>
          <a:tabLst/>
          <a:defRPr kumimoji="0" lang="zh-CN"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Verdana" pitchFamily="34" charset="0"/>
            <a:ea typeface="宋体"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Char char="•"/>
          <a:tabLst/>
          <a:defRPr kumimoji="0" lang="zh-CN" alt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Verdana" pitchFamily="34" charset="0"/>
            <a:ea typeface="宋体"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99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CC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2">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14997</TotalTime>
  <Words>9154</Words>
  <Application>Microsoft Office PowerPoint</Application>
  <PresentationFormat>全屏显示(4:3)</PresentationFormat>
  <Paragraphs>1051</Paragraphs>
  <Slides>98</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98</vt:i4>
      </vt:variant>
    </vt:vector>
  </HeadingPairs>
  <TitlesOfParts>
    <vt:vector size="109" baseType="lpstr">
      <vt:lpstr>黑体</vt:lpstr>
      <vt:lpstr>宋体</vt:lpstr>
      <vt:lpstr>Arial</vt:lpstr>
      <vt:lpstr>Courier New</vt:lpstr>
      <vt:lpstr>Tahoma</vt:lpstr>
      <vt:lpstr>Times New Roman</vt:lpstr>
      <vt:lpstr>Verdana</vt:lpstr>
      <vt:lpstr>Wingdings</vt:lpstr>
      <vt:lpstr>Globe</vt:lpstr>
      <vt:lpstr>公式</vt:lpstr>
      <vt:lpstr>Equation</vt:lpstr>
      <vt:lpstr>程序的流程控制 — 语句</vt:lpstr>
      <vt:lpstr>主要内容</vt:lpstr>
      <vt:lpstr>流程控制概述</vt:lpstr>
      <vt:lpstr>PowerPoint 演示文稿</vt:lpstr>
      <vt:lpstr>程序流程图</vt:lpstr>
      <vt:lpstr>判断N（&gt;2）是否为素数（质数）的程序流程图</vt:lpstr>
      <vt:lpstr>PowerPoint 演示文稿</vt:lpstr>
      <vt:lpstr>语句</vt:lpstr>
      <vt:lpstr>PowerPoint 演示文稿</vt:lpstr>
      <vt:lpstr>C++语句的分类</vt:lpstr>
      <vt:lpstr>顺序执行</vt:lpstr>
      <vt:lpstr> 表达式语句</vt:lpstr>
      <vt:lpstr>较常使用的表达式语句 </vt:lpstr>
      <vt:lpstr>空语句 </vt:lpstr>
      <vt:lpstr>复合语句</vt:lpstr>
      <vt:lpstr>PowerPoint 演示文稿</vt:lpstr>
      <vt:lpstr>PowerPoint 演示文稿</vt:lpstr>
      <vt:lpstr>PowerPoint 演示文稿</vt:lpstr>
      <vt:lpstr>选择执行</vt:lpstr>
      <vt:lpstr> if  语句</vt:lpstr>
      <vt:lpstr> if语句的含义</vt:lpstr>
      <vt:lpstr>例：从键盘输入三个数，把其中的最大者输出</vt:lpstr>
      <vt:lpstr>if语句的锯齿格式</vt:lpstr>
      <vt:lpstr>例：从键盘输入一个三角形的三条边，判断其为何种三角形 </vt:lpstr>
      <vt:lpstr>避免不必要的测试</vt:lpstr>
      <vt:lpstr>if 语句的歧义问题</vt:lpstr>
      <vt:lpstr>下面程序的结果是什么？</vt:lpstr>
      <vt:lpstr>switch 语句</vt:lpstr>
      <vt:lpstr>PowerPoint 演示文稿</vt:lpstr>
      <vt:lpstr>switch语句的含义</vt:lpstr>
      <vt:lpstr>例：从键盘输入一个星期的某一天（0：星期天；1：星期一；...），然后输出其对应的英语单词</vt:lpstr>
      <vt:lpstr>switch语句中使用break语句</vt:lpstr>
      <vt:lpstr>PowerPoint 演示文稿</vt:lpstr>
      <vt:lpstr>PowerPoint 演示文稿</vt:lpstr>
      <vt:lpstr>例：计算某年某月的天数。</vt:lpstr>
      <vt:lpstr>循环（重复）执行 </vt:lpstr>
      <vt:lpstr>计算机问题求解的两种基本方法</vt:lpstr>
      <vt:lpstr>PowerPoint 演示文稿</vt:lpstr>
      <vt:lpstr>循环操作的基本要素</vt:lpstr>
      <vt:lpstr>循环语句</vt:lpstr>
      <vt:lpstr>while 语句</vt:lpstr>
      <vt:lpstr>用while语句求n!</vt:lpstr>
      <vt:lpstr>do-while 语句</vt:lpstr>
      <vt:lpstr>用do-while语句求n!</vt:lpstr>
      <vt:lpstr>for 语句</vt:lpstr>
      <vt:lpstr>用for语句求n!</vt:lpstr>
      <vt:lpstr>PowerPoint 演示文稿</vt:lpstr>
      <vt:lpstr>PowerPoint 演示文稿</vt:lpstr>
      <vt:lpstr>PowerPoint 演示文稿</vt:lpstr>
      <vt:lpstr>求n的所有因子</vt:lpstr>
      <vt:lpstr>PowerPoint 演示文稿</vt:lpstr>
      <vt:lpstr>计数控制的循环与事件控制的循环</vt:lpstr>
      <vt:lpstr>三种循环语句的使用原则 </vt:lpstr>
      <vt:lpstr>例：计算从键盘输入的一系列整数的和，要求：首先输入整数的个数。（计数控制的循环） </vt:lpstr>
      <vt:lpstr>例：计算从键盘输入的一系列整数的和，要求输入以0结束。（事件控制的循环 ）</vt:lpstr>
      <vt:lpstr>例：从键盘接收字符，一直到输入了字符y(Y)或n(N)为止。 （事件控制的循环 ）</vt:lpstr>
      <vt:lpstr>“死循环”</vt:lpstr>
      <vt:lpstr>基于循环的程序设计举例</vt:lpstr>
      <vt:lpstr>例：求第n个费波那契(Fibonacci)数</vt:lpstr>
      <vt:lpstr>用牛顿迭代法求 </vt:lpstr>
      <vt:lpstr>PowerPoint 演示文稿</vt:lpstr>
      <vt:lpstr>PowerPoint 演示文稿</vt:lpstr>
      <vt:lpstr>循环优化问题</vt:lpstr>
      <vt:lpstr>例：编程判断n是否为素数（穷举法）</vt:lpstr>
      <vt:lpstr>PowerPoint 演示文稿</vt:lpstr>
      <vt:lpstr>PowerPoint 演示文稿</vt:lpstr>
      <vt:lpstr>PowerPoint 演示文稿</vt:lpstr>
      <vt:lpstr>例：编程求出小于n的所有素数（穷举法）</vt:lpstr>
      <vt:lpstr>PowerPoint 演示文稿</vt:lpstr>
      <vt:lpstr>例：求级数1+x+x2/2!+...+xi/i! …前n项之和</vt:lpstr>
      <vt:lpstr>PowerPoint 演示文稿</vt:lpstr>
      <vt:lpstr>PowerPoint 演示文稿</vt:lpstr>
      <vt:lpstr>PowerPoint 演示文稿</vt:lpstr>
      <vt:lpstr>例：“百元买百鸡”问题</vt:lpstr>
      <vt:lpstr>PowerPoint 演示文稿</vt:lpstr>
      <vt:lpstr>PowerPoint 演示文稿</vt:lpstr>
      <vt:lpstr>PowerPoint 演示文稿</vt:lpstr>
      <vt:lpstr>无条件转移控制 </vt:lpstr>
      <vt:lpstr>goto语句</vt:lpstr>
      <vt:lpstr>用goto语句求n! </vt:lpstr>
      <vt:lpstr>PowerPoint 演示文稿</vt:lpstr>
      <vt:lpstr>PowerPoint 演示文稿</vt:lpstr>
      <vt:lpstr>PowerPoint 演示文稿</vt:lpstr>
      <vt:lpstr>PowerPoint 演示文稿</vt:lpstr>
      <vt:lpstr>break语句 </vt:lpstr>
      <vt:lpstr>PowerPoint 演示文稿</vt:lpstr>
      <vt:lpstr>PowerPoint 演示文稿</vt:lpstr>
      <vt:lpstr>PowerPoint 演示文稿</vt:lpstr>
      <vt:lpstr>continue语句 </vt:lpstr>
      <vt:lpstr> </vt:lpstr>
      <vt:lpstr>例：从键盘输入一些非零整数，然后输出其中所有正数的平方根。 </vt:lpstr>
      <vt:lpstr>PowerPoint 演示文稿</vt:lpstr>
      <vt:lpstr>PowerPoint 演示文稿</vt:lpstr>
      <vt:lpstr>程序设计风格 </vt:lpstr>
      <vt:lpstr>结构化程序设计 </vt:lpstr>
      <vt:lpstr>PowerPoint 演示文稿</vt:lpstr>
      <vt:lpstr>PowerPoint 演示文稿</vt:lpstr>
      <vt:lpstr>关于goto语句 </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程序的流程控制               —— 语句</dc:title>
  <dc:creator>Chen Jiajun</dc:creator>
  <cp:lastModifiedBy>Chen Jiajun</cp:lastModifiedBy>
  <cp:revision>535</cp:revision>
  <dcterms:created xsi:type="dcterms:W3CDTF">2004-12-03T07:33:53Z</dcterms:created>
  <dcterms:modified xsi:type="dcterms:W3CDTF">2026-09-03T08:46:31Z</dcterms:modified>
</cp:coreProperties>
</file>