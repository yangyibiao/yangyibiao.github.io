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sldIdLst>
    <p:sldId id="257" r:id="rId2"/>
    <p:sldId id="258" r:id="rId3"/>
    <p:sldId id="542" r:id="rId4"/>
    <p:sldId id="541" r:id="rId5"/>
    <p:sldId id="531" r:id="rId6"/>
    <p:sldId id="537" r:id="rId7"/>
    <p:sldId id="448" r:id="rId8"/>
    <p:sldId id="449" r:id="rId9"/>
    <p:sldId id="540" r:id="rId10"/>
    <p:sldId id="529" r:id="rId11"/>
    <p:sldId id="528" r:id="rId12"/>
    <p:sldId id="530" r:id="rId13"/>
    <p:sldId id="451" r:id="rId14"/>
    <p:sldId id="452" r:id="rId15"/>
    <p:sldId id="539" r:id="rId16"/>
    <p:sldId id="453" r:id="rId17"/>
    <p:sldId id="532" r:id="rId18"/>
    <p:sldId id="454" r:id="rId19"/>
    <p:sldId id="455" r:id="rId20"/>
    <p:sldId id="456" r:id="rId21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66C"/>
    <a:srgbClr val="004182"/>
    <a:srgbClr val="00458A"/>
    <a:srgbClr val="006BD6"/>
    <a:srgbClr val="0097E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89" autoAdjust="0"/>
    <p:restoredTop sz="94631" autoAdjust="0"/>
  </p:normalViewPr>
  <p:slideViewPr>
    <p:cSldViewPr>
      <p:cViewPr varScale="1">
        <p:scale>
          <a:sx n="70" d="100"/>
          <a:sy n="70" d="100"/>
        </p:scale>
        <p:origin x="74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8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8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9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0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2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3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4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5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6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7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8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9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40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43 w 717"/>
                <a:gd name="T1" fmla="*/ 845 h 845"/>
                <a:gd name="T2" fmla="*/ 743 w 717"/>
                <a:gd name="T3" fmla="*/ 821 h 845"/>
                <a:gd name="T4" fmla="*/ 600 w 717"/>
                <a:gd name="T5" fmla="*/ 605 h 845"/>
                <a:gd name="T6" fmla="*/ 419 w 717"/>
                <a:gd name="T7" fmla="*/ 396 h 845"/>
                <a:gd name="T8" fmla="*/ 234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22 w 717"/>
                <a:gd name="T15" fmla="*/ 198 h 845"/>
                <a:gd name="T16" fmla="*/ 413 w 717"/>
                <a:gd name="T17" fmla="*/ 408 h 845"/>
                <a:gd name="T18" fmla="*/ 594 w 717"/>
                <a:gd name="T19" fmla="*/ 623 h 845"/>
                <a:gd name="T20" fmla="*/ 743 w 717"/>
                <a:gd name="T21" fmla="*/ 845 h 845"/>
                <a:gd name="T22" fmla="*/ 743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20 w 407"/>
                <a:gd name="T1" fmla="*/ 414 h 414"/>
                <a:gd name="T2" fmla="*/ 420 w 407"/>
                <a:gd name="T3" fmla="*/ 396 h 414"/>
                <a:gd name="T4" fmla="*/ 235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9 w 407"/>
                <a:gd name="T13" fmla="*/ 204 h 414"/>
                <a:gd name="T14" fmla="*/ 420 w 407"/>
                <a:gd name="T15" fmla="*/ 414 h 414"/>
                <a:gd name="T16" fmla="*/ 420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12 w 586"/>
                <a:gd name="T1" fmla="*/ 0 h 599"/>
                <a:gd name="T2" fmla="*/ 594 w 586"/>
                <a:gd name="T3" fmla="*/ 0 h 599"/>
                <a:gd name="T4" fmla="*/ 420 w 586"/>
                <a:gd name="T5" fmla="*/ 132 h 599"/>
                <a:gd name="T6" fmla="*/ 270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70 w 586"/>
                <a:gd name="T17" fmla="*/ 282 h 599"/>
                <a:gd name="T18" fmla="*/ 426 w 586"/>
                <a:gd name="T19" fmla="*/ 138 h 599"/>
                <a:gd name="T20" fmla="*/ 612 w 586"/>
                <a:gd name="T21" fmla="*/ 0 h 599"/>
                <a:gd name="T22" fmla="*/ 612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82 w 269"/>
                <a:gd name="T1" fmla="*/ 0 h 252"/>
                <a:gd name="T2" fmla="*/ 264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82 w 269"/>
                <a:gd name="T15" fmla="*/ 0 h 252"/>
                <a:gd name="T16" fmla="*/ 282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3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2263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52264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41" name="Rectangle 41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" name="Rectangle 4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" name="Rectangle 4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9EEBD7-5845-4E60-BBD7-262F4E67B7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7035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A93BE5-25B9-4E46-9719-636B716C80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4240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E34684-A919-433B-A097-0069872919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8537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C90531-C77A-4AE2-A46F-8B28207974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8227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E0DBF-F0DD-433B-8161-8B7DF6F90F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1112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050FA3-EEFA-48A7-B1C9-DBFA2C89C0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2122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03E317-59D3-4924-B226-9D29B63871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3132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F4C726-A5EE-41BD-8271-8AFA102B9F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44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4DF25-4EAA-488A-8FC8-F8EB48AC41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8414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4BCC80-A883-4A0B-A67B-6333767FF6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424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3C882-1FCC-4668-B769-60641EA0D4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6034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bg1">
                <a:lumMod val="5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51203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04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05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1035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51207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08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09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0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1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2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3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4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5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6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7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8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9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51220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21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22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39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43 w 717"/>
                <a:gd name="T1" fmla="*/ 845 h 845"/>
                <a:gd name="T2" fmla="*/ 743 w 717"/>
                <a:gd name="T3" fmla="*/ 821 h 845"/>
                <a:gd name="T4" fmla="*/ 600 w 717"/>
                <a:gd name="T5" fmla="*/ 605 h 845"/>
                <a:gd name="T6" fmla="*/ 419 w 717"/>
                <a:gd name="T7" fmla="*/ 396 h 845"/>
                <a:gd name="T8" fmla="*/ 234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22 w 717"/>
                <a:gd name="T15" fmla="*/ 198 h 845"/>
                <a:gd name="T16" fmla="*/ 413 w 717"/>
                <a:gd name="T17" fmla="*/ 408 h 845"/>
                <a:gd name="T18" fmla="*/ 594 w 717"/>
                <a:gd name="T19" fmla="*/ 623 h 845"/>
                <a:gd name="T20" fmla="*/ 743 w 717"/>
                <a:gd name="T21" fmla="*/ 845 h 845"/>
                <a:gd name="T22" fmla="*/ 743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20 w 407"/>
                <a:gd name="T1" fmla="*/ 414 h 414"/>
                <a:gd name="T2" fmla="*/ 420 w 407"/>
                <a:gd name="T3" fmla="*/ 396 h 414"/>
                <a:gd name="T4" fmla="*/ 235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9 w 407"/>
                <a:gd name="T13" fmla="*/ 204 h 414"/>
                <a:gd name="T14" fmla="*/ 420 w 407"/>
                <a:gd name="T15" fmla="*/ 414 h 414"/>
                <a:gd name="T16" fmla="*/ 420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5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42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12 w 586"/>
                <a:gd name="T1" fmla="*/ 0 h 599"/>
                <a:gd name="T2" fmla="*/ 594 w 586"/>
                <a:gd name="T3" fmla="*/ 0 h 599"/>
                <a:gd name="T4" fmla="*/ 420 w 586"/>
                <a:gd name="T5" fmla="*/ 132 h 599"/>
                <a:gd name="T6" fmla="*/ 270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70 w 586"/>
                <a:gd name="T17" fmla="*/ 282 h 599"/>
                <a:gd name="T18" fmla="*/ 426 w 586"/>
                <a:gd name="T19" fmla="*/ 138 h 599"/>
                <a:gd name="T20" fmla="*/ 612 w 586"/>
                <a:gd name="T21" fmla="*/ 0 h 599"/>
                <a:gd name="T22" fmla="*/ 612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82 w 269"/>
                <a:gd name="T1" fmla="*/ 0 h 252"/>
                <a:gd name="T2" fmla="*/ 264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82 w 269"/>
                <a:gd name="T15" fmla="*/ 0 h 252"/>
                <a:gd name="T16" fmla="*/ 282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239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51240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1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2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fld id="{FB8E69C5-826F-42B2-8B89-667026A6A0A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1243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23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874838"/>
            <a:ext cx="7772400" cy="13509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smtClean="0"/>
              <a:t>向</a:t>
            </a:r>
            <a:r>
              <a:rPr lang="zh-CN" altLang="en-US" sz="4800" dirty="0"/>
              <a:t>函数传递数据的地址</a:t>
            </a:r>
            <a:endParaRPr lang="zh-CN" altLang="en-US" sz="4800" dirty="0" smtClean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>
              <a:defRPr/>
            </a:pPr>
            <a:endParaRPr lang="zh-CN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主要内容</a:t>
            </a:r>
            <a:endParaRPr lang="zh-CN" altLang="en-US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50603"/>
            <a:ext cx="8229600" cy="45307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函数</a:t>
            </a:r>
            <a:r>
              <a:rPr lang="zh-CN" altLang="en-US" dirty="0" smtClean="0"/>
              <a:t>的参数</a:t>
            </a:r>
            <a:r>
              <a:rPr lang="zh-CN" altLang="en-US" dirty="0" smtClean="0"/>
              <a:t>传递方式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 smtClean="0"/>
              <a:t>指针类型的参数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/>
              <a:t>提高参数传递</a:t>
            </a:r>
            <a:r>
              <a:rPr lang="zh-CN" altLang="en-US" dirty="0" smtClean="0"/>
              <a:t>效率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 smtClean="0"/>
              <a:t>通过参数带出函数的计算结果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 smtClean="0"/>
              <a:t>指针作为返回值</a:t>
            </a:r>
            <a:endParaRPr lang="en-US" altLang="zh-CN" dirty="0" smtClean="0"/>
          </a:p>
          <a:p>
            <a:pPr eaLnBrk="1" hangingPunct="1">
              <a:defRPr/>
            </a:pPr>
            <a:endParaRPr lang="en-US" altLang="zh-CN" dirty="0" smtClean="0"/>
          </a:p>
          <a:p>
            <a:pPr eaLnBrk="1" hangingPunct="1">
              <a:defRPr/>
            </a:pP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38944"/>
            <a:ext cx="7772400" cy="685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函数的参数传递</a:t>
            </a:r>
            <a:r>
              <a:rPr lang="zh-CN" altLang="en-US" b="1" dirty="0" smtClean="0"/>
              <a:t> 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700213"/>
            <a:ext cx="8424862" cy="39608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C++</a:t>
            </a:r>
            <a:r>
              <a:rPr lang="zh-CN" altLang="en-US" dirty="0" smtClean="0"/>
              <a:t>提供了两种参数传递机制：</a:t>
            </a:r>
          </a:p>
          <a:p>
            <a:pPr lvl="1" eaLnBrk="1" hangingPunct="1"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值</a:t>
            </a:r>
            <a:r>
              <a:rPr lang="zh-CN" altLang="en-US" dirty="0" smtClean="0"/>
              <a:t>传递</a:t>
            </a:r>
          </a:p>
          <a:p>
            <a:pPr lvl="2" eaLnBrk="1" hangingPunct="1">
              <a:defRPr/>
            </a:pPr>
            <a:r>
              <a:rPr lang="zh-CN" altLang="en-US" dirty="0" smtClean="0"/>
              <a:t>把实参的值传给形参。</a:t>
            </a:r>
          </a:p>
          <a:p>
            <a:pPr lvl="1" eaLnBrk="1" hangingPunct="1"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地址</a:t>
            </a:r>
            <a:r>
              <a:rPr lang="zh-CN" altLang="en-US" dirty="0" smtClean="0"/>
              <a:t>或</a:t>
            </a:r>
            <a:r>
              <a:rPr lang="zh-CN" altLang="en-US" dirty="0" smtClean="0">
                <a:solidFill>
                  <a:schemeClr val="folHlink"/>
                </a:solidFill>
              </a:rPr>
              <a:t>引用</a:t>
            </a:r>
            <a:r>
              <a:rPr lang="zh-CN" altLang="en-US" dirty="0" smtClean="0"/>
              <a:t>传递</a:t>
            </a:r>
          </a:p>
          <a:p>
            <a:pPr lvl="2" eaLnBrk="1" hangingPunct="1">
              <a:defRPr/>
            </a:pPr>
            <a:r>
              <a:rPr lang="zh-CN" altLang="en-US" dirty="0" smtClean="0"/>
              <a:t>把实参的地址传给形参。</a:t>
            </a:r>
          </a:p>
          <a:p>
            <a:pPr eaLnBrk="1" hangingPunct="1">
              <a:defRPr/>
            </a:pPr>
            <a:r>
              <a:rPr lang="zh-CN" altLang="en-US" dirty="0" smtClean="0"/>
              <a:t>参数传递方式在函数定义时的形参类型中指出。</a:t>
            </a:r>
          </a:p>
        </p:txBody>
      </p:sp>
    </p:spTree>
    <p:extLst>
      <p:ext uri="{BB962C8B-B14F-4D97-AF65-F5344CB8AC3E}">
        <p14:creationId xmlns:p14="http://schemas.microsoft.com/office/powerpoint/2010/main" val="1588018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参数的值传递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91264" cy="4781128"/>
          </a:xfrm>
        </p:spPr>
        <p:txBody>
          <a:bodyPr>
            <a:normAutofit fontScale="92500"/>
          </a:bodyPr>
          <a:lstStyle/>
          <a:p>
            <a:pPr eaLnBrk="1" hangingPunct="1">
              <a:defRPr/>
            </a:pPr>
            <a:r>
              <a:rPr lang="en-US" altLang="zh-CN" dirty="0"/>
              <a:t>C++</a:t>
            </a:r>
            <a:r>
              <a:rPr lang="zh-CN" altLang="en-US" dirty="0"/>
              <a:t>默认的参数传递方式是</a:t>
            </a:r>
            <a:r>
              <a:rPr lang="zh-CN" altLang="en-US" dirty="0">
                <a:solidFill>
                  <a:schemeClr val="folHlink"/>
                </a:solidFill>
              </a:rPr>
              <a:t>值传递</a:t>
            </a:r>
            <a:r>
              <a:rPr lang="zh-CN" altLang="en-US" dirty="0" smtClean="0"/>
              <a:t>。（数组除外） 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zh-CN" altLang="en-US" dirty="0"/>
              <a:t>采用值传递的形参不需特别说明，实参可以是表达式。</a:t>
            </a:r>
          </a:p>
          <a:p>
            <a:pPr lvl="1" eaLnBrk="1" hangingPunct="1">
              <a:defRPr/>
            </a:pPr>
            <a:r>
              <a:rPr lang="zh-CN" altLang="en-US" dirty="0" smtClean="0"/>
              <a:t>在</a:t>
            </a:r>
            <a:r>
              <a:rPr lang="zh-CN" altLang="en-US" dirty="0"/>
              <a:t>函数调用时</a:t>
            </a:r>
            <a:r>
              <a:rPr lang="zh-CN" altLang="en-US" dirty="0" smtClean="0"/>
              <a:t>，先为形参分配空间，然后采用</a:t>
            </a:r>
            <a:r>
              <a:rPr lang="zh-CN" altLang="en-US" dirty="0"/>
              <a:t>类似变量初始化的形式把实参的值传给形参。</a:t>
            </a:r>
          </a:p>
          <a:p>
            <a:pPr lvl="1" eaLnBrk="1" hangingPunct="1">
              <a:defRPr/>
            </a:pPr>
            <a:r>
              <a:rPr lang="zh-CN" altLang="en-US" dirty="0"/>
              <a:t>函数执行过程中，通过形参使用实参的值</a:t>
            </a:r>
          </a:p>
          <a:p>
            <a:pPr lvl="1" eaLnBrk="1" hangingPunct="1">
              <a:defRPr/>
            </a:pPr>
            <a:r>
              <a:rPr lang="zh-CN" altLang="en-US" dirty="0"/>
              <a:t>函数体中对形参值的改变不会影响相应实参的值。 </a:t>
            </a:r>
            <a:endParaRPr lang="en-US" altLang="zh-CN" dirty="0"/>
          </a:p>
          <a:p>
            <a:pPr eaLnBrk="1" hangingPunct="1">
              <a:defRPr/>
            </a:pPr>
            <a:r>
              <a:rPr lang="zh-CN" altLang="en-US" dirty="0" smtClean="0"/>
              <a:t>当要传递的数据很大（</a:t>
            </a:r>
            <a:r>
              <a:rPr lang="zh-CN" altLang="en-US" dirty="0" smtClean="0"/>
              <a:t>如一个大的数组或一</a:t>
            </a:r>
            <a:r>
              <a:rPr lang="zh-CN" altLang="en-US" dirty="0" smtClean="0"/>
              <a:t>个大的结构数据），值传递的效率不高！</a:t>
            </a:r>
          </a:p>
        </p:txBody>
      </p:sp>
    </p:spTree>
    <p:extLst>
      <p:ext uri="{BB962C8B-B14F-4D97-AF65-F5344CB8AC3E}">
        <p14:creationId xmlns:p14="http://schemas.microsoft.com/office/powerpoint/2010/main" val="123828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参数的地址传递</a:t>
            </a:r>
          </a:p>
        </p:txBody>
      </p:sp>
      <p:sp>
        <p:nvSpPr>
          <p:cNvPr id="419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3184" y="1340768"/>
            <a:ext cx="8579296" cy="4925144"/>
          </a:xfrm>
        </p:spPr>
        <p:txBody>
          <a:bodyPr>
            <a:normAutofit fontScale="92500" lnSpcReduction="20000"/>
          </a:bodyPr>
          <a:lstStyle/>
          <a:p>
            <a:pPr algn="just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函数的形参可以定义为指针类型：</a:t>
            </a:r>
            <a:endParaRPr lang="en-US" altLang="zh-CN" dirty="0" smtClean="0"/>
          </a:p>
          <a:p>
            <a:pPr lvl="1" algn="just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函数调用时把实参的地址传给形参。</a:t>
            </a:r>
            <a:endParaRPr lang="en-US" altLang="zh-CN" dirty="0" smtClean="0"/>
          </a:p>
          <a:p>
            <a:pPr lvl="1" algn="just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在函数中通过形参间接访问实参的值。</a:t>
            </a:r>
            <a:endParaRPr lang="en-US" altLang="zh-CN" dirty="0" smtClean="0"/>
          </a:p>
          <a:p>
            <a:pPr algn="just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例如：</a:t>
            </a:r>
            <a:endParaRPr lang="en-US" altLang="zh-CN" dirty="0" smtClean="0"/>
          </a:p>
          <a:p>
            <a:pPr marL="457200" lvl="1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f(</a:t>
            </a:r>
            <a:r>
              <a:rPr lang="en-US" altLang="zh-CN" dirty="0" err="1" smtClean="0"/>
              <a:t>SomeType</a:t>
            </a:r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*p</a:t>
            </a:r>
            <a:r>
              <a:rPr lang="en-US" altLang="zh-CN" dirty="0" smtClean="0"/>
              <a:t>)</a:t>
            </a:r>
          </a:p>
          <a:p>
            <a:pPr marL="457200" lvl="1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{ ... </a:t>
            </a:r>
            <a:r>
              <a:rPr lang="en-US" altLang="zh-CN" dirty="0" smtClean="0">
                <a:solidFill>
                  <a:srgbClr val="FFC000"/>
                </a:solidFill>
              </a:rPr>
              <a:t>*p</a:t>
            </a:r>
            <a:r>
              <a:rPr lang="en-US" altLang="zh-CN" dirty="0" smtClean="0"/>
              <a:t> ... //</a:t>
            </a:r>
            <a:r>
              <a:rPr lang="zh-CN" altLang="en-US" dirty="0" smtClean="0"/>
              <a:t>通过</a:t>
            </a:r>
            <a:r>
              <a:rPr lang="en-US" altLang="zh-CN" dirty="0" smtClean="0"/>
              <a:t>p</a:t>
            </a:r>
            <a:r>
              <a:rPr lang="zh-CN" altLang="en-US" dirty="0" smtClean="0"/>
              <a:t>间接访问传进来的数据</a:t>
            </a:r>
            <a:r>
              <a:rPr lang="en-US" altLang="zh-CN" dirty="0" smtClean="0"/>
              <a:t>a</a:t>
            </a:r>
          </a:p>
          <a:p>
            <a:pPr marL="457200" lvl="1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}</a:t>
            </a:r>
          </a:p>
          <a:p>
            <a:pPr marL="457200" lvl="1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.......</a:t>
            </a:r>
          </a:p>
          <a:p>
            <a:pPr marL="457200" lvl="1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dirty="0" err="1" smtClean="0"/>
              <a:t>SomeType</a:t>
            </a:r>
            <a:r>
              <a:rPr lang="en-US" altLang="zh-CN" dirty="0" smtClean="0"/>
              <a:t> a;</a:t>
            </a:r>
          </a:p>
          <a:p>
            <a:pPr marL="457200" lvl="1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f(</a:t>
            </a:r>
            <a:r>
              <a:rPr lang="en-US" altLang="zh-CN" dirty="0" smtClean="0">
                <a:solidFill>
                  <a:srgbClr val="FFC000"/>
                </a:solidFill>
              </a:rPr>
              <a:t>&amp;a</a:t>
            </a:r>
            <a:r>
              <a:rPr lang="en-US" altLang="zh-CN" dirty="0" smtClean="0"/>
              <a:t>); //</a:t>
            </a:r>
            <a:r>
              <a:rPr lang="zh-CN" altLang="en-US" dirty="0" smtClean="0"/>
              <a:t>把</a:t>
            </a:r>
            <a:r>
              <a:rPr lang="en-US" altLang="zh-CN" dirty="0" smtClean="0"/>
              <a:t>a</a:t>
            </a:r>
            <a:r>
              <a:rPr lang="zh-CN" altLang="en-US" dirty="0" smtClean="0"/>
              <a:t>的内存地址传给函数</a:t>
            </a:r>
            <a:r>
              <a:rPr lang="en-US" altLang="zh-CN" dirty="0" smtClean="0"/>
              <a:t>f</a:t>
            </a:r>
            <a:r>
              <a:rPr lang="zh-CN" altLang="en-US" dirty="0" smtClean="0"/>
              <a:t>的形参</a:t>
            </a:r>
            <a:r>
              <a:rPr lang="en-US" altLang="zh-CN" dirty="0" smtClean="0"/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3713863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3184" y="1850603"/>
            <a:ext cx="8579296" cy="4530725"/>
          </a:xfrm>
        </p:spPr>
        <p:txBody>
          <a:bodyPr/>
          <a:lstStyle/>
          <a:p>
            <a:pPr algn="just" eaLnBrk="1" hangingPunct="1">
              <a:defRPr/>
            </a:pPr>
            <a:r>
              <a:rPr lang="zh-CN" altLang="en-US" dirty="0" smtClean="0"/>
              <a:t>把实参的地址传给函数可以</a:t>
            </a:r>
            <a:r>
              <a:rPr lang="zh-CN" altLang="en-US" dirty="0"/>
              <a:t>产生两个效果：</a:t>
            </a:r>
          </a:p>
          <a:p>
            <a:pPr lvl="1" algn="just" eaLnBrk="1" hangingPunct="1">
              <a:defRPr/>
            </a:pPr>
            <a:r>
              <a:rPr lang="zh-CN" altLang="en-US" dirty="0"/>
              <a:t>提高参数传递效率：大（量）数据的参数传递。</a:t>
            </a:r>
          </a:p>
          <a:p>
            <a:pPr lvl="1" algn="just" eaLnBrk="1" hangingPunct="1">
              <a:defRPr/>
            </a:pPr>
            <a:r>
              <a:rPr lang="zh-CN" altLang="en-US" dirty="0"/>
              <a:t>通过形参改变实参的值：把函数的计算结果通过参数返回给调用者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049335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3184" y="1340768"/>
            <a:ext cx="8579296" cy="5472608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/>
              <a:t>向函数传递大型的结构类型数据</a:t>
            </a:r>
            <a:endParaRPr lang="en-US" altLang="zh-CN" dirty="0" smtClean="0"/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200" dirty="0" err="1" smtClean="0"/>
              <a:t>struct</a:t>
            </a:r>
            <a:r>
              <a:rPr lang="en-US" altLang="zh-CN" sz="2200" dirty="0" smtClean="0"/>
              <a:t> A //</a:t>
            </a:r>
            <a:r>
              <a:rPr lang="zh-CN" altLang="en-US" sz="2200" dirty="0" smtClean="0"/>
              <a:t>一个</a:t>
            </a:r>
            <a:r>
              <a:rPr lang="zh-CN" altLang="en-US" sz="2200" dirty="0" smtClean="0">
                <a:solidFill>
                  <a:srgbClr val="FFC000"/>
                </a:solidFill>
              </a:rPr>
              <a:t>很大</a:t>
            </a:r>
            <a:r>
              <a:rPr lang="zh-CN" altLang="en-US" sz="2200" dirty="0" smtClean="0"/>
              <a:t>的结构</a:t>
            </a:r>
            <a:endParaRPr lang="en-US" altLang="zh-CN" sz="2200" dirty="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{	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no;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	char name[20];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	......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};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void f(A *p) //p</a:t>
            </a:r>
            <a:r>
              <a:rPr lang="zh-CN" altLang="en-US" sz="2200" dirty="0" smtClean="0"/>
              <a:t>为指向结构类型的指针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{	......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	... p-&gt;no ....  //</a:t>
            </a:r>
            <a:r>
              <a:rPr lang="zh-CN" altLang="en-US" sz="2200" dirty="0" smtClean="0"/>
              <a:t>访问传进来的结构，也可写成：</a:t>
            </a:r>
            <a:r>
              <a:rPr lang="en-US" altLang="zh-CN" sz="2200" dirty="0" smtClean="0"/>
              <a:t>(*p).no</a:t>
            </a:r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2200" dirty="0" smtClean="0"/>
              <a:t>	... p-&gt;name ...  //</a:t>
            </a:r>
            <a:r>
              <a:rPr lang="zh-CN" altLang="en-US" sz="2200" dirty="0" smtClean="0"/>
              <a:t>访问</a:t>
            </a:r>
            <a:r>
              <a:rPr lang="zh-CN" altLang="en-US" sz="2200" dirty="0"/>
              <a:t>传进来的结构，也可写成</a:t>
            </a:r>
            <a:r>
              <a:rPr lang="zh-CN" altLang="en-US" sz="2200" dirty="0" smtClean="0"/>
              <a:t>：</a:t>
            </a:r>
            <a:r>
              <a:rPr lang="en-US" altLang="zh-CN" sz="2200" dirty="0" smtClean="0"/>
              <a:t>(*p).name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	......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main()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{	A </a:t>
            </a:r>
            <a:r>
              <a:rPr lang="en-US" altLang="zh-CN" sz="2200" dirty="0" err="1" smtClean="0"/>
              <a:t>a</a:t>
            </a:r>
            <a:r>
              <a:rPr lang="en-US" altLang="zh-CN" sz="2200" dirty="0" smtClean="0"/>
              <a:t>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	......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	f(&amp;a);  //</a:t>
            </a:r>
            <a:r>
              <a:rPr lang="zh-CN" altLang="en-US" sz="2200" dirty="0" smtClean="0"/>
              <a:t>把结构变量的地址传给函数</a:t>
            </a:r>
            <a:r>
              <a:rPr lang="en-US" altLang="zh-CN" sz="2200" dirty="0" smtClean="0"/>
              <a:t>f</a:t>
            </a:r>
            <a:endParaRPr lang="zh-CN" altLang="en-US" sz="2200" dirty="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sz="2200" dirty="0" smtClean="0"/>
              <a:t>	</a:t>
            </a:r>
            <a:r>
              <a:rPr lang="en-US" altLang="zh-CN" sz="2200" dirty="0" smtClean="0"/>
              <a:t>......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200" dirty="0" smtClean="0"/>
              <a:t>}</a:t>
            </a: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864096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提高</a:t>
            </a:r>
            <a:r>
              <a:rPr lang="zh-CN" altLang="en-US" dirty="0"/>
              <a:t>参数传递效率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620390"/>
            <a:ext cx="8497888" cy="604897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3000" dirty="0" smtClean="0"/>
              <a:t>向函数传递数组</a:t>
            </a:r>
            <a:endParaRPr lang="en-US" altLang="zh-CN" sz="3000" dirty="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在</a:t>
            </a:r>
            <a:r>
              <a:rPr lang="en-US" altLang="zh-CN" sz="2400" dirty="0" smtClean="0"/>
              <a:t>C++</a:t>
            </a:r>
            <a:r>
              <a:rPr lang="zh-CN" altLang="en-US" sz="2400" dirty="0" smtClean="0"/>
              <a:t>中，数组参数的默认传递方式就是把实参数组的首地址传给函数，以提高参数传递效率。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实际上，对于下面的函数定义和调用：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max(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</a:t>
            </a:r>
            <a:r>
              <a:rPr lang="en-US" altLang="zh-CN" sz="2000" dirty="0" smtClean="0">
                <a:solidFill>
                  <a:schemeClr val="folHlink"/>
                </a:solidFill>
              </a:rPr>
              <a:t>x[]</a:t>
            </a:r>
            <a:r>
              <a:rPr lang="en-US" altLang="zh-CN" sz="2000" dirty="0" smtClean="0"/>
              <a:t>,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num</a:t>
            </a:r>
            <a:r>
              <a:rPr lang="en-US" altLang="zh-CN" sz="2000" dirty="0" smtClean="0"/>
              <a:t>)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smtClean="0"/>
              <a:t>{	......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smtClean="0"/>
              <a:t>	... </a:t>
            </a:r>
            <a:r>
              <a:rPr lang="en-US" altLang="zh-CN" sz="2000" dirty="0" smtClean="0">
                <a:solidFill>
                  <a:schemeClr val="folHlink"/>
                </a:solidFill>
              </a:rPr>
              <a:t>x[</a:t>
            </a:r>
            <a:r>
              <a:rPr lang="en-US" altLang="zh-CN" sz="2000" dirty="0" err="1" smtClean="0">
                <a:solidFill>
                  <a:schemeClr val="folHlink"/>
                </a:solidFill>
              </a:rPr>
              <a:t>i</a:t>
            </a:r>
            <a:r>
              <a:rPr lang="en-US" altLang="zh-CN" sz="2000" dirty="0" smtClean="0">
                <a:solidFill>
                  <a:schemeClr val="folHlink"/>
                </a:solidFill>
              </a:rPr>
              <a:t>]</a:t>
            </a:r>
            <a:r>
              <a:rPr lang="en-US" altLang="zh-CN" sz="2000" dirty="0" smtClean="0"/>
              <a:t> ... //</a:t>
            </a:r>
            <a:r>
              <a:rPr lang="zh-CN" altLang="en-US" sz="2000" dirty="0" smtClean="0"/>
              <a:t>访问数组第</a:t>
            </a:r>
            <a:r>
              <a:rPr lang="en-US" altLang="zh-CN" sz="2000" dirty="0" err="1" smtClean="0"/>
              <a:t>i</a:t>
            </a:r>
            <a:r>
              <a:rPr lang="zh-CN" altLang="en-US" sz="2000" dirty="0" smtClean="0"/>
              <a:t>个元素</a:t>
            </a:r>
            <a:endParaRPr lang="en-US" altLang="zh-CN" sz="2000" dirty="0" smtClean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smtClean="0"/>
              <a:t>	......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smtClean="0"/>
              <a:t>}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zh-CN" sz="2800" dirty="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编译程序将按下面的方式来实现它们：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max(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</a:t>
            </a:r>
            <a:r>
              <a:rPr lang="en-US" altLang="zh-CN" sz="2000" dirty="0" smtClean="0">
                <a:solidFill>
                  <a:schemeClr val="folHlink"/>
                </a:solidFill>
              </a:rPr>
              <a:t>*</a:t>
            </a:r>
            <a:r>
              <a:rPr lang="en-US" altLang="zh-CN" sz="2000" dirty="0" err="1" smtClean="0">
                <a:solidFill>
                  <a:schemeClr val="folHlink"/>
                </a:solidFill>
              </a:rPr>
              <a:t>x</a:t>
            </a:r>
            <a:r>
              <a:rPr lang="en-US" altLang="zh-CN" sz="2000" dirty="0" err="1" smtClean="0"/>
              <a:t>,int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num</a:t>
            </a:r>
            <a:r>
              <a:rPr lang="en-US" altLang="zh-CN" sz="2000" dirty="0" smtClean="0"/>
              <a:t>)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smtClean="0"/>
              <a:t>{	......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smtClean="0"/>
              <a:t>	... </a:t>
            </a:r>
            <a:r>
              <a:rPr lang="en-US" altLang="zh-CN" sz="2000" dirty="0" smtClean="0">
                <a:solidFill>
                  <a:schemeClr val="folHlink"/>
                </a:solidFill>
              </a:rPr>
              <a:t>*(</a:t>
            </a:r>
            <a:r>
              <a:rPr lang="en-US" altLang="zh-CN" sz="2000" dirty="0" err="1" smtClean="0">
                <a:solidFill>
                  <a:schemeClr val="folHlink"/>
                </a:solidFill>
              </a:rPr>
              <a:t>x+i</a:t>
            </a:r>
            <a:r>
              <a:rPr lang="en-US" altLang="zh-CN" sz="2000" dirty="0" smtClean="0">
                <a:solidFill>
                  <a:schemeClr val="folHlink"/>
                </a:solidFill>
              </a:rPr>
              <a:t>)</a:t>
            </a:r>
            <a:r>
              <a:rPr lang="en-US" altLang="zh-CN" sz="2000" dirty="0" smtClean="0"/>
              <a:t> ... </a:t>
            </a:r>
            <a:r>
              <a:rPr lang="en-US" altLang="zh-CN" sz="2000" dirty="0"/>
              <a:t>//</a:t>
            </a:r>
            <a:r>
              <a:rPr lang="zh-CN" altLang="en-US" sz="2000" dirty="0"/>
              <a:t>访问数组第</a:t>
            </a:r>
            <a:r>
              <a:rPr lang="en-US" altLang="zh-CN" sz="2000" dirty="0" err="1"/>
              <a:t>i</a:t>
            </a:r>
            <a:r>
              <a:rPr lang="zh-CN" altLang="en-US" sz="2000" dirty="0"/>
              <a:t>个元素</a:t>
            </a:r>
            <a:endParaRPr lang="en-US" altLang="zh-CN" sz="2000" dirty="0" smtClean="0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smtClean="0"/>
              <a:t>	......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000" dirty="0" smtClean="0"/>
              <a:t>}</a:t>
            </a:r>
          </a:p>
        </p:txBody>
      </p:sp>
      <p:sp>
        <p:nvSpPr>
          <p:cNvPr id="418820" name="Rectangle 4"/>
          <p:cNvSpPr>
            <a:spLocks noChangeArrowheads="1"/>
          </p:cNvSpPr>
          <p:nvPr/>
        </p:nvSpPr>
        <p:spPr bwMode="auto">
          <a:xfrm>
            <a:off x="5362649" y="2276872"/>
            <a:ext cx="3025775" cy="1872109"/>
          </a:xfrm>
          <a:prstGeom prst="rect">
            <a:avLst/>
          </a:prstGeom>
          <a:solidFill>
            <a:srgbClr val="004182"/>
          </a:solidFill>
          <a:ln>
            <a:noFill/>
          </a:ln>
          <a:effectLst/>
          <a:extLst/>
        </p:spPr>
        <p:txBody>
          <a:bodyPr/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sz="20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main()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{ 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sz="20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a[10];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......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...max(</a:t>
            </a:r>
            <a:r>
              <a:rPr lang="en-US" altLang="zh-CN" sz="2000" b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altLang="zh-CN" sz="20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,10)...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....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418821" name="Rectangle 5"/>
          <p:cNvSpPr>
            <a:spLocks noChangeArrowheads="1"/>
          </p:cNvSpPr>
          <p:nvPr/>
        </p:nvSpPr>
        <p:spPr bwMode="auto">
          <a:xfrm>
            <a:off x="5364484" y="4797152"/>
            <a:ext cx="3455988" cy="1968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  <a:extLst/>
        </p:spPr>
        <p:txBody>
          <a:bodyPr/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sz="20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main()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{ </a:t>
            </a:r>
            <a:r>
              <a:rPr lang="en-US" altLang="zh-CN" sz="2000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sz="20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a[10];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......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...max(</a:t>
            </a:r>
            <a:r>
              <a:rPr lang="en-US" altLang="zh-CN" sz="2000" b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&amp;a[0]</a:t>
            </a:r>
            <a:r>
              <a:rPr lang="en-US" altLang="zh-CN" sz="20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,10)...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....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000" b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8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8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88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88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88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88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88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88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88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88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88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88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8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8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8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88913"/>
            <a:ext cx="77724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 </a:t>
            </a:r>
          </a:p>
        </p:txBody>
      </p:sp>
      <p:sp>
        <p:nvSpPr>
          <p:cNvPr id="415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0175" y="1439416"/>
            <a:ext cx="8763000" cy="5373960"/>
          </a:xfrm>
        </p:spPr>
        <p:txBody>
          <a:bodyPr>
            <a:normAutofit fontScale="85000" lnSpcReduction="20000"/>
          </a:bodyPr>
          <a:lstStyle/>
          <a:p>
            <a:pPr defTabSz="441325" eaLnBrk="1" hangingPunct="1">
              <a:lnSpc>
                <a:spcPct val="120000"/>
              </a:lnSpc>
              <a:defRPr/>
            </a:pPr>
            <a:r>
              <a:rPr lang="zh-CN" altLang="en-US" sz="2800" dirty="0" smtClean="0"/>
              <a:t>编写一个能交换两个变量值的函数，下面的做法可行吗？</a:t>
            </a:r>
            <a:endParaRPr lang="en-US" altLang="zh-CN" sz="2800" dirty="0" smtClean="0"/>
          </a:p>
          <a:p>
            <a:pPr marL="457200" lvl="1" indent="0" defTabSz="441325" eaLnBrk="1" hangingPunct="1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 smtClean="0"/>
              <a:t>void swap(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x,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y)</a:t>
            </a:r>
          </a:p>
          <a:p>
            <a:pPr marL="457200" lvl="1" indent="0" defTabSz="441325" eaLnBrk="1" hangingPunct="1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 smtClean="0"/>
              <a:t>{	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t=x;</a:t>
            </a:r>
          </a:p>
          <a:p>
            <a:pPr marL="457200" lvl="1" indent="0" defTabSz="441325" eaLnBrk="1" hangingPunct="1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 smtClean="0"/>
              <a:t>	x = y;</a:t>
            </a:r>
          </a:p>
          <a:p>
            <a:pPr marL="457200" lvl="1" indent="0" defTabSz="441325" eaLnBrk="1" hangingPunct="1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 smtClean="0"/>
              <a:t>	y = t;</a:t>
            </a:r>
          </a:p>
          <a:p>
            <a:pPr marL="457200" lvl="1" indent="0" defTabSz="441325" eaLnBrk="1" hangingPunct="1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 smtClean="0"/>
              <a:t>}</a:t>
            </a:r>
          </a:p>
          <a:p>
            <a:pPr marL="457200" lvl="1" indent="0" defTabSz="441325" eaLnBrk="1" hangingPunct="1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main()</a:t>
            </a:r>
          </a:p>
          <a:p>
            <a:pPr marL="457200" lvl="1" indent="0" defTabSz="441325" eaLnBrk="1" hangingPunct="1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 smtClean="0"/>
              <a:t>{	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a=0,b=1;</a:t>
            </a:r>
          </a:p>
          <a:p>
            <a:pPr marL="457200" lvl="1" indent="0" defTabSz="441325" eaLnBrk="1" hangingPunct="1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 smtClean="0"/>
              <a:t>	swap(</a:t>
            </a:r>
            <a:r>
              <a:rPr lang="en-US" altLang="zh-CN" sz="2400" dirty="0" err="1" smtClean="0"/>
              <a:t>a,b</a:t>
            </a:r>
            <a:r>
              <a:rPr lang="en-US" altLang="zh-CN" sz="2400" dirty="0" smtClean="0"/>
              <a:t>);</a:t>
            </a:r>
          </a:p>
          <a:p>
            <a:pPr marL="457200" lvl="1" indent="0" defTabSz="441325" eaLnBrk="1" hangingPunct="1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 smtClean="0"/>
              <a:t>	</a:t>
            </a:r>
            <a:r>
              <a:rPr lang="en-US" altLang="zh-CN" sz="2400" dirty="0" err="1" smtClean="0"/>
              <a:t>cout</a:t>
            </a:r>
            <a:r>
              <a:rPr lang="en-US" altLang="zh-CN" sz="2400" dirty="0" smtClean="0"/>
              <a:t> &lt;&lt; "a=" &lt;&lt; a &lt;&lt; ",b=" &lt;&lt; b &lt;&lt; </a:t>
            </a:r>
            <a:r>
              <a:rPr lang="en-US" altLang="zh-CN" sz="2400" dirty="0" err="1" smtClean="0"/>
              <a:t>endl</a:t>
            </a:r>
            <a:r>
              <a:rPr lang="en-US" altLang="zh-CN" sz="2400" dirty="0" smtClean="0"/>
              <a:t>;</a:t>
            </a:r>
          </a:p>
          <a:p>
            <a:pPr marL="457200" lvl="1" indent="0" defTabSz="441325" eaLnBrk="1" hangingPunct="1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 smtClean="0"/>
              <a:t>	return 0;</a:t>
            </a:r>
          </a:p>
          <a:p>
            <a:pPr marL="457200" lvl="1" indent="0" defTabSz="441325" eaLnBrk="1" hangingPunct="1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 smtClean="0"/>
              <a:t>}  </a:t>
            </a:r>
          </a:p>
          <a:p>
            <a:pPr marL="457200" lvl="1" indent="0" defTabSz="441325" eaLnBrk="1" hangingPunct="1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zh-CN" altLang="en-US" sz="2400" dirty="0" smtClean="0"/>
              <a:t>输出：</a:t>
            </a:r>
            <a:r>
              <a:rPr lang="en-US" altLang="zh-CN" sz="2400" dirty="0" smtClean="0"/>
              <a:t>a=0,b=1</a:t>
            </a:r>
          </a:p>
          <a:p>
            <a:pPr defTabSz="441325" eaLnBrk="1" hangingPunct="1">
              <a:lnSpc>
                <a:spcPct val="120000"/>
              </a:lnSpc>
              <a:defRPr/>
            </a:pPr>
            <a:r>
              <a:rPr lang="zh-CN" altLang="en-US" sz="2800" dirty="0" smtClean="0">
                <a:solidFill>
                  <a:srgbClr val="FFC000"/>
                </a:solidFill>
              </a:rPr>
              <a:t>不行！</a:t>
            </a:r>
            <a:r>
              <a:rPr lang="zh-CN" altLang="en-US" sz="2800" dirty="0" smtClean="0"/>
              <a:t>由于默认采用的是</a:t>
            </a:r>
            <a:r>
              <a:rPr lang="zh-CN" altLang="en-US" sz="2800" dirty="0"/>
              <a:t>值参数</a:t>
            </a:r>
            <a:r>
              <a:rPr lang="zh-CN" altLang="en-US" sz="2800" dirty="0" smtClean="0"/>
              <a:t>传递，在函数</a:t>
            </a:r>
            <a:r>
              <a:rPr lang="en-US" altLang="zh-CN" sz="2800" dirty="0" smtClean="0"/>
              <a:t>swap</a:t>
            </a:r>
            <a:r>
              <a:rPr lang="zh-CN" altLang="en-US" sz="2800" dirty="0" smtClean="0"/>
              <a:t>中交换的是形参</a:t>
            </a:r>
            <a:r>
              <a:rPr lang="en-US" altLang="zh-CN" sz="2800" dirty="0" smtClean="0"/>
              <a:t>x</a:t>
            </a:r>
            <a:r>
              <a:rPr lang="zh-CN" altLang="en-US" sz="2800" dirty="0" smtClean="0"/>
              <a:t>和</a:t>
            </a:r>
            <a:r>
              <a:rPr lang="en-US" altLang="zh-CN" sz="2800" dirty="0" smtClean="0"/>
              <a:t>y</a:t>
            </a:r>
            <a:r>
              <a:rPr lang="zh-CN" altLang="en-US" sz="2800" dirty="0" smtClean="0"/>
              <a:t>的值，实参</a:t>
            </a:r>
            <a:r>
              <a:rPr lang="en-US" altLang="zh-CN" sz="2800" dirty="0" smtClean="0"/>
              <a:t>a</a:t>
            </a:r>
            <a:r>
              <a:rPr lang="zh-CN" altLang="en-US" sz="2800" dirty="0" smtClean="0"/>
              <a:t>和</a:t>
            </a:r>
            <a:r>
              <a:rPr lang="en-US" altLang="zh-CN" sz="2800" dirty="0" smtClean="0"/>
              <a:t>b</a:t>
            </a:r>
            <a:r>
              <a:rPr lang="zh-CN" altLang="en-US" sz="2800" dirty="0" smtClean="0"/>
              <a:t>的值并没有改变！</a:t>
            </a:r>
            <a:endParaRPr lang="en-US" altLang="zh-CN" sz="2800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57200" y="44624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9pPr>
          </a:lstStyle>
          <a:p>
            <a:pPr eaLnBrk="1" hangingPunct="1">
              <a:defRPr/>
            </a:pPr>
            <a:r>
              <a:rPr lang="zh-CN" altLang="en-US" b="0" kern="0" dirty="0"/>
              <a:t>通过</a:t>
            </a:r>
            <a:r>
              <a:rPr lang="zh-CN" altLang="en-US" b="0" kern="0" dirty="0" smtClean="0"/>
              <a:t>形参带出函数计算结果</a:t>
            </a:r>
          </a:p>
        </p:txBody>
      </p:sp>
    </p:spTree>
    <p:extLst>
      <p:ext uri="{BB962C8B-B14F-4D97-AF65-F5344CB8AC3E}">
        <p14:creationId xmlns:p14="http://schemas.microsoft.com/office/powerpoint/2010/main" val="695656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57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57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57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57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388" y="260350"/>
            <a:ext cx="8964612" cy="633700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解决方案：</a:t>
            </a:r>
            <a:endParaRPr lang="en-US" altLang="zh-CN" sz="2800" dirty="0" smtClean="0"/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void swap(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smtClean="0">
                <a:solidFill>
                  <a:schemeClr val="folHlink"/>
                </a:solidFill>
              </a:rPr>
              <a:t>*</a:t>
            </a:r>
            <a:r>
              <a:rPr lang="en-US" altLang="zh-CN" sz="2400" dirty="0" err="1" smtClean="0">
                <a:solidFill>
                  <a:schemeClr val="folHlink"/>
                </a:solidFill>
              </a:rPr>
              <a:t>px</a:t>
            </a:r>
            <a:r>
              <a:rPr lang="en-US" altLang="zh-CN" sz="2400" dirty="0" smtClean="0"/>
              <a:t>,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smtClean="0">
                <a:solidFill>
                  <a:schemeClr val="folHlink"/>
                </a:solidFill>
              </a:rPr>
              <a:t>*</a:t>
            </a:r>
            <a:r>
              <a:rPr lang="en-US" altLang="zh-CN" sz="2400" dirty="0" err="1" smtClean="0">
                <a:solidFill>
                  <a:schemeClr val="folHlink"/>
                </a:solidFill>
              </a:rPr>
              <a:t>py</a:t>
            </a:r>
            <a:r>
              <a:rPr lang="en-US" altLang="zh-CN" sz="2400" dirty="0" smtClean="0"/>
              <a:t>)</a:t>
            </a:r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{	//</a:t>
            </a:r>
            <a:r>
              <a:rPr lang="zh-CN" altLang="en-US" sz="2400" dirty="0" smtClean="0"/>
              <a:t>交换</a:t>
            </a:r>
            <a:r>
              <a:rPr lang="en-US" altLang="zh-CN" sz="2400" dirty="0" err="1" smtClean="0"/>
              <a:t>px</a:t>
            </a:r>
            <a:r>
              <a:rPr lang="zh-CN" altLang="en-US" sz="2400" dirty="0" smtClean="0"/>
              <a:t>和</a:t>
            </a:r>
            <a:r>
              <a:rPr lang="en-US" altLang="zh-CN" sz="2400" dirty="0" err="1" smtClean="0"/>
              <a:t>py</a:t>
            </a:r>
            <a:r>
              <a:rPr lang="zh-CN" altLang="en-US" sz="2400" dirty="0" smtClean="0"/>
              <a:t>所指向的变量的值。</a:t>
            </a:r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zh-CN" altLang="en-US" sz="2400" dirty="0" smtClean="0"/>
              <a:t>	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t=*</a:t>
            </a:r>
            <a:r>
              <a:rPr lang="en-US" altLang="zh-CN" sz="2400" dirty="0" err="1" smtClean="0"/>
              <a:t>px</a:t>
            </a:r>
            <a:r>
              <a:rPr lang="en-US" altLang="zh-CN" sz="2400" dirty="0" smtClean="0"/>
              <a:t>;</a:t>
            </a:r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	*</a:t>
            </a:r>
            <a:r>
              <a:rPr lang="en-US" altLang="zh-CN" sz="2400" dirty="0" err="1" smtClean="0"/>
              <a:t>px</a:t>
            </a:r>
            <a:r>
              <a:rPr lang="en-US" altLang="zh-CN" sz="2400" dirty="0" smtClean="0"/>
              <a:t> = *</a:t>
            </a:r>
            <a:r>
              <a:rPr lang="en-US" altLang="zh-CN" sz="2400" dirty="0" err="1" smtClean="0"/>
              <a:t>py</a:t>
            </a:r>
            <a:r>
              <a:rPr lang="en-US" altLang="zh-CN" sz="2400" dirty="0" smtClean="0"/>
              <a:t>;</a:t>
            </a:r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	*</a:t>
            </a:r>
            <a:r>
              <a:rPr lang="en-US" altLang="zh-CN" sz="2400" dirty="0" err="1" smtClean="0"/>
              <a:t>py</a:t>
            </a:r>
            <a:r>
              <a:rPr lang="en-US" altLang="zh-CN" sz="2400" dirty="0" smtClean="0"/>
              <a:t> = t;</a:t>
            </a:r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}</a:t>
            </a:r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main()</a:t>
            </a:r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{	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a=0,b=1;</a:t>
            </a:r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	swap(</a:t>
            </a:r>
            <a:r>
              <a:rPr lang="en-US" altLang="zh-CN" sz="2400" dirty="0" smtClean="0">
                <a:solidFill>
                  <a:schemeClr val="folHlink"/>
                </a:solidFill>
              </a:rPr>
              <a:t>&amp;</a:t>
            </a:r>
            <a:r>
              <a:rPr lang="en-US" altLang="zh-CN" sz="2400" dirty="0" err="1" smtClean="0">
                <a:solidFill>
                  <a:schemeClr val="folHlink"/>
                </a:solidFill>
              </a:rPr>
              <a:t>a</a:t>
            </a:r>
            <a:r>
              <a:rPr lang="en-US" altLang="zh-CN" sz="2400" dirty="0" err="1" smtClean="0"/>
              <a:t>,</a:t>
            </a:r>
            <a:r>
              <a:rPr lang="en-US" altLang="zh-CN" sz="2400" dirty="0" err="1" smtClean="0">
                <a:solidFill>
                  <a:schemeClr val="folHlink"/>
                </a:solidFill>
              </a:rPr>
              <a:t>&amp;b</a:t>
            </a:r>
            <a:r>
              <a:rPr lang="en-US" altLang="zh-CN" sz="2400" dirty="0" smtClean="0"/>
              <a:t>);  </a:t>
            </a:r>
            <a:r>
              <a:rPr lang="en-US" altLang="zh-CN" sz="1800" dirty="0" smtClean="0"/>
              <a:t>//</a:t>
            </a:r>
            <a:r>
              <a:rPr lang="zh-CN" altLang="en-US" sz="1800" dirty="0" smtClean="0"/>
              <a:t>把变量</a:t>
            </a:r>
            <a:r>
              <a:rPr lang="en-US" altLang="zh-CN" sz="1800" dirty="0" smtClean="0"/>
              <a:t>a</a:t>
            </a:r>
            <a:r>
              <a:rPr lang="zh-CN" altLang="en-US" sz="1800" dirty="0" smtClean="0"/>
              <a:t>和</a:t>
            </a:r>
            <a:r>
              <a:rPr lang="en-US" altLang="zh-CN" sz="1800" dirty="0" smtClean="0"/>
              <a:t>b</a:t>
            </a:r>
            <a:r>
              <a:rPr lang="zh-CN" altLang="en-US" sz="1800" dirty="0" smtClean="0"/>
              <a:t>的地址传给函数</a:t>
            </a:r>
            <a:r>
              <a:rPr lang="en-US" altLang="zh-CN" sz="1800" dirty="0" smtClean="0"/>
              <a:t>swap</a:t>
            </a:r>
            <a:r>
              <a:rPr lang="zh-CN" altLang="en-US" sz="1800" dirty="0" smtClean="0"/>
              <a:t>的形参</a:t>
            </a:r>
            <a:r>
              <a:rPr lang="en-US" altLang="zh-CN" sz="1800" dirty="0" err="1" smtClean="0"/>
              <a:t>px</a:t>
            </a:r>
            <a:r>
              <a:rPr lang="zh-CN" altLang="en-US" sz="1800" dirty="0" smtClean="0"/>
              <a:t>和</a:t>
            </a:r>
            <a:r>
              <a:rPr lang="en-US" altLang="zh-CN" sz="1800" dirty="0" err="1" smtClean="0"/>
              <a:t>py</a:t>
            </a:r>
            <a:r>
              <a:rPr lang="zh-CN" altLang="en-US" sz="1800" dirty="0" smtClean="0"/>
              <a:t>。</a:t>
            </a:r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zh-CN" altLang="en-US" sz="2400" dirty="0" smtClean="0"/>
              <a:t>	</a:t>
            </a:r>
            <a:r>
              <a:rPr lang="en-US" altLang="zh-CN" sz="2400" dirty="0" err="1" smtClean="0"/>
              <a:t>cout</a:t>
            </a:r>
            <a:r>
              <a:rPr lang="en-US" altLang="zh-CN" sz="2400" dirty="0" smtClean="0"/>
              <a:t> &lt;&lt; "a=" &lt;&lt; a &lt;&lt; ",b=" &lt;&lt; b &lt;&lt; </a:t>
            </a:r>
            <a:r>
              <a:rPr lang="en-US" altLang="zh-CN" sz="2400" dirty="0" err="1" smtClean="0"/>
              <a:t>endl</a:t>
            </a:r>
            <a:r>
              <a:rPr lang="en-US" altLang="zh-CN" sz="2400" dirty="0" smtClean="0"/>
              <a:t>;</a:t>
            </a:r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	return 0;</a:t>
            </a:r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}</a:t>
            </a:r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zh-CN" altLang="en-US" sz="2400" dirty="0" smtClean="0"/>
              <a:t>输出：</a:t>
            </a:r>
            <a:r>
              <a:rPr lang="en-US" altLang="zh-CN" sz="2400" dirty="0" smtClean="0"/>
              <a:t>a=1,b=0</a:t>
            </a:r>
          </a:p>
        </p:txBody>
      </p:sp>
    </p:spTree>
    <p:extLst>
      <p:ext uri="{BB962C8B-B14F-4D97-AF65-F5344CB8AC3E}">
        <p14:creationId xmlns:p14="http://schemas.microsoft.com/office/powerpoint/2010/main" val="1589340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88913"/>
            <a:ext cx="77724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 </a:t>
            </a:r>
          </a:p>
        </p:txBody>
      </p:sp>
      <p:sp>
        <p:nvSpPr>
          <p:cNvPr id="415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0175" y="260648"/>
            <a:ext cx="8763000" cy="6408712"/>
          </a:xfrm>
        </p:spPr>
        <p:txBody>
          <a:bodyPr>
            <a:normAutofit fontScale="85000" lnSpcReduction="20000"/>
          </a:bodyPr>
          <a:lstStyle/>
          <a:p>
            <a:pPr defTabSz="441325" eaLnBrk="1" hangingPunct="1">
              <a:lnSpc>
                <a:spcPct val="110000"/>
              </a:lnSpc>
              <a:defRPr/>
            </a:pPr>
            <a:r>
              <a:rPr lang="zh-CN" altLang="en-US" sz="3100" dirty="0" smtClean="0"/>
              <a:t>通过结构类型的指针</a:t>
            </a:r>
            <a:r>
              <a:rPr lang="zh-CN" altLang="en-US" sz="3100" dirty="0"/>
              <a:t>参数</a:t>
            </a:r>
            <a:r>
              <a:rPr lang="zh-CN" altLang="en-US" sz="3100" dirty="0" smtClean="0"/>
              <a:t>带出计算结果</a:t>
            </a:r>
            <a:endParaRPr lang="en-US" altLang="zh-CN" sz="3100" dirty="0" smtClean="0"/>
          </a:p>
          <a:p>
            <a:pPr marL="457200" lvl="1" indent="0" defTabSz="441325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err="1"/>
              <a:t>struct</a:t>
            </a:r>
            <a:r>
              <a:rPr lang="en-US" altLang="zh-CN" sz="2400" dirty="0"/>
              <a:t> A</a:t>
            </a:r>
          </a:p>
          <a:p>
            <a:pPr marL="457200" lvl="1" indent="0" defTabSz="441325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/>
              <a:t>{	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no;</a:t>
            </a:r>
          </a:p>
          <a:p>
            <a:pPr marL="457200" lvl="1" indent="0" defTabSz="441325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/>
              <a:t>	char name[20];</a:t>
            </a:r>
          </a:p>
          <a:p>
            <a:pPr marL="457200" lvl="1" indent="0" defTabSz="441325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/>
              <a:t>	......</a:t>
            </a:r>
          </a:p>
          <a:p>
            <a:pPr marL="457200" lvl="1" indent="0" defTabSz="441325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/>
              <a:t>};</a:t>
            </a:r>
          </a:p>
          <a:p>
            <a:pPr marL="457200" lvl="1" indent="0" defTabSz="441325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/>
              <a:t>void </a:t>
            </a:r>
            <a:r>
              <a:rPr lang="en-US" altLang="zh-CN" sz="2400" dirty="0" err="1" smtClean="0"/>
              <a:t>input_data</a:t>
            </a:r>
            <a:r>
              <a:rPr lang="en-US" altLang="zh-CN" sz="2400" dirty="0" smtClean="0"/>
              <a:t>(A </a:t>
            </a:r>
            <a:r>
              <a:rPr lang="en-US" altLang="zh-CN" sz="2400" dirty="0"/>
              <a:t>*p) //p</a:t>
            </a:r>
            <a:r>
              <a:rPr lang="zh-CN" altLang="en-US" sz="2400" dirty="0"/>
              <a:t>为指向结构类型的指针</a:t>
            </a:r>
          </a:p>
          <a:p>
            <a:pPr marL="457200" lvl="1" indent="0" defTabSz="441325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/>
              <a:t>{	</a:t>
            </a:r>
            <a:r>
              <a:rPr lang="en-US" altLang="zh-CN" sz="2400" dirty="0" err="1" smtClean="0"/>
              <a:t>cin</a:t>
            </a:r>
            <a:r>
              <a:rPr lang="en-US" altLang="zh-CN" sz="2400" dirty="0" smtClean="0"/>
              <a:t> &gt;&gt; p-&gt;no;</a:t>
            </a:r>
          </a:p>
          <a:p>
            <a:pPr marL="457200" lvl="1" indent="0" defTabSz="441325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err="1" smtClean="0"/>
              <a:t>cin</a:t>
            </a:r>
            <a:r>
              <a:rPr lang="en-US" altLang="zh-CN" sz="2400" dirty="0" smtClean="0"/>
              <a:t> &gt;&gt; p-&gt;name;</a:t>
            </a:r>
            <a:endParaRPr lang="en-US" altLang="zh-CN" sz="2400" dirty="0"/>
          </a:p>
          <a:p>
            <a:pPr marL="457200" lvl="1" indent="0" defTabSz="441325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/>
              <a:t>	......</a:t>
            </a:r>
          </a:p>
          <a:p>
            <a:pPr marL="457200" lvl="1" indent="0" defTabSz="441325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/>
              <a:t>}</a:t>
            </a:r>
          </a:p>
          <a:p>
            <a:pPr marL="457200" lvl="1" indent="0" defTabSz="441325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......</a:t>
            </a:r>
          </a:p>
          <a:p>
            <a:pPr marL="457200" lvl="1" indent="0" defTabSz="441325" eaLnBrk="1" hangingPunct="1">
              <a:lnSpc>
                <a:spcPct val="90000"/>
              </a:lnSpc>
              <a:buNone/>
              <a:defRPr/>
            </a:pPr>
            <a:r>
              <a:rPr lang="en-US" altLang="zh-CN" sz="2400" dirty="0" smtClean="0"/>
              <a:t>A </a:t>
            </a:r>
            <a:r>
              <a:rPr lang="en-US" altLang="zh-CN" sz="2400" dirty="0" err="1" smtClean="0"/>
              <a:t>a</a:t>
            </a:r>
            <a:r>
              <a:rPr lang="en-US" altLang="zh-CN" sz="2400" dirty="0" smtClean="0"/>
              <a:t>;</a:t>
            </a:r>
          </a:p>
          <a:p>
            <a:pPr marL="457200" lvl="1" indent="0" defTabSz="441325" eaLnBrk="1" hangingPunct="1">
              <a:lnSpc>
                <a:spcPct val="110000"/>
              </a:lnSpc>
              <a:buNone/>
              <a:defRPr/>
            </a:pPr>
            <a:r>
              <a:rPr lang="en-US" altLang="zh-CN" sz="2400" dirty="0" err="1" smtClean="0"/>
              <a:t>input_data</a:t>
            </a:r>
            <a:r>
              <a:rPr lang="en-US" altLang="zh-CN" sz="2400" dirty="0" smtClean="0"/>
              <a:t>(&amp;a); //</a:t>
            </a:r>
            <a:r>
              <a:rPr lang="zh-CN" altLang="en-US" sz="2400" dirty="0" smtClean="0"/>
              <a:t>调用函数</a:t>
            </a:r>
            <a:r>
              <a:rPr lang="en-US" altLang="zh-CN" sz="2400" dirty="0" err="1" smtClean="0"/>
              <a:t>input_data</a:t>
            </a:r>
            <a:r>
              <a:rPr lang="zh-CN" altLang="en-US" sz="2400" dirty="0" smtClean="0"/>
              <a:t>获得结构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的数据</a:t>
            </a:r>
            <a:endParaRPr lang="en-US" altLang="zh-CN" sz="2400" dirty="0" smtClean="0"/>
          </a:p>
          <a:p>
            <a:pPr defTabSz="441325" eaLnBrk="1" hangingPunct="1">
              <a:lnSpc>
                <a:spcPct val="110000"/>
              </a:lnSpc>
              <a:defRPr/>
            </a:pPr>
            <a:r>
              <a:rPr lang="zh-CN" altLang="en-US" sz="3100" dirty="0" smtClean="0"/>
              <a:t>通过数组类型的形参带出计算结果</a:t>
            </a:r>
            <a:endParaRPr lang="en-US" altLang="zh-CN" sz="3100" dirty="0" smtClean="0"/>
          </a:p>
          <a:p>
            <a:pPr marL="457200" lvl="1" indent="0" defTabSz="441325" eaLnBrk="1" hangingPunct="1">
              <a:lnSpc>
                <a:spcPct val="110000"/>
              </a:lnSpc>
              <a:buNone/>
              <a:defRPr/>
            </a:pPr>
            <a:r>
              <a:rPr lang="en-US" altLang="zh-CN" sz="2400" dirty="0" smtClean="0"/>
              <a:t>void sort(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x[],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n); //</a:t>
            </a:r>
            <a:r>
              <a:rPr lang="zh-CN" altLang="en-US" sz="2400" dirty="0" smtClean="0"/>
              <a:t>数组默认传递的就是其内存首地址</a:t>
            </a:r>
            <a:endParaRPr lang="en-US" altLang="zh-CN" sz="2400" dirty="0" smtClean="0"/>
          </a:p>
          <a:p>
            <a:pPr marL="457200" lvl="1" indent="0" defTabSz="441325" eaLnBrk="1" hangingPunct="1">
              <a:lnSpc>
                <a:spcPct val="110000"/>
              </a:lnSpc>
              <a:buNone/>
              <a:defRPr/>
            </a:pPr>
            <a:r>
              <a:rPr lang="en-US" altLang="zh-CN" sz="2400" dirty="0" smtClean="0"/>
              <a:t>......</a:t>
            </a:r>
          </a:p>
          <a:p>
            <a:pPr marL="457200" lvl="1" indent="0" defTabSz="441325" eaLnBrk="1" hangingPunct="1">
              <a:lnSpc>
                <a:spcPct val="110000"/>
              </a:lnSpc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a[10];</a:t>
            </a:r>
          </a:p>
          <a:p>
            <a:pPr marL="457200" lvl="1" indent="0" defTabSz="441325" eaLnBrk="1" hangingPunct="1">
              <a:lnSpc>
                <a:spcPct val="110000"/>
              </a:lnSpc>
              <a:buNone/>
              <a:defRPr/>
            </a:pPr>
            <a:r>
              <a:rPr lang="en-US" altLang="zh-CN" sz="2400" dirty="0" smtClean="0"/>
              <a:t>......</a:t>
            </a:r>
          </a:p>
          <a:p>
            <a:pPr marL="457200" lvl="1" indent="0" defTabSz="441325" eaLnBrk="1" hangingPunct="1">
              <a:lnSpc>
                <a:spcPct val="110000"/>
              </a:lnSpc>
              <a:buNone/>
              <a:defRPr/>
            </a:pPr>
            <a:r>
              <a:rPr lang="en-US" altLang="zh-CN" sz="2400" dirty="0" smtClean="0"/>
              <a:t>sort(a,10); //</a:t>
            </a:r>
            <a:r>
              <a:rPr lang="zh-CN" altLang="en-US" sz="2400" dirty="0" smtClean="0"/>
              <a:t>把</a:t>
            </a:r>
            <a:r>
              <a:rPr lang="en-US" altLang="zh-CN" sz="2400" dirty="0" smtClean="0"/>
              <a:t>sort</a:t>
            </a:r>
            <a:r>
              <a:rPr lang="zh-CN" altLang="en-US" sz="2400" dirty="0" smtClean="0"/>
              <a:t>的排序结果通过形参</a:t>
            </a:r>
            <a:r>
              <a:rPr lang="en-US" altLang="zh-CN" sz="2400" dirty="0" smtClean="0"/>
              <a:t>x</a:t>
            </a:r>
            <a:r>
              <a:rPr lang="zh-CN" altLang="en-US" sz="2400" dirty="0" smtClean="0"/>
              <a:t>带出给</a:t>
            </a:r>
            <a:r>
              <a:rPr lang="en-US" altLang="zh-CN" sz="2400" dirty="0" smtClean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927324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 smtClean="0"/>
              <a:t>避免指针参数带来不必要的副作用</a:t>
            </a:r>
          </a:p>
        </p:txBody>
      </p:sp>
      <p:sp>
        <p:nvSpPr>
          <p:cNvPr id="419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680" y="1268760"/>
            <a:ext cx="8686800" cy="5472608"/>
          </a:xfrm>
        </p:spPr>
        <p:txBody>
          <a:bodyPr>
            <a:normAutofit fontScale="77500" lnSpcReduction="20000"/>
          </a:bodyPr>
          <a:lstStyle/>
          <a:p>
            <a:pPr algn="just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通过指针类型的形参可以改变实参的值，从而可能导致</a:t>
            </a:r>
            <a:r>
              <a:rPr lang="zh-CN" altLang="en-US" dirty="0" smtClean="0">
                <a:solidFill>
                  <a:srgbClr val="FFC000"/>
                </a:solidFill>
              </a:rPr>
              <a:t>未预料的</a:t>
            </a:r>
            <a:r>
              <a:rPr lang="zh-CN" altLang="en-US" dirty="0" smtClean="0"/>
              <a:t>函数副作用。</a:t>
            </a:r>
            <a:endParaRPr lang="en-US" altLang="zh-CN" dirty="0" smtClean="0"/>
          </a:p>
          <a:p>
            <a:pPr marL="457200" lvl="1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f(</a:t>
            </a:r>
            <a:r>
              <a:rPr lang="en-US" altLang="zh-CN" dirty="0" err="1"/>
              <a:t>int</a:t>
            </a:r>
            <a:r>
              <a:rPr lang="en-US" altLang="zh-CN" dirty="0"/>
              <a:t> *p)</a:t>
            </a:r>
          </a:p>
          <a:p>
            <a:pPr marL="457200" lvl="1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{   </a:t>
            </a:r>
            <a:r>
              <a:rPr lang="en-US" altLang="zh-CN" dirty="0" err="1"/>
              <a:t>int</a:t>
            </a:r>
            <a:r>
              <a:rPr lang="en-US" altLang="zh-CN" dirty="0"/>
              <a:t> y = (*p)*2; //</a:t>
            </a:r>
            <a:r>
              <a:rPr lang="zh-CN" altLang="en-US" dirty="0"/>
              <a:t>使用</a:t>
            </a:r>
            <a:r>
              <a:rPr lang="en-US" altLang="zh-CN" dirty="0"/>
              <a:t>p</a:t>
            </a:r>
            <a:r>
              <a:rPr lang="zh-CN" altLang="en-US" dirty="0"/>
              <a:t>指向的值</a:t>
            </a:r>
          </a:p>
          <a:p>
            <a:pPr marL="457200" lvl="1" indent="0" algn="just" eaLnBrk="1" hangingPunct="1">
              <a:lnSpc>
                <a:spcPct val="120000"/>
              </a:lnSpc>
              <a:buNone/>
              <a:defRPr/>
            </a:pPr>
            <a:r>
              <a:rPr lang="zh-CN" altLang="en-US" dirty="0"/>
              <a:t>	</a:t>
            </a:r>
            <a:r>
              <a:rPr lang="en-US" altLang="zh-CN" dirty="0" smtClean="0"/>
              <a:t>......</a:t>
            </a:r>
            <a:endParaRPr lang="zh-CN" altLang="en-US" dirty="0">
              <a:solidFill>
                <a:srgbClr val="FFC000"/>
              </a:solidFill>
            </a:endParaRPr>
          </a:p>
          <a:p>
            <a:pPr marL="457200" lvl="1" indent="0" algn="just" eaLnBrk="1" hangingPunct="1">
              <a:lnSpc>
                <a:spcPct val="120000"/>
              </a:lnSpc>
              <a:buNone/>
              <a:defRPr/>
            </a:pPr>
            <a:r>
              <a:rPr lang="zh-CN" altLang="en-US" dirty="0"/>
              <a:t>	</a:t>
            </a:r>
            <a:r>
              <a:rPr lang="en-US" altLang="zh-CN" dirty="0"/>
              <a:t>return y;</a:t>
            </a:r>
          </a:p>
          <a:p>
            <a:pPr marL="457200" lvl="1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}</a:t>
            </a:r>
          </a:p>
          <a:p>
            <a:pPr marL="457200" lvl="1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</a:p>
          <a:p>
            <a:pPr marL="457200" lvl="1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{   </a:t>
            </a:r>
            <a:r>
              <a:rPr lang="en-US" altLang="zh-CN" dirty="0" err="1"/>
              <a:t>int</a:t>
            </a:r>
            <a:r>
              <a:rPr lang="en-US" altLang="zh-CN" dirty="0"/>
              <a:t> x=10;</a:t>
            </a:r>
          </a:p>
          <a:p>
            <a:pPr marL="457200" lvl="1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</a:t>
            </a:r>
            <a:r>
              <a:rPr lang="en-US" altLang="zh-CN" dirty="0" smtClean="0"/>
              <a:t>f</a:t>
            </a:r>
            <a:r>
              <a:rPr lang="en-US" altLang="zh-CN" dirty="0"/>
              <a:t>(&amp;x</a:t>
            </a:r>
            <a:r>
              <a:rPr lang="en-US" altLang="zh-CN" dirty="0" smtClean="0"/>
              <a:t>)</a:t>
            </a:r>
            <a:r>
              <a:rPr lang="en-US" altLang="zh-CN" dirty="0"/>
              <a:t> +</a:t>
            </a:r>
            <a:r>
              <a:rPr lang="en-US" altLang="zh-CN" dirty="0" smtClean="0"/>
              <a:t> x </a:t>
            </a:r>
            <a:r>
              <a:rPr lang="en-US" altLang="zh-CN" dirty="0"/>
              <a:t>&lt;&lt; </a:t>
            </a:r>
            <a:r>
              <a:rPr lang="en-US" altLang="zh-CN" dirty="0" err="1"/>
              <a:t>endl</a:t>
            </a:r>
            <a:r>
              <a:rPr lang="en-US" altLang="zh-CN" dirty="0"/>
              <a:t>; //</a:t>
            </a:r>
            <a:r>
              <a:rPr lang="zh-CN" altLang="en-US" dirty="0"/>
              <a:t>输出</a:t>
            </a:r>
            <a:r>
              <a:rPr lang="zh-CN" altLang="en-US" dirty="0" smtClean="0"/>
              <a:t>：</a:t>
            </a:r>
            <a:r>
              <a:rPr lang="en-US" altLang="zh-CN" sz="2600" dirty="0" smtClean="0"/>
              <a:t>30?</a:t>
            </a:r>
            <a:endParaRPr lang="en-US" altLang="zh-CN" sz="2600" dirty="0"/>
          </a:p>
          <a:p>
            <a:pPr marL="457200" lvl="1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	return 0;</a:t>
            </a:r>
          </a:p>
          <a:p>
            <a:pPr marL="457200" lvl="1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dirty="0" smtClean="0"/>
              <a:t>}</a:t>
            </a:r>
          </a:p>
          <a:p>
            <a:pPr algn="just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如何避免</a:t>
            </a:r>
            <a:r>
              <a:rPr lang="zh-CN" altLang="en-US" dirty="0"/>
              <a:t>指针参数带来</a:t>
            </a:r>
            <a:r>
              <a:rPr lang="zh-CN" altLang="en-US" dirty="0" smtClean="0"/>
              <a:t>的</a:t>
            </a:r>
            <a:r>
              <a:rPr lang="zh-CN" altLang="en-US" dirty="0"/>
              <a:t>未预料</a:t>
            </a:r>
            <a:r>
              <a:rPr lang="zh-CN" altLang="en-US" dirty="0" smtClean="0"/>
              <a:t>的副作用？</a:t>
            </a:r>
            <a:endParaRPr lang="en-US" altLang="zh-CN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1115616" y="2924944"/>
            <a:ext cx="6276077" cy="40011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algn="just"/>
            <a:r>
              <a:rPr lang="en-US" altLang="zh-CN" sz="2000" b="0" dirty="0"/>
              <a:t>(*p)++; //</a:t>
            </a:r>
            <a:r>
              <a:rPr lang="zh-CN" altLang="en-US" sz="2000" b="0" dirty="0">
                <a:solidFill>
                  <a:srgbClr val="FFC000"/>
                </a:solidFill>
              </a:rPr>
              <a:t>改变了</a:t>
            </a:r>
            <a:r>
              <a:rPr lang="en-US" altLang="zh-CN" sz="2000" b="0" dirty="0">
                <a:solidFill>
                  <a:srgbClr val="FFC000"/>
                </a:solidFill>
              </a:rPr>
              <a:t>p</a:t>
            </a:r>
            <a:r>
              <a:rPr lang="zh-CN" altLang="en-US" sz="2000" b="0" dirty="0">
                <a:solidFill>
                  <a:srgbClr val="FFC000"/>
                </a:solidFill>
              </a:rPr>
              <a:t>指向的</a:t>
            </a:r>
            <a:r>
              <a:rPr lang="zh-CN" altLang="en-US" sz="2000" b="0" dirty="0" smtClean="0">
                <a:solidFill>
                  <a:srgbClr val="FFC000"/>
                </a:solidFill>
              </a:rPr>
              <a:t>值，导致实参</a:t>
            </a:r>
            <a:r>
              <a:rPr lang="en-US" altLang="zh-CN" sz="2000" b="0" dirty="0" smtClean="0">
                <a:solidFill>
                  <a:srgbClr val="FFC000"/>
                </a:solidFill>
              </a:rPr>
              <a:t>x</a:t>
            </a:r>
            <a:r>
              <a:rPr lang="zh-CN" altLang="en-US" sz="2000" b="0" dirty="0" smtClean="0">
                <a:solidFill>
                  <a:srgbClr val="FFC000"/>
                </a:solidFill>
              </a:rPr>
              <a:t>的被改变！</a:t>
            </a:r>
            <a:endParaRPr lang="zh-CN" altLang="en-US" sz="2000" b="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08104" y="4941168"/>
            <a:ext cx="1973617" cy="40011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algn="just"/>
            <a:r>
              <a:rPr lang="zh-CN" altLang="en-US" sz="2000" b="0" dirty="0" smtClean="0">
                <a:solidFill>
                  <a:srgbClr val="FFC000"/>
                </a:solidFill>
              </a:rPr>
              <a:t>可能输出：</a:t>
            </a:r>
            <a:r>
              <a:rPr lang="en-US" altLang="zh-CN" sz="2000" b="0" dirty="0" smtClean="0">
                <a:solidFill>
                  <a:srgbClr val="FFC000"/>
                </a:solidFill>
              </a:rPr>
              <a:t>31  </a:t>
            </a:r>
            <a:endParaRPr lang="zh-CN" altLang="en-US" sz="2000" b="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47512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98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98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指向常量的指针</a:t>
            </a:r>
          </a:p>
        </p:txBody>
      </p:sp>
      <p:sp>
        <p:nvSpPr>
          <p:cNvPr id="420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800" dirty="0" err="1" smtClean="0">
                <a:solidFill>
                  <a:srgbClr val="FFC000"/>
                </a:solidFill>
              </a:rPr>
              <a:t>const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*p; //p</a:t>
            </a:r>
            <a:r>
              <a:rPr lang="zh-CN" altLang="en-US" sz="2800" dirty="0" smtClean="0"/>
              <a:t>为</a:t>
            </a:r>
            <a:r>
              <a:rPr lang="zh-CN" altLang="en-US" sz="2800" dirty="0" smtClean="0">
                <a:solidFill>
                  <a:schemeClr val="folHlink"/>
                </a:solidFill>
              </a:rPr>
              <a:t>指向常量的</a:t>
            </a:r>
            <a:r>
              <a:rPr lang="zh-CN" altLang="en-US" sz="2800" dirty="0" smtClean="0"/>
              <a:t>指针变量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*q;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800" dirty="0" err="1" smtClean="0"/>
              <a:t>const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x=0;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y;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p = &amp;x;  //OK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*p = 1;  //</a:t>
            </a:r>
            <a:r>
              <a:rPr lang="en-US" altLang="zh-CN" sz="2800" dirty="0" smtClean="0">
                <a:solidFill>
                  <a:srgbClr val="FFC000"/>
                </a:solidFill>
              </a:rPr>
              <a:t>Error</a:t>
            </a:r>
            <a:r>
              <a:rPr lang="zh-CN" altLang="en-US" sz="2800" dirty="0" smtClean="0">
                <a:solidFill>
                  <a:srgbClr val="FFC000"/>
                </a:solidFill>
              </a:rPr>
              <a:t>，</a:t>
            </a:r>
            <a:r>
              <a:rPr lang="en-US" altLang="zh-CN" sz="2800" dirty="0" smtClean="0">
                <a:solidFill>
                  <a:srgbClr val="FFC000"/>
                </a:solidFill>
              </a:rPr>
              <a:t>p</a:t>
            </a:r>
            <a:r>
              <a:rPr lang="zh-CN" altLang="en-US" sz="2800" dirty="0" smtClean="0">
                <a:solidFill>
                  <a:srgbClr val="FFC000"/>
                </a:solidFill>
              </a:rPr>
              <a:t>指向的是常量，值不能变</a:t>
            </a:r>
            <a:endParaRPr lang="en-US" altLang="zh-CN" sz="2800" dirty="0" smtClean="0">
              <a:solidFill>
                <a:srgbClr val="FFC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q = &amp;y; //OK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*q = 1; //OK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q = &amp;x; //</a:t>
            </a:r>
            <a:r>
              <a:rPr lang="en-US" altLang="zh-CN" sz="2800" dirty="0" smtClean="0">
                <a:solidFill>
                  <a:srgbClr val="FFC000"/>
                </a:solidFill>
              </a:rPr>
              <a:t>Error</a:t>
            </a:r>
            <a:r>
              <a:rPr lang="zh-CN" altLang="en-US" sz="2800" dirty="0" smtClean="0">
                <a:solidFill>
                  <a:srgbClr val="FFC000"/>
                </a:solidFill>
              </a:rPr>
              <a:t>，会导致改变常量的值（通过</a:t>
            </a:r>
            <a:r>
              <a:rPr lang="en-US" altLang="zh-CN" sz="2800" dirty="0" smtClean="0">
                <a:solidFill>
                  <a:srgbClr val="FFC000"/>
                </a:solidFill>
              </a:rPr>
              <a:t>q</a:t>
            </a:r>
            <a:r>
              <a:rPr lang="zh-CN" altLang="en-US" sz="2800" dirty="0" smtClean="0">
                <a:solidFill>
                  <a:srgbClr val="FFC000"/>
                </a:solidFill>
              </a:rPr>
              <a:t>）</a:t>
            </a:r>
            <a:endParaRPr lang="en-US" altLang="zh-CN" sz="2800" dirty="0" smtClean="0">
              <a:solidFill>
                <a:srgbClr val="FFC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p = &amp;y; //</a:t>
            </a:r>
            <a:r>
              <a:rPr lang="en-US" altLang="zh-CN" sz="2800" dirty="0" smtClean="0">
                <a:solidFill>
                  <a:schemeClr val="folHlink"/>
                </a:solidFill>
              </a:rPr>
              <a:t>?</a:t>
            </a:r>
          </a:p>
        </p:txBody>
      </p:sp>
      <p:sp>
        <p:nvSpPr>
          <p:cNvPr id="106500" name="Text Box 4"/>
          <p:cNvSpPr txBox="1">
            <a:spLocks noChangeArrowheads="1"/>
          </p:cNvSpPr>
          <p:nvPr/>
        </p:nvSpPr>
        <p:spPr bwMode="auto">
          <a:xfrm>
            <a:off x="2411760" y="5419725"/>
            <a:ext cx="5323893" cy="4616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  <a:extLst/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0" dirty="0" smtClean="0"/>
              <a:t>OK</a:t>
            </a:r>
            <a:r>
              <a:rPr lang="zh-CN" altLang="en-US" sz="2400" b="0" dirty="0" smtClean="0"/>
              <a:t>，只是不能通过</a:t>
            </a:r>
            <a:r>
              <a:rPr lang="en-US" altLang="zh-CN" sz="2400" b="0" dirty="0" smtClean="0"/>
              <a:t>p</a:t>
            </a:r>
            <a:r>
              <a:rPr lang="zh-CN" altLang="en-US" sz="2400" b="0" dirty="0" smtClean="0"/>
              <a:t>来改变</a:t>
            </a:r>
            <a:r>
              <a:rPr lang="en-US" altLang="zh-CN" sz="2400" b="0" dirty="0" smtClean="0"/>
              <a:t>y</a:t>
            </a:r>
            <a:r>
              <a:rPr lang="zh-CN" altLang="en-US" sz="2400" b="0" dirty="0" smtClean="0"/>
              <a:t>的值而已</a:t>
            </a:r>
            <a:endParaRPr lang="en-US" altLang="zh-CN" sz="24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0825" y="1340768"/>
            <a:ext cx="8686800" cy="5300662"/>
          </a:xfrm>
        </p:spPr>
        <p:txBody>
          <a:bodyPr>
            <a:normAutofit/>
          </a:bodyPr>
          <a:lstStyle/>
          <a:p>
            <a:pPr marL="357188" indent="-357188" algn="just"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把形参定义为指向常量的指针，可以实现在函数中只能使用传进来的数据，但不能修改它！</a:t>
            </a:r>
            <a:endParaRPr lang="en-US" altLang="zh-CN" sz="2800" dirty="0" smtClean="0"/>
          </a:p>
          <a:p>
            <a:pPr marL="357188" indent="-357188" algn="just"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例如：</a:t>
            </a:r>
            <a:endParaRPr lang="en-US" altLang="zh-CN" sz="2800" dirty="0" smtClean="0"/>
          </a:p>
          <a:p>
            <a:pPr marL="457200" lvl="1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smtClean="0"/>
              <a:t>f(</a:t>
            </a:r>
            <a:r>
              <a:rPr lang="en-US" altLang="zh-CN" dirty="0" err="1" smtClean="0">
                <a:solidFill>
                  <a:srgbClr val="FFC000"/>
                </a:solidFill>
              </a:rPr>
              <a:t>const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*p)</a:t>
            </a:r>
          </a:p>
          <a:p>
            <a:pPr marL="457200" lvl="1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{ 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y = </a:t>
            </a:r>
            <a:r>
              <a:rPr lang="en-US" altLang="zh-CN" dirty="0">
                <a:solidFill>
                  <a:srgbClr val="FFC000"/>
                </a:solidFill>
              </a:rPr>
              <a:t>(*p)</a:t>
            </a:r>
            <a:r>
              <a:rPr lang="en-US" altLang="zh-CN" dirty="0"/>
              <a:t>*2; //</a:t>
            </a:r>
            <a:r>
              <a:rPr lang="zh-CN" altLang="en-US" dirty="0"/>
              <a:t>使用</a:t>
            </a:r>
            <a:r>
              <a:rPr lang="en-US" altLang="zh-CN" dirty="0"/>
              <a:t>p</a:t>
            </a:r>
            <a:r>
              <a:rPr lang="zh-CN" altLang="en-US" dirty="0"/>
              <a:t>指向的值</a:t>
            </a:r>
          </a:p>
          <a:p>
            <a:pPr marL="457200" lvl="1" indent="0" algn="just" eaLnBrk="1" hangingPunct="1">
              <a:lnSpc>
                <a:spcPct val="120000"/>
              </a:lnSpc>
              <a:buNone/>
              <a:defRPr/>
            </a:pPr>
            <a:r>
              <a:rPr lang="zh-CN" altLang="en-US" dirty="0"/>
              <a:t>	</a:t>
            </a:r>
            <a:r>
              <a:rPr lang="en-US" altLang="zh-CN" dirty="0">
                <a:solidFill>
                  <a:srgbClr val="FFC000"/>
                </a:solidFill>
              </a:rPr>
              <a:t>(*p)</a:t>
            </a:r>
            <a:r>
              <a:rPr lang="en-US" altLang="zh-CN" dirty="0"/>
              <a:t>++; </a:t>
            </a:r>
            <a:r>
              <a:rPr lang="en-US" altLang="zh-CN" dirty="0" smtClean="0"/>
              <a:t>//</a:t>
            </a:r>
            <a:r>
              <a:rPr lang="en-US" altLang="zh-CN" dirty="0" smtClean="0">
                <a:solidFill>
                  <a:srgbClr val="FFC000"/>
                </a:solidFill>
              </a:rPr>
              <a:t>Error! p</a:t>
            </a:r>
            <a:r>
              <a:rPr lang="zh-CN" altLang="en-US" dirty="0" smtClean="0">
                <a:solidFill>
                  <a:srgbClr val="FFC000"/>
                </a:solidFill>
              </a:rPr>
              <a:t>指向的是常量，不能修改</a:t>
            </a:r>
            <a:endParaRPr lang="zh-CN" altLang="en-US" dirty="0">
              <a:solidFill>
                <a:srgbClr val="FFC000"/>
              </a:solidFill>
            </a:endParaRPr>
          </a:p>
          <a:p>
            <a:pPr marL="457200" lvl="1" indent="0" algn="just" eaLnBrk="1" hangingPunct="1">
              <a:lnSpc>
                <a:spcPct val="120000"/>
              </a:lnSpc>
              <a:buNone/>
              <a:defRPr/>
            </a:pPr>
            <a:r>
              <a:rPr lang="zh-CN" altLang="en-US" dirty="0"/>
              <a:t>	</a:t>
            </a:r>
            <a:r>
              <a:rPr lang="en-US" altLang="zh-CN" dirty="0"/>
              <a:t>return y;</a:t>
            </a:r>
          </a:p>
          <a:p>
            <a:pPr marL="457200" lvl="1" indent="0" algn="just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}</a:t>
            </a:r>
          </a:p>
          <a:p>
            <a:pPr marL="357188" indent="-357188" algn="just" eaLnBrk="1" hangingPunct="1">
              <a:lnSpc>
                <a:spcPct val="110000"/>
              </a:lnSpc>
              <a:defRPr/>
            </a:pPr>
            <a:endParaRPr lang="en-US" altLang="zh-CN" sz="2800" dirty="0" smtClean="0"/>
          </a:p>
          <a:p>
            <a:pPr marL="357188" indent="-357188" algn="just" eaLnBrk="1" hangingPunct="1">
              <a:lnSpc>
                <a:spcPct val="110000"/>
              </a:lnSpc>
              <a:defRPr/>
            </a:pPr>
            <a:endParaRPr lang="en-US" altLang="zh-CN" sz="2400" dirty="0" smtClean="0"/>
          </a:p>
        </p:txBody>
      </p:sp>
      <p:sp>
        <p:nvSpPr>
          <p:cNvPr id="421891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117475"/>
            <a:ext cx="8229600" cy="863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 smtClean="0"/>
              <a:t>指向常量的指针作为函数形参类型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1176" y="404664"/>
            <a:ext cx="8651304" cy="6192688"/>
          </a:xfrm>
        </p:spPr>
        <p:txBody>
          <a:bodyPr>
            <a:normAutofit/>
          </a:bodyPr>
          <a:lstStyle/>
          <a:p>
            <a:pPr marL="357188" indent="-357188" algn="just"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如果只需要提高参数效率，而不想有副作用，则需要把形参定义为</a:t>
            </a:r>
            <a:r>
              <a:rPr lang="zh-CN" altLang="en-US" sz="2800" dirty="0" smtClean="0">
                <a:solidFill>
                  <a:srgbClr val="FFC000"/>
                </a:solidFill>
              </a:rPr>
              <a:t>指向常量的指针</a:t>
            </a:r>
            <a:r>
              <a:rPr lang="zh-CN" altLang="en-US" sz="2800" dirty="0" smtClean="0"/>
              <a:t>类型！</a:t>
            </a:r>
            <a:endParaRPr lang="en-US" altLang="zh-CN" sz="2800" dirty="0" smtClean="0"/>
          </a:p>
          <a:p>
            <a:pPr marL="357188" indent="-357188" algn="just"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例如</a:t>
            </a:r>
            <a:endParaRPr lang="zh-CN" altLang="en-US" sz="2800" dirty="0"/>
          </a:p>
          <a:p>
            <a:pPr marL="877888" lvl="1" indent="-341313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/>
              <a:t>void g(</a:t>
            </a:r>
            <a:r>
              <a:rPr lang="en-US" altLang="zh-CN" sz="2400" dirty="0" err="1">
                <a:solidFill>
                  <a:schemeClr val="folHlink"/>
                </a:solidFill>
              </a:rPr>
              <a:t>const</a:t>
            </a:r>
            <a:r>
              <a:rPr lang="en-US" altLang="zh-CN" sz="2400" dirty="0"/>
              <a:t> A *p) //A</a:t>
            </a:r>
            <a:r>
              <a:rPr lang="zh-CN" altLang="en-US" sz="2400" dirty="0"/>
              <a:t>为一个结构类型</a:t>
            </a:r>
          </a:p>
          <a:p>
            <a:pPr marL="877888" lvl="1" indent="-341313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/>
              <a:t>{	</a:t>
            </a:r>
            <a:r>
              <a:rPr lang="en-US" altLang="zh-CN" sz="2400" dirty="0" smtClean="0"/>
              <a:t>... p-&gt;no ... //OK</a:t>
            </a:r>
            <a:r>
              <a:rPr lang="zh-CN" altLang="en-US" sz="2400" dirty="0" smtClean="0"/>
              <a:t>，使用</a:t>
            </a:r>
            <a:r>
              <a:rPr lang="en-US" altLang="zh-CN" sz="2400" dirty="0" smtClean="0"/>
              <a:t>p</a:t>
            </a:r>
            <a:r>
              <a:rPr lang="zh-CN" altLang="en-US" sz="2400" dirty="0" smtClean="0"/>
              <a:t>指向的数据</a:t>
            </a:r>
            <a:endParaRPr lang="en-US" altLang="zh-CN" sz="2400" dirty="0"/>
          </a:p>
          <a:p>
            <a:pPr marL="877888" lvl="1" indent="-341313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/>
              <a:t>	p-&gt;no = ... //</a:t>
            </a:r>
            <a:r>
              <a:rPr lang="en-US" altLang="zh-CN" sz="2400" dirty="0">
                <a:solidFill>
                  <a:srgbClr val="FFC000"/>
                </a:solidFill>
              </a:rPr>
              <a:t>Error</a:t>
            </a:r>
            <a:r>
              <a:rPr lang="zh-CN" altLang="en-US" sz="2400" dirty="0"/>
              <a:t>，不能改变</a:t>
            </a:r>
            <a:r>
              <a:rPr lang="en-US" altLang="zh-CN" sz="2400" dirty="0"/>
              <a:t>p</a:t>
            </a:r>
            <a:r>
              <a:rPr lang="zh-CN" altLang="en-US" sz="2400" dirty="0"/>
              <a:t>所指向的数据。</a:t>
            </a:r>
          </a:p>
          <a:p>
            <a:pPr marL="877888" lvl="1" indent="-341313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 smtClean="0"/>
              <a:t>}</a:t>
            </a:r>
            <a:endParaRPr lang="en-US" altLang="zh-CN" sz="2800" dirty="0" smtClean="0"/>
          </a:p>
          <a:p>
            <a:pPr marL="355600" indent="-355600"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再例如</a:t>
            </a:r>
            <a:endParaRPr lang="zh-CN" altLang="en-US" sz="2800" dirty="0"/>
          </a:p>
          <a:p>
            <a:pPr marL="877888" lvl="1" indent="-341313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/>
              <a:t>void f(</a:t>
            </a:r>
            <a:r>
              <a:rPr lang="en-US" altLang="zh-CN" sz="2400" dirty="0" err="1">
                <a:solidFill>
                  <a:schemeClr val="folHlink"/>
                </a:solidFill>
              </a:rPr>
              <a:t>const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a[],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num</a:t>
            </a:r>
            <a:r>
              <a:rPr lang="en-US" altLang="zh-CN" sz="2400" dirty="0" smtClean="0"/>
              <a:t>) //a</a:t>
            </a:r>
            <a:r>
              <a:rPr lang="zh-CN" altLang="en-US" sz="2400" dirty="0" smtClean="0"/>
              <a:t>为一个数组</a:t>
            </a:r>
            <a:endParaRPr lang="en-US" altLang="zh-CN" sz="2400" dirty="0"/>
          </a:p>
          <a:p>
            <a:pPr marL="877888" lvl="1" indent="-341313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/>
              <a:t>//</a:t>
            </a:r>
            <a:r>
              <a:rPr lang="zh-CN" altLang="en-US" sz="2400" dirty="0"/>
              <a:t>或者，</a:t>
            </a:r>
            <a:r>
              <a:rPr lang="en-US" altLang="zh-CN" sz="2400" dirty="0"/>
              <a:t>void f(</a:t>
            </a:r>
            <a:r>
              <a:rPr lang="en-US" altLang="zh-CN" sz="2400" dirty="0" err="1">
                <a:solidFill>
                  <a:schemeClr val="folHlink"/>
                </a:solidFill>
              </a:rPr>
              <a:t>const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*a,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num</a:t>
            </a:r>
            <a:r>
              <a:rPr lang="en-US" altLang="zh-CN" sz="2400" dirty="0"/>
              <a:t>)</a:t>
            </a:r>
          </a:p>
          <a:p>
            <a:pPr marL="877888" lvl="1" indent="-341313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/>
              <a:t>{	</a:t>
            </a:r>
            <a:r>
              <a:rPr lang="en-US" altLang="zh-CN" sz="2400" dirty="0" smtClean="0"/>
              <a:t>... a[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] ... //OK</a:t>
            </a:r>
            <a:r>
              <a:rPr lang="zh-CN" altLang="en-US" sz="2400" dirty="0" smtClean="0"/>
              <a:t>，用数组元素的值</a:t>
            </a:r>
            <a:endParaRPr lang="en-US" altLang="zh-CN" sz="2400" dirty="0"/>
          </a:p>
          <a:p>
            <a:pPr marL="877888" lvl="1" indent="-341313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a[</a:t>
            </a:r>
            <a:r>
              <a:rPr lang="en-US" altLang="zh-CN" sz="2400" dirty="0" err="1" smtClean="0"/>
              <a:t>i</a:t>
            </a:r>
            <a:r>
              <a:rPr lang="en-US" altLang="zh-CN" sz="2400" dirty="0"/>
              <a:t>] = ...  //</a:t>
            </a:r>
            <a:r>
              <a:rPr lang="en-US" altLang="zh-CN" sz="2400" dirty="0">
                <a:solidFill>
                  <a:schemeClr val="folHlink"/>
                </a:solidFill>
              </a:rPr>
              <a:t>Error</a:t>
            </a:r>
            <a:r>
              <a:rPr lang="zh-CN" altLang="en-US" sz="2400" dirty="0"/>
              <a:t>，不能</a:t>
            </a:r>
            <a:r>
              <a:rPr lang="zh-CN" altLang="en-US" sz="2400" dirty="0" smtClean="0"/>
              <a:t>改变数组元素的值</a:t>
            </a:r>
            <a:endParaRPr lang="zh-CN" altLang="en-US" sz="2400" dirty="0"/>
          </a:p>
          <a:p>
            <a:pPr marL="877888" lvl="1" indent="-341313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sz="2400" dirty="0"/>
              <a:t>	</a:t>
            </a:r>
            <a:r>
              <a:rPr lang="en-US" altLang="zh-CN" sz="2400" dirty="0"/>
              <a:t>......</a:t>
            </a:r>
          </a:p>
          <a:p>
            <a:pPr marL="877888" lvl="1" indent="-341313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875067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1176" y="1484784"/>
            <a:ext cx="8651304" cy="5112568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>
                <a:solidFill>
                  <a:srgbClr val="FFC000"/>
                </a:solidFill>
              </a:rPr>
              <a:t>注意</a:t>
            </a:r>
            <a:r>
              <a:rPr lang="zh-CN" altLang="en-US" sz="2800" dirty="0" smtClean="0"/>
              <a:t>：不要把</a:t>
            </a:r>
            <a:r>
              <a:rPr lang="zh-CN" altLang="en-US" sz="2800" dirty="0" smtClean="0">
                <a:solidFill>
                  <a:srgbClr val="FFC000"/>
                </a:solidFill>
              </a:rPr>
              <a:t>指向常量的指针</a:t>
            </a:r>
            <a:r>
              <a:rPr lang="zh-CN" altLang="en-US" sz="2800" dirty="0" smtClean="0"/>
              <a:t>与</a:t>
            </a:r>
            <a:r>
              <a:rPr lang="zh-CN" altLang="en-US" sz="2800" dirty="0" smtClean="0">
                <a:solidFill>
                  <a:srgbClr val="FFC000"/>
                </a:solidFill>
              </a:rPr>
              <a:t>指针类型的常量</a:t>
            </a:r>
            <a:r>
              <a:rPr lang="zh-CN" altLang="en-US" sz="2800" dirty="0" smtClean="0"/>
              <a:t>混淆了！</a:t>
            </a:r>
            <a:endParaRPr lang="en-US" altLang="zh-CN" sz="28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例如，下面的</a:t>
            </a:r>
            <a:r>
              <a:rPr lang="en-US" altLang="zh-CN" sz="2800" dirty="0" smtClean="0"/>
              <a:t>p</a:t>
            </a:r>
            <a:r>
              <a:rPr lang="zh-CN" altLang="en-US" sz="2800" dirty="0" smtClean="0"/>
              <a:t>是一个指针类型的常量：</a:t>
            </a:r>
            <a:endParaRPr lang="en-US" altLang="zh-CN" sz="2800" dirty="0" smtClean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x,y</a:t>
            </a:r>
            <a:r>
              <a:rPr lang="en-US" altLang="zh-CN" sz="2400" dirty="0" smtClean="0"/>
              <a:t>;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*</a:t>
            </a:r>
            <a:r>
              <a:rPr lang="en-US" altLang="zh-CN" sz="2400" dirty="0" err="1" smtClean="0">
                <a:solidFill>
                  <a:srgbClr val="FFC000"/>
                </a:solidFill>
              </a:rPr>
              <a:t>const</a:t>
            </a:r>
            <a:r>
              <a:rPr lang="en-US" altLang="zh-CN" sz="2400" dirty="0" smtClean="0"/>
              <a:t> p=&amp;x;  //</a:t>
            </a:r>
            <a:r>
              <a:rPr lang="zh-CN" altLang="en-US" sz="2400" dirty="0" smtClean="0"/>
              <a:t>定义了一个</a:t>
            </a:r>
            <a:r>
              <a:rPr lang="zh-CN" altLang="en-US" sz="2400" dirty="0" smtClean="0">
                <a:solidFill>
                  <a:srgbClr val="FFC000"/>
                </a:solidFill>
              </a:rPr>
              <a:t>指针类型的常量</a:t>
            </a:r>
            <a:r>
              <a:rPr lang="en-US" altLang="zh-CN" sz="2400" dirty="0" smtClean="0"/>
              <a:t>p</a:t>
            </a:r>
            <a:r>
              <a:rPr lang="zh-CN" altLang="en-US" sz="2400" dirty="0" smtClean="0"/>
              <a:t>，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			  </a:t>
            </a:r>
            <a:r>
              <a:rPr lang="en-US" altLang="zh-CN" sz="2400" dirty="0" smtClean="0"/>
              <a:t>//p</a:t>
            </a:r>
            <a:r>
              <a:rPr lang="zh-CN" altLang="en-US" sz="2400" dirty="0" smtClean="0"/>
              <a:t>初始化为指向</a:t>
            </a:r>
            <a:r>
              <a:rPr lang="en-US" altLang="zh-CN" sz="2400" dirty="0" smtClean="0"/>
              <a:t>x</a:t>
            </a:r>
            <a:r>
              <a:rPr lang="zh-CN" altLang="en-US" sz="2400" dirty="0" smtClean="0"/>
              <a:t>（常量定义需要初始化！）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p = &amp;y;  //</a:t>
            </a:r>
            <a:r>
              <a:rPr lang="en-US" altLang="zh-CN" sz="2400" dirty="0" smtClean="0">
                <a:solidFill>
                  <a:schemeClr val="folHlink"/>
                </a:solidFill>
              </a:rPr>
              <a:t>Error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p</a:t>
            </a:r>
            <a:r>
              <a:rPr lang="zh-CN" altLang="en-US" sz="2400" dirty="0" smtClean="0"/>
              <a:t>是一个常量，其值不能被修改</a:t>
            </a:r>
          </a:p>
          <a:p>
            <a:pPr lvl="1" eaLnBrk="1" hangingPunct="1">
              <a:lnSpc>
                <a:spcPct val="90000"/>
              </a:lnSpc>
              <a:buNone/>
              <a:defRPr/>
            </a:pPr>
            <a:r>
              <a:rPr lang="zh-CN" altLang="en-US" sz="2400" dirty="0"/>
              <a:t>*</a:t>
            </a:r>
            <a:r>
              <a:rPr lang="en-US" altLang="zh-CN" sz="2400" dirty="0"/>
              <a:t>p = 1;  //OK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p</a:t>
            </a:r>
            <a:r>
              <a:rPr lang="zh-CN" altLang="en-US" sz="2400" dirty="0" smtClean="0"/>
              <a:t>指向的是</a:t>
            </a:r>
            <a:r>
              <a:rPr lang="zh-CN" altLang="en-US" sz="2400" dirty="0"/>
              <a:t>一个</a:t>
            </a:r>
            <a:r>
              <a:rPr lang="zh-CN" altLang="en-US" sz="2400" dirty="0" smtClean="0"/>
              <a:t>变量，值可以被修改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......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指针类型的常量有什么用？</a:t>
            </a:r>
            <a:endParaRPr lang="en-US" altLang="zh-CN" sz="2800" dirty="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400" dirty="0" smtClean="0"/>
              <a:t>可以用来保证在函数执行过程中，指针类型的形参始终指向的是实参数据。</a:t>
            </a:r>
            <a:endParaRPr lang="en-US" altLang="zh-CN" sz="2400" dirty="0" smtClean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r>
              <a:rPr lang="zh-CN" altLang="en-US" dirty="0" smtClean="0"/>
              <a:t>指针类型的常量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2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2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2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2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79512" y="1550201"/>
            <a:ext cx="4178424" cy="23762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000" b="0" kern="0" dirty="0"/>
              <a:t>void f(</a:t>
            </a:r>
            <a:r>
              <a:rPr lang="en-US" altLang="zh-CN" sz="2000" b="0" kern="0" dirty="0" err="1"/>
              <a:t>int</a:t>
            </a:r>
            <a:r>
              <a:rPr lang="en-US" altLang="zh-CN" sz="2000" b="0" kern="0" dirty="0"/>
              <a:t> *p)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000" b="0" kern="0" dirty="0"/>
              <a:t>{ </a:t>
            </a:r>
            <a:r>
              <a:rPr lang="en-US" altLang="zh-CN" sz="2000" b="0" kern="0" dirty="0" smtClean="0"/>
              <a:t>......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000" b="0" kern="0" dirty="0" smtClean="0"/>
              <a:t>   ... </a:t>
            </a:r>
            <a:r>
              <a:rPr lang="en-US" altLang="zh-CN" sz="2000" b="0" kern="0" dirty="0"/>
              <a:t>*p ... </a:t>
            </a:r>
            <a:r>
              <a:rPr lang="en-US" altLang="zh-CN" sz="2000" b="0" kern="0" dirty="0" smtClean="0"/>
              <a:t>//</a:t>
            </a:r>
            <a:r>
              <a:rPr lang="zh-CN" altLang="en-US" sz="2000" b="0" kern="0" dirty="0" smtClean="0">
                <a:solidFill>
                  <a:srgbClr val="FFC000"/>
                </a:solidFill>
              </a:rPr>
              <a:t>访问的</a:t>
            </a:r>
            <a:r>
              <a:rPr lang="zh-CN" altLang="en-US" sz="2000" b="0" kern="0" dirty="0">
                <a:solidFill>
                  <a:srgbClr val="FFC000"/>
                </a:solidFill>
              </a:rPr>
              <a:t>一定</a:t>
            </a:r>
            <a:r>
              <a:rPr lang="zh-CN" altLang="en-US" sz="2000" b="0" kern="0" dirty="0" smtClean="0">
                <a:solidFill>
                  <a:srgbClr val="FFC000"/>
                </a:solidFill>
              </a:rPr>
              <a:t>是</a:t>
            </a:r>
            <a:r>
              <a:rPr lang="en-US" altLang="zh-CN" sz="2000" b="0" kern="0" dirty="0" smtClean="0">
                <a:solidFill>
                  <a:srgbClr val="FFC000"/>
                </a:solidFill>
              </a:rPr>
              <a:t>x</a:t>
            </a:r>
            <a:r>
              <a:rPr lang="zh-CN" altLang="en-US" sz="2000" b="0" kern="0" dirty="0" smtClean="0">
                <a:solidFill>
                  <a:srgbClr val="FFC000"/>
                </a:solidFill>
              </a:rPr>
              <a:t>吗？</a:t>
            </a:r>
            <a:endParaRPr lang="en-US" altLang="zh-CN" sz="2000" b="0" kern="0" dirty="0" smtClean="0">
              <a:solidFill>
                <a:srgbClr val="FFC000"/>
              </a:solidFill>
            </a:endParaRP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000" b="0" kern="0" dirty="0"/>
              <a:t> </a:t>
            </a:r>
            <a:r>
              <a:rPr lang="en-US" altLang="zh-CN" sz="2000" b="0" kern="0" dirty="0" smtClean="0"/>
              <a:t>  ......</a:t>
            </a:r>
            <a:endParaRPr lang="zh-CN" altLang="en-US" sz="2000" b="0" kern="0" dirty="0"/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000" b="0" kern="0" dirty="0" smtClean="0"/>
              <a:t>}</a:t>
            </a:r>
            <a:endParaRPr lang="en-US" altLang="zh-CN" sz="2000" b="0" kern="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79512" y="4293096"/>
            <a:ext cx="4178424" cy="2376264"/>
          </a:xfrm>
          <a:prstGeom prst="rect">
            <a:avLst/>
          </a:prstGeom>
          <a:solidFill>
            <a:srgbClr val="00366C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000" b="0" kern="0" dirty="0"/>
              <a:t>void f(</a:t>
            </a:r>
            <a:r>
              <a:rPr lang="en-US" altLang="zh-CN" sz="2000" b="0" kern="0" dirty="0" err="1"/>
              <a:t>int</a:t>
            </a:r>
            <a:r>
              <a:rPr lang="en-US" altLang="zh-CN" sz="2000" b="0" kern="0" dirty="0"/>
              <a:t> </a:t>
            </a:r>
            <a:r>
              <a:rPr lang="en-US" altLang="zh-CN" sz="2000" b="0" kern="0" dirty="0" smtClean="0"/>
              <a:t>*</a:t>
            </a:r>
            <a:r>
              <a:rPr lang="en-US" altLang="zh-CN" sz="2000" b="0" kern="0" dirty="0" err="1" smtClean="0">
                <a:solidFill>
                  <a:srgbClr val="FFC000"/>
                </a:solidFill>
              </a:rPr>
              <a:t>const</a:t>
            </a:r>
            <a:r>
              <a:rPr lang="en-US" altLang="zh-CN" sz="2000" b="0" kern="0" dirty="0" smtClean="0"/>
              <a:t> p</a:t>
            </a:r>
            <a:r>
              <a:rPr lang="en-US" altLang="zh-CN" sz="2000" b="0" kern="0" dirty="0"/>
              <a:t>)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000" b="0" kern="0" dirty="0"/>
              <a:t>{ </a:t>
            </a:r>
            <a:r>
              <a:rPr lang="en-US" altLang="zh-CN" sz="2000" b="0" kern="0" dirty="0" smtClean="0"/>
              <a:t>......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000" b="0" kern="0" dirty="0" smtClean="0"/>
              <a:t>   ... </a:t>
            </a:r>
            <a:r>
              <a:rPr lang="en-US" altLang="zh-CN" sz="2000" b="0" kern="0" dirty="0"/>
              <a:t>*p ... </a:t>
            </a:r>
            <a:r>
              <a:rPr lang="en-US" altLang="zh-CN" sz="2000" b="0" kern="0" dirty="0" smtClean="0"/>
              <a:t>//</a:t>
            </a:r>
            <a:r>
              <a:rPr lang="zh-CN" altLang="en-US" sz="2000" b="0" kern="0" dirty="0" smtClean="0">
                <a:solidFill>
                  <a:srgbClr val="FFC000"/>
                </a:solidFill>
              </a:rPr>
              <a:t>访问的一定是</a:t>
            </a:r>
            <a:r>
              <a:rPr lang="en-US" altLang="zh-CN" sz="2000" b="0" kern="0" dirty="0" smtClean="0">
                <a:solidFill>
                  <a:srgbClr val="FFC000"/>
                </a:solidFill>
              </a:rPr>
              <a:t>x</a:t>
            </a:r>
            <a:r>
              <a:rPr lang="zh-CN" altLang="en-US" sz="2000" b="0" kern="0" dirty="0" smtClean="0">
                <a:solidFill>
                  <a:srgbClr val="FFC000"/>
                </a:solidFill>
              </a:rPr>
              <a:t>吗？</a:t>
            </a:r>
            <a:endParaRPr lang="en-US" altLang="zh-CN" sz="2000" b="0" kern="0" dirty="0" smtClean="0">
              <a:solidFill>
                <a:srgbClr val="FFC000"/>
              </a:solidFill>
            </a:endParaRP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000" b="0" kern="0" dirty="0"/>
              <a:t> </a:t>
            </a:r>
            <a:r>
              <a:rPr lang="en-US" altLang="zh-CN" sz="2000" b="0" kern="0" dirty="0" smtClean="0"/>
              <a:t>  ......</a:t>
            </a:r>
            <a:endParaRPr lang="zh-CN" altLang="en-US" sz="2000" b="0" kern="0" dirty="0"/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000" b="0" kern="0" dirty="0"/>
              <a:t>}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788024" y="1556792"/>
            <a:ext cx="3962400" cy="237626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000" b="0" kern="0" dirty="0"/>
              <a:t>void f(</a:t>
            </a:r>
            <a:r>
              <a:rPr lang="en-US" altLang="zh-CN" sz="2000" b="0" kern="0" dirty="0" err="1"/>
              <a:t>int</a:t>
            </a:r>
            <a:r>
              <a:rPr lang="en-US" altLang="zh-CN" sz="2000" b="0" kern="0" dirty="0"/>
              <a:t> *p)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000" b="0" kern="0" dirty="0"/>
              <a:t>{ </a:t>
            </a:r>
            <a:r>
              <a:rPr lang="en-US" altLang="zh-CN" sz="2000" b="0" kern="0" dirty="0" err="1" smtClean="0"/>
              <a:t>int</a:t>
            </a:r>
            <a:r>
              <a:rPr lang="en-US" altLang="zh-CN" sz="2000" b="0" kern="0" dirty="0" smtClean="0"/>
              <a:t> m;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000" b="0" kern="0" dirty="0"/>
              <a:t> </a:t>
            </a:r>
            <a:r>
              <a:rPr lang="en-US" altLang="zh-CN" sz="2000" b="0" kern="0" dirty="0" smtClean="0"/>
              <a:t>  p = &amp;m; //OK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000" b="0" kern="0" dirty="0" smtClean="0"/>
              <a:t>   ... </a:t>
            </a:r>
            <a:r>
              <a:rPr lang="en-US" altLang="zh-CN" sz="2000" b="0" kern="0" dirty="0"/>
              <a:t>*p ... </a:t>
            </a:r>
            <a:r>
              <a:rPr lang="en-US" altLang="zh-CN" sz="2000" b="0" kern="0" dirty="0" smtClean="0"/>
              <a:t>//</a:t>
            </a:r>
            <a:r>
              <a:rPr lang="zh-CN" altLang="en-US" sz="2000" b="0" kern="0" dirty="0" smtClean="0">
                <a:solidFill>
                  <a:srgbClr val="FFC000"/>
                </a:solidFill>
              </a:rPr>
              <a:t>访问的是</a:t>
            </a:r>
            <a:r>
              <a:rPr lang="en-US" altLang="zh-CN" sz="2000" b="0" kern="0" dirty="0" smtClean="0">
                <a:solidFill>
                  <a:srgbClr val="FFC000"/>
                </a:solidFill>
              </a:rPr>
              <a:t>m</a:t>
            </a:r>
            <a:r>
              <a:rPr lang="zh-CN" altLang="en-US" sz="2000" b="0" kern="0" dirty="0" smtClean="0">
                <a:solidFill>
                  <a:srgbClr val="FFC000"/>
                </a:solidFill>
              </a:rPr>
              <a:t>！</a:t>
            </a:r>
            <a:endParaRPr lang="en-US" altLang="zh-CN" sz="2000" b="0" kern="0" dirty="0" smtClean="0">
              <a:solidFill>
                <a:srgbClr val="FFC000"/>
              </a:solidFill>
            </a:endParaRP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000" b="0" kern="0" dirty="0"/>
              <a:t> </a:t>
            </a:r>
            <a:r>
              <a:rPr lang="en-US" altLang="zh-CN" sz="2000" b="0" kern="0" dirty="0" smtClean="0"/>
              <a:t>  ......</a:t>
            </a:r>
            <a:endParaRPr lang="zh-CN" altLang="en-US" sz="2000" b="0" kern="0" dirty="0"/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000" b="0" kern="0" dirty="0" smtClean="0"/>
              <a:t>}</a:t>
            </a:r>
            <a:endParaRPr lang="en-US" altLang="zh-CN" sz="2000" b="0" kern="0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860032" y="4293096"/>
            <a:ext cx="3962400" cy="2376264"/>
          </a:xfrm>
          <a:prstGeom prst="rect">
            <a:avLst/>
          </a:prstGeom>
          <a:solidFill>
            <a:srgbClr val="00366C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000" b="0" kern="0" dirty="0"/>
              <a:t>void f(</a:t>
            </a:r>
            <a:r>
              <a:rPr lang="en-US" altLang="zh-CN" sz="2000" b="0" kern="0" dirty="0" err="1"/>
              <a:t>int</a:t>
            </a:r>
            <a:r>
              <a:rPr lang="en-US" altLang="zh-CN" sz="2000" b="0" kern="0" dirty="0"/>
              <a:t> </a:t>
            </a:r>
            <a:r>
              <a:rPr lang="en-US" altLang="zh-CN" sz="2000" b="0" kern="0" dirty="0" smtClean="0"/>
              <a:t>*</a:t>
            </a:r>
            <a:r>
              <a:rPr lang="en-US" altLang="zh-CN" sz="2000" b="0" kern="0" dirty="0" err="1" smtClean="0">
                <a:solidFill>
                  <a:srgbClr val="FFC000"/>
                </a:solidFill>
              </a:rPr>
              <a:t>const</a:t>
            </a:r>
            <a:r>
              <a:rPr lang="en-US" altLang="zh-CN" sz="2000" b="0" kern="0" dirty="0" smtClean="0"/>
              <a:t> p</a:t>
            </a:r>
            <a:r>
              <a:rPr lang="en-US" altLang="zh-CN" sz="2000" b="0" kern="0" dirty="0"/>
              <a:t>)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000" b="0" kern="0" dirty="0"/>
              <a:t>{ </a:t>
            </a:r>
            <a:r>
              <a:rPr lang="en-US" altLang="zh-CN" sz="2000" b="0" kern="0" dirty="0" err="1" smtClean="0"/>
              <a:t>int</a:t>
            </a:r>
            <a:r>
              <a:rPr lang="en-US" altLang="zh-CN" sz="2000" b="0" kern="0" dirty="0" smtClean="0"/>
              <a:t> m;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000" b="0" kern="0" dirty="0"/>
              <a:t> </a:t>
            </a:r>
            <a:r>
              <a:rPr lang="en-US" altLang="zh-CN" sz="2000" b="0" kern="0" dirty="0" smtClean="0"/>
              <a:t>  p = &amp;m; //</a:t>
            </a:r>
            <a:r>
              <a:rPr lang="en-US" altLang="zh-CN" sz="2000" b="0" kern="0" dirty="0" smtClean="0">
                <a:solidFill>
                  <a:srgbClr val="FFC000"/>
                </a:solidFill>
              </a:rPr>
              <a:t>Error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000" b="0" kern="0" dirty="0" smtClean="0"/>
              <a:t>   ... </a:t>
            </a:r>
            <a:r>
              <a:rPr lang="en-US" altLang="zh-CN" sz="2000" b="0" kern="0" dirty="0"/>
              <a:t>*p ... </a:t>
            </a:r>
            <a:r>
              <a:rPr lang="en-US" altLang="zh-CN" sz="2000" b="0" kern="0" dirty="0" smtClean="0"/>
              <a:t>//</a:t>
            </a:r>
            <a:r>
              <a:rPr lang="zh-CN" altLang="en-US" sz="2000" b="0" kern="0" dirty="0" smtClean="0">
                <a:solidFill>
                  <a:srgbClr val="FFC000"/>
                </a:solidFill>
              </a:rPr>
              <a:t>访问的一定是</a:t>
            </a:r>
            <a:r>
              <a:rPr lang="en-US" altLang="zh-CN" sz="2000" b="0" kern="0" dirty="0" smtClean="0">
                <a:solidFill>
                  <a:srgbClr val="FFC000"/>
                </a:solidFill>
              </a:rPr>
              <a:t>x</a:t>
            </a:r>
            <a:r>
              <a:rPr lang="zh-CN" altLang="en-US" sz="2000" b="0" kern="0" dirty="0" smtClean="0">
                <a:solidFill>
                  <a:srgbClr val="FFC000"/>
                </a:solidFill>
              </a:rPr>
              <a:t>！</a:t>
            </a:r>
            <a:endParaRPr lang="en-US" altLang="zh-CN" sz="2000" b="0" kern="0" dirty="0" smtClean="0">
              <a:solidFill>
                <a:srgbClr val="FFC000"/>
              </a:solidFill>
            </a:endParaRP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000" b="0" kern="0" dirty="0"/>
              <a:t> </a:t>
            </a:r>
            <a:r>
              <a:rPr lang="en-US" altLang="zh-CN" sz="2000" b="0" kern="0" dirty="0" smtClean="0"/>
              <a:t>  ......</a:t>
            </a:r>
            <a:endParaRPr lang="zh-CN" altLang="en-US" sz="2000" b="0" kern="0" dirty="0"/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000" b="0" kern="0" dirty="0"/>
              <a:t>}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79512" y="118425"/>
            <a:ext cx="4178424" cy="115033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000" b="0" kern="0" dirty="0" err="1" smtClean="0"/>
              <a:t>int</a:t>
            </a:r>
            <a:r>
              <a:rPr lang="en-US" altLang="zh-CN" sz="2000" b="0" kern="0" dirty="0" smtClean="0"/>
              <a:t> x;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000" b="0" kern="0" dirty="0" smtClean="0"/>
              <a:t>......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000" b="0" kern="0" dirty="0" smtClean="0"/>
              <a:t>f(&amp;x);</a:t>
            </a:r>
            <a:endParaRPr lang="en-US" altLang="zh-CN" sz="2000" b="0" kern="0" dirty="0"/>
          </a:p>
        </p:txBody>
      </p:sp>
    </p:spTree>
    <p:extLst>
      <p:ext uri="{BB962C8B-B14F-4D97-AF65-F5344CB8AC3E}">
        <p14:creationId xmlns:p14="http://schemas.microsoft.com/office/powerpoint/2010/main" val="712654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指向常量的指针常量</a:t>
            </a:r>
            <a:endParaRPr lang="zh-CN" altLang="zh-CN" smtClean="0"/>
          </a:p>
        </p:txBody>
      </p:sp>
      <p:sp>
        <p:nvSpPr>
          <p:cNvPr id="423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600201"/>
            <a:ext cx="8784976" cy="2404863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800" dirty="0" err="1" smtClean="0"/>
              <a:t>const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x=0;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800" dirty="0" err="1" smtClean="0"/>
              <a:t>const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y=1;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800" dirty="0" err="1" smtClean="0">
                <a:solidFill>
                  <a:srgbClr val="FFC000"/>
                </a:solidFill>
              </a:rPr>
              <a:t>const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*</a:t>
            </a:r>
            <a:r>
              <a:rPr lang="en-US" altLang="zh-CN" sz="2800" dirty="0" err="1" smtClean="0">
                <a:solidFill>
                  <a:srgbClr val="FFC000"/>
                </a:solidFill>
              </a:rPr>
              <a:t>const</a:t>
            </a:r>
            <a:r>
              <a:rPr lang="en-US" altLang="zh-CN" sz="2800" dirty="0" smtClean="0"/>
              <a:t> p=&amp;x; //p</a:t>
            </a:r>
            <a:r>
              <a:rPr lang="zh-CN" altLang="fr-FR" sz="2800" dirty="0" smtClean="0"/>
              <a:t>是一个指向常量</a:t>
            </a:r>
            <a:r>
              <a:rPr lang="zh-CN" altLang="fr-FR" sz="2800" dirty="0"/>
              <a:t>的指针常量</a:t>
            </a:r>
            <a:endParaRPr lang="zh-CN" altLang="fr-FR" sz="2800" dirty="0" smtClean="0"/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zh-CN" altLang="en-US" sz="2800" dirty="0" smtClean="0"/>
              <a:t>*</a:t>
            </a:r>
            <a:r>
              <a:rPr lang="en-US" altLang="zh-CN" sz="2800" dirty="0" smtClean="0"/>
              <a:t>p = 1;  //</a:t>
            </a:r>
            <a:r>
              <a:rPr lang="en-US" altLang="zh-CN" sz="2800" dirty="0" smtClean="0">
                <a:solidFill>
                  <a:schemeClr val="folHlink"/>
                </a:solidFill>
              </a:rPr>
              <a:t>Error</a:t>
            </a:r>
            <a:r>
              <a:rPr lang="zh-CN" altLang="en-US" sz="2800" dirty="0">
                <a:solidFill>
                  <a:schemeClr val="folHlink"/>
                </a:solidFill>
              </a:rPr>
              <a:t>，不能修改</a:t>
            </a:r>
            <a:r>
              <a:rPr lang="en-US" altLang="zh-CN" sz="2800" dirty="0" smtClean="0">
                <a:solidFill>
                  <a:schemeClr val="folHlink"/>
                </a:solidFill>
              </a:rPr>
              <a:t>p</a:t>
            </a:r>
            <a:r>
              <a:rPr lang="zh-CN" altLang="en-US" sz="2800" dirty="0" smtClean="0">
                <a:solidFill>
                  <a:schemeClr val="folHlink"/>
                </a:solidFill>
              </a:rPr>
              <a:t>指向的值！</a:t>
            </a:r>
            <a:endParaRPr lang="en-US" altLang="zh-CN" sz="2800" dirty="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800" dirty="0" smtClean="0"/>
              <a:t>p = &amp;y;  //</a:t>
            </a:r>
            <a:r>
              <a:rPr lang="en-US" altLang="zh-CN" sz="2800" dirty="0" smtClean="0">
                <a:solidFill>
                  <a:schemeClr val="folHlink"/>
                </a:solidFill>
              </a:rPr>
              <a:t>Error</a:t>
            </a:r>
            <a:r>
              <a:rPr lang="zh-CN" altLang="en-US" sz="2800" dirty="0" smtClean="0">
                <a:solidFill>
                  <a:schemeClr val="folHlink"/>
                </a:solidFill>
              </a:rPr>
              <a:t>，也不能修改</a:t>
            </a:r>
            <a:r>
              <a:rPr lang="en-US" altLang="zh-CN" sz="2800" dirty="0" smtClean="0">
                <a:solidFill>
                  <a:schemeClr val="folHlink"/>
                </a:solidFill>
              </a:rPr>
              <a:t>p</a:t>
            </a:r>
            <a:r>
              <a:rPr lang="zh-CN" altLang="en-US" sz="2800" dirty="0" smtClean="0">
                <a:solidFill>
                  <a:schemeClr val="folHlink"/>
                </a:solidFill>
              </a:rPr>
              <a:t>的值！</a:t>
            </a:r>
            <a:endParaRPr lang="en-US" altLang="zh-CN" sz="2800" dirty="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altLang="zh-CN" sz="2800" dirty="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altLang="zh-CN" sz="2800" dirty="0" smtClean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193776" y="4264459"/>
            <a:ext cx="4178424" cy="2376264"/>
          </a:xfrm>
          <a:prstGeom prst="rect">
            <a:avLst/>
          </a:prstGeom>
          <a:solidFill>
            <a:srgbClr val="00366C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400" b="0" kern="0" dirty="0"/>
              <a:t>void </a:t>
            </a:r>
            <a:r>
              <a:rPr lang="en-US" altLang="zh-CN" sz="2400" b="0" kern="0" dirty="0" smtClean="0"/>
              <a:t>f(</a:t>
            </a:r>
            <a:r>
              <a:rPr lang="en-US" altLang="zh-CN" sz="2400" b="0" kern="0" dirty="0" err="1" smtClean="0"/>
              <a:t>const</a:t>
            </a:r>
            <a:r>
              <a:rPr lang="en-US" altLang="zh-CN" sz="2400" b="0" kern="0" dirty="0" smtClean="0"/>
              <a:t> </a:t>
            </a:r>
            <a:r>
              <a:rPr lang="en-US" altLang="zh-CN" sz="2400" b="0" kern="0" dirty="0" err="1" smtClean="0"/>
              <a:t>int</a:t>
            </a:r>
            <a:r>
              <a:rPr lang="en-US" altLang="zh-CN" sz="2400" b="0" kern="0" dirty="0" smtClean="0"/>
              <a:t> *</a:t>
            </a:r>
            <a:r>
              <a:rPr lang="en-US" altLang="zh-CN" sz="2400" b="0" kern="0" dirty="0" err="1" smtClean="0"/>
              <a:t>const</a:t>
            </a:r>
            <a:r>
              <a:rPr lang="en-US" altLang="zh-CN" sz="2400" b="0" kern="0" dirty="0" smtClean="0"/>
              <a:t> p</a:t>
            </a:r>
            <a:r>
              <a:rPr lang="en-US" altLang="zh-CN" sz="2400" b="0" kern="0" dirty="0"/>
              <a:t>)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400" b="0" kern="0" dirty="0"/>
              <a:t>{ </a:t>
            </a:r>
            <a:r>
              <a:rPr lang="en-US" altLang="zh-CN" sz="2400" b="0" kern="0" dirty="0" err="1" smtClean="0"/>
              <a:t>int</a:t>
            </a:r>
            <a:r>
              <a:rPr lang="en-US" altLang="zh-CN" sz="2400" b="0" kern="0" dirty="0" smtClean="0"/>
              <a:t> m;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400" b="0" kern="0" dirty="0"/>
              <a:t> </a:t>
            </a:r>
            <a:r>
              <a:rPr lang="en-US" altLang="zh-CN" sz="2400" b="0" kern="0" dirty="0" smtClean="0"/>
              <a:t>  p = &amp;m; //</a:t>
            </a:r>
            <a:r>
              <a:rPr lang="en-US" altLang="zh-CN" sz="2400" b="0" kern="0" dirty="0" smtClean="0">
                <a:solidFill>
                  <a:srgbClr val="FFC000"/>
                </a:solidFill>
              </a:rPr>
              <a:t>Error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400" b="0" kern="0" dirty="0" smtClean="0"/>
              <a:t>   *</a:t>
            </a:r>
            <a:r>
              <a:rPr lang="en-US" altLang="zh-CN" sz="2400" b="0" kern="0" dirty="0"/>
              <a:t>p </a:t>
            </a:r>
            <a:r>
              <a:rPr lang="en-US" altLang="zh-CN" sz="2400" b="0" kern="0" dirty="0" smtClean="0"/>
              <a:t>= 10; //</a:t>
            </a:r>
            <a:r>
              <a:rPr lang="en-US" altLang="zh-CN" sz="2400" b="0" kern="0" dirty="0" smtClean="0">
                <a:solidFill>
                  <a:srgbClr val="FFC000"/>
                </a:solidFill>
              </a:rPr>
              <a:t>Error</a:t>
            </a:r>
            <a:endParaRPr lang="en-US" altLang="zh-CN" sz="2400" b="0" kern="0" dirty="0" smtClean="0"/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400" b="0" kern="0" dirty="0"/>
              <a:t> </a:t>
            </a:r>
            <a:r>
              <a:rPr lang="en-US" altLang="zh-CN" sz="2400" b="0" kern="0" dirty="0" smtClean="0"/>
              <a:t>  ......</a:t>
            </a:r>
            <a:endParaRPr lang="zh-CN" altLang="en-US" sz="2400" b="0" kern="0" dirty="0"/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400" b="0" kern="0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8683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指针作为函数返回值类型</a:t>
            </a:r>
          </a:p>
        </p:txBody>
      </p:sp>
      <p:sp>
        <p:nvSpPr>
          <p:cNvPr id="424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270000"/>
            <a:ext cx="8686800" cy="5399360"/>
          </a:xfrm>
        </p:spPr>
        <p:txBody>
          <a:bodyPr>
            <a:normAutofit fontScale="85000" lnSpcReduction="20000"/>
          </a:bodyPr>
          <a:lstStyle/>
          <a:p>
            <a:pPr algn="just" eaLnBrk="1" hangingPunct="1">
              <a:lnSpc>
                <a:spcPct val="120000"/>
              </a:lnSpc>
              <a:defRPr/>
            </a:pPr>
            <a:r>
              <a:rPr lang="zh-CN" altLang="en-US" sz="3300" dirty="0" smtClean="0"/>
              <a:t>函数的返回值类型可以是一个指针类型。例如：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smtClean="0">
                <a:solidFill>
                  <a:srgbClr val="FFC000"/>
                </a:solidFill>
              </a:rPr>
              <a:t>*</a:t>
            </a:r>
            <a:r>
              <a:rPr lang="en-US" altLang="zh-CN" sz="2400" dirty="0" smtClean="0"/>
              <a:t>max(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x[],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num</a:t>
            </a:r>
            <a:r>
              <a:rPr lang="en-US" altLang="zh-CN" sz="2400" dirty="0" smtClean="0"/>
              <a:t>) 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{	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max_index</a:t>
            </a:r>
            <a:r>
              <a:rPr lang="en-US" altLang="zh-CN" sz="2400" dirty="0" smtClean="0"/>
              <a:t>=0;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	for 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=1;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&lt;</a:t>
            </a:r>
            <a:r>
              <a:rPr lang="en-US" altLang="zh-CN" sz="2400" dirty="0" err="1" smtClean="0"/>
              <a:t>num</a:t>
            </a:r>
            <a:r>
              <a:rPr lang="en-US" altLang="zh-CN" sz="2400" dirty="0" smtClean="0"/>
              <a:t>;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++)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		 if (x[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] &gt; x[</a:t>
            </a:r>
            <a:r>
              <a:rPr lang="en-US" altLang="zh-CN" sz="2400" dirty="0" err="1" smtClean="0"/>
              <a:t>max_index</a:t>
            </a:r>
            <a:r>
              <a:rPr lang="en-US" altLang="zh-CN" sz="2400" dirty="0" smtClean="0"/>
              <a:t>]) </a:t>
            </a:r>
            <a:r>
              <a:rPr lang="en-US" altLang="zh-CN" sz="2400" dirty="0" err="1" smtClean="0"/>
              <a:t>max_index</a:t>
            </a:r>
            <a:r>
              <a:rPr lang="en-US" altLang="zh-CN" sz="2400" dirty="0" smtClean="0"/>
              <a:t> =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;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	return </a:t>
            </a:r>
            <a:r>
              <a:rPr lang="en-US" altLang="zh-CN" sz="2400" dirty="0" smtClean="0">
                <a:solidFill>
                  <a:srgbClr val="FFC000"/>
                </a:solidFill>
              </a:rPr>
              <a:t>&amp;</a:t>
            </a:r>
            <a:r>
              <a:rPr lang="en-US" altLang="zh-CN" sz="2400" dirty="0" smtClean="0"/>
              <a:t>x[</a:t>
            </a:r>
            <a:r>
              <a:rPr lang="en-US" altLang="zh-CN" sz="2400" dirty="0" err="1" smtClean="0"/>
              <a:t>max_index</a:t>
            </a:r>
            <a:r>
              <a:rPr lang="en-US" altLang="zh-CN" sz="2400" dirty="0" smtClean="0"/>
              <a:t>]; //</a:t>
            </a:r>
            <a:r>
              <a:rPr lang="zh-CN" altLang="en-US" sz="2400" dirty="0" smtClean="0"/>
              <a:t>返回数组</a:t>
            </a:r>
            <a:r>
              <a:rPr lang="en-US" altLang="zh-CN" sz="2400" dirty="0" smtClean="0"/>
              <a:t>x</a:t>
            </a:r>
            <a:r>
              <a:rPr lang="zh-CN" altLang="en-US" sz="2400" dirty="0" smtClean="0"/>
              <a:t>中最大元素的地址</a:t>
            </a:r>
            <a:endParaRPr lang="en-US" altLang="zh-CN" sz="2400" dirty="0" smtClean="0"/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}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main()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{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a[4]={1,2,3,4};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  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*p=max(a,4); //</a:t>
            </a:r>
            <a:r>
              <a:rPr lang="zh-CN" altLang="en-US" sz="2400" dirty="0" smtClean="0"/>
              <a:t>返回的是</a:t>
            </a:r>
            <a:r>
              <a:rPr lang="en-US" altLang="zh-CN" sz="2400" dirty="0" smtClean="0"/>
              <a:t>a[3]</a:t>
            </a:r>
            <a:r>
              <a:rPr lang="zh-CN" altLang="en-US" sz="2400" dirty="0" smtClean="0"/>
              <a:t>的地址</a:t>
            </a:r>
            <a:endParaRPr lang="en-US" altLang="zh-CN" sz="2400" dirty="0" smtClean="0"/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	</a:t>
            </a:r>
            <a:r>
              <a:rPr lang="en-US" altLang="zh-CN" sz="2400" dirty="0" err="1" smtClean="0"/>
              <a:t>cout</a:t>
            </a:r>
            <a:r>
              <a:rPr lang="en-US" altLang="zh-CN" sz="2400" dirty="0" smtClean="0"/>
              <a:t> &lt;&lt; *p &lt;&lt; ',' &lt;&lt; a[3] &lt;&lt; </a:t>
            </a:r>
            <a:r>
              <a:rPr lang="en-US" altLang="zh-CN" sz="2400" dirty="0" err="1" smtClean="0"/>
              <a:t>endl</a:t>
            </a:r>
            <a:r>
              <a:rPr lang="en-US" altLang="zh-CN" sz="2400" dirty="0" smtClean="0"/>
              <a:t>; //</a:t>
            </a:r>
            <a:r>
              <a:rPr lang="zh-CN" altLang="en-US" sz="2400" dirty="0" smtClean="0"/>
              <a:t>输出：</a:t>
            </a:r>
            <a:r>
              <a:rPr lang="en-US" altLang="zh-CN" sz="2400" dirty="0" smtClean="0"/>
              <a:t>4,4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   (*p)++;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/>
              <a:t>   </a:t>
            </a:r>
            <a:r>
              <a:rPr lang="en-US" altLang="zh-CN" sz="2400" dirty="0" err="1"/>
              <a:t>cout</a:t>
            </a:r>
            <a:r>
              <a:rPr lang="en-US" altLang="zh-CN" sz="2400" dirty="0"/>
              <a:t> &lt;&lt; *p &lt;&lt; ',' &lt;&lt; a[3] &lt;&lt; </a:t>
            </a:r>
            <a:r>
              <a:rPr lang="en-US" altLang="zh-CN" sz="2400" dirty="0" err="1"/>
              <a:t>endl</a:t>
            </a:r>
            <a:r>
              <a:rPr lang="en-US" altLang="zh-CN" sz="2400" dirty="0"/>
              <a:t>; //</a:t>
            </a:r>
            <a:r>
              <a:rPr lang="zh-CN" altLang="en-US" sz="2400" dirty="0"/>
              <a:t>输出</a:t>
            </a:r>
            <a:r>
              <a:rPr lang="zh-CN" altLang="en-US" sz="2400" dirty="0" smtClean="0"/>
              <a:t>：</a:t>
            </a:r>
            <a:r>
              <a:rPr lang="en-US" altLang="zh-CN" sz="2400" dirty="0" smtClean="0"/>
              <a:t>5,5</a:t>
            </a:r>
            <a:endParaRPr lang="en-US" altLang="zh-CN" sz="2400" dirty="0"/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	return 0;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sz="2400" dirty="0" smtClean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1520" y="332656"/>
            <a:ext cx="8229600" cy="6264994"/>
          </a:xfrm>
        </p:spPr>
        <p:txBody>
          <a:bodyPr>
            <a:normAutofit fontScale="92500" lnSpcReduction="10000"/>
          </a:bodyPr>
          <a:lstStyle/>
          <a:p>
            <a:pPr algn="just" eaLnBrk="1" hangingPunct="1">
              <a:lnSpc>
                <a:spcPct val="110000"/>
              </a:lnSpc>
              <a:defRPr/>
            </a:pPr>
            <a:r>
              <a:rPr lang="zh-CN" altLang="en-US" sz="2800" dirty="0" smtClean="0">
                <a:solidFill>
                  <a:srgbClr val="FFC000"/>
                </a:solidFill>
              </a:rPr>
              <a:t>注意：</a:t>
            </a:r>
            <a:r>
              <a:rPr lang="zh-CN" altLang="en-US" sz="2800" dirty="0" smtClean="0"/>
              <a:t>不要把</a:t>
            </a:r>
            <a:r>
              <a:rPr lang="zh-CN" altLang="en-US" sz="2800" dirty="0"/>
              <a:t>函数</a:t>
            </a:r>
            <a:r>
              <a:rPr lang="zh-CN" altLang="en-US" sz="2800" dirty="0" smtClean="0">
                <a:solidFill>
                  <a:srgbClr val="FFC000"/>
                </a:solidFill>
              </a:rPr>
              <a:t>局部量</a:t>
            </a:r>
            <a:r>
              <a:rPr lang="zh-CN" altLang="en-US" sz="2800" dirty="0" smtClean="0"/>
              <a:t>的地址返回给调用者，因为函数返回后，局部量的内存空间已无效！例如：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endParaRPr lang="en-US" altLang="zh-CN" sz="2200" dirty="0" smtClean="0"/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*f()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{ 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</a:t>
            </a:r>
            <a:r>
              <a:rPr lang="en-US" altLang="zh-CN" sz="2200" dirty="0" err="1" smtClean="0"/>
              <a:t>i</a:t>
            </a:r>
            <a:r>
              <a:rPr lang="en-US" altLang="zh-CN" sz="2200" dirty="0" smtClean="0"/>
              <a:t>=0;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   return </a:t>
            </a:r>
            <a:r>
              <a:rPr lang="en-US" altLang="zh-CN" sz="2200" dirty="0" smtClean="0">
                <a:solidFill>
                  <a:srgbClr val="FFC000"/>
                </a:solidFill>
              </a:rPr>
              <a:t>&amp;</a:t>
            </a:r>
            <a:r>
              <a:rPr lang="en-US" altLang="zh-CN" sz="2200" dirty="0" err="1" smtClean="0">
                <a:solidFill>
                  <a:srgbClr val="FFC000"/>
                </a:solidFill>
              </a:rPr>
              <a:t>i</a:t>
            </a:r>
            <a:r>
              <a:rPr lang="en-US" altLang="zh-CN" sz="2200" dirty="0" smtClean="0"/>
              <a:t>; 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}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*g()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{ 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j=1;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   return </a:t>
            </a:r>
            <a:r>
              <a:rPr lang="en-US" altLang="zh-CN" sz="2200" dirty="0" smtClean="0">
                <a:solidFill>
                  <a:srgbClr val="FFC000"/>
                </a:solidFill>
              </a:rPr>
              <a:t>&amp;j</a:t>
            </a:r>
            <a:r>
              <a:rPr lang="en-US" altLang="zh-CN" sz="2200" dirty="0" smtClean="0"/>
              <a:t>; 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}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main()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{ 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x ;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   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*p=f();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   </a:t>
            </a:r>
            <a:r>
              <a:rPr lang="en-US" altLang="zh-CN" sz="2200" dirty="0" err="1" smtClean="0"/>
              <a:t>int</a:t>
            </a:r>
            <a:r>
              <a:rPr lang="en-US" altLang="zh-CN" sz="2200" dirty="0" smtClean="0"/>
              <a:t> *q=g();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	x=*p+*q;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   </a:t>
            </a:r>
            <a:r>
              <a:rPr lang="en-US" altLang="zh-CN" sz="2200" dirty="0" err="1" smtClean="0"/>
              <a:t>cout</a:t>
            </a:r>
            <a:r>
              <a:rPr lang="en-US" altLang="zh-CN" sz="2200" dirty="0" smtClean="0"/>
              <a:t> &lt;&lt; x &lt;&lt; </a:t>
            </a:r>
            <a:r>
              <a:rPr lang="en-US" altLang="zh-CN" sz="2200" dirty="0" err="1" smtClean="0"/>
              <a:t>endl</a:t>
            </a:r>
            <a:r>
              <a:rPr lang="en-US" altLang="zh-CN" sz="2200" dirty="0" smtClean="0"/>
              <a:t>; //</a:t>
            </a:r>
            <a:r>
              <a:rPr lang="zh-CN" altLang="en-US" sz="2200" dirty="0" smtClean="0">
                <a:solidFill>
                  <a:srgbClr val="FFC000"/>
                </a:solidFill>
              </a:rPr>
              <a:t>输出：</a:t>
            </a:r>
            <a:r>
              <a:rPr lang="en-US" altLang="zh-CN" sz="2200" dirty="0" smtClean="0">
                <a:solidFill>
                  <a:srgbClr val="FFC000"/>
                </a:solidFill>
              </a:rPr>
              <a:t>1</a:t>
            </a:r>
            <a:r>
              <a:rPr lang="zh-CN" altLang="en-US" sz="2200" dirty="0" smtClean="0">
                <a:solidFill>
                  <a:srgbClr val="FFC000"/>
                </a:solidFill>
              </a:rPr>
              <a:t>？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sz="2200" dirty="0" smtClean="0"/>
              <a:t>   </a:t>
            </a:r>
            <a:r>
              <a:rPr lang="en-US" altLang="zh-CN" sz="2200" dirty="0" smtClean="0"/>
              <a:t>return 0;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200" dirty="0" smtClean="0"/>
              <a:t>}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44008" y="5373216"/>
            <a:ext cx="367408" cy="40011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algn="just"/>
            <a:r>
              <a:rPr lang="en-US" altLang="zh-CN" sz="20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zh-CN" altLang="en-US" sz="20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2178874" y="2956882"/>
            <a:ext cx="6109365" cy="40011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algn="just"/>
            <a:r>
              <a:rPr lang="en-US" altLang="zh-CN" sz="20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//j</a:t>
            </a:r>
            <a:r>
              <a:rPr lang="zh-CN" altLang="en-US" sz="20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有可能</a:t>
            </a:r>
            <a:r>
              <a:rPr lang="zh-CN" altLang="en-US" sz="20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与</a:t>
            </a:r>
            <a:r>
              <a:rPr lang="zh-CN" altLang="en-US" sz="20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</a:t>
            </a:r>
            <a:r>
              <a:rPr lang="en-US" altLang="zh-CN" sz="20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zh-CN" altLang="en-US" sz="20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的局部变量</a:t>
            </a:r>
            <a:r>
              <a:rPr lang="en-US" altLang="zh-CN" sz="2000" b="0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zh-CN" altLang="en-US" sz="2000" b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占用相同的内存</a:t>
            </a:r>
            <a:r>
              <a:rPr lang="zh-CN" altLang="en-US" sz="2000" b="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空间！</a:t>
            </a:r>
            <a:endParaRPr lang="zh-CN" altLang="en-US" sz="2000" b="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 marL="342900" indent="-342900" algn="just">
          <a:buFont typeface="Arial" panose="020B0604020202020204" pitchFamily="34" charset="0"/>
          <a:buChar char="•"/>
          <a:defRPr dirty="0">
            <a:solidFill>
              <a:srgbClr val="FFC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</a:tx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33145</TotalTime>
  <Words>1947</Words>
  <Application>Microsoft Office PowerPoint</Application>
  <PresentationFormat>全屏显示(4:3)</PresentationFormat>
  <Paragraphs>264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宋体</vt:lpstr>
      <vt:lpstr>Arial</vt:lpstr>
      <vt:lpstr>Verdana</vt:lpstr>
      <vt:lpstr>Wingdings</vt:lpstr>
      <vt:lpstr>Globe</vt:lpstr>
      <vt:lpstr>向函数传递数据的地址</vt:lpstr>
      <vt:lpstr>主要内容</vt:lpstr>
      <vt:lpstr>函数的参数传递 </vt:lpstr>
      <vt:lpstr>参数的值传递</vt:lpstr>
      <vt:lpstr>参数的地址传递</vt:lpstr>
      <vt:lpstr>PowerPoint 演示文稿</vt:lpstr>
      <vt:lpstr>提高参数传递效率</vt:lpstr>
      <vt:lpstr>PowerPoint 演示文稿</vt:lpstr>
      <vt:lpstr> </vt:lpstr>
      <vt:lpstr>PowerPoint 演示文稿</vt:lpstr>
      <vt:lpstr> </vt:lpstr>
      <vt:lpstr>避免指针参数带来不必要的副作用</vt:lpstr>
      <vt:lpstr>指向常量的指针</vt:lpstr>
      <vt:lpstr>指向常量的指针作为函数形参类型</vt:lpstr>
      <vt:lpstr>PowerPoint 演示文稿</vt:lpstr>
      <vt:lpstr>指针类型的常量</vt:lpstr>
      <vt:lpstr>PowerPoint 演示文稿</vt:lpstr>
      <vt:lpstr>指向常量的指针常量</vt:lpstr>
      <vt:lpstr>指针作为函数返回值类型</vt:lpstr>
      <vt:lpstr>PowerPoint 演示文稿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构造数据类型</dc:title>
  <dc:creator>Chen Jiajun</dc:creator>
  <cp:lastModifiedBy>Chen Jiajun</cp:lastModifiedBy>
  <cp:revision>752</cp:revision>
  <dcterms:created xsi:type="dcterms:W3CDTF">2004-12-03T07:36:08Z</dcterms:created>
  <dcterms:modified xsi:type="dcterms:W3CDTF">2026-07-23T07:59:55Z</dcterms:modified>
</cp:coreProperties>
</file>