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75"/>
  </p:notesMasterIdLst>
  <p:sldIdLst>
    <p:sldId id="257" r:id="rId2"/>
    <p:sldId id="592" r:id="rId3"/>
    <p:sldId id="259" r:id="rId4"/>
    <p:sldId id="593" r:id="rId5"/>
    <p:sldId id="265" r:id="rId6"/>
    <p:sldId id="525" r:id="rId7"/>
    <p:sldId id="360" r:id="rId8"/>
    <p:sldId id="594" r:id="rId9"/>
    <p:sldId id="303" r:id="rId10"/>
    <p:sldId id="298" r:id="rId11"/>
    <p:sldId id="302" r:id="rId12"/>
    <p:sldId id="304" r:id="rId13"/>
    <p:sldId id="388" r:id="rId14"/>
    <p:sldId id="553" r:id="rId15"/>
    <p:sldId id="552" r:id="rId16"/>
    <p:sldId id="311" r:id="rId17"/>
    <p:sldId id="399" r:id="rId18"/>
    <p:sldId id="312" r:id="rId19"/>
    <p:sldId id="313" r:id="rId20"/>
    <p:sldId id="314" r:id="rId21"/>
    <p:sldId id="301" r:id="rId22"/>
    <p:sldId id="530" r:id="rId23"/>
    <p:sldId id="595" r:id="rId24"/>
    <p:sldId id="267" r:id="rId25"/>
    <p:sldId id="299" r:id="rId26"/>
    <p:sldId id="572" r:id="rId27"/>
    <p:sldId id="390" r:id="rId28"/>
    <p:sldId id="555" r:id="rId29"/>
    <p:sldId id="529" r:id="rId30"/>
    <p:sldId id="566" r:id="rId31"/>
    <p:sldId id="586" r:id="rId32"/>
    <p:sldId id="268" r:id="rId33"/>
    <p:sldId id="269" r:id="rId34"/>
    <p:sldId id="596" r:id="rId35"/>
    <p:sldId id="533" r:id="rId36"/>
    <p:sldId id="532" r:id="rId37"/>
    <p:sldId id="563" r:id="rId38"/>
    <p:sldId id="590" r:id="rId39"/>
    <p:sldId id="531" r:id="rId40"/>
    <p:sldId id="306" r:id="rId41"/>
    <p:sldId id="428" r:id="rId42"/>
    <p:sldId id="569" r:id="rId43"/>
    <p:sldId id="573" r:id="rId44"/>
    <p:sldId id="305" r:id="rId45"/>
    <p:sldId id="557" r:id="rId46"/>
    <p:sldId id="585" r:id="rId47"/>
    <p:sldId id="270" r:id="rId48"/>
    <p:sldId id="556" r:id="rId49"/>
    <p:sldId id="567" r:id="rId50"/>
    <p:sldId id="546" r:id="rId51"/>
    <p:sldId id="587" r:id="rId52"/>
    <p:sldId id="588" r:id="rId53"/>
    <p:sldId id="544" r:id="rId54"/>
    <p:sldId id="568" r:id="rId55"/>
    <p:sldId id="271" r:id="rId56"/>
    <p:sldId id="401" r:id="rId57"/>
    <p:sldId id="361" r:id="rId58"/>
    <p:sldId id="391" r:id="rId59"/>
    <p:sldId id="394" r:id="rId60"/>
    <p:sldId id="272" r:id="rId61"/>
    <p:sldId id="308" r:id="rId62"/>
    <p:sldId id="392" r:id="rId63"/>
    <p:sldId id="560" r:id="rId64"/>
    <p:sldId id="393" r:id="rId65"/>
    <p:sldId id="574" r:id="rId66"/>
    <p:sldId id="575" r:id="rId67"/>
    <p:sldId id="379" r:id="rId68"/>
    <p:sldId id="521" r:id="rId69"/>
    <p:sldId id="534" r:id="rId70"/>
    <p:sldId id="307" r:id="rId71"/>
    <p:sldId id="309" r:id="rId72"/>
    <p:sldId id="310" r:id="rId73"/>
    <p:sldId id="581" r:id="rId74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66C"/>
    <a:srgbClr val="004182"/>
    <a:srgbClr val="00458A"/>
    <a:srgbClr val="006BD6"/>
    <a:srgbClr val="0097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2" autoAdjust="0"/>
    <p:restoredTop sz="94631" autoAdjust="0"/>
  </p:normalViewPr>
  <p:slideViewPr>
    <p:cSldViewPr>
      <p:cViewPr varScale="1">
        <p:scale>
          <a:sx n="70" d="100"/>
          <a:sy n="70" d="100"/>
        </p:scale>
        <p:origin x="68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56D76-AACF-4107-A0A6-48831FECDFB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478CC-71F1-4B6F-9A62-58CCE68A2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086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6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5226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EEBD7-5845-4E60-BBD7-262F4E67B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03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93BE5-25B9-4E46-9719-636B716C80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24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34684-A919-433B-A097-0069872919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53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90531-C77A-4AE2-A46F-8B28207974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8227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E0DBF-F0DD-433B-8161-8B7DF6F90F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11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50FA3-EEFA-48A7-B1C9-DBFA2C89C0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212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3E317-59D3-4924-B226-9D29B6387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13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4C726-A5EE-41BD-8271-8AFA102B9F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4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4DF25-4EAA-488A-8FC8-F8EB48AC41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41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BCC80-A883-4A0B-A67B-6333767FF6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24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3C882-1FCC-4668-B769-60641EA0D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603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51203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4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5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51207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8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9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0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1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2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3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4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5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6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7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8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9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1220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1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2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5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3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4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fld id="{FB8E69C5-826F-42B2-8B89-667026A6A0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4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23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4838"/>
            <a:ext cx="7772400" cy="13509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 smtClean="0"/>
              <a:t>数组类型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数组类型概述</a:t>
            </a:r>
            <a:endParaRPr lang="en-US" altLang="zh-CN" dirty="0" smtClean="0"/>
          </a:p>
          <a:p>
            <a:r>
              <a:rPr lang="zh-CN" altLang="en-US" dirty="0"/>
              <a:t>一维数</a:t>
            </a:r>
            <a:r>
              <a:rPr lang="zh-CN" altLang="en-US" dirty="0" smtClean="0"/>
              <a:t>组</a:t>
            </a:r>
            <a:endParaRPr lang="en-US" altLang="zh-CN" dirty="0" smtClean="0"/>
          </a:p>
          <a:p>
            <a:r>
              <a:rPr lang="zh-CN" altLang="en-US" dirty="0" smtClean="0"/>
              <a:t>字符串</a:t>
            </a:r>
            <a:endParaRPr lang="en-US" altLang="zh-CN" dirty="0" smtClean="0"/>
          </a:p>
          <a:p>
            <a:r>
              <a:rPr lang="zh-CN" altLang="en-US" dirty="0"/>
              <a:t>二维数组</a:t>
            </a:r>
          </a:p>
        </p:txBody>
      </p:sp>
    </p:spTree>
    <p:extLst>
      <p:ext uri="{BB962C8B-B14F-4D97-AF65-F5344CB8AC3E}">
        <p14:creationId xmlns:p14="http://schemas.microsoft.com/office/powerpoint/2010/main" val="2356988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976537"/>
            <a:ext cx="8784976" cy="42607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如何表示</a:t>
            </a:r>
            <a:r>
              <a:rPr lang="zh-CN" altLang="en-US" sz="2800" dirty="0" smtClean="0">
                <a:solidFill>
                  <a:srgbClr val="FFC000"/>
                </a:solidFill>
              </a:rPr>
              <a:t>向量</a:t>
            </a:r>
            <a:r>
              <a:rPr lang="zh-CN" altLang="en-US" sz="2800" dirty="0" smtClean="0"/>
              <a:t>和</a:t>
            </a:r>
            <a:r>
              <a:rPr lang="zh-CN" altLang="en-US" sz="2800" dirty="0" smtClean="0">
                <a:solidFill>
                  <a:srgbClr val="FFC000"/>
                </a:solidFill>
              </a:rPr>
              <a:t>矩阵</a:t>
            </a:r>
            <a:r>
              <a:rPr lang="zh-CN" altLang="en-US" sz="2800" dirty="0" smtClean="0"/>
              <a:t>这样的复合数据？如果用独立的变量来分别表示它们的元素，则会面临：</a:t>
            </a:r>
          </a:p>
          <a:p>
            <a:pPr lvl="1" eaLnBrk="1" hangingPunct="1">
              <a:defRPr/>
            </a:pPr>
            <a:r>
              <a:rPr lang="zh-CN" altLang="en-US" sz="2400" dirty="0" smtClean="0"/>
              <a:t>变量数量太多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x1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x2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x3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...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y11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y12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y21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y22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...</a:t>
            </a:r>
            <a:r>
              <a:rPr lang="zh-CN" altLang="en-US" sz="2000" dirty="0" smtClean="0"/>
              <a:t>）</a:t>
            </a:r>
            <a:r>
              <a:rPr lang="zh-CN" altLang="en-US" sz="2400" dirty="0" smtClean="0"/>
              <a:t>。</a:t>
            </a:r>
          </a:p>
          <a:p>
            <a:pPr lvl="1" eaLnBrk="1" hangingPunct="1">
              <a:defRPr/>
            </a:pPr>
            <a:r>
              <a:rPr lang="zh-CN" altLang="en-US" sz="2400" dirty="0" smtClean="0"/>
              <a:t>变量之间缺乏显式的联系。</a:t>
            </a:r>
          </a:p>
          <a:p>
            <a:pPr eaLnBrk="1" hangingPunct="1"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提供了数组类型来表示上述的数据：</a:t>
            </a: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数组类型</a:t>
            </a:r>
            <a:r>
              <a:rPr lang="zh-CN" altLang="en-US" sz="2400" dirty="0" smtClean="0"/>
              <a:t>是一种由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固定</a:t>
            </a:r>
            <a:r>
              <a:rPr lang="zh-CN" altLang="en-US" sz="2400" dirty="0" smtClean="0"/>
              <a:t>多个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同类型</a:t>
            </a:r>
            <a:r>
              <a:rPr lang="zh-CN" altLang="en-US" sz="2400" dirty="0" smtClean="0"/>
              <a:t>的元素按一定次序所构成的复合数据类型。</a:t>
            </a:r>
          </a:p>
          <a:p>
            <a:pPr lvl="1" eaLnBrk="1" hangingPunct="1">
              <a:defRPr/>
            </a:pPr>
            <a:r>
              <a:rPr lang="zh-CN" altLang="en-US" sz="2400" dirty="0"/>
              <a:t>数组类型是一种用户自定义的</a:t>
            </a:r>
            <a:r>
              <a:rPr lang="zh-CN" altLang="en-US" sz="2400" dirty="0" smtClean="0"/>
              <a:t>数据类型。</a:t>
            </a:r>
            <a:endParaRPr lang="en-US" altLang="zh-CN" sz="2400" dirty="0" smtClean="0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7200" y="200943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数组类型概述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94619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数组类型可分为：</a:t>
            </a:r>
          </a:p>
          <a:p>
            <a:pPr lvl="1" eaLnBrk="1" hangingPunct="1">
              <a:defRPr/>
            </a:pPr>
            <a:r>
              <a:rPr lang="zh-CN" altLang="en-US" sz="2400" dirty="0"/>
              <a:t>一维数组：表示向量等具有线性结构</a:t>
            </a:r>
            <a:r>
              <a:rPr lang="zh-CN" altLang="en-US" sz="2400" dirty="0" smtClean="0"/>
              <a:t>的复合数据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zh-CN" altLang="en-US" sz="2400" dirty="0"/>
              <a:t>二维数组：表示矩阵等具有行列结构</a:t>
            </a:r>
            <a:r>
              <a:rPr lang="zh-CN" altLang="en-US" sz="2400" dirty="0" smtClean="0"/>
              <a:t>的复合数据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zh-CN" altLang="en-US" sz="2400" dirty="0"/>
              <a:t>多维数组：表示具有三维及三维以上结构</a:t>
            </a:r>
            <a:r>
              <a:rPr lang="zh-CN" altLang="en-US" sz="2400" dirty="0" smtClean="0"/>
              <a:t>的复合数据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9489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一维数组</a:t>
            </a:r>
            <a:r>
              <a:rPr lang="zh-CN" altLang="en-US" b="1" dirty="0" smtClean="0"/>
              <a:t> 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43608"/>
            <a:ext cx="8893175" cy="479370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zh-CN" altLang="en-US" dirty="0"/>
              <a:t>一维数组</a:t>
            </a:r>
            <a:r>
              <a:rPr lang="zh-CN" altLang="en-US" dirty="0" smtClean="0"/>
              <a:t>用于表示由</a:t>
            </a:r>
            <a:r>
              <a:rPr lang="zh-CN" altLang="en-US" dirty="0" smtClean="0">
                <a:solidFill>
                  <a:schemeClr val="folHlink"/>
                </a:solidFill>
              </a:rPr>
              <a:t>固定</a:t>
            </a:r>
            <a:r>
              <a:rPr lang="zh-CN" altLang="en-US" dirty="0" smtClean="0"/>
              <a:t>多个</a:t>
            </a:r>
            <a:r>
              <a:rPr lang="zh-CN" altLang="en-US" dirty="0" smtClean="0">
                <a:solidFill>
                  <a:srgbClr val="FFC000"/>
                </a:solidFill>
              </a:rPr>
              <a:t>同类型</a:t>
            </a:r>
            <a:r>
              <a:rPr lang="zh-CN" altLang="en-US" dirty="0" smtClean="0"/>
              <a:t>的具有</a:t>
            </a:r>
            <a:r>
              <a:rPr lang="zh-CN" altLang="en-US" dirty="0" smtClean="0">
                <a:solidFill>
                  <a:srgbClr val="FFC000"/>
                </a:solidFill>
              </a:rPr>
              <a:t>线性次序关系</a:t>
            </a:r>
            <a:r>
              <a:rPr lang="zh-CN" altLang="en-US" dirty="0" smtClean="0"/>
              <a:t>的</a:t>
            </a:r>
            <a:r>
              <a:rPr lang="zh-CN" altLang="en-US" dirty="0"/>
              <a:t>元素</a:t>
            </a:r>
            <a:r>
              <a:rPr lang="zh-CN" altLang="en-US" dirty="0" smtClean="0"/>
              <a:t>所构成的复合数据。例如：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向量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某门课程的成绩表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某班级学生的姓名表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en-US" altLang="zh-CN" dirty="0" smtClean="0"/>
              <a:t>......</a:t>
            </a:r>
          </a:p>
          <a:p>
            <a:pPr eaLnBrk="1" hangingPunct="1">
              <a:defRPr/>
            </a:pPr>
            <a:r>
              <a:rPr lang="zh-CN" altLang="en-US" dirty="0" smtClean="0"/>
              <a:t>上述数据可抽象为</a:t>
            </a:r>
            <a:r>
              <a:rPr lang="zh-CN" altLang="en-US" dirty="0" smtClean="0">
                <a:solidFill>
                  <a:srgbClr val="FFC000"/>
                </a:solidFill>
              </a:rPr>
              <a:t>线性表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除了两个元素外，其他每一</a:t>
            </a:r>
            <a:r>
              <a:rPr lang="zh-CN" altLang="en-US" dirty="0"/>
              <a:t>个元素都</a:t>
            </a:r>
            <a:r>
              <a:rPr lang="zh-CN" altLang="en-US" dirty="0" smtClean="0"/>
              <a:t>有且仅有一个直接前驱和一个直接后继；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除外的两个元素中，一个只有前驱，另一个只有后继。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一维数组类型定义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1600200"/>
            <a:ext cx="8686800" cy="453072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dirty="0" smtClean="0"/>
              <a:t>一维数</a:t>
            </a:r>
            <a:r>
              <a:rPr lang="zh-CN" altLang="en-US" dirty="0"/>
              <a:t>组类型定义格式为：</a:t>
            </a:r>
            <a:endParaRPr lang="zh-CN" altLang="en-US" dirty="0">
              <a:cs typeface="Times New Roman" pitchFamily="18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>
                <a:solidFill>
                  <a:srgbClr val="FFC000"/>
                </a:solidFill>
                <a:cs typeface="Courier New" pitchFamily="49" charset="0"/>
              </a:rPr>
              <a:t>typedef</a:t>
            </a:r>
            <a:r>
              <a:rPr lang="en-US" altLang="zh-CN" sz="2400" dirty="0">
                <a:cs typeface="Courier New" pitchFamily="49" charset="0"/>
              </a:rPr>
              <a:t> &lt;</a:t>
            </a:r>
            <a:r>
              <a:rPr lang="zh-CN" altLang="en-US" sz="2400" dirty="0"/>
              <a:t>元素类型</a:t>
            </a:r>
            <a:r>
              <a:rPr lang="en-US" altLang="zh-CN" sz="2400" dirty="0">
                <a:cs typeface="Courier New" pitchFamily="49" charset="0"/>
              </a:rPr>
              <a:t>&gt; </a:t>
            </a:r>
            <a:r>
              <a:rPr lang="en-US" altLang="zh-CN" sz="2400" u="sng" dirty="0">
                <a:cs typeface="Courier New" pitchFamily="49" charset="0"/>
              </a:rPr>
              <a:t>&lt;</a:t>
            </a:r>
            <a:r>
              <a:rPr lang="zh-CN" altLang="en-US" sz="2400" u="sng" dirty="0"/>
              <a:t>一维数组类型名</a:t>
            </a:r>
            <a:r>
              <a:rPr lang="en-US" altLang="zh-CN" sz="2400" u="sng" dirty="0">
                <a:cs typeface="Courier New" pitchFamily="49" charset="0"/>
              </a:rPr>
              <a:t>&gt;</a:t>
            </a:r>
            <a:r>
              <a:rPr lang="en-US" altLang="zh-CN" sz="2400" dirty="0">
                <a:solidFill>
                  <a:srgbClr val="FFC000"/>
                </a:solidFill>
                <a:cs typeface="Courier New" pitchFamily="49" charset="0"/>
              </a:rPr>
              <a:t>[</a:t>
            </a:r>
            <a:r>
              <a:rPr lang="en-US" altLang="zh-CN" sz="2400" dirty="0">
                <a:cs typeface="Courier New" pitchFamily="49" charset="0"/>
              </a:rPr>
              <a:t>&lt;</a:t>
            </a:r>
            <a:r>
              <a:rPr lang="zh-CN" altLang="en-US" sz="2400" dirty="0"/>
              <a:t>元素个数</a:t>
            </a:r>
            <a:r>
              <a:rPr lang="en-US" altLang="zh-CN" sz="2400" dirty="0">
                <a:cs typeface="Courier New" pitchFamily="49" charset="0"/>
              </a:rPr>
              <a:t>&gt;</a:t>
            </a:r>
            <a:r>
              <a:rPr lang="en-US" altLang="zh-CN" sz="2400" dirty="0">
                <a:solidFill>
                  <a:srgbClr val="FFC000"/>
                </a:solidFill>
                <a:cs typeface="Courier New" pitchFamily="49" charset="0"/>
              </a:rPr>
              <a:t>];</a:t>
            </a:r>
            <a:r>
              <a:rPr lang="en-US" altLang="zh-CN" dirty="0">
                <a:cs typeface="Courier New" pitchFamily="49" charset="0"/>
              </a:rPr>
              <a:t> </a:t>
            </a:r>
          </a:p>
          <a:p>
            <a:pPr lvl="1" eaLnBrk="1" hangingPunct="1">
              <a:defRPr/>
            </a:pPr>
            <a:r>
              <a:rPr lang="en-US" altLang="zh-CN" dirty="0">
                <a:cs typeface="Courier New" pitchFamily="49" charset="0"/>
              </a:rPr>
              <a:t>&lt;</a:t>
            </a:r>
            <a:r>
              <a:rPr lang="zh-CN" altLang="en-US" dirty="0"/>
              <a:t>一维数组类型名</a:t>
            </a:r>
            <a:r>
              <a:rPr lang="en-US" altLang="zh-CN" dirty="0" smtClean="0">
                <a:cs typeface="Courier New" pitchFamily="49" charset="0"/>
              </a:rPr>
              <a:t>&gt;</a:t>
            </a:r>
            <a:r>
              <a:rPr lang="zh-CN" altLang="en-US" dirty="0" smtClean="0">
                <a:cs typeface="Courier New" pitchFamily="49" charset="0"/>
              </a:rPr>
              <a:t>为一维数组类型的名字</a:t>
            </a:r>
            <a:endParaRPr lang="en-US" altLang="zh-CN" dirty="0" smtClean="0">
              <a:cs typeface="Courier New" pitchFamily="49" charset="0"/>
            </a:endParaRPr>
          </a:p>
          <a:p>
            <a:pPr lvl="1" eaLnBrk="1" hangingPunct="1">
              <a:defRPr/>
            </a:pPr>
            <a:r>
              <a:rPr lang="en-US" altLang="zh-CN" dirty="0" smtClean="0">
                <a:cs typeface="Courier New" pitchFamily="49" charset="0"/>
              </a:rPr>
              <a:t>&lt;</a:t>
            </a:r>
            <a:r>
              <a:rPr lang="zh-CN" altLang="en-US" dirty="0"/>
              <a:t>元素类型</a:t>
            </a:r>
            <a:r>
              <a:rPr lang="en-US" altLang="zh-CN" dirty="0">
                <a:cs typeface="Courier New" pitchFamily="49" charset="0"/>
              </a:rPr>
              <a:t>&gt;</a:t>
            </a:r>
            <a:r>
              <a:rPr lang="zh-CN" altLang="en-US" dirty="0">
                <a:cs typeface="Courier New" pitchFamily="49" charset="0"/>
              </a:rPr>
              <a:t>为任意</a:t>
            </a:r>
            <a:r>
              <a:rPr lang="en-US" altLang="zh-CN" dirty="0">
                <a:cs typeface="Courier New" pitchFamily="49" charset="0"/>
              </a:rPr>
              <a:t>C++</a:t>
            </a:r>
            <a:r>
              <a:rPr lang="zh-CN" altLang="en-US" dirty="0">
                <a:cs typeface="Courier New" pitchFamily="49" charset="0"/>
              </a:rPr>
              <a:t>类型（</a:t>
            </a:r>
            <a:r>
              <a:rPr lang="en-US" altLang="zh-CN" dirty="0">
                <a:cs typeface="Courier New" pitchFamily="49" charset="0"/>
              </a:rPr>
              <a:t>void</a:t>
            </a:r>
            <a:r>
              <a:rPr lang="zh-CN" altLang="en-US" dirty="0">
                <a:cs typeface="Courier New" pitchFamily="49" charset="0"/>
              </a:rPr>
              <a:t>除外）</a:t>
            </a:r>
          </a:p>
          <a:p>
            <a:pPr lvl="1" eaLnBrk="1" hangingPunct="1">
              <a:defRPr/>
            </a:pPr>
            <a:r>
              <a:rPr lang="en-US" altLang="zh-CN" dirty="0">
                <a:cs typeface="Courier New" pitchFamily="49" charset="0"/>
              </a:rPr>
              <a:t>&lt;</a:t>
            </a:r>
            <a:r>
              <a:rPr lang="zh-CN" altLang="en-US" dirty="0">
                <a:cs typeface="Courier New" pitchFamily="49" charset="0"/>
              </a:rPr>
              <a:t>元素个数</a:t>
            </a:r>
            <a:r>
              <a:rPr lang="en-US" altLang="zh-CN" dirty="0">
                <a:cs typeface="Courier New" pitchFamily="49" charset="0"/>
              </a:rPr>
              <a:t>&gt;</a:t>
            </a:r>
            <a:r>
              <a:rPr lang="zh-CN" altLang="en-US" dirty="0">
                <a:cs typeface="Courier New" pitchFamily="49" charset="0"/>
              </a:rPr>
              <a:t>为</a:t>
            </a:r>
            <a:r>
              <a:rPr lang="zh-CN" altLang="en-US" dirty="0">
                <a:solidFill>
                  <a:schemeClr val="folHlink"/>
                </a:solidFill>
                <a:cs typeface="Courier New" pitchFamily="49" charset="0"/>
              </a:rPr>
              <a:t>整型常量表达式</a:t>
            </a:r>
          </a:p>
          <a:p>
            <a:pPr eaLnBrk="1" hangingPunct="1">
              <a:defRPr/>
            </a:pPr>
            <a:r>
              <a:rPr lang="zh-CN" altLang="en-US" dirty="0">
                <a:cs typeface="Courier New" pitchFamily="49" charset="0"/>
              </a:rPr>
              <a:t>例如：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dirty="0" err="1">
                <a:cs typeface="Courier New" pitchFamily="49" charset="0"/>
              </a:rPr>
              <a:t>typedef</a:t>
            </a:r>
            <a:r>
              <a:rPr lang="en-US" altLang="zh-CN" dirty="0">
                <a:cs typeface="Courier New" pitchFamily="49" charset="0"/>
              </a:rPr>
              <a:t> </a:t>
            </a:r>
            <a:r>
              <a:rPr lang="en-US" altLang="zh-CN" dirty="0" err="1">
                <a:cs typeface="Courier New" pitchFamily="49" charset="0"/>
              </a:rPr>
              <a:t>int</a:t>
            </a:r>
            <a:r>
              <a:rPr lang="en-US" altLang="zh-CN" dirty="0">
                <a:cs typeface="Courier New" pitchFamily="49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cs typeface="Courier New" pitchFamily="49" charset="0"/>
              </a:rPr>
              <a:t>A</a:t>
            </a:r>
            <a:r>
              <a:rPr lang="en-US" altLang="zh-CN" dirty="0">
                <a:cs typeface="Courier New" pitchFamily="49" charset="0"/>
              </a:rPr>
              <a:t>[10]; </a:t>
            </a:r>
            <a:r>
              <a:rPr lang="en-US" altLang="zh-CN" dirty="0" smtClean="0">
                <a:cs typeface="Courier New" pitchFamily="49" charset="0"/>
              </a:rPr>
              <a:t>//A</a:t>
            </a:r>
            <a:r>
              <a:rPr lang="zh-CN" altLang="en-US" dirty="0" smtClean="0">
                <a:cs typeface="Courier New" pitchFamily="49" charset="0"/>
              </a:rPr>
              <a:t>是由</a:t>
            </a:r>
            <a:r>
              <a:rPr lang="en-US" altLang="zh-CN" dirty="0">
                <a:cs typeface="Courier New" pitchFamily="49" charset="0"/>
              </a:rPr>
              <a:t>10</a:t>
            </a:r>
            <a:r>
              <a:rPr lang="zh-CN" altLang="en-US" dirty="0">
                <a:cs typeface="Courier New" pitchFamily="49" charset="0"/>
              </a:rPr>
              <a:t>个</a:t>
            </a:r>
            <a:r>
              <a:rPr lang="en-US" altLang="zh-CN" dirty="0" err="1">
                <a:cs typeface="Courier New" pitchFamily="49" charset="0"/>
              </a:rPr>
              <a:t>int</a:t>
            </a:r>
            <a:r>
              <a:rPr lang="zh-CN" altLang="en-US" dirty="0">
                <a:cs typeface="Courier New" pitchFamily="49" charset="0"/>
              </a:rPr>
              <a:t>型</a:t>
            </a:r>
            <a:r>
              <a:rPr lang="zh-CN" altLang="en-US" dirty="0" smtClean="0">
                <a:cs typeface="Courier New" pitchFamily="49" charset="0"/>
              </a:rPr>
              <a:t>元素构成</a:t>
            </a:r>
            <a:r>
              <a:rPr lang="zh-CN" altLang="en-US" dirty="0">
                <a:cs typeface="Courier New" pitchFamily="49" charset="0"/>
              </a:rPr>
              <a:t>的</a:t>
            </a:r>
          </a:p>
          <a:p>
            <a:pPr lvl="2" eaLnBrk="1" hangingPunct="1">
              <a:buNone/>
              <a:defRPr/>
            </a:pPr>
            <a:r>
              <a:rPr lang="zh-CN" altLang="en-US" dirty="0">
                <a:cs typeface="Courier New" pitchFamily="49" charset="0"/>
              </a:rPr>
              <a:t>				 </a:t>
            </a:r>
            <a:r>
              <a:rPr lang="en-US" altLang="zh-CN" sz="2800" dirty="0" smtClean="0">
                <a:cs typeface="Courier New" pitchFamily="49" charset="0"/>
              </a:rPr>
              <a:t>//</a:t>
            </a:r>
            <a:r>
              <a:rPr lang="zh-CN" altLang="en-US" sz="2800" dirty="0">
                <a:cs typeface="Courier New" pitchFamily="49" charset="0"/>
              </a:rPr>
              <a:t>一维数组</a:t>
            </a:r>
            <a:r>
              <a:rPr lang="zh-CN" altLang="en-US" sz="2800" dirty="0" smtClean="0">
                <a:cs typeface="Courier New" pitchFamily="49" charset="0"/>
              </a:rPr>
              <a:t>类型</a:t>
            </a:r>
            <a:endParaRPr lang="zh-CN" altLang="en-US" sz="2800" dirty="0">
              <a:cs typeface="Courier New" pitchFamily="49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74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916832"/>
            <a:ext cx="8784654" cy="331236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>
                <a:cs typeface="Courier New" pitchFamily="49" charset="0"/>
              </a:rPr>
              <a:t>一维数组类型变量定义格式为：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 smtClean="0">
                <a:cs typeface="Courier New" pitchFamily="49" charset="0"/>
              </a:rPr>
              <a:t>	&lt;</a:t>
            </a:r>
            <a:r>
              <a:rPr lang="zh-CN" altLang="en-US" dirty="0" smtClean="0"/>
              <a:t>一维数组类型名</a:t>
            </a:r>
            <a:r>
              <a:rPr lang="en-US" altLang="zh-CN" dirty="0" smtClean="0">
                <a:cs typeface="Courier New" pitchFamily="49" charset="0"/>
              </a:rPr>
              <a:t>&gt; </a:t>
            </a:r>
            <a:r>
              <a:rPr lang="en-US" altLang="zh-CN" u="sng" dirty="0" smtClean="0">
                <a:cs typeface="Courier New" pitchFamily="49" charset="0"/>
              </a:rPr>
              <a:t>&lt;</a:t>
            </a:r>
            <a:r>
              <a:rPr lang="zh-CN" altLang="en-US" u="sng" dirty="0" smtClean="0"/>
              <a:t>一维数组变量名</a:t>
            </a:r>
            <a:r>
              <a:rPr lang="en-US" altLang="zh-CN" u="sng" dirty="0" smtClean="0">
                <a:cs typeface="Courier New" pitchFamily="49" charset="0"/>
              </a:rPr>
              <a:t>&gt;</a:t>
            </a:r>
            <a:r>
              <a:rPr lang="en-US" altLang="zh-CN" dirty="0" smtClean="0">
                <a:solidFill>
                  <a:srgbClr val="FFC000"/>
                </a:solidFill>
                <a:cs typeface="Courier New" pitchFamily="49" charset="0"/>
              </a:rPr>
              <a:t>;</a:t>
            </a:r>
            <a:endParaRPr lang="zh-CN" altLang="en-US" dirty="0" smtClean="0">
              <a:solidFill>
                <a:srgbClr val="FFC000"/>
              </a:solidFill>
              <a:cs typeface="Courier New" pitchFamily="49" charset="0"/>
            </a:endParaRP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dirty="0" smtClean="0">
                <a:cs typeface="Courier New" pitchFamily="49" charset="0"/>
              </a:rPr>
              <a:t>或（变量和类型定义合一）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 smtClean="0">
                <a:cs typeface="Courier New" pitchFamily="49" charset="0"/>
              </a:rPr>
              <a:t>	&lt;</a:t>
            </a:r>
            <a:r>
              <a:rPr lang="zh-CN" altLang="en-US" dirty="0" smtClean="0"/>
              <a:t>元素类型</a:t>
            </a:r>
            <a:r>
              <a:rPr lang="en-US" altLang="zh-CN" dirty="0" smtClean="0">
                <a:cs typeface="Courier New" pitchFamily="49" charset="0"/>
              </a:rPr>
              <a:t>&gt; </a:t>
            </a:r>
            <a:r>
              <a:rPr lang="en-US" altLang="zh-CN" u="sng" dirty="0" smtClean="0">
                <a:cs typeface="Courier New" pitchFamily="49" charset="0"/>
              </a:rPr>
              <a:t>&lt;</a:t>
            </a:r>
            <a:r>
              <a:rPr lang="zh-CN" altLang="en-US" u="sng" dirty="0" smtClean="0"/>
              <a:t>一维数组变量名</a:t>
            </a:r>
            <a:r>
              <a:rPr lang="en-US" altLang="zh-CN" u="sng" dirty="0" smtClean="0">
                <a:cs typeface="Courier New" pitchFamily="49" charset="0"/>
              </a:rPr>
              <a:t>&gt;</a:t>
            </a:r>
            <a:r>
              <a:rPr lang="en-US" altLang="zh-CN" dirty="0" smtClean="0">
                <a:solidFill>
                  <a:srgbClr val="FFC000"/>
                </a:solidFill>
                <a:cs typeface="Courier New" pitchFamily="49" charset="0"/>
              </a:rPr>
              <a:t>[</a:t>
            </a:r>
            <a:r>
              <a:rPr lang="en-US" altLang="zh-CN" dirty="0" smtClean="0">
                <a:cs typeface="Courier New" pitchFamily="49" charset="0"/>
              </a:rPr>
              <a:t>&lt;</a:t>
            </a:r>
            <a:r>
              <a:rPr lang="zh-CN" altLang="en-US" dirty="0" smtClean="0"/>
              <a:t>元素个数</a:t>
            </a:r>
            <a:r>
              <a:rPr lang="en-US" altLang="zh-CN" dirty="0" smtClean="0">
                <a:cs typeface="Courier New" pitchFamily="49" charset="0"/>
              </a:rPr>
              <a:t>&gt;</a:t>
            </a:r>
            <a:r>
              <a:rPr lang="en-US" altLang="zh-CN" dirty="0" smtClean="0">
                <a:solidFill>
                  <a:srgbClr val="FFC000"/>
                </a:solidFill>
                <a:cs typeface="Courier New" pitchFamily="49" charset="0"/>
              </a:rPr>
              <a:t>];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>
                <a:cs typeface="Courier New" pitchFamily="49" charset="0"/>
              </a:rPr>
              <a:t>&lt;</a:t>
            </a:r>
            <a:r>
              <a:rPr lang="zh-CN" altLang="en-US" dirty="0"/>
              <a:t>一维数</a:t>
            </a:r>
            <a:r>
              <a:rPr lang="zh-CN" altLang="en-US" dirty="0" smtClean="0"/>
              <a:t>组变量名</a:t>
            </a:r>
            <a:r>
              <a:rPr lang="en-US" altLang="zh-CN" dirty="0" smtClean="0">
                <a:cs typeface="Courier New" pitchFamily="49" charset="0"/>
              </a:rPr>
              <a:t>&gt;</a:t>
            </a:r>
            <a:r>
              <a:rPr lang="zh-CN" altLang="en-US" dirty="0" smtClean="0">
                <a:cs typeface="Courier New" pitchFamily="49" charset="0"/>
              </a:rPr>
              <a:t>为一维数组变量的名字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&lt;</a:t>
            </a:r>
            <a:r>
              <a:rPr lang="zh-CN" altLang="en-US" dirty="0" smtClean="0"/>
              <a:t>元素类型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为任意</a:t>
            </a:r>
            <a:r>
              <a:rPr lang="en-US" altLang="zh-CN" dirty="0" smtClean="0"/>
              <a:t>C++</a:t>
            </a:r>
            <a:r>
              <a:rPr lang="zh-CN" altLang="en-US" dirty="0" smtClean="0"/>
              <a:t>类型（</a:t>
            </a:r>
            <a:r>
              <a:rPr lang="en-US" altLang="zh-CN" dirty="0" smtClean="0"/>
              <a:t>void</a:t>
            </a:r>
            <a:r>
              <a:rPr lang="zh-CN" altLang="en-US" dirty="0" smtClean="0"/>
              <a:t>除外）</a:t>
            </a:r>
            <a:endParaRPr lang="zh-CN" altLang="en-US" dirty="0" smtClean="0">
              <a:cs typeface="Courier New" pitchFamily="49" charset="0"/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 smtClean="0">
                <a:cs typeface="Courier New" pitchFamily="49" charset="0"/>
              </a:rPr>
              <a:t>&lt;</a:t>
            </a:r>
            <a:r>
              <a:rPr lang="zh-CN" altLang="en-US" dirty="0" smtClean="0">
                <a:cs typeface="Courier New" pitchFamily="49" charset="0"/>
              </a:rPr>
              <a:t>元素个数</a:t>
            </a:r>
            <a:r>
              <a:rPr lang="en-US" altLang="zh-CN" dirty="0" smtClean="0">
                <a:cs typeface="Courier New" pitchFamily="49" charset="0"/>
              </a:rPr>
              <a:t>&gt;</a:t>
            </a:r>
            <a:r>
              <a:rPr lang="zh-CN" altLang="en-US" dirty="0" smtClean="0">
                <a:cs typeface="Courier New" pitchFamily="49" charset="0"/>
              </a:rPr>
              <a:t>为</a:t>
            </a:r>
            <a:r>
              <a:rPr lang="zh-CN" altLang="en-US" dirty="0" smtClean="0">
                <a:solidFill>
                  <a:schemeClr val="folHlink"/>
                </a:solidFill>
                <a:cs typeface="Courier New" pitchFamily="49" charset="0"/>
              </a:rPr>
              <a:t>整型常量表达式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一维数组类型变量定义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916833"/>
            <a:ext cx="8640960" cy="2736303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>
                <a:cs typeface="Courier New" pitchFamily="49" charset="0"/>
              </a:rPr>
              <a:t>例如：（下面两个</a:t>
            </a:r>
            <a:r>
              <a:rPr lang="en-US" altLang="zh-CN" dirty="0">
                <a:cs typeface="Courier New" pitchFamily="49" charset="0"/>
              </a:rPr>
              <a:t>a</a:t>
            </a:r>
            <a:r>
              <a:rPr lang="zh-CN" altLang="en-US" dirty="0">
                <a:cs typeface="Courier New" pitchFamily="49" charset="0"/>
              </a:rPr>
              <a:t>等价）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 err="1">
                <a:cs typeface="Courier New" pitchFamily="49" charset="0"/>
              </a:rPr>
              <a:t>typedef</a:t>
            </a:r>
            <a:r>
              <a:rPr lang="en-US" altLang="zh-CN" dirty="0">
                <a:cs typeface="Courier New" pitchFamily="49" charset="0"/>
              </a:rPr>
              <a:t> </a:t>
            </a:r>
            <a:r>
              <a:rPr lang="en-US" altLang="zh-CN" dirty="0" err="1">
                <a:cs typeface="Courier New" pitchFamily="49" charset="0"/>
              </a:rPr>
              <a:t>int</a:t>
            </a:r>
            <a:r>
              <a:rPr lang="en-US" altLang="zh-CN" dirty="0">
                <a:cs typeface="Courier New" pitchFamily="49" charset="0"/>
              </a:rPr>
              <a:t> A[10];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>
                <a:cs typeface="Courier New" pitchFamily="49" charset="0"/>
              </a:rPr>
              <a:t>A </a:t>
            </a:r>
            <a:r>
              <a:rPr lang="en-US" altLang="zh-CN" dirty="0" err="1">
                <a:solidFill>
                  <a:schemeClr val="folHlink"/>
                </a:solidFill>
                <a:cs typeface="Courier New" pitchFamily="49" charset="0"/>
              </a:rPr>
              <a:t>a</a:t>
            </a:r>
            <a:r>
              <a:rPr lang="en-US" altLang="zh-CN" dirty="0">
                <a:cs typeface="Courier New" pitchFamily="49" charset="0"/>
              </a:rPr>
              <a:t>; //a</a:t>
            </a:r>
            <a:r>
              <a:rPr lang="zh-CN" altLang="en-US" dirty="0">
                <a:cs typeface="Courier New" pitchFamily="49" charset="0"/>
              </a:rPr>
              <a:t>是由</a:t>
            </a:r>
            <a:r>
              <a:rPr lang="en-US" altLang="zh-CN" dirty="0">
                <a:cs typeface="Courier New" pitchFamily="49" charset="0"/>
              </a:rPr>
              <a:t>10</a:t>
            </a:r>
            <a:r>
              <a:rPr lang="zh-CN" altLang="en-US" dirty="0">
                <a:cs typeface="Courier New" pitchFamily="49" charset="0"/>
              </a:rPr>
              <a:t>个</a:t>
            </a:r>
            <a:r>
              <a:rPr lang="en-US" altLang="zh-CN" dirty="0" err="1">
                <a:cs typeface="Courier New" pitchFamily="49" charset="0"/>
              </a:rPr>
              <a:t>int</a:t>
            </a:r>
            <a:r>
              <a:rPr lang="zh-CN" altLang="en-US" dirty="0">
                <a:cs typeface="Courier New" pitchFamily="49" charset="0"/>
              </a:rPr>
              <a:t>型元素所构成的数组</a:t>
            </a:r>
            <a:r>
              <a:rPr lang="zh-CN" altLang="en-US" dirty="0" smtClean="0">
                <a:cs typeface="Courier New" pitchFamily="49" charset="0"/>
              </a:rPr>
              <a:t>变量</a:t>
            </a:r>
            <a:endParaRPr lang="en-US" altLang="zh-CN" dirty="0">
              <a:cs typeface="Courier New" pitchFamily="49" charset="0"/>
            </a:endParaRP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zh-CN" altLang="en-US" dirty="0">
                <a:cs typeface="Courier New" pitchFamily="49" charset="0"/>
              </a:rPr>
              <a:t>或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 err="1">
                <a:cs typeface="Courier New" pitchFamily="49" charset="0"/>
              </a:rPr>
              <a:t>int</a:t>
            </a:r>
            <a:r>
              <a:rPr lang="en-US" altLang="zh-CN" dirty="0">
                <a:cs typeface="Courier New" pitchFamily="49" charset="0"/>
              </a:rPr>
              <a:t> </a:t>
            </a:r>
            <a:r>
              <a:rPr lang="en-US" altLang="zh-CN" dirty="0">
                <a:solidFill>
                  <a:schemeClr val="folHlink"/>
                </a:solidFill>
                <a:cs typeface="Courier New" pitchFamily="49" charset="0"/>
              </a:rPr>
              <a:t>a</a:t>
            </a:r>
            <a:r>
              <a:rPr lang="en-US" altLang="zh-CN" dirty="0">
                <a:cs typeface="Courier New" pitchFamily="49" charset="0"/>
              </a:rPr>
              <a:t>[10]; //a</a:t>
            </a:r>
            <a:r>
              <a:rPr lang="zh-CN" altLang="en-US" dirty="0">
                <a:cs typeface="Courier New" pitchFamily="49" charset="0"/>
              </a:rPr>
              <a:t>是由</a:t>
            </a:r>
            <a:r>
              <a:rPr lang="en-US" altLang="zh-CN" dirty="0">
                <a:cs typeface="Courier New" pitchFamily="49" charset="0"/>
              </a:rPr>
              <a:t>10</a:t>
            </a:r>
            <a:r>
              <a:rPr lang="zh-CN" altLang="en-US" dirty="0">
                <a:cs typeface="Courier New" pitchFamily="49" charset="0"/>
              </a:rPr>
              <a:t>个</a:t>
            </a:r>
            <a:r>
              <a:rPr lang="en-US" altLang="zh-CN" dirty="0" err="1">
                <a:cs typeface="Courier New" pitchFamily="49" charset="0"/>
              </a:rPr>
              <a:t>int</a:t>
            </a:r>
            <a:r>
              <a:rPr lang="zh-CN" altLang="en-US" dirty="0">
                <a:cs typeface="Courier New" pitchFamily="49" charset="0"/>
              </a:rPr>
              <a:t>型元素所构成的数组</a:t>
            </a:r>
            <a:r>
              <a:rPr lang="zh-CN" altLang="en-US" dirty="0" smtClean="0">
                <a:cs typeface="Courier New" pitchFamily="49" charset="0"/>
              </a:rPr>
              <a:t>变量</a:t>
            </a:r>
            <a:endParaRPr lang="zh-CN" altLang="en-US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96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0943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一维数组变量的初始化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" y="1600200"/>
            <a:ext cx="8686800" cy="4421088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用一对花括号把元素的初始值括起来。例如：</a:t>
            </a:r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a[10]={1,2,3,4,5,6,7,8,9,10}; //</a:t>
            </a:r>
            <a:r>
              <a:rPr lang="en-US" altLang="zh-CN" dirty="0" smtClean="0">
                <a:solidFill>
                  <a:srgbClr val="FFC000"/>
                </a:solidFill>
              </a:rPr>
              <a:t>=</a:t>
            </a:r>
            <a:r>
              <a:rPr lang="zh-CN" altLang="en-US" dirty="0" smtClean="0">
                <a:solidFill>
                  <a:srgbClr val="FFC000"/>
                </a:solidFill>
              </a:rPr>
              <a:t>可以省略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初始化表中的值可以少于数组元素个数，不足部分的数组元素初始化成</a:t>
            </a:r>
            <a:r>
              <a:rPr lang="en-US" altLang="zh-CN" dirty="0" smtClean="0"/>
              <a:t>0</a:t>
            </a:r>
            <a:r>
              <a:rPr lang="zh-CN" altLang="en-US" dirty="0" smtClean="0"/>
              <a:t>。例如</a:t>
            </a:r>
            <a:r>
              <a:rPr lang="zh-CN" altLang="en-GB" dirty="0" smtClean="0"/>
              <a:t>：</a:t>
            </a:r>
            <a:endParaRPr lang="zh-CN" altLang="en-US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b[10]={1,2,3,4}; //</a:t>
            </a:r>
            <a:r>
              <a:rPr lang="zh-CN" altLang="en-US" dirty="0" smtClean="0"/>
              <a:t>后</a:t>
            </a:r>
            <a:r>
              <a:rPr lang="en-US" altLang="zh-CN" dirty="0" smtClean="0"/>
              <a:t>6</a:t>
            </a:r>
            <a:r>
              <a:rPr lang="zh-CN" altLang="en-US" dirty="0" smtClean="0"/>
              <a:t>个元素初始化为</a:t>
            </a:r>
            <a:r>
              <a:rPr lang="en-US" altLang="zh-CN" dirty="0" smtClean="0"/>
              <a:t>0</a:t>
            </a:r>
          </a:p>
          <a:p>
            <a:pPr algn="just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如果每个元素都进行了初始化，则数组元素个数可以省略。例如：</a:t>
            </a:r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c[]={1,2,3};  //</a:t>
            </a:r>
            <a:r>
              <a:rPr lang="zh-CN" altLang="en-US" dirty="0" smtClean="0"/>
              <a:t>隐含着</a:t>
            </a:r>
            <a:r>
              <a:rPr lang="en-US" altLang="zh-CN" dirty="0" smtClean="0"/>
              <a:t>c</a:t>
            </a:r>
            <a:r>
              <a:rPr lang="zh-CN" altLang="en-US" dirty="0" smtClean="0"/>
              <a:t>由三个元素构成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一维数组的操作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680" y="1412875"/>
            <a:ext cx="8830816" cy="482443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通常情况下，对数组类型数据的操作要通过其元素来进行。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访问一维数组元素：</a:t>
            </a:r>
            <a:endParaRPr lang="zh-CN" altLang="en-US" dirty="0" smtClean="0">
              <a:latin typeface="Courier New" pitchFamily="49" charset="0"/>
              <a:cs typeface="Courier New" pitchFamily="49" charset="0"/>
            </a:endParaRPr>
          </a:p>
          <a:p>
            <a:pPr lvl="2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&lt;</a:t>
            </a:r>
            <a:r>
              <a:rPr lang="zh-CN" altLang="en-US" dirty="0" smtClean="0"/>
              <a:t>一维数组变量名</a:t>
            </a:r>
            <a:r>
              <a:rPr lang="en-US" altLang="zh-CN" dirty="0" smtClean="0"/>
              <a:t>&gt;</a:t>
            </a:r>
            <a:r>
              <a:rPr lang="en-US" altLang="zh-CN" dirty="0" smtClean="0">
                <a:solidFill>
                  <a:srgbClr val="FFC000"/>
                </a:solidFill>
              </a:rPr>
              <a:t>[</a:t>
            </a:r>
            <a:r>
              <a:rPr lang="en-US" altLang="zh-CN" dirty="0" smtClean="0"/>
              <a:t>&lt;</a:t>
            </a:r>
            <a:r>
              <a:rPr lang="zh-CN" altLang="en-US" dirty="0" smtClean="0"/>
              <a:t>下标</a:t>
            </a:r>
            <a:r>
              <a:rPr lang="en-US" altLang="zh-CN" dirty="0" smtClean="0"/>
              <a:t>&gt;</a:t>
            </a:r>
            <a:r>
              <a:rPr lang="en-US" altLang="zh-CN" dirty="0" smtClean="0">
                <a:solidFill>
                  <a:srgbClr val="FFC000"/>
                </a:solidFill>
              </a:rPr>
              <a:t>]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&lt;</a:t>
            </a:r>
            <a:r>
              <a:rPr lang="zh-CN" altLang="en-US" dirty="0" smtClean="0"/>
              <a:t>下标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为</a:t>
            </a:r>
            <a:r>
              <a:rPr lang="zh-CN" altLang="en-US" dirty="0" smtClean="0">
                <a:solidFill>
                  <a:srgbClr val="FFC000"/>
                </a:solidFill>
              </a:rPr>
              <a:t>整型表达式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第一个元素的下标为：</a:t>
            </a:r>
            <a:r>
              <a:rPr lang="en-US" altLang="zh-CN" dirty="0" smtClean="0">
                <a:solidFill>
                  <a:schemeClr val="folHlink"/>
                </a:solidFill>
              </a:rPr>
              <a:t>0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>
                <a:latin typeface="Courier New" pitchFamily="49" charset="0"/>
                <a:cs typeface="Courier New" pitchFamily="49" charset="0"/>
              </a:rPr>
              <a:t>例如：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err="1" smtClean="0">
                <a:cs typeface="Courier New" pitchFamily="49" charset="0"/>
              </a:rPr>
              <a:t>int</a:t>
            </a:r>
            <a:r>
              <a:rPr lang="en-US" altLang="zh-CN" dirty="0" smtClean="0">
                <a:cs typeface="Courier New" pitchFamily="49" charset="0"/>
              </a:rPr>
              <a:t> a[10]; </a:t>
            </a:r>
            <a:r>
              <a:rPr lang="en-US" altLang="zh-CN" dirty="0">
                <a:cs typeface="Courier New" pitchFamily="49" charset="0"/>
              </a:rPr>
              <a:t>//</a:t>
            </a:r>
            <a:r>
              <a:rPr lang="en-US" altLang="zh-CN" dirty="0" smtClean="0">
                <a:cs typeface="Courier New" pitchFamily="49" charset="0"/>
              </a:rPr>
              <a:t>a</a:t>
            </a:r>
            <a:r>
              <a:rPr lang="zh-CN" altLang="en-US" dirty="0" smtClean="0">
                <a:cs typeface="Courier New" pitchFamily="49" charset="0"/>
              </a:rPr>
              <a:t>是由</a:t>
            </a:r>
            <a:r>
              <a:rPr lang="en-US" altLang="zh-CN" dirty="0" smtClean="0">
                <a:cs typeface="Courier New" pitchFamily="49" charset="0"/>
              </a:rPr>
              <a:t>10</a:t>
            </a:r>
            <a:r>
              <a:rPr lang="zh-CN" altLang="en-US" dirty="0" smtClean="0">
                <a:cs typeface="Courier New" pitchFamily="49" charset="0"/>
              </a:rPr>
              <a:t>个</a:t>
            </a:r>
            <a:r>
              <a:rPr lang="en-US" altLang="zh-CN" dirty="0" err="1" smtClean="0">
                <a:cs typeface="Courier New" pitchFamily="49" charset="0"/>
              </a:rPr>
              <a:t>int</a:t>
            </a:r>
            <a:r>
              <a:rPr lang="zh-CN" altLang="en-US" dirty="0" smtClean="0">
                <a:cs typeface="Courier New" pitchFamily="49" charset="0"/>
              </a:rPr>
              <a:t>型元素构成的数组</a:t>
            </a:r>
            <a:endParaRPr lang="en-US" altLang="zh-CN" dirty="0" smtClean="0">
              <a:cs typeface="Courier New" pitchFamily="49" charset="0"/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dirty="0" smtClean="0">
                <a:cs typeface="Courier New" pitchFamily="49" charset="0"/>
              </a:rPr>
              <a:t>a[0]</a:t>
            </a:r>
            <a:r>
              <a:rPr lang="zh-CN" altLang="en-US" dirty="0" smtClean="0">
                <a:cs typeface="Courier New" pitchFamily="49" charset="0"/>
              </a:rPr>
              <a:t>、</a:t>
            </a:r>
            <a:r>
              <a:rPr lang="en-US" altLang="zh-CN" dirty="0" smtClean="0">
                <a:cs typeface="Courier New" pitchFamily="49" charset="0"/>
              </a:rPr>
              <a:t>a[1]</a:t>
            </a:r>
            <a:r>
              <a:rPr lang="zh-CN" altLang="en-US" dirty="0" smtClean="0">
                <a:cs typeface="Courier New" pitchFamily="49" charset="0"/>
              </a:rPr>
              <a:t>、</a:t>
            </a:r>
            <a:r>
              <a:rPr lang="en-US" altLang="zh-CN" dirty="0" smtClean="0">
                <a:cs typeface="Courier New" pitchFamily="49" charset="0"/>
              </a:rPr>
              <a:t>...</a:t>
            </a:r>
            <a:r>
              <a:rPr lang="zh-CN" altLang="en-US" dirty="0" smtClean="0">
                <a:cs typeface="Courier New" pitchFamily="49" charset="0"/>
              </a:rPr>
              <a:t>、</a:t>
            </a:r>
            <a:r>
              <a:rPr lang="en-US" altLang="zh-CN" dirty="0" smtClean="0">
                <a:cs typeface="Courier New" pitchFamily="49" charset="0"/>
              </a:rPr>
              <a:t>a[9]  //</a:t>
            </a:r>
            <a:r>
              <a:rPr lang="zh-CN" altLang="en-US" dirty="0" smtClean="0">
                <a:cs typeface="Courier New" pitchFamily="49" charset="0"/>
              </a:rPr>
              <a:t>访问第</a:t>
            </a:r>
            <a:r>
              <a:rPr lang="en-US" altLang="zh-CN" dirty="0" smtClean="0">
                <a:cs typeface="Courier New" pitchFamily="49" charset="0"/>
              </a:rPr>
              <a:t>1</a:t>
            </a:r>
            <a:r>
              <a:rPr lang="zh-CN" altLang="en-US" dirty="0" smtClean="0">
                <a:cs typeface="Courier New" pitchFamily="49" charset="0"/>
              </a:rPr>
              <a:t>、</a:t>
            </a:r>
            <a:r>
              <a:rPr lang="en-US" altLang="zh-CN" dirty="0" smtClean="0">
                <a:cs typeface="Courier New" pitchFamily="49" charset="0"/>
              </a:rPr>
              <a:t>2</a:t>
            </a:r>
            <a:r>
              <a:rPr lang="zh-CN" altLang="en-US" dirty="0" smtClean="0">
                <a:cs typeface="Courier New" pitchFamily="49" charset="0"/>
              </a:rPr>
              <a:t>、</a:t>
            </a:r>
            <a:r>
              <a:rPr lang="en-US" altLang="zh-CN" dirty="0" smtClean="0">
                <a:cs typeface="Courier New" pitchFamily="49" charset="0"/>
              </a:rPr>
              <a:t>...10</a:t>
            </a:r>
            <a:r>
              <a:rPr lang="zh-CN" altLang="en-US" dirty="0" smtClean="0">
                <a:cs typeface="Courier New" pitchFamily="49" charset="0"/>
              </a:rPr>
              <a:t>个元素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764704"/>
            <a:ext cx="8497888" cy="6048672"/>
          </a:xfrm>
        </p:spPr>
        <p:txBody>
          <a:bodyPr>
            <a:normAutofit fontScale="85000" lnSpcReduction="10000"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可把数组的每个元素看成是独立的变量，分别对它们进行操作。</a:t>
            </a:r>
            <a:endParaRPr lang="en-US" altLang="zh-CN" dirty="0" smtClean="0"/>
          </a:p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a[10];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sum=0,i;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for (i=0; i&lt;10; i++) </a:t>
            </a:r>
            <a:r>
              <a:rPr lang="en-US" altLang="zh-CN" sz="2400" dirty="0" err="1" smtClean="0"/>
              <a:t>cin</a:t>
            </a:r>
            <a:r>
              <a:rPr lang="en-US" altLang="zh-CN" sz="2400" dirty="0" smtClean="0"/>
              <a:t> &gt;&gt; </a:t>
            </a:r>
            <a:r>
              <a:rPr lang="en-US" altLang="zh-CN" sz="2400" dirty="0" smtClean="0">
                <a:solidFill>
                  <a:schemeClr val="folHlink"/>
                </a:solidFill>
              </a:rPr>
              <a:t>a[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i</a:t>
            </a:r>
            <a:r>
              <a:rPr lang="en-US" altLang="zh-CN" sz="2400" dirty="0" smtClean="0">
                <a:solidFill>
                  <a:schemeClr val="folHlink"/>
                </a:solidFill>
              </a:rPr>
              <a:t>]</a:t>
            </a:r>
            <a:r>
              <a:rPr lang="en-US" altLang="zh-CN" sz="2400" dirty="0" smtClean="0"/>
              <a:t>; //</a:t>
            </a:r>
            <a:r>
              <a:rPr lang="zh-CN" altLang="en-US" sz="2400" dirty="0" smtClean="0"/>
              <a:t>输入数组元素值</a:t>
            </a:r>
            <a:endParaRPr lang="en-US" altLang="zh-CN" sz="2400" dirty="0" smtClean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for (i=0; i&lt;10; i++) sum += </a:t>
            </a:r>
            <a:r>
              <a:rPr lang="en-US" altLang="zh-CN" sz="2400" dirty="0" smtClean="0">
                <a:solidFill>
                  <a:schemeClr val="folHlink"/>
                </a:solidFill>
              </a:rPr>
              <a:t>a[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i</a:t>
            </a:r>
            <a:r>
              <a:rPr lang="en-US" altLang="zh-CN" sz="2400" dirty="0" smtClean="0">
                <a:solidFill>
                  <a:schemeClr val="folHlink"/>
                </a:solidFill>
              </a:rPr>
              <a:t>]</a:t>
            </a:r>
            <a:r>
              <a:rPr lang="en-US" altLang="zh-CN" sz="2400" dirty="0" smtClean="0"/>
              <a:t>; //</a:t>
            </a:r>
            <a:r>
              <a:rPr lang="zh-CN" altLang="en-US" sz="2400" dirty="0" smtClean="0"/>
              <a:t>数组元素求和</a:t>
            </a:r>
            <a:endParaRPr lang="en-US" altLang="zh-CN" sz="240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不能对两个数组进行整体赋值，</a:t>
            </a:r>
            <a:r>
              <a:rPr lang="zh-CN" altLang="en-US" dirty="0" smtClean="0"/>
              <a:t>需要通过元素来进行。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a[10],b[10];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.....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a = b; //</a:t>
            </a:r>
            <a:r>
              <a:rPr lang="en-US" altLang="zh-CN" sz="2400" dirty="0" smtClean="0">
                <a:solidFill>
                  <a:schemeClr val="folHlink"/>
                </a:solidFill>
              </a:rPr>
              <a:t>Error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for 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i=0; i&lt;10; i++) a[i] = b[i]; //</a:t>
            </a:r>
            <a:r>
              <a:rPr lang="en-US" altLang="zh-CN" sz="2400" dirty="0" smtClean="0">
                <a:solidFill>
                  <a:schemeClr val="folHlink"/>
                </a:solidFill>
              </a:rPr>
              <a:t>OK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4450"/>
            <a:ext cx="9144000" cy="7032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dirty="0" smtClean="0"/>
              <a:t>例：用一维数组实现求前</a:t>
            </a:r>
            <a:r>
              <a:rPr lang="en-US" altLang="zh-CN" sz="3000" dirty="0" smtClean="0"/>
              <a:t>n</a:t>
            </a:r>
            <a:r>
              <a:rPr lang="zh-CN" altLang="en-US" sz="3000" dirty="0" smtClean="0"/>
              <a:t>个费波那契</a:t>
            </a:r>
            <a:r>
              <a:rPr lang="en-US" altLang="zh-CN" sz="3000" dirty="0" smtClean="0"/>
              <a:t>(Fibonacci)</a:t>
            </a:r>
            <a:r>
              <a:rPr lang="zh-CN" altLang="en-US" sz="3000" dirty="0" smtClean="0"/>
              <a:t>数 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" y="908720"/>
            <a:ext cx="8937625" cy="5832647"/>
          </a:xfrm>
        </p:spPr>
        <p:txBody>
          <a:bodyPr/>
          <a:lstStyle/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#include &lt;</a:t>
            </a:r>
            <a:r>
              <a:rPr lang="en-US" altLang="zh-CN" sz="2000" dirty="0" err="1" smtClean="0"/>
              <a:t>iostream</a:t>
            </a:r>
            <a:r>
              <a:rPr lang="en-US" altLang="zh-CN" sz="2000" dirty="0" smtClean="0"/>
              <a:t>&gt;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using namespace </a:t>
            </a:r>
            <a:r>
              <a:rPr lang="en-US" altLang="zh-CN" sz="2000" dirty="0" err="1" smtClean="0"/>
              <a:t>std</a:t>
            </a:r>
            <a:r>
              <a:rPr lang="en-US" altLang="zh-CN" sz="2000" dirty="0" smtClean="0"/>
              <a:t>;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main()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{	</a:t>
            </a:r>
            <a:r>
              <a:rPr lang="en-US" altLang="zh-CN" sz="2000" dirty="0" err="1" smtClean="0"/>
              <a:t>const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MAX_N=40;</a:t>
            </a:r>
          </a:p>
          <a:p>
            <a:pPr defTabSz="363538" eaLnBrk="1" hangingPunct="1">
              <a:lnSpc>
                <a:spcPct val="80000"/>
              </a:lnSpc>
              <a:buNone/>
              <a:defRPr/>
            </a:pPr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C000"/>
                </a:solidFill>
              </a:rPr>
              <a:t>fibs</a:t>
            </a:r>
            <a:r>
              <a:rPr lang="en-US" altLang="zh-CN" sz="2000" dirty="0" smtClean="0"/>
              <a:t>[MAX_N]; //</a:t>
            </a:r>
            <a:r>
              <a:rPr lang="zh-CN" altLang="en-US" sz="2000" dirty="0">
                <a:solidFill>
                  <a:srgbClr val="FFC000"/>
                </a:solidFill>
              </a:rPr>
              <a:t>用于存放</a:t>
            </a:r>
            <a:r>
              <a:rPr lang="zh-CN" altLang="en-US" sz="2000" dirty="0" smtClean="0">
                <a:solidFill>
                  <a:srgbClr val="FFC000"/>
                </a:solidFill>
              </a:rPr>
              <a:t>费波那契数</a:t>
            </a:r>
            <a:endParaRPr lang="en-US" altLang="zh-CN" sz="2000" dirty="0" smtClean="0">
              <a:solidFill>
                <a:srgbClr val="FFC000"/>
              </a:solidFill>
            </a:endParaRP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n;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 &lt;&lt; "</a:t>
            </a:r>
            <a:r>
              <a:rPr lang="zh-CN" altLang="en-US" sz="2000" dirty="0" smtClean="0"/>
              <a:t>请输入</a:t>
            </a:r>
            <a:r>
              <a:rPr lang="en-US" altLang="zh-CN" sz="2000" dirty="0" smtClean="0"/>
              <a:t>n(1-" &lt;&lt; MAX_N &lt;&lt; "):";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cin</a:t>
            </a:r>
            <a:r>
              <a:rPr lang="en-US" altLang="zh-CN" sz="2000" dirty="0" smtClean="0"/>
              <a:t> &gt;&gt; n;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if (n &gt; MAX_N) 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{	</a:t>
            </a: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 &lt;&lt; "n</a:t>
            </a:r>
            <a:r>
              <a:rPr lang="zh-CN" altLang="en-US" sz="2000" dirty="0" smtClean="0"/>
              <a:t>太大</a:t>
            </a:r>
            <a:r>
              <a:rPr lang="en-US" altLang="zh-CN" sz="2000" dirty="0" smtClean="0"/>
              <a:t>! </a:t>
            </a:r>
            <a:r>
              <a:rPr lang="zh-CN" altLang="en-US" sz="2000" dirty="0" smtClean="0"/>
              <a:t>应不大于</a:t>
            </a:r>
            <a:r>
              <a:rPr lang="en-US" altLang="zh-CN" sz="2000" dirty="0" smtClean="0"/>
              <a:t>" &lt;&lt; MAX_N &lt;&lt; </a:t>
            </a:r>
            <a:r>
              <a:rPr lang="en-US" altLang="zh-CN" sz="2000" dirty="0" err="1" smtClean="0"/>
              <a:t>endl</a:t>
            </a:r>
            <a:r>
              <a:rPr lang="en-US" altLang="zh-CN" sz="2000" dirty="0" smtClean="0"/>
              <a:t>;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	return -1;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}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fibs[0] = fibs[1] = 1; //</a:t>
            </a:r>
            <a:r>
              <a:rPr lang="zh-CN" altLang="en-US" sz="2000" dirty="0" smtClean="0"/>
              <a:t>初始化第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个费波那契数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000" dirty="0" smtClean="0"/>
              <a:t>	</a:t>
            </a:r>
            <a:r>
              <a:rPr lang="en-US" altLang="zh-CN" sz="2000" dirty="0" smtClean="0"/>
              <a:t>for 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=2;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&lt;n;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++)  //</a:t>
            </a:r>
            <a:r>
              <a:rPr lang="zh-CN" altLang="en-US" sz="2000" dirty="0" smtClean="0"/>
              <a:t>计算第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...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n</a:t>
            </a:r>
            <a:r>
              <a:rPr lang="zh-CN" altLang="en-US" sz="2000" dirty="0" smtClean="0"/>
              <a:t>个费波那契数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000" dirty="0" smtClean="0"/>
              <a:t>			</a:t>
            </a:r>
            <a:r>
              <a:rPr lang="en-US" altLang="zh-CN" sz="2000" dirty="0" smtClean="0"/>
              <a:t>fibs[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] = fibs[i-1] + fibs[i-2];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 &lt;&lt; "</a:t>
            </a:r>
            <a:r>
              <a:rPr lang="zh-CN" altLang="en-US" sz="2000" dirty="0" smtClean="0"/>
              <a:t>前</a:t>
            </a:r>
            <a:r>
              <a:rPr lang="en-US" altLang="zh-CN" sz="2000" dirty="0" smtClean="0"/>
              <a:t>" &lt;&lt; n &lt;&lt; "</a:t>
            </a:r>
            <a:r>
              <a:rPr lang="zh-CN" altLang="en-US" sz="2000" dirty="0" smtClean="0"/>
              <a:t>个费波那契数是：</a:t>
            </a:r>
            <a:r>
              <a:rPr lang="en-US" altLang="zh-CN" sz="2000" dirty="0" smtClean="0"/>
              <a:t>";</a:t>
            </a:r>
          </a:p>
          <a:p>
            <a:pPr defTabSz="363538" eaLnBrk="1" hangingPunct="1">
              <a:lnSpc>
                <a:spcPct val="80000"/>
              </a:lnSpc>
              <a:buNone/>
              <a:defRPr/>
            </a:pPr>
            <a:r>
              <a:rPr lang="en-US" altLang="zh-CN" sz="2000" dirty="0" smtClean="0"/>
              <a:t>    for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=0;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&lt;n;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 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 &lt;&lt; fibs[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] &lt;&lt; ' ';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return 0;</a:t>
            </a:r>
          </a:p>
          <a:p>
            <a:pPr defTabSz="3635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928992" cy="11349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 smtClean="0"/>
              <a:t>例：从键盘输入</a:t>
            </a:r>
            <a:r>
              <a:rPr lang="en-US" altLang="zh-CN" sz="3200" dirty="0" smtClean="0"/>
              <a:t>n</a:t>
            </a:r>
            <a:r>
              <a:rPr lang="zh-CN" altLang="en-US" sz="3200" dirty="0" smtClean="0"/>
              <a:t>个数并把</a:t>
            </a:r>
            <a:r>
              <a:rPr lang="zh-CN" altLang="en-US" sz="3200" dirty="0"/>
              <a:t>它们从小</a:t>
            </a:r>
            <a:r>
              <a:rPr lang="zh-CN" altLang="en-US" sz="3200" dirty="0" smtClean="0"/>
              <a:t>到大输出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412776"/>
            <a:ext cx="8507288" cy="4925144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这属于“</a:t>
            </a:r>
            <a:r>
              <a:rPr lang="zh-CN" altLang="en-US" sz="2800" dirty="0" smtClean="0">
                <a:solidFill>
                  <a:srgbClr val="FFC000"/>
                </a:solidFill>
              </a:rPr>
              <a:t>排序</a:t>
            </a:r>
            <a:r>
              <a:rPr lang="zh-CN" altLang="en-US" sz="2800" dirty="0" smtClean="0"/>
              <a:t>”（</a:t>
            </a:r>
            <a:r>
              <a:rPr lang="en-US" altLang="zh-CN" sz="2800" dirty="0" smtClean="0"/>
              <a:t>sort</a:t>
            </a:r>
            <a:r>
              <a:rPr lang="zh-CN" altLang="en-US" sz="2800" dirty="0" smtClean="0"/>
              <a:t>）问题：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把待排序的若干元素放在一个数组中。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按某个算法调整元素的位置使它们按某种次序排列。</a:t>
            </a:r>
            <a:endParaRPr lang="en-US" altLang="zh-CN" sz="24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排序有各种算法，</a:t>
            </a:r>
            <a:r>
              <a:rPr lang="zh-CN" altLang="en-US" sz="2800" dirty="0">
                <a:solidFill>
                  <a:srgbClr val="FFC000"/>
                </a:solidFill>
              </a:rPr>
              <a:t>冒泡</a:t>
            </a:r>
            <a:r>
              <a:rPr lang="zh-CN" altLang="en-US" sz="2800" dirty="0" smtClean="0">
                <a:solidFill>
                  <a:srgbClr val="FFC000"/>
                </a:solidFill>
              </a:rPr>
              <a:t>法</a:t>
            </a:r>
            <a:r>
              <a:rPr lang="zh-CN" altLang="en-US" sz="2800" dirty="0" smtClean="0"/>
              <a:t>是其中的一种排序算法：</a:t>
            </a:r>
            <a:endParaRPr lang="en-US" altLang="zh-CN" sz="2800" dirty="0" smtClean="0">
              <a:solidFill>
                <a:srgbClr val="FFC00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 smtClean="0"/>
              <a:t>从左到右依次</a:t>
            </a:r>
            <a:r>
              <a:rPr lang="zh-CN" altLang="en-US" sz="2400" dirty="0" smtClean="0">
                <a:solidFill>
                  <a:srgbClr val="FFC000"/>
                </a:solidFill>
              </a:rPr>
              <a:t>比较相邻两个数</a:t>
            </a:r>
            <a:r>
              <a:rPr lang="zh-CN" altLang="en-US" sz="2400" dirty="0" smtClean="0"/>
              <a:t>，如果前一个大、后一个小，则</a:t>
            </a:r>
            <a:r>
              <a:rPr lang="zh-CN" altLang="en-US" sz="2400" dirty="0" smtClean="0">
                <a:solidFill>
                  <a:srgbClr val="FFC000"/>
                </a:solidFill>
              </a:rPr>
              <a:t>交换它们俩的位置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经过上述一轮的“</a:t>
            </a:r>
            <a:r>
              <a:rPr lang="zh-CN" altLang="en-US" sz="2400" dirty="0" smtClean="0">
                <a:solidFill>
                  <a:srgbClr val="FFC000"/>
                </a:solidFill>
              </a:rPr>
              <a:t>比较</a:t>
            </a:r>
            <a:r>
              <a:rPr lang="en-US" altLang="zh-CN" sz="2400" dirty="0" smtClean="0">
                <a:solidFill>
                  <a:srgbClr val="FFC000"/>
                </a:solidFill>
              </a:rPr>
              <a:t>--</a:t>
            </a:r>
            <a:r>
              <a:rPr lang="zh-CN" altLang="en-US" sz="2400" dirty="0" smtClean="0">
                <a:solidFill>
                  <a:srgbClr val="FFC000"/>
                </a:solidFill>
              </a:rPr>
              <a:t>交换</a:t>
            </a:r>
            <a:r>
              <a:rPr lang="zh-CN" altLang="en-US" sz="2400" dirty="0" smtClean="0"/>
              <a:t>”操作之后，最大的数排到了最后一个位置。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去掉最大的数（在最后一个位置），在剩下的数中再采用上述的</a:t>
            </a:r>
            <a:r>
              <a:rPr lang="zh-CN" altLang="en-US" sz="2400" dirty="0"/>
              <a:t>“比较</a:t>
            </a:r>
            <a:r>
              <a:rPr lang="en-US" altLang="zh-CN" sz="2400" dirty="0"/>
              <a:t>--</a:t>
            </a:r>
            <a:r>
              <a:rPr lang="zh-CN" altLang="en-US" sz="2400" dirty="0"/>
              <a:t>交换</a:t>
            </a:r>
            <a:r>
              <a:rPr lang="zh-CN" altLang="en-US" sz="2400" dirty="0" smtClean="0"/>
              <a:t>”操作，然后去掉次大的数。依此类推，直到只剩下一个数为止。</a:t>
            </a:r>
            <a:endParaRPr lang="en-US" altLang="zh-CN" sz="2400" dirty="0" smtClean="0"/>
          </a:p>
          <a:p>
            <a:pPr lvl="1" eaLnBrk="1" hangingPunct="1">
              <a:defRPr/>
            </a:pP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063388"/>
            <a:ext cx="2988332" cy="5232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 smtClean="0">
                <a:solidFill>
                  <a:srgbClr val="FFC000"/>
                </a:solidFill>
              </a:rPr>
              <a:t>8</a:t>
            </a:r>
            <a:r>
              <a:rPr lang="en-US" altLang="zh-CN" sz="2800" dirty="0" smtClean="0"/>
              <a:t>   </a:t>
            </a:r>
            <a:r>
              <a:rPr lang="en-US" altLang="zh-CN" sz="2800" dirty="0" smtClean="0">
                <a:solidFill>
                  <a:srgbClr val="FFC000"/>
                </a:solidFill>
              </a:rPr>
              <a:t>1</a:t>
            </a:r>
            <a:r>
              <a:rPr lang="en-US" altLang="zh-CN" sz="2800" dirty="0" smtClean="0"/>
              <a:t>   9  </a:t>
            </a:r>
            <a:r>
              <a:rPr lang="en-US" altLang="zh-CN" sz="2800" dirty="0"/>
              <a:t>4  </a:t>
            </a:r>
            <a:r>
              <a:rPr lang="en-US" altLang="zh-CN" sz="2800" dirty="0" smtClean="0"/>
              <a:t> 3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弧形 4"/>
          <p:cNvSpPr/>
          <p:nvPr/>
        </p:nvSpPr>
        <p:spPr bwMode="auto">
          <a:xfrm>
            <a:off x="539552" y="1794520"/>
            <a:ext cx="576064" cy="914400"/>
          </a:xfrm>
          <a:prstGeom prst="arc">
            <a:avLst>
              <a:gd name="adj1" fmla="val 12490715"/>
              <a:gd name="adj2" fmla="val 19779891"/>
            </a:avLst>
          </a:prstGeom>
          <a:noFill/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28" y="2927484"/>
            <a:ext cx="2988332" cy="5232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/>
              <a:t>1   </a:t>
            </a:r>
            <a:r>
              <a:rPr lang="en-US" altLang="zh-CN" sz="2800" dirty="0" smtClean="0">
                <a:solidFill>
                  <a:srgbClr val="FFC000"/>
                </a:solidFill>
              </a:rPr>
              <a:t>8</a:t>
            </a:r>
            <a:r>
              <a:rPr lang="en-US" altLang="zh-CN" sz="2800" dirty="0" smtClean="0"/>
              <a:t>   </a:t>
            </a:r>
            <a:r>
              <a:rPr lang="en-US" altLang="zh-CN" sz="2800" dirty="0" smtClean="0">
                <a:solidFill>
                  <a:srgbClr val="FFC000"/>
                </a:solidFill>
              </a:rPr>
              <a:t>9</a:t>
            </a:r>
            <a:r>
              <a:rPr lang="en-US" altLang="zh-CN" sz="2800" dirty="0" smtClean="0"/>
              <a:t>  4   3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弧形 10"/>
          <p:cNvSpPr/>
          <p:nvPr/>
        </p:nvSpPr>
        <p:spPr bwMode="auto">
          <a:xfrm>
            <a:off x="1115616" y="2658616"/>
            <a:ext cx="576064" cy="914400"/>
          </a:xfrm>
          <a:prstGeom prst="arc">
            <a:avLst>
              <a:gd name="adj1" fmla="val 12490715"/>
              <a:gd name="adj2" fmla="val 19779891"/>
            </a:avLst>
          </a:prstGeom>
          <a:noFill/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9532" y="3791580"/>
            <a:ext cx="2988332" cy="5232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 smtClean="0"/>
              <a:t>1   8   </a:t>
            </a:r>
            <a:r>
              <a:rPr lang="en-US" altLang="zh-CN" sz="2800" dirty="0" smtClean="0">
                <a:solidFill>
                  <a:srgbClr val="FFC000"/>
                </a:solidFill>
              </a:rPr>
              <a:t>9  </a:t>
            </a:r>
            <a:r>
              <a:rPr lang="en-US" altLang="zh-CN" sz="2800" dirty="0">
                <a:solidFill>
                  <a:srgbClr val="FFC000"/>
                </a:solidFill>
              </a:rPr>
              <a:t>4 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 3</a:t>
            </a:r>
            <a:endParaRPr lang="zh-CN" altLang="en-US" sz="2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弧形 16"/>
          <p:cNvSpPr/>
          <p:nvPr/>
        </p:nvSpPr>
        <p:spPr bwMode="auto">
          <a:xfrm>
            <a:off x="1763688" y="3522712"/>
            <a:ext cx="576064" cy="914400"/>
          </a:xfrm>
          <a:prstGeom prst="arc">
            <a:avLst>
              <a:gd name="adj1" fmla="val 12490715"/>
              <a:gd name="adj2" fmla="val 19779891"/>
            </a:avLst>
          </a:prstGeom>
          <a:noFill/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9532" y="4633972"/>
            <a:ext cx="2988332" cy="5232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 smtClean="0"/>
              <a:t>1   8   4  </a:t>
            </a:r>
            <a:r>
              <a:rPr lang="en-US" altLang="zh-CN" sz="2800" dirty="0" smtClean="0">
                <a:solidFill>
                  <a:srgbClr val="FFC000"/>
                </a:solidFill>
              </a:rPr>
              <a:t>9   3</a:t>
            </a:r>
            <a:endParaRPr lang="zh-CN" altLang="en-US" sz="2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弧形 22"/>
          <p:cNvSpPr/>
          <p:nvPr/>
        </p:nvSpPr>
        <p:spPr bwMode="auto">
          <a:xfrm>
            <a:off x="2339752" y="4386808"/>
            <a:ext cx="576064" cy="914400"/>
          </a:xfrm>
          <a:prstGeom prst="arc">
            <a:avLst>
              <a:gd name="adj1" fmla="val 12490715"/>
              <a:gd name="adj2" fmla="val 19779891"/>
            </a:avLst>
          </a:prstGeom>
          <a:noFill/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59532" y="5498068"/>
            <a:ext cx="2988332" cy="5232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 smtClean="0"/>
              <a:t>1   8   4  3   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239852" y="426368"/>
            <a:ext cx="2988332" cy="5232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 smtClean="0"/>
              <a:t>8   1   </a:t>
            </a:r>
            <a:r>
              <a:rPr lang="en-US" altLang="zh-CN" sz="2800" dirty="0"/>
              <a:t>9  </a:t>
            </a:r>
            <a:r>
              <a:rPr lang="en-US" altLang="zh-CN" sz="2800" dirty="0" smtClean="0"/>
              <a:t>4   3</a:t>
            </a:r>
            <a:endParaRPr lang="zh-CN" altLang="en-US" sz="2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743908" y="2063388"/>
            <a:ext cx="2988332" cy="5232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 smtClean="0">
                <a:solidFill>
                  <a:srgbClr val="FFC000"/>
                </a:solidFill>
              </a:rPr>
              <a:t>1   8</a:t>
            </a:r>
            <a:r>
              <a:rPr lang="en-US" altLang="zh-CN" sz="2800" dirty="0" smtClean="0"/>
              <a:t>   4  3   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69496" y="1218456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第一轮：</a:t>
            </a:r>
            <a:endParaRPr lang="zh-CN" alt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53872" y="1218456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第二轮：</a:t>
            </a:r>
            <a:endParaRPr lang="zh-CN" alt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弧形 48"/>
          <p:cNvSpPr/>
          <p:nvPr/>
        </p:nvSpPr>
        <p:spPr bwMode="auto">
          <a:xfrm>
            <a:off x="3995936" y="1794520"/>
            <a:ext cx="576064" cy="914400"/>
          </a:xfrm>
          <a:prstGeom prst="arc">
            <a:avLst>
              <a:gd name="adj1" fmla="val 12490715"/>
              <a:gd name="adj2" fmla="val 19779891"/>
            </a:avLst>
          </a:prstGeom>
          <a:noFill/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743908" y="2927484"/>
            <a:ext cx="2988332" cy="5232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 smtClean="0"/>
              <a:t>1   </a:t>
            </a:r>
            <a:r>
              <a:rPr lang="en-US" altLang="zh-CN" sz="2800" dirty="0" smtClean="0">
                <a:solidFill>
                  <a:srgbClr val="FFC000"/>
                </a:solidFill>
              </a:rPr>
              <a:t>8   4</a:t>
            </a:r>
            <a:r>
              <a:rPr lang="en-US" altLang="zh-CN" sz="2800" dirty="0" smtClean="0"/>
              <a:t>  3   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弧形 50"/>
          <p:cNvSpPr/>
          <p:nvPr/>
        </p:nvSpPr>
        <p:spPr bwMode="auto">
          <a:xfrm>
            <a:off x="4572000" y="2658616"/>
            <a:ext cx="576064" cy="914400"/>
          </a:xfrm>
          <a:prstGeom prst="arc">
            <a:avLst>
              <a:gd name="adj1" fmla="val 12490715"/>
              <a:gd name="adj2" fmla="val 19779891"/>
            </a:avLst>
          </a:prstGeom>
          <a:noFill/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779912" y="3791580"/>
            <a:ext cx="2988332" cy="5232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 smtClean="0"/>
              <a:t>1   4</a:t>
            </a:r>
            <a:r>
              <a:rPr lang="en-US" altLang="zh-CN" sz="2800" dirty="0" smtClean="0">
                <a:solidFill>
                  <a:srgbClr val="FFC000"/>
                </a:solidFill>
              </a:rPr>
              <a:t>   8</a:t>
            </a:r>
            <a:r>
              <a:rPr lang="en-US" altLang="zh-CN" sz="2800" dirty="0" smtClean="0"/>
              <a:t>  </a:t>
            </a:r>
            <a:r>
              <a:rPr lang="en-US" altLang="zh-CN" sz="2800" dirty="0" smtClean="0">
                <a:solidFill>
                  <a:srgbClr val="FFC000"/>
                </a:solidFill>
              </a:rPr>
              <a:t>3</a:t>
            </a:r>
            <a:r>
              <a:rPr lang="en-US" altLang="zh-CN" sz="2800" dirty="0" smtClean="0"/>
              <a:t>   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弧形 52"/>
          <p:cNvSpPr/>
          <p:nvPr/>
        </p:nvSpPr>
        <p:spPr bwMode="auto">
          <a:xfrm>
            <a:off x="5220072" y="3522712"/>
            <a:ext cx="576064" cy="914400"/>
          </a:xfrm>
          <a:prstGeom prst="arc">
            <a:avLst>
              <a:gd name="adj1" fmla="val 12490715"/>
              <a:gd name="adj2" fmla="val 19779891"/>
            </a:avLst>
          </a:prstGeom>
          <a:noFill/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779912" y="4633972"/>
            <a:ext cx="2988332" cy="5232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 smtClean="0"/>
              <a:t>1   4</a:t>
            </a:r>
            <a:r>
              <a:rPr lang="en-US" altLang="zh-CN" sz="2800" dirty="0" smtClean="0">
                <a:solidFill>
                  <a:srgbClr val="FFC000"/>
                </a:solidFill>
              </a:rPr>
              <a:t>   </a:t>
            </a:r>
            <a:r>
              <a:rPr lang="en-US" altLang="zh-CN" sz="2800" dirty="0" smtClean="0"/>
              <a:t>3  </a:t>
            </a:r>
            <a:r>
              <a:rPr lang="en-US" altLang="zh-CN" sz="2800" dirty="0" smtClean="0">
                <a:solidFill>
                  <a:srgbClr val="FF0000"/>
                </a:solidFill>
              </a:rPr>
              <a:t>8</a:t>
            </a:r>
            <a:r>
              <a:rPr lang="en-US" altLang="zh-CN" sz="2800" dirty="0" smtClean="0"/>
              <a:t>   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038248" y="1218456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第三轮：</a:t>
            </a:r>
            <a:endParaRPr lang="zh-CN" alt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28284" y="1916832"/>
            <a:ext cx="183620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 smtClean="0"/>
              <a:t>......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726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260648"/>
            <a:ext cx="8892480" cy="648072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spcBef>
                <a:spcPts val="500"/>
              </a:spcBef>
              <a:buFont typeface="Wingdings" pitchFamily="2" charset="2"/>
              <a:buNone/>
              <a:defRPr/>
            </a:pPr>
            <a:r>
              <a:rPr lang="en-US" altLang="zh-CN" sz="2200" dirty="0" smtClean="0"/>
              <a:t>//</a:t>
            </a:r>
            <a:r>
              <a:rPr lang="zh-CN" altLang="en-US" sz="2200" dirty="0" smtClean="0"/>
              <a:t>程序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Font typeface="Wingdings" pitchFamily="2" charset="2"/>
              <a:buNone/>
              <a:defRPr/>
            </a:pPr>
            <a:r>
              <a:rPr lang="en-US" altLang="zh-CN" sz="2200" dirty="0" smtClean="0"/>
              <a:t>......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Font typeface="Wingdings" pitchFamily="2" charset="2"/>
              <a:buNone/>
              <a:defRPr/>
            </a:pP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main()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 smtClean="0"/>
              <a:t>{	</a:t>
            </a:r>
            <a:r>
              <a:rPr lang="en-US" altLang="zh-CN" sz="2200" dirty="0" err="1" smtClean="0"/>
              <a:t>const</a:t>
            </a:r>
            <a:r>
              <a:rPr lang="en-US" altLang="zh-CN" sz="2200" dirty="0" smtClean="0"/>
              <a:t> 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N=10;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Font typeface="Wingdings" pitchFamily="2" charset="2"/>
              <a:buNone/>
              <a:defRPr/>
            </a:pPr>
            <a:r>
              <a:rPr lang="en-US" altLang="zh-CN" sz="2200" dirty="0" smtClean="0"/>
              <a:t>	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a[N],n;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err="1" smtClean="0"/>
              <a:t>cin</a:t>
            </a:r>
            <a:r>
              <a:rPr lang="en-US" altLang="zh-CN" sz="2200" dirty="0" smtClean="0"/>
              <a:t> &gt;&gt; n; </a:t>
            </a:r>
            <a:r>
              <a:rPr lang="en-US" altLang="zh-CN" sz="2200" dirty="0"/>
              <a:t>//</a:t>
            </a:r>
            <a:r>
              <a:rPr lang="zh-CN" altLang="en-US" sz="2200" dirty="0" smtClean="0"/>
              <a:t>输入待排序的数的</a:t>
            </a:r>
            <a:r>
              <a:rPr lang="zh-CN" altLang="en-US" sz="2200" dirty="0"/>
              <a:t>个数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Font typeface="Wingdings" pitchFamily="2" charset="2"/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if (n &gt; N) return -1; //</a:t>
            </a:r>
            <a:r>
              <a:rPr lang="zh-CN" altLang="en-US" sz="2200" dirty="0" smtClean="0"/>
              <a:t>个数超出数组范围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Font typeface="Wingdings" pitchFamily="2" charset="2"/>
              <a:buNone/>
              <a:defRPr/>
            </a:pPr>
            <a:r>
              <a:rPr lang="en-US" altLang="zh-CN" sz="2200" dirty="0" smtClean="0"/>
              <a:t>  	for 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=0;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&lt;n;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++)  </a:t>
            </a:r>
            <a:r>
              <a:rPr lang="en-US" altLang="zh-CN" sz="2200" dirty="0" err="1" smtClean="0"/>
              <a:t>cin</a:t>
            </a:r>
            <a:r>
              <a:rPr lang="en-US" altLang="zh-CN" sz="2200" dirty="0" smtClean="0"/>
              <a:t> &gt;&gt; a[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]; //</a:t>
            </a:r>
            <a:r>
              <a:rPr lang="zh-CN" altLang="en-US" sz="2200" dirty="0" smtClean="0"/>
              <a:t>输入待排序的数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</a:t>
            </a:r>
            <a:r>
              <a:rPr lang="en-US" altLang="zh-CN" sz="2200" dirty="0" err="1" smtClean="0"/>
              <a:t>n_r</a:t>
            </a:r>
            <a:r>
              <a:rPr lang="en-US" altLang="zh-CN" sz="2200" dirty="0" smtClean="0"/>
              <a:t>=n;</a:t>
            </a:r>
            <a:r>
              <a:rPr lang="en-US" altLang="zh-CN" sz="2200" dirty="0"/>
              <a:t> //</a:t>
            </a:r>
            <a:r>
              <a:rPr lang="en-US" altLang="zh-CN" sz="2200" dirty="0" err="1"/>
              <a:t>n_r</a:t>
            </a:r>
            <a:r>
              <a:rPr lang="zh-CN" altLang="en-US" sz="2200" dirty="0"/>
              <a:t>为剩下的数的个数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Font typeface="Wingdings" pitchFamily="2" charset="2"/>
              <a:buNone/>
              <a:defRPr/>
            </a:pPr>
            <a:r>
              <a:rPr lang="en-US" altLang="zh-CN" sz="2200" dirty="0" smtClean="0"/>
              <a:t>   	while (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n_r</a:t>
            </a:r>
            <a:r>
              <a:rPr lang="en-US" altLang="zh-CN" sz="2200" dirty="0" smtClean="0">
                <a:solidFill>
                  <a:srgbClr val="FFC000"/>
                </a:solidFill>
              </a:rPr>
              <a:t> &gt; 1</a:t>
            </a:r>
            <a:r>
              <a:rPr lang="en-US" altLang="zh-CN" sz="2200" dirty="0" smtClean="0"/>
              <a:t>) //</a:t>
            </a:r>
            <a:r>
              <a:rPr lang="zh-CN" altLang="en-US" sz="2200" dirty="0" smtClean="0"/>
              <a:t>只要剩下数的个数大于</a:t>
            </a:r>
            <a:r>
              <a:rPr lang="en-US" altLang="zh-CN" sz="2200" dirty="0" smtClean="0"/>
              <a:t>1</a:t>
            </a:r>
            <a:r>
              <a:rPr lang="zh-CN" altLang="en-US" sz="2200" dirty="0" smtClean="0"/>
              <a:t>，就要进行一轮比较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{ 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  bool </a:t>
            </a:r>
            <a:r>
              <a:rPr lang="en-US" altLang="zh-CN" sz="2200" dirty="0">
                <a:solidFill>
                  <a:srgbClr val="FFC000"/>
                </a:solidFill>
              </a:rPr>
              <a:t>exchange=false</a:t>
            </a:r>
            <a:r>
              <a:rPr lang="en-US" altLang="zh-CN" sz="2200" dirty="0" smtClean="0"/>
              <a:t>; //</a:t>
            </a:r>
            <a:r>
              <a:rPr lang="zh-CN" altLang="en-US" sz="2200" dirty="0" smtClean="0"/>
              <a:t>每一轮比较前把交换标记设置为</a:t>
            </a:r>
            <a:r>
              <a:rPr lang="en-US" altLang="zh-CN" sz="2200" dirty="0" smtClean="0"/>
              <a:t>false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  for (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=</a:t>
            </a:r>
            <a:r>
              <a:rPr lang="en-US" altLang="zh-CN" sz="2200" dirty="0" smtClean="0">
                <a:solidFill>
                  <a:srgbClr val="FFC000"/>
                </a:solidFill>
              </a:rPr>
              <a:t>1</a:t>
            </a:r>
            <a:r>
              <a:rPr lang="en-US" altLang="zh-CN" sz="2200" dirty="0" smtClean="0"/>
              <a:t>;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&lt;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n_r</a:t>
            </a:r>
            <a:r>
              <a:rPr lang="en-US" altLang="zh-CN" sz="2200" dirty="0" smtClean="0"/>
              <a:t>;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++) //</a:t>
            </a:r>
            <a:r>
              <a:rPr lang="en-US" altLang="zh-CN" sz="2200" dirty="0" err="1" smtClean="0"/>
              <a:t>i</a:t>
            </a:r>
            <a:r>
              <a:rPr lang="zh-CN" altLang="en-US" sz="2200" dirty="0" smtClean="0"/>
              <a:t>为比较的数的下标：从第</a:t>
            </a:r>
            <a:r>
              <a:rPr lang="en-US" altLang="zh-CN" sz="2200" dirty="0" smtClean="0"/>
              <a:t>2</a:t>
            </a:r>
            <a:r>
              <a:rPr lang="zh-CN" altLang="en-US" sz="2200" dirty="0" smtClean="0"/>
              <a:t>个数开始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  { if (a[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i</a:t>
            </a:r>
            <a:r>
              <a:rPr lang="en-US" altLang="zh-CN" sz="2200" dirty="0" smtClean="0"/>
              <a:t>] </a:t>
            </a:r>
            <a:r>
              <a:rPr lang="en-US" altLang="zh-CN" sz="2200" dirty="0"/>
              <a:t>&lt;</a:t>
            </a:r>
            <a:r>
              <a:rPr lang="en-US" altLang="zh-CN" sz="2200" dirty="0" smtClean="0"/>
              <a:t> a[</a:t>
            </a:r>
            <a:r>
              <a:rPr lang="en-US" altLang="zh-CN" sz="2200" dirty="0" smtClean="0">
                <a:solidFill>
                  <a:srgbClr val="FFC000"/>
                </a:solidFill>
              </a:rPr>
              <a:t>i-1</a:t>
            </a:r>
            <a:r>
              <a:rPr lang="en-US" altLang="zh-CN" sz="2200" dirty="0" smtClean="0"/>
              <a:t>]) //</a:t>
            </a:r>
            <a:r>
              <a:rPr lang="zh-CN" altLang="en-US" sz="2200" dirty="0" smtClean="0"/>
              <a:t>与前一个数比较，小于前一个数就要进行交换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     {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t=a[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]; a[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] = a[i-1];  a[i-1] = t; //</a:t>
            </a:r>
            <a:r>
              <a:rPr lang="zh-CN" altLang="en-US" sz="2200" dirty="0" smtClean="0"/>
              <a:t>交换</a:t>
            </a:r>
            <a:r>
              <a:rPr lang="en-US" altLang="zh-CN" sz="2200" dirty="0" smtClean="0"/>
              <a:t>a[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]</a:t>
            </a:r>
            <a:r>
              <a:rPr lang="zh-CN" altLang="en-US" sz="2200" dirty="0" smtClean="0"/>
              <a:t>与</a:t>
            </a:r>
            <a:r>
              <a:rPr lang="en-US" altLang="zh-CN" sz="2200" dirty="0" smtClean="0"/>
              <a:t>a[i-1]</a:t>
            </a:r>
            <a:r>
              <a:rPr lang="zh-CN" altLang="en-US" sz="2200" dirty="0" smtClean="0"/>
              <a:t>的值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/>
              <a:t>		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olidFill>
                  <a:srgbClr val="FFC000"/>
                </a:solidFill>
              </a:rPr>
              <a:t>exchange = true</a:t>
            </a:r>
            <a:r>
              <a:rPr lang="en-US" altLang="zh-CN" sz="2200" dirty="0" smtClean="0"/>
              <a:t>; //</a:t>
            </a:r>
            <a:r>
              <a:rPr lang="zh-CN" altLang="en-US" sz="2200" dirty="0" smtClean="0"/>
              <a:t>发生了交换</a:t>
            </a:r>
            <a:r>
              <a:rPr lang="zh-CN" altLang="en-US" sz="2200" dirty="0"/>
              <a:t>，</a:t>
            </a:r>
            <a:r>
              <a:rPr lang="zh-CN" altLang="en-US" sz="2200" dirty="0" smtClean="0"/>
              <a:t>把交换标记</a:t>
            </a:r>
            <a:r>
              <a:rPr lang="zh-CN" altLang="en-US" sz="2200" dirty="0"/>
              <a:t>设置</a:t>
            </a:r>
            <a:r>
              <a:rPr lang="zh-CN" altLang="en-US" sz="2200" dirty="0" smtClean="0"/>
              <a:t>为</a:t>
            </a:r>
            <a:r>
              <a:rPr lang="en-US" altLang="zh-CN" sz="2200" dirty="0" smtClean="0"/>
              <a:t>true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     }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  } 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/>
              <a:t>	</a:t>
            </a:r>
            <a:r>
              <a:rPr lang="en-US" altLang="zh-CN" sz="2200" dirty="0" smtClean="0"/>
              <a:t>  if (</a:t>
            </a:r>
            <a:r>
              <a:rPr lang="en-US" altLang="zh-CN" sz="2200" dirty="0" smtClean="0">
                <a:solidFill>
                  <a:srgbClr val="FFC000"/>
                </a:solidFill>
              </a:rPr>
              <a:t>!exchange</a:t>
            </a:r>
            <a:r>
              <a:rPr lang="en-US" altLang="zh-CN" sz="2200" dirty="0" smtClean="0"/>
              <a:t>) break; //</a:t>
            </a:r>
            <a:r>
              <a:rPr lang="zh-CN" altLang="en-US" sz="2200" dirty="0" smtClean="0"/>
              <a:t>如果本轮比较没有发生交换，不再进入下一轮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/>
              <a:t>	 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n_r</a:t>
            </a:r>
            <a:r>
              <a:rPr lang="en-US" altLang="zh-CN" sz="2200" dirty="0" smtClean="0">
                <a:solidFill>
                  <a:srgbClr val="FFC000"/>
                </a:solidFill>
              </a:rPr>
              <a:t>--</a:t>
            </a:r>
            <a:r>
              <a:rPr lang="en-US" altLang="zh-CN" sz="2200" dirty="0" smtClean="0"/>
              <a:t>; 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 smtClean="0"/>
              <a:t>	}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None/>
              <a:defRPr/>
            </a:pPr>
            <a:r>
              <a:rPr lang="en-US" altLang="zh-CN" sz="2200" dirty="0" smtClean="0"/>
              <a:t>   	for </a:t>
            </a:r>
            <a:r>
              <a:rPr lang="en-US" altLang="zh-CN" sz="2200" dirty="0"/>
              <a:t>(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=0;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&lt;n; </a:t>
            </a:r>
            <a:r>
              <a:rPr lang="en-US" altLang="zh-CN" sz="2200" dirty="0" err="1"/>
              <a:t>i</a:t>
            </a:r>
            <a:r>
              <a:rPr lang="en-US" altLang="zh-CN" sz="2200" dirty="0" smtClean="0"/>
              <a:t>++)  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</a:t>
            </a:r>
            <a:r>
              <a:rPr lang="en-US" altLang="zh-CN" sz="2200" dirty="0"/>
              <a:t>a[</a:t>
            </a:r>
            <a:r>
              <a:rPr lang="en-US" altLang="zh-CN" sz="2200" dirty="0" err="1"/>
              <a:t>i</a:t>
            </a:r>
            <a:r>
              <a:rPr lang="en-US" altLang="zh-CN" sz="2200" dirty="0" smtClean="0"/>
              <a:t>] &lt;&lt; ' ';</a:t>
            </a:r>
            <a:endParaRPr lang="en-US" altLang="zh-CN" sz="2200" dirty="0"/>
          </a:p>
          <a:p>
            <a:pPr eaLnBrk="1" hangingPunct="1">
              <a:lnSpc>
                <a:spcPct val="80000"/>
              </a:lnSpc>
              <a:spcBef>
                <a:spcPts val="500"/>
              </a:spcBef>
              <a:buFont typeface="Wingdings" pitchFamily="2" charset="2"/>
              <a:buNone/>
              <a:defRPr/>
            </a:pPr>
            <a:r>
              <a:rPr lang="en-US" altLang="zh-CN" sz="2200" dirty="0" smtClean="0"/>
              <a:t>}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24128" y="116632"/>
            <a:ext cx="3369833" cy="169277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just">
              <a:spcBef>
                <a:spcPts val="0"/>
              </a:spcBef>
            </a:pPr>
            <a:r>
              <a:rPr lang="zh-CN" altLang="en-US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可以优化：</a:t>
            </a:r>
            <a:endParaRPr lang="en-US" altLang="zh-CN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如果某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轮没发生交换，</a:t>
            </a:r>
            <a:endParaRPr lang="en-US" altLang="zh-CN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55600" algn="just">
              <a:spcBef>
                <a:spcPts val="0"/>
              </a:spcBef>
            </a:pP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就没必要进行下一轮了！</a:t>
            </a:r>
            <a:endParaRPr lang="en-US" altLang="zh-CN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</a:t>
            </a: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exchange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记住</a:t>
            </a:r>
            <a:endParaRPr lang="en-US" altLang="zh-CN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55600" algn="just">
              <a:spcBef>
                <a:spcPts val="0"/>
              </a:spcBef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有没有进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行交换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0941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174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174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0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0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 smtClean="0"/>
              <a:t>例：求解约瑟夫（</a:t>
            </a:r>
            <a:r>
              <a:rPr lang="en-US" altLang="zh-CN" sz="3200" dirty="0" smtClean="0"/>
              <a:t>Josephus</a:t>
            </a:r>
            <a:r>
              <a:rPr lang="zh-CN" altLang="en-US" sz="3200" dirty="0" smtClean="0"/>
              <a:t>）问题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25537"/>
            <a:ext cx="8280920" cy="561583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400" dirty="0" smtClean="0"/>
              <a:t>约瑟夫（</a:t>
            </a:r>
            <a:r>
              <a:rPr lang="en-US" altLang="zh-CN" sz="2400" dirty="0" smtClean="0"/>
              <a:t>Josephus</a:t>
            </a:r>
            <a:r>
              <a:rPr lang="zh-CN" altLang="en-US" sz="2400" dirty="0" smtClean="0"/>
              <a:t>）问题：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000" dirty="0" smtClean="0"/>
              <a:t>有</a:t>
            </a:r>
            <a:r>
              <a:rPr lang="en-US" altLang="zh-CN" sz="2000" dirty="0" smtClean="0"/>
              <a:t>N</a:t>
            </a:r>
            <a:r>
              <a:rPr lang="zh-CN" altLang="en-US" sz="2000" dirty="0" smtClean="0"/>
              <a:t>个小孩（编号为</a:t>
            </a:r>
            <a:r>
              <a:rPr lang="en-US" altLang="zh-CN" sz="2000" dirty="0" smtClean="0"/>
              <a:t>0</a:t>
            </a:r>
            <a:r>
              <a:rPr lang="zh-CN" altLang="en-US" sz="2000" dirty="0" smtClean="0"/>
              <a:t>～</a:t>
            </a:r>
            <a:r>
              <a:rPr lang="en-US" altLang="zh-CN" sz="2000" dirty="0" smtClean="0"/>
              <a:t>N-1</a:t>
            </a:r>
            <a:r>
              <a:rPr lang="zh-CN" altLang="en-US" sz="2000" dirty="0" smtClean="0"/>
              <a:t>）围坐成一圈，从某个小孩开始顺时针报数（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...</a:t>
            </a:r>
            <a:r>
              <a:rPr lang="zh-CN" altLang="en-US" sz="2000" dirty="0" smtClean="0"/>
              <a:t>），报到</a:t>
            </a:r>
            <a:r>
              <a:rPr lang="en-US" altLang="zh-CN" sz="2000" dirty="0" smtClean="0"/>
              <a:t>M</a:t>
            </a:r>
            <a:r>
              <a:rPr lang="zh-CN" altLang="en-US" sz="2000" dirty="0" smtClean="0"/>
              <a:t>的小孩从圈子离开，然后，从下一个小孩开始重新报数，每报到</a:t>
            </a:r>
            <a:r>
              <a:rPr lang="en-US" altLang="zh-CN" sz="2000" dirty="0" smtClean="0"/>
              <a:t>M</a:t>
            </a:r>
            <a:r>
              <a:rPr lang="zh-CN" altLang="en-US" sz="2000" dirty="0" smtClean="0"/>
              <a:t>，相应的小孩从圈子离开，</a:t>
            </a:r>
            <a:r>
              <a:rPr lang="en-US" altLang="zh-CN" sz="2000" dirty="0" smtClean="0"/>
              <a:t>......</a:t>
            </a:r>
            <a:r>
              <a:rPr lang="zh-CN" altLang="en-US" sz="2000" dirty="0" smtClean="0"/>
              <a:t>，最后一个离开圈子的小孩为胜者，问胜者是哪一个小孩（编号）？</a:t>
            </a:r>
          </a:p>
          <a:p>
            <a:pPr eaLnBrk="1" hangingPunct="1">
              <a:defRPr/>
            </a:pPr>
            <a:r>
              <a:rPr lang="zh-CN" altLang="en-US" sz="2400" dirty="0" smtClean="0"/>
              <a:t>采用一个一维的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循环数组</a:t>
            </a:r>
            <a:r>
              <a:rPr lang="en-US" altLang="zh-CN" sz="2400" dirty="0" err="1" smtClean="0"/>
              <a:t>in_circle</a:t>
            </a:r>
            <a:r>
              <a:rPr lang="zh-CN" altLang="en-US" sz="2400" dirty="0" smtClean="0"/>
              <a:t>来表示小孩围成一圈：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000" dirty="0" err="1" smtClean="0"/>
              <a:t>bool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in_circle</a:t>
            </a:r>
            <a:r>
              <a:rPr lang="en-US" altLang="zh-CN" sz="2000" dirty="0" smtClean="0"/>
              <a:t>[N]; </a:t>
            </a:r>
          </a:p>
          <a:p>
            <a:pPr lvl="1" eaLnBrk="1" hangingPunct="1">
              <a:defRPr/>
            </a:pPr>
            <a:r>
              <a:rPr lang="en-US" altLang="zh-CN" sz="2000" dirty="0" err="1" smtClean="0"/>
              <a:t>in_circle</a:t>
            </a:r>
            <a:r>
              <a:rPr lang="en-US" altLang="zh-CN" sz="2000" dirty="0" smtClean="0"/>
              <a:t>[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]</a:t>
            </a:r>
            <a:r>
              <a:rPr lang="zh-CN" altLang="en-US" sz="2000" dirty="0"/>
              <a:t>：</a:t>
            </a:r>
            <a:r>
              <a:rPr lang="en-US" altLang="zh-CN" sz="2000" dirty="0" smtClean="0"/>
              <a:t>true</a:t>
            </a:r>
            <a:r>
              <a:rPr lang="zh-CN" altLang="en-US" sz="2000" dirty="0" smtClean="0"/>
              <a:t>表示编号为</a:t>
            </a:r>
            <a:r>
              <a:rPr lang="en-US" altLang="zh-CN" sz="2000" dirty="0" err="1" smtClean="0"/>
              <a:t>i</a:t>
            </a:r>
            <a:r>
              <a:rPr lang="zh-CN" altLang="en-US" sz="2000" dirty="0" smtClean="0"/>
              <a:t>的小孩在圈子里；</a:t>
            </a:r>
            <a:r>
              <a:rPr lang="en-US" altLang="zh-CN" sz="2000" dirty="0" smtClean="0"/>
              <a:t>false</a:t>
            </a:r>
            <a:r>
              <a:rPr lang="zh-CN" altLang="en-US" sz="2000" dirty="0"/>
              <a:t>表示编号为</a:t>
            </a:r>
            <a:r>
              <a:rPr lang="en-US" altLang="zh-CN" sz="2000" dirty="0" err="1"/>
              <a:t>i</a:t>
            </a:r>
            <a:r>
              <a:rPr lang="zh-CN" altLang="en-US" sz="2000" dirty="0"/>
              <a:t>的</a:t>
            </a:r>
            <a:r>
              <a:rPr lang="zh-CN" altLang="en-US" sz="2000" dirty="0" smtClean="0"/>
              <a:t>小孩离开了圈子。</a:t>
            </a:r>
            <a:endParaRPr lang="en-US" altLang="zh-CN" sz="2000" dirty="0" smtClean="0"/>
          </a:p>
          <a:p>
            <a:pPr lvl="1" eaLnBrk="1" hangingPunct="1">
              <a:defRPr/>
            </a:pPr>
            <a:r>
              <a:rPr lang="zh-CN" altLang="en-US" sz="2000" dirty="0" smtClean="0"/>
              <a:t>开始报数前，</a:t>
            </a:r>
            <a:r>
              <a:rPr lang="en-US" altLang="zh-CN" sz="2000" dirty="0" err="1" smtClean="0"/>
              <a:t>in_circle</a:t>
            </a:r>
            <a:r>
              <a:rPr lang="zh-CN" altLang="en-US" sz="2000" dirty="0" smtClean="0"/>
              <a:t>中所有元素都为</a:t>
            </a:r>
            <a:r>
              <a:rPr lang="en-US" altLang="zh-CN" sz="2000" dirty="0" smtClean="0"/>
              <a:t>true</a:t>
            </a:r>
            <a:r>
              <a:rPr lang="zh-CN" altLang="en-US" sz="2000" dirty="0" smtClean="0"/>
              <a:t>。</a:t>
            </a:r>
          </a:p>
          <a:p>
            <a:pPr lvl="1" eaLnBrk="1" hangingPunct="1">
              <a:defRPr/>
            </a:pPr>
            <a:r>
              <a:rPr lang="zh-CN" altLang="en-US" sz="2000" dirty="0" smtClean="0"/>
              <a:t>圈子中位置</a:t>
            </a:r>
            <a:r>
              <a:rPr lang="en-US" altLang="zh-CN" sz="2000" dirty="0" err="1" smtClean="0"/>
              <a:t>i</a:t>
            </a:r>
            <a:r>
              <a:rPr lang="zh-CN" altLang="en-US" sz="2000" dirty="0" smtClean="0"/>
              <a:t>的下一个位置为：</a:t>
            </a:r>
            <a:r>
              <a:rPr lang="en-US" altLang="zh-CN" sz="2000" dirty="0" smtClean="0"/>
              <a:t>(i+1)</a:t>
            </a:r>
            <a:r>
              <a:rPr lang="en-US" altLang="zh-CN" sz="2000" dirty="0" smtClean="0">
                <a:solidFill>
                  <a:schemeClr val="folHlink"/>
                </a:solidFill>
              </a:rPr>
              <a:t>%N</a:t>
            </a:r>
            <a:r>
              <a:rPr lang="en-US" altLang="zh-CN" sz="2000" dirty="0" smtClean="0"/>
              <a:t> </a:t>
            </a:r>
          </a:p>
        </p:txBody>
      </p:sp>
      <p:grpSp>
        <p:nvGrpSpPr>
          <p:cNvPr id="50180" name="Group 0"/>
          <p:cNvGrpSpPr>
            <a:grpSpLocks noChangeAspect="1"/>
          </p:cNvGrpSpPr>
          <p:nvPr/>
        </p:nvGrpSpPr>
        <p:grpSpPr bwMode="auto">
          <a:xfrm>
            <a:off x="6516216" y="4725913"/>
            <a:ext cx="2016224" cy="1912937"/>
            <a:chOff x="4048" y="7641"/>
            <a:chExt cx="2326" cy="2286"/>
          </a:xfrm>
        </p:grpSpPr>
        <p:sp>
          <p:nvSpPr>
            <p:cNvPr id="50185" name="AutoShape 1"/>
            <p:cNvSpPr>
              <a:spLocks noChangeAspect="1" noChangeArrowheads="1"/>
            </p:cNvSpPr>
            <p:nvPr/>
          </p:nvSpPr>
          <p:spPr bwMode="auto">
            <a:xfrm>
              <a:off x="4048" y="7641"/>
              <a:ext cx="2326" cy="2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50186" name="Oval 2"/>
            <p:cNvSpPr>
              <a:spLocks noChangeArrowheads="1"/>
            </p:cNvSpPr>
            <p:nvPr/>
          </p:nvSpPr>
          <p:spPr bwMode="auto">
            <a:xfrm>
              <a:off x="4056" y="7649"/>
              <a:ext cx="2318" cy="22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50187" name="Oval 3"/>
            <p:cNvSpPr>
              <a:spLocks noChangeArrowheads="1"/>
            </p:cNvSpPr>
            <p:nvPr/>
          </p:nvSpPr>
          <p:spPr bwMode="auto">
            <a:xfrm>
              <a:off x="4365" y="7917"/>
              <a:ext cx="1700" cy="17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50188" name="Line 4"/>
            <p:cNvSpPr>
              <a:spLocks noChangeShapeType="1"/>
            </p:cNvSpPr>
            <p:nvPr/>
          </p:nvSpPr>
          <p:spPr bwMode="auto">
            <a:xfrm>
              <a:off x="5200" y="7649"/>
              <a:ext cx="0" cy="2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9" name="Line 5"/>
            <p:cNvSpPr>
              <a:spLocks noChangeShapeType="1"/>
            </p:cNvSpPr>
            <p:nvPr/>
          </p:nvSpPr>
          <p:spPr bwMode="auto">
            <a:xfrm flipH="1">
              <a:off x="5605" y="7732"/>
              <a:ext cx="155" cy="2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0" name="Line 6"/>
            <p:cNvSpPr>
              <a:spLocks noChangeShapeType="1"/>
            </p:cNvSpPr>
            <p:nvPr/>
          </p:nvSpPr>
          <p:spPr bwMode="auto">
            <a:xfrm flipH="1">
              <a:off x="5886" y="8051"/>
              <a:ext cx="241" cy="2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1" name="Line 7"/>
            <p:cNvSpPr>
              <a:spLocks noChangeShapeType="1"/>
            </p:cNvSpPr>
            <p:nvPr/>
          </p:nvSpPr>
          <p:spPr bwMode="auto">
            <a:xfrm>
              <a:off x="4626" y="7783"/>
              <a:ext cx="154" cy="2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2" name="Line 8"/>
            <p:cNvSpPr>
              <a:spLocks noChangeShapeType="1"/>
            </p:cNvSpPr>
            <p:nvPr/>
          </p:nvSpPr>
          <p:spPr bwMode="auto">
            <a:xfrm>
              <a:off x="4266" y="8154"/>
              <a:ext cx="18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81" name="Text Box 9"/>
          <p:cNvSpPr txBox="1">
            <a:spLocks noChangeArrowheads="1"/>
          </p:cNvSpPr>
          <p:nvPr/>
        </p:nvSpPr>
        <p:spPr bwMode="auto">
          <a:xfrm>
            <a:off x="7625977" y="4236963"/>
            <a:ext cx="330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0" dirty="0"/>
              <a:t>0</a:t>
            </a:r>
          </a:p>
        </p:txBody>
      </p:sp>
      <p:sp>
        <p:nvSpPr>
          <p:cNvPr id="50182" name="Text Box 10"/>
          <p:cNvSpPr txBox="1">
            <a:spLocks noChangeArrowheads="1"/>
          </p:cNvSpPr>
          <p:nvPr/>
        </p:nvSpPr>
        <p:spPr bwMode="auto">
          <a:xfrm>
            <a:off x="6876677" y="4221088"/>
            <a:ext cx="604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0" dirty="0"/>
              <a:t>N-1</a:t>
            </a:r>
          </a:p>
        </p:txBody>
      </p:sp>
      <p:sp>
        <p:nvSpPr>
          <p:cNvPr id="50183" name="Text Box 11"/>
          <p:cNvSpPr txBox="1">
            <a:spLocks noChangeArrowheads="1"/>
          </p:cNvSpPr>
          <p:nvPr/>
        </p:nvSpPr>
        <p:spPr bwMode="auto">
          <a:xfrm>
            <a:off x="8080002" y="4452863"/>
            <a:ext cx="330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0"/>
              <a:t>1</a:t>
            </a:r>
          </a:p>
        </p:txBody>
      </p:sp>
      <p:sp>
        <p:nvSpPr>
          <p:cNvPr id="50184" name="Text Box 12"/>
          <p:cNvSpPr txBox="1">
            <a:spLocks noChangeArrowheads="1"/>
          </p:cNvSpPr>
          <p:nvPr/>
        </p:nvSpPr>
        <p:spPr bwMode="auto">
          <a:xfrm>
            <a:off x="6351215" y="4595738"/>
            <a:ext cx="604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0"/>
              <a:t>N-2</a:t>
            </a:r>
          </a:p>
        </p:txBody>
      </p:sp>
      <p:sp>
        <p:nvSpPr>
          <p:cNvPr id="2" name="椭圆 1"/>
          <p:cNvSpPr/>
          <p:nvPr/>
        </p:nvSpPr>
        <p:spPr bwMode="auto">
          <a:xfrm>
            <a:off x="6790998" y="4949750"/>
            <a:ext cx="1483097" cy="1464836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/>
      <p:bldP spid="50182" grpId="0"/>
      <p:bldP spid="50183" grpId="0"/>
      <p:bldP spid="50184" grpId="0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765174"/>
            <a:ext cx="8686800" cy="5760169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报数采用下面的方法来实现：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从编号为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的小孩开始报数，用变量</a:t>
            </a:r>
            <a:r>
              <a:rPr lang="en-US" altLang="zh-CN" dirty="0" smtClean="0"/>
              <a:t>index</a:t>
            </a:r>
            <a:r>
              <a:rPr lang="zh-CN" altLang="en-US" dirty="0" smtClean="0"/>
              <a:t>表示要报数的小孩的下标，其初始值为</a:t>
            </a:r>
            <a:r>
              <a:rPr lang="en-US" altLang="zh-CN" dirty="0" smtClean="0"/>
              <a:t>N-1</a:t>
            </a:r>
            <a:r>
              <a:rPr lang="zh-CN" altLang="en-US" dirty="0" smtClean="0"/>
              <a:t>（即将报数的前一个小孩的下标）。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/>
              <a:t>下一个要报数的小孩的下标：</a:t>
            </a:r>
            <a:r>
              <a:rPr lang="en-US" altLang="zh-CN" dirty="0"/>
              <a:t>index = (index+1)%N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用变量</a:t>
            </a:r>
            <a:r>
              <a:rPr lang="en-US" altLang="zh-CN" dirty="0" smtClean="0"/>
              <a:t>count</a:t>
            </a:r>
            <a:r>
              <a:rPr lang="zh-CN" altLang="en-US" dirty="0" smtClean="0"/>
              <a:t>来对</a:t>
            </a:r>
            <a:r>
              <a:rPr lang="zh-CN" altLang="en-US" dirty="0" smtClean="0">
                <a:solidFill>
                  <a:schemeClr val="folHlink"/>
                </a:solidFill>
              </a:rPr>
              <a:t>成功的报数</a:t>
            </a:r>
            <a:r>
              <a:rPr lang="zh-CN" altLang="en-US" dirty="0" smtClean="0"/>
              <a:t>进行计数，每一轮报数前，</a:t>
            </a:r>
            <a:r>
              <a:rPr lang="en-US" altLang="zh-CN" dirty="0" smtClean="0"/>
              <a:t>count</a:t>
            </a:r>
            <a:r>
              <a:rPr lang="zh-CN" altLang="en-US" dirty="0" smtClean="0"/>
              <a:t>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，每成功地报一次数，就把</a:t>
            </a:r>
            <a:r>
              <a:rPr lang="en-US" altLang="zh-CN" dirty="0" smtClean="0"/>
              <a:t>count</a:t>
            </a:r>
            <a:r>
              <a:rPr lang="zh-CN" altLang="en-US" dirty="0" smtClean="0"/>
              <a:t>加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，直到</a:t>
            </a:r>
            <a:r>
              <a:rPr lang="en-US" altLang="zh-CN" dirty="0" smtClean="0"/>
              <a:t>M</a:t>
            </a:r>
            <a:r>
              <a:rPr lang="zh-CN" altLang="en-US" dirty="0" smtClean="0"/>
              <a:t>为止。</a:t>
            </a:r>
            <a:endParaRPr lang="en-US" altLang="zh-CN" dirty="0" smtClean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要使得报数成功，</a:t>
            </a:r>
            <a:r>
              <a:rPr lang="en-US" altLang="zh-CN" dirty="0" err="1" smtClean="0"/>
              <a:t>in_circle</a:t>
            </a:r>
            <a:r>
              <a:rPr lang="en-US" altLang="zh-CN" dirty="0" smtClean="0"/>
              <a:t>[index]</a:t>
            </a:r>
            <a:r>
              <a:rPr lang="zh-CN" altLang="en-US" dirty="0" smtClean="0"/>
              <a:t>应为</a:t>
            </a:r>
            <a:r>
              <a:rPr lang="en-US" altLang="zh-CN" dirty="0" smtClean="0"/>
              <a:t>true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成功报数</a:t>
            </a:r>
            <a:r>
              <a:rPr lang="en-US" altLang="zh-CN" smtClean="0"/>
              <a:t>M</a:t>
            </a:r>
            <a:r>
              <a:rPr lang="zh-CN" altLang="en-US" smtClean="0"/>
              <a:t>后</a:t>
            </a:r>
            <a:r>
              <a:rPr lang="zh-CN" altLang="en-US" dirty="0" smtClean="0"/>
              <a:t>，把</a:t>
            </a:r>
            <a:r>
              <a:rPr lang="en-US" altLang="zh-CN" dirty="0" err="1" smtClean="0"/>
              <a:t>in_circle</a:t>
            </a:r>
            <a:r>
              <a:rPr lang="en-US" altLang="zh-CN" dirty="0" smtClean="0"/>
              <a:t>[index]</a:t>
            </a:r>
            <a:r>
              <a:rPr lang="zh-CN" altLang="en-US" dirty="0" smtClean="0"/>
              <a:t>设成</a:t>
            </a:r>
            <a:r>
              <a:rPr lang="en-US" altLang="zh-CN" dirty="0" smtClean="0"/>
              <a:t>false</a:t>
            </a:r>
            <a:r>
              <a:rPr lang="zh-CN" altLang="en-US" dirty="0" smtClean="0"/>
              <a:t>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用变量</a:t>
            </a:r>
            <a:r>
              <a:rPr lang="en-US" altLang="zh-CN" dirty="0" err="1" smtClean="0"/>
              <a:t>num_of_children_remained</a:t>
            </a:r>
            <a:r>
              <a:rPr lang="zh-CN" altLang="en-US" dirty="0" smtClean="0"/>
              <a:t>表示圈中剩下的小孩数目，其初始值为</a:t>
            </a:r>
            <a:r>
              <a:rPr lang="en-US" altLang="zh-CN" dirty="0" smtClean="0"/>
              <a:t>N</a:t>
            </a:r>
            <a:r>
              <a:rPr lang="zh-CN" altLang="en-US" dirty="0" smtClean="0"/>
              <a:t>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655638"/>
            <a:ext cx="8785100" cy="57975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//</a:t>
            </a:r>
            <a:r>
              <a:rPr lang="zh-CN" altLang="en-US" sz="2400" dirty="0" smtClean="0"/>
              <a:t>变量</a:t>
            </a:r>
            <a:r>
              <a:rPr lang="en-US" altLang="zh-CN" sz="2400" dirty="0" err="1" smtClean="0"/>
              <a:t>num_of_children_remained</a:t>
            </a:r>
            <a:r>
              <a:rPr lang="zh-CN" altLang="en-US" sz="2400" dirty="0" smtClean="0"/>
              <a:t>表示圈中剩下的小孩数目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//</a:t>
            </a:r>
            <a:r>
              <a:rPr lang="zh-CN" altLang="en-US" sz="2400" dirty="0" smtClean="0"/>
              <a:t>变量</a:t>
            </a:r>
            <a:r>
              <a:rPr lang="en-US" altLang="zh-CN" sz="2400" dirty="0" smtClean="0"/>
              <a:t>count</a:t>
            </a:r>
            <a:r>
              <a:rPr lang="zh-CN" altLang="en-US" sz="2400" dirty="0" smtClean="0"/>
              <a:t>来对成功的报数进行计数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//</a:t>
            </a:r>
            <a:r>
              <a:rPr lang="zh-CN" altLang="en-US" sz="2400" dirty="0" smtClean="0"/>
              <a:t>变量</a:t>
            </a:r>
            <a:r>
              <a:rPr lang="en-US" altLang="zh-CN" sz="2400" dirty="0" smtClean="0"/>
              <a:t>index</a:t>
            </a:r>
            <a:r>
              <a:rPr lang="zh-CN" altLang="en-US" sz="2400" dirty="0" smtClean="0"/>
              <a:t>表示要报数的小孩的位置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zh-CN" altLang="en-US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#include &lt;</a:t>
            </a:r>
            <a:r>
              <a:rPr lang="en-US" altLang="zh-CN" sz="2400" dirty="0" err="1" smtClean="0"/>
              <a:t>iostream</a:t>
            </a:r>
            <a:r>
              <a:rPr lang="en-US" altLang="zh-CN" sz="2400" dirty="0" smtClean="0"/>
              <a:t>&gt;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using namespace </a:t>
            </a:r>
            <a:r>
              <a:rPr lang="en-US" altLang="zh-CN" sz="2400" dirty="0" err="1" smtClean="0"/>
              <a:t>std</a:t>
            </a:r>
            <a:r>
              <a:rPr lang="en-US" altLang="zh-CN" sz="2400" dirty="0" smtClean="0"/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err="1" smtClean="0"/>
              <a:t>const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N=20,M=5;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main()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	bool </a:t>
            </a:r>
            <a:r>
              <a:rPr lang="en-US" altLang="zh-CN" sz="2400" dirty="0" err="1" smtClean="0"/>
              <a:t>in_circle</a:t>
            </a:r>
            <a:r>
              <a:rPr lang="en-US" altLang="zh-CN" sz="2400" dirty="0" smtClean="0"/>
              <a:t>[N];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//</a:t>
            </a:r>
            <a:r>
              <a:rPr lang="zh-CN" altLang="en-US" sz="2400" dirty="0" smtClean="0"/>
              <a:t>初始化数组</a:t>
            </a:r>
            <a:r>
              <a:rPr lang="en-US" altLang="zh-CN" sz="2400" dirty="0" err="1" smtClean="0"/>
              <a:t>in_circle</a:t>
            </a:r>
            <a:r>
              <a:rPr lang="zh-CN" altLang="en-US" sz="2400" dirty="0" smtClean="0"/>
              <a:t>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for 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&lt;N;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++)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</a:t>
            </a:r>
            <a:r>
              <a:rPr lang="en-US" altLang="zh-CN" sz="2400" dirty="0" err="1" smtClean="0"/>
              <a:t>in_circle</a:t>
            </a:r>
            <a:r>
              <a:rPr lang="en-US" altLang="zh-CN" sz="2400" dirty="0" smtClean="0"/>
              <a:t>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 = true;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76250"/>
            <a:ext cx="9144000" cy="6048375"/>
          </a:xfrm>
        </p:spPr>
        <p:txBody>
          <a:bodyPr/>
          <a:lstStyle/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//</a:t>
            </a:r>
            <a:r>
              <a:rPr lang="zh-CN" altLang="en-US" sz="2400" dirty="0" smtClean="0"/>
              <a:t>开始报数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index=N-1;  //</a:t>
            </a:r>
            <a:r>
              <a:rPr lang="zh-CN" altLang="en-US" sz="2400" dirty="0" smtClean="0"/>
              <a:t>从编号为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的小孩开始报数，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					  </a:t>
            </a:r>
            <a:r>
              <a:rPr lang="en-US" altLang="zh-CN" sz="2400" dirty="0" smtClean="0"/>
              <a:t>//index</a:t>
            </a:r>
            <a:r>
              <a:rPr lang="zh-CN" altLang="en-US" sz="2400" dirty="0" smtClean="0"/>
              <a:t>为前一个小孩的位置。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num_of_children_remained</a:t>
            </a:r>
            <a:r>
              <a:rPr lang="en-US" altLang="zh-CN" sz="2400" dirty="0" smtClean="0"/>
              <a:t>=N; </a:t>
            </a:r>
            <a:r>
              <a:rPr lang="en-US" altLang="zh-CN" sz="2200" dirty="0" smtClean="0"/>
              <a:t>//</a:t>
            </a:r>
            <a:r>
              <a:rPr lang="zh-CN" altLang="en-US" sz="2200" dirty="0" smtClean="0"/>
              <a:t>报数前的圈子中小孩个数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while (</a:t>
            </a:r>
            <a:r>
              <a:rPr lang="en-US" altLang="zh-CN" sz="2400" dirty="0" err="1" smtClean="0"/>
              <a:t>num_of_children_remained</a:t>
            </a:r>
            <a:r>
              <a:rPr lang="en-US" altLang="zh-CN" sz="2400" dirty="0" smtClean="0"/>
              <a:t> &gt; 1)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{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count = 0;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while (count &lt; M)  //</a:t>
            </a:r>
            <a:r>
              <a:rPr lang="zh-CN" altLang="en-US" sz="2400" dirty="0" smtClean="0"/>
              <a:t>对成功的报数进行计数，直到</a:t>
            </a:r>
            <a:r>
              <a:rPr lang="en-US" altLang="zh-CN" sz="2400" dirty="0" smtClean="0"/>
              <a:t>M</a:t>
            </a:r>
            <a:r>
              <a:rPr lang="zh-CN" altLang="en-US" sz="2400" dirty="0" smtClean="0"/>
              <a:t>。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	</a:t>
            </a:r>
            <a:r>
              <a:rPr lang="en-US" altLang="zh-CN" sz="2400" dirty="0" smtClean="0"/>
              <a:t>{	index = (index+1)%N;  //</a:t>
            </a:r>
            <a:r>
              <a:rPr lang="zh-CN" altLang="en-US" sz="2400" dirty="0" smtClean="0"/>
              <a:t>计算要报数的小孩的编号。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		</a:t>
            </a:r>
            <a:r>
              <a:rPr lang="en-US" altLang="zh-CN" sz="2400" dirty="0" smtClean="0"/>
              <a:t>if (</a:t>
            </a:r>
            <a:r>
              <a:rPr lang="en-US" altLang="zh-CN" sz="2400" dirty="0" err="1" smtClean="0"/>
              <a:t>in_circle</a:t>
            </a:r>
            <a:r>
              <a:rPr lang="en-US" altLang="zh-CN" sz="2400" dirty="0" smtClean="0"/>
              <a:t>[index]) count++;  	//</a:t>
            </a:r>
            <a:r>
              <a:rPr lang="zh-CN" altLang="en-US" sz="2400" dirty="0" smtClean="0"/>
              <a:t>如果编号为</a:t>
            </a:r>
            <a:r>
              <a:rPr lang="en-US" altLang="zh-CN" sz="2400" dirty="0" smtClean="0"/>
              <a:t>index</a:t>
            </a:r>
            <a:r>
              <a:rPr lang="zh-CN" altLang="en-US" sz="2400" dirty="0" smtClean="0"/>
              <a:t>的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							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小孩在圈子中，该报数为成功的报数。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	</a:t>
            </a:r>
            <a:r>
              <a:rPr lang="en-US" altLang="zh-CN" sz="2400" dirty="0" smtClean="0"/>
              <a:t>}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</a:t>
            </a:r>
            <a:r>
              <a:rPr lang="en-US" altLang="zh-CN" sz="2400" dirty="0" err="1" smtClean="0"/>
              <a:t>in_circle</a:t>
            </a:r>
            <a:r>
              <a:rPr lang="en-US" altLang="zh-CN" sz="2400" dirty="0" smtClean="0"/>
              <a:t>[index] = false;  //</a:t>
            </a:r>
            <a:r>
              <a:rPr lang="zh-CN" altLang="en-US" sz="2400" dirty="0" smtClean="0"/>
              <a:t>小孩离开圈子。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	</a:t>
            </a:r>
            <a:r>
              <a:rPr lang="en-US" altLang="zh-CN" sz="2400" dirty="0" err="1" smtClean="0"/>
              <a:t>num_of_children_remained</a:t>
            </a:r>
            <a:r>
              <a:rPr lang="en-US" altLang="zh-CN" sz="2400" dirty="0" smtClean="0"/>
              <a:t>--;  //</a:t>
            </a:r>
            <a:r>
              <a:rPr lang="zh-CN" altLang="en-US" sz="2400" dirty="0" smtClean="0"/>
              <a:t>圈中小孩数减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。</a:t>
            </a:r>
          </a:p>
          <a:p>
            <a:pPr marL="173038" indent="-173038" defTabSz="44132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692151"/>
            <a:ext cx="8856538" cy="374496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	//</a:t>
            </a:r>
            <a:r>
              <a:rPr lang="zh-CN" altLang="en-US" smtClean="0"/>
              <a:t>找留在圈子里的那个小孩</a:t>
            </a:r>
            <a:endParaRPr lang="zh-CN" altLang="en-US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dirty="0" smtClean="0"/>
              <a:t>	</a:t>
            </a:r>
            <a:r>
              <a:rPr lang="en-US" altLang="zh-CN" dirty="0" smtClean="0"/>
              <a:t>for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&lt;N;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++)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		if (</a:t>
            </a:r>
            <a:r>
              <a:rPr lang="en-US" altLang="zh-CN" dirty="0" err="1" smtClean="0"/>
              <a:t>in_circle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]) { index =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; break; 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	</a:t>
            </a:r>
          </a:p>
          <a:p>
            <a:pPr eaLnBrk="1" hangingPunct="1">
              <a:buNone/>
              <a:defRPr/>
            </a:pPr>
            <a:r>
              <a:rPr lang="en-US" altLang="zh-CN" dirty="0" smtClean="0"/>
              <a:t>	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&lt;&lt; "The winner is No." </a:t>
            </a:r>
          </a:p>
          <a:p>
            <a:pPr eaLnBrk="1" hangingPunct="1">
              <a:buNone/>
              <a:defRPr/>
            </a:pPr>
            <a:r>
              <a:rPr lang="en-US" altLang="zh-CN" dirty="0" smtClean="0"/>
              <a:t>		   &lt;&lt; index &lt;&lt; ".\n";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	return 0;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一维数组的存储分配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340768"/>
            <a:ext cx="8435975" cy="24050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一维数组类型的数据在内存中占用一块</a:t>
            </a:r>
            <a:r>
              <a:rPr lang="zh-CN" altLang="en-US" sz="2800" dirty="0" smtClean="0">
                <a:solidFill>
                  <a:srgbClr val="FFC000"/>
                </a:solidFill>
              </a:rPr>
              <a:t>连续的</a:t>
            </a:r>
            <a:r>
              <a:rPr lang="zh-CN" altLang="en-US" sz="2800" dirty="0" smtClean="0"/>
              <a:t>存储空间。例如： 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a[10];</a:t>
            </a:r>
          </a:p>
          <a:p>
            <a:pPr lvl="1" eaLnBrk="1" hangingPunct="1">
              <a:defRPr/>
            </a:pPr>
            <a:r>
              <a:rPr lang="zh-CN" altLang="en-US" sz="2400" dirty="0" smtClean="0"/>
              <a:t>其内存空间分配如下：</a:t>
            </a:r>
            <a:endParaRPr lang="zh-CN" altLang="en-US" sz="2400" b="1" dirty="0" smtClean="0"/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altLang="zh-CN" sz="2000" b="1" dirty="0" smtClean="0"/>
              <a:t>a[0]    a[1]	...			  a[9]</a:t>
            </a:r>
            <a:endParaRPr lang="en-US" altLang="zh-CN" sz="2000" dirty="0" smtClean="0"/>
          </a:p>
        </p:txBody>
      </p:sp>
      <p:sp>
        <p:nvSpPr>
          <p:cNvPr id="65544" name="Rectangle 8"/>
          <p:cNvSpPr>
            <a:spLocks noChangeArrowheads="1"/>
          </p:cNvSpPr>
          <p:nvPr/>
        </p:nvSpPr>
        <p:spPr bwMode="auto">
          <a:xfrm>
            <a:off x="323528" y="4221088"/>
            <a:ext cx="8362950" cy="244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28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对于</a:t>
            </a:r>
            <a:r>
              <a:rPr lang="en-US" altLang="zh-CN" sz="28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a[</a:t>
            </a:r>
            <a:r>
              <a:rPr lang="en-US" altLang="zh-CN" sz="28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altLang="zh-CN" sz="28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]</a:t>
            </a:r>
            <a:r>
              <a:rPr lang="zh-CN" altLang="en-US" sz="28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，编译程序会根据下面公式计算它的地址（以</a:t>
            </a:r>
            <a:r>
              <a:rPr lang="zh-CN" altLang="en-US" sz="28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字节</a:t>
            </a:r>
            <a:r>
              <a:rPr lang="zh-CN" altLang="en-US" sz="28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为单位）：</a:t>
            </a:r>
            <a:endParaRPr lang="en-US" altLang="zh-CN" sz="2800" b="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742950" lvl="1" indent="-285750" algn="l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60000"/>
              <a:buFontTx/>
              <a:buChar char="•"/>
              <a:defRPr/>
            </a:pPr>
            <a:r>
              <a:rPr lang="en-US" altLang="zh-CN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zh-CN" altLang="en-US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的首地址</a:t>
            </a:r>
            <a:r>
              <a:rPr lang="en-US" altLang="zh-CN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  <a:r>
              <a:rPr lang="en-US" altLang="zh-CN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altLang="zh-CN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*</a:t>
            </a:r>
            <a:r>
              <a:rPr lang="en-US" altLang="zh-CN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sizeof</a:t>
            </a:r>
            <a:r>
              <a:rPr lang="en-US" altLang="zh-CN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altLang="zh-CN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2800" b="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一维数组所占的内存空间大小可以用</a:t>
            </a:r>
            <a:r>
              <a:rPr lang="en-US" altLang="zh-CN" sz="2800" b="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sizeof</a:t>
            </a:r>
            <a:r>
              <a:rPr lang="zh-CN" altLang="en-US" sz="2800" b="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操作符来计算。例如：</a:t>
            </a:r>
          </a:p>
          <a:p>
            <a:pPr marL="742950" lvl="1" indent="-285750" algn="l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altLang="zh-CN" b="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b="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&lt;&lt; </a:t>
            </a:r>
            <a:r>
              <a:rPr lang="en-US" altLang="zh-CN" b="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sizeof</a:t>
            </a:r>
            <a:r>
              <a:rPr lang="en-US" altLang="zh-CN" b="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(a); //</a:t>
            </a:r>
            <a:r>
              <a:rPr lang="zh-CN" altLang="en-US" b="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输出数组</a:t>
            </a:r>
            <a:r>
              <a:rPr lang="en-US" altLang="zh-CN" b="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zh-CN" altLang="en-US" b="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所占的内存字节数。</a:t>
            </a:r>
          </a:p>
        </p:txBody>
      </p:sp>
      <p:grpSp>
        <p:nvGrpSpPr>
          <p:cNvPr id="23557" name="Group 9"/>
          <p:cNvGrpSpPr>
            <a:grpSpLocks/>
          </p:cNvGrpSpPr>
          <p:nvPr/>
        </p:nvGrpSpPr>
        <p:grpSpPr bwMode="auto">
          <a:xfrm>
            <a:off x="1259632" y="3573016"/>
            <a:ext cx="5730875" cy="342900"/>
            <a:chOff x="1134" y="1992"/>
            <a:chExt cx="3240" cy="312"/>
          </a:xfrm>
        </p:grpSpPr>
        <p:sp>
          <p:nvSpPr>
            <p:cNvPr id="23558" name="Rectangle 10"/>
            <p:cNvSpPr>
              <a:spLocks noChangeArrowheads="1"/>
            </p:cNvSpPr>
            <p:nvPr/>
          </p:nvSpPr>
          <p:spPr bwMode="auto">
            <a:xfrm>
              <a:off x="1134" y="1992"/>
              <a:ext cx="324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23559" name="Line 11"/>
            <p:cNvSpPr>
              <a:spLocks noChangeShapeType="1"/>
            </p:cNvSpPr>
            <p:nvPr/>
          </p:nvSpPr>
          <p:spPr bwMode="auto">
            <a:xfrm>
              <a:off x="1674" y="1992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0" name="Line 12"/>
            <p:cNvSpPr>
              <a:spLocks noChangeShapeType="1"/>
            </p:cNvSpPr>
            <p:nvPr/>
          </p:nvSpPr>
          <p:spPr bwMode="auto">
            <a:xfrm>
              <a:off x="2214" y="1992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1" name="Line 13"/>
            <p:cNvSpPr>
              <a:spLocks noChangeShapeType="1"/>
            </p:cNvSpPr>
            <p:nvPr/>
          </p:nvSpPr>
          <p:spPr bwMode="auto">
            <a:xfrm>
              <a:off x="3834" y="1992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76" y="1988840"/>
            <a:ext cx="8723312" cy="396044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dirty="0"/>
              <a:t>C++</a:t>
            </a:r>
            <a:r>
              <a:rPr lang="zh-CN" altLang="en-US" dirty="0"/>
              <a:t>语言注重程序的效率，运行时刻</a:t>
            </a:r>
            <a:r>
              <a:rPr lang="zh-CN" altLang="en-US" dirty="0">
                <a:solidFill>
                  <a:schemeClr val="folHlink"/>
                </a:solidFill>
              </a:rPr>
              <a:t>不对</a:t>
            </a:r>
            <a:r>
              <a:rPr lang="zh-CN" altLang="en-US" dirty="0"/>
              <a:t>数组元素</a:t>
            </a:r>
            <a:r>
              <a:rPr lang="zh-CN" altLang="en-US" dirty="0">
                <a:solidFill>
                  <a:schemeClr val="folHlink"/>
                </a:solidFill>
              </a:rPr>
              <a:t>下标越界</a:t>
            </a:r>
            <a:r>
              <a:rPr lang="zh-CN" altLang="en-US" dirty="0"/>
              <a:t>进行检查，从而造成下面错误代码的执行不会报错：</a:t>
            </a:r>
            <a:endParaRPr lang="en-US" altLang="zh-CN" dirty="0"/>
          </a:p>
          <a:p>
            <a:pPr marL="269875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a[10</a:t>
            </a:r>
            <a:r>
              <a:rPr lang="en-US" altLang="zh-CN" dirty="0" smtClean="0"/>
              <a:t>],sum=0; //a</a:t>
            </a:r>
            <a:r>
              <a:rPr lang="zh-CN" altLang="en-US" dirty="0" smtClean="0"/>
              <a:t>只有</a:t>
            </a:r>
            <a:r>
              <a:rPr lang="en-US" altLang="zh-CN" dirty="0" smtClean="0"/>
              <a:t>10</a:t>
            </a:r>
            <a:r>
              <a:rPr lang="zh-CN" altLang="en-US" dirty="0" smtClean="0"/>
              <a:t>个元素的空间：</a:t>
            </a:r>
            <a:r>
              <a:rPr lang="en-US" altLang="zh-CN" dirty="0" smtClean="0">
                <a:solidFill>
                  <a:srgbClr val="FFC000"/>
                </a:solidFill>
              </a:rPr>
              <a:t>a[0]~a[9]</a:t>
            </a:r>
            <a:endParaRPr lang="en-US" altLang="zh-CN" dirty="0">
              <a:solidFill>
                <a:srgbClr val="FFC000"/>
              </a:solidFill>
            </a:endParaRP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for 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&lt;=</a:t>
            </a:r>
            <a:r>
              <a:rPr lang="en-US" altLang="zh-CN" dirty="0">
                <a:solidFill>
                  <a:srgbClr val="FFC000"/>
                </a:solidFill>
              </a:rPr>
              <a:t>10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++) </a:t>
            </a:r>
            <a:r>
              <a:rPr lang="en-US" altLang="zh-CN" dirty="0" smtClean="0"/>
              <a:t>//</a:t>
            </a:r>
            <a:r>
              <a:rPr lang="zh-CN" altLang="en-US" dirty="0" smtClean="0"/>
              <a:t>循环</a:t>
            </a:r>
            <a:r>
              <a:rPr lang="en-US" altLang="zh-CN" dirty="0" smtClean="0">
                <a:solidFill>
                  <a:srgbClr val="FFC000"/>
                </a:solidFill>
              </a:rPr>
              <a:t>11</a:t>
            </a:r>
            <a:r>
              <a:rPr lang="zh-CN" altLang="en-US" dirty="0" smtClean="0"/>
              <a:t>次！</a:t>
            </a:r>
            <a:endParaRPr lang="en-US" altLang="zh-CN" dirty="0" smtClean="0"/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dirty="0" err="1" smtClean="0"/>
              <a:t>cin</a:t>
            </a:r>
            <a:r>
              <a:rPr lang="en-US" altLang="zh-CN" dirty="0" smtClean="0"/>
              <a:t> </a:t>
            </a:r>
            <a:r>
              <a:rPr lang="en-US" altLang="zh-CN" dirty="0"/>
              <a:t>&gt;&gt; a[</a:t>
            </a:r>
            <a:r>
              <a:rPr lang="en-US" altLang="zh-CN" dirty="0" err="1"/>
              <a:t>i</a:t>
            </a:r>
            <a:r>
              <a:rPr lang="en-US" altLang="zh-CN" dirty="0" smtClean="0"/>
              <a:t>]; //</a:t>
            </a:r>
            <a:r>
              <a:rPr lang="zh-CN" altLang="en-US" dirty="0" smtClean="0"/>
              <a:t>元素</a:t>
            </a:r>
            <a:r>
              <a:rPr lang="en-US" altLang="zh-CN" dirty="0" smtClean="0">
                <a:solidFill>
                  <a:srgbClr val="FFC000"/>
                </a:solidFill>
              </a:rPr>
              <a:t>a[10]</a:t>
            </a:r>
            <a:r>
              <a:rPr lang="zh-CN" altLang="en-US" dirty="0" smtClean="0"/>
              <a:t>的空间</a:t>
            </a:r>
            <a:r>
              <a:rPr lang="zh-CN" altLang="en-US" dirty="0" smtClean="0">
                <a:solidFill>
                  <a:srgbClr val="FFC000"/>
                </a:solidFill>
              </a:rPr>
              <a:t>可能与</a:t>
            </a:r>
            <a:r>
              <a:rPr lang="en-US" altLang="zh-CN" dirty="0" smtClean="0">
                <a:solidFill>
                  <a:srgbClr val="FFC000"/>
                </a:solidFill>
              </a:rPr>
              <a:t>sum</a:t>
            </a:r>
            <a:r>
              <a:rPr lang="zh-CN" altLang="en-US" dirty="0" smtClean="0">
                <a:solidFill>
                  <a:srgbClr val="FFC000"/>
                </a:solidFill>
              </a:rPr>
              <a:t>相同！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for 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&lt;=</a:t>
            </a:r>
            <a:r>
              <a:rPr lang="en-US" altLang="zh-CN" dirty="0">
                <a:solidFill>
                  <a:srgbClr val="FFC000"/>
                </a:solidFill>
              </a:rPr>
              <a:t>10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++) sum += a[</a:t>
            </a:r>
            <a:r>
              <a:rPr lang="en-US" altLang="zh-CN" dirty="0" err="1"/>
              <a:t>i</a:t>
            </a:r>
            <a:r>
              <a:rPr lang="en-US" altLang="zh-CN" dirty="0" smtClean="0"/>
              <a:t>]; //</a:t>
            </a:r>
            <a:r>
              <a:rPr lang="en-US" altLang="zh-CN" dirty="0" smtClean="0">
                <a:solidFill>
                  <a:srgbClr val="FFC000"/>
                </a:solidFill>
              </a:rPr>
              <a:t>sum</a:t>
            </a:r>
            <a:r>
              <a:rPr lang="zh-CN" altLang="en-US" dirty="0" smtClean="0"/>
              <a:t>的</a:t>
            </a:r>
            <a:r>
              <a:rPr lang="zh-CN" altLang="en-US" dirty="0"/>
              <a:t>值？</a:t>
            </a:r>
            <a:r>
              <a:rPr lang="en-US" altLang="zh-CN" dirty="0" smtClean="0"/>
              <a:t>    </a:t>
            </a:r>
            <a:endParaRPr lang="en-US" altLang="zh-CN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6843"/>
            <a:ext cx="8229600" cy="923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数组下标越界问题</a:t>
            </a:r>
          </a:p>
        </p:txBody>
      </p:sp>
    </p:spTree>
    <p:extLst>
      <p:ext uri="{BB962C8B-B14F-4D97-AF65-F5344CB8AC3E}">
        <p14:creationId xmlns:p14="http://schemas.microsoft.com/office/powerpoint/2010/main" val="9298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基于范围的</a:t>
            </a:r>
            <a:r>
              <a:rPr lang="en-US" altLang="zh-CN" dirty="0"/>
              <a:t>for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960240"/>
            <a:ext cx="8568952" cy="406104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z="3000" dirty="0"/>
              <a:t>为了方便、可靠地实现</a:t>
            </a:r>
            <a:r>
              <a:rPr lang="zh-CN" altLang="en-US" sz="3000" dirty="0">
                <a:solidFill>
                  <a:srgbClr val="FFC000"/>
                </a:solidFill>
              </a:rPr>
              <a:t>依次</a:t>
            </a:r>
            <a:r>
              <a:rPr lang="zh-CN" altLang="en-US" sz="3000" dirty="0"/>
              <a:t>对一维数组元素进行</a:t>
            </a:r>
            <a:r>
              <a:rPr lang="zh-CN" altLang="en-US" sz="3000" dirty="0">
                <a:solidFill>
                  <a:srgbClr val="FFC000"/>
                </a:solidFill>
              </a:rPr>
              <a:t>遍历</a:t>
            </a:r>
            <a:r>
              <a:rPr lang="zh-CN" altLang="en-US" sz="3000" dirty="0"/>
              <a:t>的操作，在</a:t>
            </a:r>
            <a:r>
              <a:rPr lang="en-US" altLang="zh-CN" sz="3000" dirty="0"/>
              <a:t>C++</a:t>
            </a:r>
            <a:r>
              <a:rPr lang="zh-CN" altLang="en-US" sz="3000" dirty="0"/>
              <a:t>中提供了一种</a:t>
            </a:r>
            <a:r>
              <a:rPr lang="zh-CN" altLang="en-US" sz="3000" dirty="0">
                <a:solidFill>
                  <a:srgbClr val="FFC000"/>
                </a:solidFill>
              </a:rPr>
              <a:t>基于范围的</a:t>
            </a:r>
            <a:r>
              <a:rPr lang="en-US" altLang="zh-CN" sz="3000" dirty="0">
                <a:solidFill>
                  <a:srgbClr val="FFC000"/>
                </a:solidFill>
              </a:rPr>
              <a:t>for</a:t>
            </a:r>
            <a:r>
              <a:rPr lang="zh-CN" altLang="en-US" sz="3000" dirty="0"/>
              <a:t>语句。</a:t>
            </a:r>
            <a:endParaRPr lang="en-US" altLang="zh-CN" sz="3000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例如，对一维数组元素求和的操作可写成：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a[10],sum=0;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/>
              <a:t>	for (</a:t>
            </a:r>
            <a:r>
              <a:rPr lang="en-US" altLang="zh-CN" dirty="0" err="1"/>
              <a:t>int</a:t>
            </a:r>
            <a:r>
              <a:rPr lang="en-US" altLang="zh-CN" dirty="0"/>
              <a:t> n: a) sum += n; //</a:t>
            </a:r>
            <a:r>
              <a:rPr lang="zh-CN" altLang="en-US" dirty="0"/>
              <a:t>不改变元素的值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再例如，给数组每个元素输入一个值：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pt-BR" altLang="zh-CN" dirty="0"/>
              <a:t>	for (int </a:t>
            </a:r>
            <a:r>
              <a:rPr lang="pt-BR" altLang="zh-CN" dirty="0">
                <a:solidFill>
                  <a:srgbClr val="FFC000"/>
                </a:solidFill>
              </a:rPr>
              <a:t>&amp;</a:t>
            </a:r>
            <a:r>
              <a:rPr lang="pt-BR" altLang="zh-CN" dirty="0"/>
              <a:t>n: a) cin &gt;&gt; n; //</a:t>
            </a:r>
            <a:r>
              <a:rPr lang="zh-CN" altLang="en-US" dirty="0"/>
              <a:t>可改变元素的值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0141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向函数传递一维数组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508125"/>
            <a:ext cx="8785225" cy="523324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如果要把一</a:t>
            </a:r>
            <a:r>
              <a:rPr lang="zh-CN" altLang="en-US" sz="2800" dirty="0" smtClean="0"/>
              <a:t>个一维数组</a:t>
            </a:r>
            <a:r>
              <a:rPr lang="zh-CN" altLang="en-US" sz="2800" dirty="0" smtClean="0"/>
              <a:t>作为参数传给函数，则被调用</a:t>
            </a:r>
            <a:r>
              <a:rPr lang="zh-CN" altLang="en-US" sz="2800" dirty="0"/>
              <a:t>的函数</a:t>
            </a:r>
            <a:r>
              <a:rPr lang="zh-CN" altLang="en-US" sz="2800" dirty="0" smtClean="0"/>
              <a:t>一般要提供两个形参（次序随便）：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一个为不带数组大小的一维数组类型，用于接收数组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另一个为整型，用于接收数组元素的个数。</a:t>
            </a:r>
            <a:endParaRPr lang="en-US" altLang="zh-CN" sz="24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例如，下面的函数计算一个数组中最大元素的下标：</a:t>
            </a:r>
          </a:p>
          <a:p>
            <a:pPr lvl="1" eaLnBrk="1" hangingPunct="1">
              <a:lnSpc>
                <a:spcPct val="140000"/>
              </a:lnSpc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max(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chemeClr val="folHlink"/>
                </a:solidFill>
              </a:rPr>
              <a:t>x[]</a:t>
            </a:r>
            <a:r>
              <a:rPr lang="en-US" altLang="zh-CN" sz="2400" dirty="0" smtClean="0"/>
              <a:t>,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chemeClr val="folHlink"/>
                </a:solidFill>
              </a:rPr>
              <a:t>n</a:t>
            </a:r>
            <a:r>
              <a:rPr lang="en-US" altLang="zh-CN" sz="2400" dirty="0" smtClean="0"/>
              <a:t>) //x</a:t>
            </a:r>
            <a:r>
              <a:rPr lang="zh-CN" altLang="en-US" sz="2400" dirty="0" smtClean="0"/>
              <a:t>为数组，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为数组元素个数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{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i_max</a:t>
            </a:r>
            <a:r>
              <a:rPr lang="en-US" altLang="zh-CN" sz="2400" dirty="0" smtClean="0"/>
              <a:t>=0; //</a:t>
            </a:r>
            <a:r>
              <a:rPr lang="zh-CN" altLang="en-US" sz="2400" dirty="0" smtClean="0"/>
              <a:t>最大元素的下标，先假设第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个元素最大</a:t>
            </a:r>
          </a:p>
          <a:p>
            <a:pPr lvl="1" eaLnBrk="1" hangingPunct="1">
              <a:buFontTx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for 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=1;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&lt;n;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++)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		if (x[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 &gt; x[</a:t>
            </a:r>
            <a:r>
              <a:rPr lang="en-US" altLang="zh-CN" sz="2400" dirty="0" err="1" smtClean="0"/>
              <a:t>i_max</a:t>
            </a:r>
            <a:r>
              <a:rPr lang="en-US" altLang="zh-CN" sz="2400" dirty="0" smtClean="0"/>
              <a:t>]) </a:t>
            </a:r>
            <a:r>
              <a:rPr lang="en-US" altLang="zh-CN" sz="2400" dirty="0" err="1" smtClean="0"/>
              <a:t>i_max</a:t>
            </a:r>
            <a:r>
              <a:rPr lang="en-US" altLang="zh-CN" sz="2400" dirty="0" smtClean="0"/>
              <a:t> =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	return </a:t>
            </a:r>
            <a:r>
              <a:rPr lang="en-US" altLang="zh-CN" sz="2400" dirty="0" err="1" smtClean="0"/>
              <a:t>i_max</a:t>
            </a:r>
            <a:r>
              <a:rPr lang="en-US" altLang="zh-CN" sz="2400" dirty="0" smtClean="0"/>
              <a:t>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" y="1412777"/>
            <a:ext cx="8686800" cy="4752527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调用者需要把一个一维数组</a:t>
            </a:r>
            <a:r>
              <a:rPr lang="zh-CN" altLang="en-US" dirty="0" smtClean="0"/>
              <a:t>变量以及</a:t>
            </a:r>
            <a:r>
              <a:rPr lang="zh-CN" altLang="en-US" dirty="0"/>
              <a:t>数组元素的个数传给被调用函数。例如：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a[10],b[20],</a:t>
            </a:r>
            <a:r>
              <a:rPr lang="en-US" altLang="zh-CN" sz="2400" dirty="0" err="1"/>
              <a:t>index_max</a:t>
            </a:r>
            <a:r>
              <a:rPr lang="en-US" altLang="zh-CN" sz="2400" dirty="0"/>
              <a:t>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/>
              <a:t>......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err="1"/>
              <a:t>index_max</a:t>
            </a:r>
            <a:r>
              <a:rPr lang="en-US" altLang="zh-CN" sz="2400" dirty="0"/>
              <a:t> = max(</a:t>
            </a:r>
            <a:r>
              <a:rPr lang="en-US" altLang="zh-CN" sz="2400" dirty="0">
                <a:solidFill>
                  <a:schemeClr val="folHlink"/>
                </a:solidFill>
              </a:rPr>
              <a:t>a</a:t>
            </a:r>
            <a:r>
              <a:rPr lang="en-US" altLang="zh-CN" sz="2400" dirty="0"/>
              <a:t>,</a:t>
            </a:r>
            <a:r>
              <a:rPr lang="en-US" altLang="zh-CN" sz="2400" dirty="0">
                <a:solidFill>
                  <a:schemeClr val="folHlink"/>
                </a:solidFill>
              </a:rPr>
              <a:t>10</a:t>
            </a:r>
            <a:r>
              <a:rPr lang="en-US" altLang="zh-CN" sz="2400" dirty="0"/>
              <a:t>);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err="1"/>
              <a:t>cout</a:t>
            </a:r>
            <a:r>
              <a:rPr lang="en-US" altLang="zh-CN" sz="2400" dirty="0"/>
              <a:t> &lt;&lt; a[</a:t>
            </a:r>
            <a:r>
              <a:rPr lang="en-US" altLang="zh-CN" sz="2400" dirty="0" err="1"/>
              <a:t>index_max</a:t>
            </a:r>
            <a:r>
              <a:rPr lang="en-US" altLang="zh-CN" sz="2400" dirty="0"/>
              <a:t>] &lt;&lt; ',' &lt;&lt; </a:t>
            </a:r>
            <a:r>
              <a:rPr lang="en-US" altLang="zh-CN" sz="2400" dirty="0" err="1"/>
              <a:t>index_max</a:t>
            </a:r>
            <a:r>
              <a:rPr lang="en-US" altLang="zh-CN" sz="2400" dirty="0"/>
              <a:t> &lt;&lt; 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err="1"/>
              <a:t>index_max</a:t>
            </a:r>
            <a:r>
              <a:rPr lang="en-US" altLang="zh-CN" sz="2400" dirty="0"/>
              <a:t> = max(</a:t>
            </a:r>
            <a:r>
              <a:rPr lang="en-US" altLang="zh-CN" sz="2400" dirty="0">
                <a:solidFill>
                  <a:schemeClr val="folHlink"/>
                </a:solidFill>
              </a:rPr>
              <a:t>b</a:t>
            </a:r>
            <a:r>
              <a:rPr lang="en-US" altLang="zh-CN" sz="2400" dirty="0"/>
              <a:t>,</a:t>
            </a:r>
            <a:r>
              <a:rPr lang="en-US" altLang="zh-CN" sz="2400" dirty="0">
                <a:solidFill>
                  <a:schemeClr val="folHlink"/>
                </a:solidFill>
              </a:rPr>
              <a:t>20</a:t>
            </a:r>
            <a:r>
              <a:rPr lang="en-US" altLang="zh-CN" sz="2400" dirty="0"/>
              <a:t>);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err="1"/>
              <a:t>cout</a:t>
            </a:r>
            <a:r>
              <a:rPr lang="en-US" altLang="zh-CN" sz="2400" dirty="0"/>
              <a:t> &lt;&lt; b[</a:t>
            </a:r>
            <a:r>
              <a:rPr lang="en-US" altLang="zh-CN" sz="2400" dirty="0" err="1"/>
              <a:t>index_max</a:t>
            </a:r>
            <a:r>
              <a:rPr lang="en-US" altLang="zh-CN" sz="2400" dirty="0"/>
              <a:t>] &lt;&lt; ',' &lt;&lt; </a:t>
            </a:r>
            <a:r>
              <a:rPr lang="en-US" altLang="zh-CN" sz="2400" dirty="0" err="1"/>
              <a:t>index_max</a:t>
            </a:r>
            <a:r>
              <a:rPr lang="en-US" altLang="zh-CN" sz="2400" dirty="0"/>
              <a:t> &lt;&lt; 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之所以任意大小</a:t>
            </a:r>
            <a:r>
              <a:rPr lang="zh-CN" altLang="en-US" dirty="0" smtClean="0"/>
              <a:t>的一维数组</a:t>
            </a:r>
            <a:r>
              <a:rPr lang="zh-CN" altLang="en-US" dirty="0" smtClean="0"/>
              <a:t>都可以传给</a:t>
            </a:r>
            <a:r>
              <a:rPr lang="en-US" altLang="zh-CN" dirty="0" smtClean="0"/>
              <a:t>max</a:t>
            </a:r>
            <a:r>
              <a:rPr lang="zh-CN" altLang="en-US" dirty="0" smtClean="0"/>
              <a:t>，是因为数组占用的是连续空间，</a:t>
            </a:r>
            <a:r>
              <a:rPr lang="en-US" altLang="zh-CN" dirty="0" smtClean="0"/>
              <a:t>max</a:t>
            </a:r>
            <a:r>
              <a:rPr lang="zh-CN" altLang="en-US" dirty="0" smtClean="0"/>
              <a:t>从头依次就可以取到这些元素。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916833"/>
            <a:ext cx="8686800" cy="338437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FFC000"/>
                </a:solidFill>
              </a:rPr>
              <a:t>注意：</a:t>
            </a:r>
            <a:r>
              <a:rPr lang="zh-CN" altLang="en-US" dirty="0"/>
              <a:t>为了提高数组传递的效率，数组作为函数参数传递时，</a:t>
            </a:r>
            <a:r>
              <a:rPr lang="en-US" altLang="zh-CN" dirty="0"/>
              <a:t>C++</a:t>
            </a:r>
            <a:r>
              <a:rPr lang="zh-CN" altLang="en-US" dirty="0"/>
              <a:t>默认传递的是数组在内存中的首地址，这样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函数</a:t>
            </a:r>
            <a:r>
              <a:rPr lang="zh-CN" altLang="en-US" dirty="0"/>
              <a:t>的形参数组不再分配内存</a:t>
            </a:r>
            <a:r>
              <a:rPr lang="zh-CN" altLang="en-US" dirty="0" smtClean="0"/>
              <a:t>空间，</a:t>
            </a:r>
            <a:r>
              <a:rPr lang="zh-CN" altLang="en-US" dirty="0"/>
              <a:t>它共享实参数组的内存</a:t>
            </a:r>
            <a:r>
              <a:rPr lang="zh-CN" altLang="en-US" dirty="0" smtClean="0"/>
              <a:t>空间，从而节省内存。（空间效率）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/>
              <a:t>不</a:t>
            </a:r>
            <a:r>
              <a:rPr lang="zh-CN" altLang="en-US" dirty="0" smtClean="0"/>
              <a:t>需要进行从实参数组到形参数组的复制操作，提高执行效率。（时间效率）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977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686800" cy="100885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例：用</a:t>
            </a:r>
            <a:r>
              <a:rPr lang="zh-CN" altLang="en-US" sz="3600" b="1" dirty="0" smtClean="0"/>
              <a:t>选择排序</a:t>
            </a:r>
            <a:r>
              <a:rPr lang="zh-CN" altLang="en-US" sz="3600" dirty="0" smtClean="0"/>
              <a:t>法编写</a:t>
            </a:r>
            <a:r>
              <a:rPr lang="zh-CN" altLang="en-US" sz="3600" dirty="0"/>
              <a:t>一</a:t>
            </a:r>
            <a:r>
              <a:rPr lang="zh-CN" altLang="en-US" sz="3600" dirty="0" smtClean="0"/>
              <a:t>个排序函数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340768"/>
            <a:ext cx="8460432" cy="5184576"/>
          </a:xfrm>
          <a:ln>
            <a:noFill/>
          </a:ln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选择排序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设要排序的数有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个。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 smtClean="0"/>
              <a:t>从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个数中找出最大者，与第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个数交换位置；然后，从剩余的</a:t>
            </a:r>
            <a:r>
              <a:rPr lang="en-US" altLang="zh-CN" dirty="0" smtClean="0"/>
              <a:t>n-1</a:t>
            </a:r>
            <a:r>
              <a:rPr lang="zh-CN" altLang="en-US" dirty="0" smtClean="0"/>
              <a:t>个数中再找出最大者，与第</a:t>
            </a:r>
            <a:r>
              <a:rPr lang="en-US" altLang="zh-CN" dirty="0" smtClean="0"/>
              <a:t>n-1</a:t>
            </a:r>
            <a:r>
              <a:rPr lang="zh-CN" altLang="en-US" dirty="0" smtClean="0"/>
              <a:t>个数交换位置；</a:t>
            </a:r>
            <a:r>
              <a:rPr lang="en-US" altLang="zh-CN" dirty="0" smtClean="0">
                <a:latin typeface="Arial"/>
              </a:rPr>
              <a:t>…</a:t>
            </a:r>
            <a:r>
              <a:rPr lang="zh-CN" altLang="en-US" dirty="0" smtClean="0"/>
              <a:t>，一直到剩下的数只有一个为止。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75656" y="1628800"/>
            <a:ext cx="51125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/>
              <a:t>3  1  </a:t>
            </a:r>
            <a:r>
              <a:rPr lang="en-US" altLang="zh-CN" sz="2800" dirty="0">
                <a:solidFill>
                  <a:srgbClr val="FFC000"/>
                </a:solidFill>
              </a:rPr>
              <a:t>9</a:t>
            </a:r>
            <a:r>
              <a:rPr lang="en-US" altLang="zh-CN" sz="2800" dirty="0"/>
              <a:t>  4  </a:t>
            </a:r>
            <a:r>
              <a:rPr lang="en-US" altLang="zh-CN" sz="2800" dirty="0" smtClean="0"/>
              <a:t>8  </a:t>
            </a:r>
            <a:r>
              <a:rPr lang="en-US" altLang="zh-CN" sz="2800" dirty="0"/>
              <a:t>6  5  2  0  </a:t>
            </a:r>
            <a:r>
              <a:rPr lang="en-US" altLang="zh-CN" sz="2800" dirty="0" smtClean="0"/>
              <a:t>7</a:t>
            </a:r>
            <a:r>
              <a:rPr lang="en-US" altLang="zh-CN" sz="2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2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75656" y="2329716"/>
            <a:ext cx="51125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/>
              <a:t>3  1  </a:t>
            </a:r>
            <a:r>
              <a:rPr lang="en-US" altLang="zh-CN" sz="2800" dirty="0" smtClean="0"/>
              <a:t>7  </a:t>
            </a:r>
            <a:r>
              <a:rPr lang="en-US" altLang="zh-CN" sz="2800" dirty="0"/>
              <a:t>4  </a:t>
            </a:r>
            <a:r>
              <a:rPr lang="en-US" altLang="zh-CN" sz="2800" dirty="0" smtClean="0"/>
              <a:t>8  </a:t>
            </a:r>
            <a:r>
              <a:rPr lang="en-US" altLang="zh-CN" sz="2800" dirty="0"/>
              <a:t>6  5  2  0  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r>
              <a:rPr lang="en-US" altLang="zh-CN" sz="2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2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75656" y="3553852"/>
            <a:ext cx="51125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/>
              <a:t>3  1  </a:t>
            </a:r>
            <a:r>
              <a:rPr lang="en-US" altLang="zh-CN" sz="2800" dirty="0" smtClean="0"/>
              <a:t>7  </a:t>
            </a:r>
            <a:r>
              <a:rPr lang="en-US" altLang="zh-CN" sz="2800" dirty="0"/>
              <a:t>4  </a:t>
            </a:r>
            <a:r>
              <a:rPr lang="en-US" altLang="zh-CN" sz="2800" dirty="0" smtClean="0">
                <a:solidFill>
                  <a:srgbClr val="FFC000"/>
                </a:solidFill>
              </a:rPr>
              <a:t>8</a:t>
            </a:r>
            <a:r>
              <a:rPr lang="en-US" altLang="zh-CN" sz="2800" dirty="0" smtClean="0"/>
              <a:t>  </a:t>
            </a:r>
            <a:r>
              <a:rPr lang="en-US" altLang="zh-CN" sz="2800" dirty="0"/>
              <a:t>6  5  2  </a:t>
            </a:r>
            <a:r>
              <a:rPr lang="en-US" altLang="zh-CN" sz="2800" dirty="0" smtClean="0"/>
              <a:t>0  </a:t>
            </a:r>
            <a:r>
              <a:rPr lang="en-US" altLang="zh-CN" sz="2800" dirty="0" smtClean="0">
                <a:solidFill>
                  <a:srgbClr val="FF0000"/>
                </a:solidFill>
              </a:rPr>
              <a:t>9</a:t>
            </a:r>
            <a:r>
              <a:rPr lang="en-US" altLang="zh-CN" sz="2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2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5656" y="4273932"/>
            <a:ext cx="51125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/>
              <a:t>3  1  </a:t>
            </a:r>
            <a:r>
              <a:rPr lang="en-US" altLang="zh-CN" sz="2800" dirty="0" smtClean="0"/>
              <a:t>7  </a:t>
            </a:r>
            <a:r>
              <a:rPr lang="en-US" altLang="zh-CN" sz="2800" dirty="0"/>
              <a:t>4  </a:t>
            </a:r>
            <a:r>
              <a:rPr lang="en-US" altLang="zh-CN" sz="2800" dirty="0" smtClean="0"/>
              <a:t>0  </a:t>
            </a:r>
            <a:r>
              <a:rPr lang="en-US" altLang="zh-CN" sz="2800" dirty="0"/>
              <a:t>6  5  2  </a:t>
            </a:r>
            <a:r>
              <a:rPr lang="en-US" altLang="zh-CN" sz="2800" dirty="0" smtClean="0">
                <a:solidFill>
                  <a:srgbClr val="FF0000"/>
                </a:solidFill>
              </a:rPr>
              <a:t>8  9</a:t>
            </a:r>
            <a:r>
              <a:rPr lang="en-US" altLang="zh-CN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5656" y="4849996"/>
            <a:ext cx="51125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 smtClean="0"/>
              <a:t>......</a:t>
            </a:r>
            <a:r>
              <a:rPr lang="en-US" altLang="zh-CN" sz="2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2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75656" y="5570076"/>
            <a:ext cx="51125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 smtClean="0">
                <a:solidFill>
                  <a:srgbClr val="FF0000"/>
                </a:solidFill>
              </a:rPr>
              <a:t>0  </a:t>
            </a:r>
            <a:r>
              <a:rPr lang="en-US" altLang="zh-CN" sz="2800" dirty="0">
                <a:solidFill>
                  <a:srgbClr val="FF0000"/>
                </a:solidFill>
              </a:rPr>
              <a:t>1  </a:t>
            </a:r>
            <a:r>
              <a:rPr lang="en-US" altLang="zh-CN" sz="2800" dirty="0" smtClean="0">
                <a:solidFill>
                  <a:srgbClr val="FF0000"/>
                </a:solidFill>
              </a:rPr>
              <a:t>2  3  4  5  6  7  8  9</a:t>
            </a:r>
            <a:r>
              <a:rPr lang="en-US" altLang="zh-CN" sz="2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2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75656" y="332656"/>
            <a:ext cx="51125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/>
              <a:t>3  1  9  4  </a:t>
            </a:r>
            <a:r>
              <a:rPr lang="en-US" altLang="zh-CN" sz="2800" dirty="0" smtClean="0"/>
              <a:t>8  </a:t>
            </a:r>
            <a:r>
              <a:rPr lang="en-US" altLang="zh-CN" sz="2800" dirty="0"/>
              <a:t>6  5  2  0  </a:t>
            </a:r>
            <a:r>
              <a:rPr lang="en-US" altLang="zh-CN" sz="2800" dirty="0" smtClean="0"/>
              <a:t>7</a:t>
            </a:r>
            <a:r>
              <a:rPr lang="en-US" altLang="zh-CN" sz="2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28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弧形 15"/>
          <p:cNvSpPr/>
          <p:nvPr/>
        </p:nvSpPr>
        <p:spPr bwMode="auto">
          <a:xfrm>
            <a:off x="2627784" y="1218456"/>
            <a:ext cx="3528392" cy="914400"/>
          </a:xfrm>
          <a:prstGeom prst="arc">
            <a:avLst>
              <a:gd name="adj1" fmla="val 10925985"/>
              <a:gd name="adj2" fmla="val 21515846"/>
            </a:avLst>
          </a:prstGeom>
          <a:noFill/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charset="-122"/>
            </a:endParaRPr>
          </a:p>
        </p:txBody>
      </p:sp>
      <p:sp>
        <p:nvSpPr>
          <p:cNvPr id="17" name="弧形 16"/>
          <p:cNvSpPr/>
          <p:nvPr/>
        </p:nvSpPr>
        <p:spPr bwMode="auto">
          <a:xfrm>
            <a:off x="3707904" y="3068960"/>
            <a:ext cx="1944216" cy="914400"/>
          </a:xfrm>
          <a:prstGeom prst="arc">
            <a:avLst>
              <a:gd name="adj1" fmla="val 10804190"/>
              <a:gd name="adj2" fmla="val 159617"/>
            </a:avLst>
          </a:prstGeom>
          <a:noFill/>
          <a:ln>
            <a:solidFill>
              <a:schemeClr val="tx1"/>
            </a:solidFill>
            <a:headEnd type="triangl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003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/>
      <p:bldP spid="10" grpId="0" animBg="1"/>
      <p:bldP spid="16" grpId="0" animBg="1"/>
      <p:bldP spid="1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260648"/>
            <a:ext cx="8784976" cy="6480720"/>
          </a:xfrm>
        </p:spPr>
        <p:txBody>
          <a:bodyPr>
            <a:normAutofit fontScale="70000" lnSpcReduction="20000"/>
          </a:bodyPr>
          <a:lstStyle/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void sort(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x[],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n) //</a:t>
            </a:r>
            <a:r>
              <a:rPr lang="zh-CN" altLang="en-US" dirty="0" smtClean="0"/>
              <a:t>排序函数</a:t>
            </a:r>
            <a:endParaRPr lang="en-US" altLang="zh-CN" dirty="0" smtClean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/>
              <a:t> </a:t>
            </a:r>
            <a:r>
              <a:rPr lang="en-US" altLang="zh-CN" dirty="0" smtClean="0"/>
              <a:t>while (n &gt; 1) </a:t>
            </a:r>
            <a:endParaRPr lang="zh-CN" altLang="en-US" dirty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i_max</a:t>
            </a:r>
            <a:r>
              <a:rPr lang="en-US" altLang="zh-CN" dirty="0" smtClean="0"/>
              <a:t>=0; 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nn-NO" altLang="zh-CN" dirty="0" smtClean="0"/>
              <a:t>      for </a:t>
            </a:r>
            <a:r>
              <a:rPr lang="nn-NO" altLang="zh-CN" dirty="0"/>
              <a:t>(int i=1; i&lt;n; i</a:t>
            </a:r>
            <a:r>
              <a:rPr lang="nn-NO" altLang="zh-CN" dirty="0" smtClean="0"/>
              <a:t>++) //</a:t>
            </a:r>
            <a:r>
              <a:rPr lang="zh-CN" altLang="en-US" dirty="0" smtClean="0"/>
              <a:t>找最大者</a:t>
            </a:r>
            <a:endParaRPr lang="nn-NO" altLang="zh-CN" dirty="0" smtClean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nn-NO" altLang="zh-CN" dirty="0" smtClean="0"/>
              <a:t>        if (x[i] &gt; x[i_max]) i_max = i;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nn-NO" altLang="zh-CN" dirty="0" smtClean="0"/>
              <a:t>      //</a:t>
            </a:r>
            <a:r>
              <a:rPr lang="zh-CN" altLang="en-US" dirty="0" smtClean="0"/>
              <a:t>也可以利用</a:t>
            </a:r>
            <a:r>
              <a:rPr lang="en-US" altLang="zh-CN" dirty="0" smtClean="0"/>
              <a:t>max</a:t>
            </a:r>
            <a:r>
              <a:rPr lang="zh-CN" altLang="en-US" dirty="0" smtClean="0"/>
              <a:t>函数来实现：</a:t>
            </a:r>
            <a:r>
              <a:rPr lang="nn-NO" altLang="zh-CN" dirty="0" smtClean="0">
                <a:solidFill>
                  <a:srgbClr val="FFC000"/>
                </a:solidFill>
              </a:rPr>
              <a:t>i_max = </a:t>
            </a:r>
            <a:r>
              <a:rPr lang="en-US" altLang="zh-CN" dirty="0" smtClean="0">
                <a:solidFill>
                  <a:srgbClr val="FFC000"/>
                </a:solidFill>
              </a:rPr>
              <a:t>max(</a:t>
            </a:r>
            <a:r>
              <a:rPr lang="en-US" altLang="zh-CN" dirty="0" err="1" smtClean="0">
                <a:solidFill>
                  <a:srgbClr val="FFC000"/>
                </a:solidFill>
              </a:rPr>
              <a:t>x,n</a:t>
            </a:r>
            <a:r>
              <a:rPr lang="en-US" altLang="zh-CN" dirty="0" smtClean="0">
                <a:solidFill>
                  <a:srgbClr val="FFC000"/>
                </a:solidFill>
              </a:rPr>
              <a:t>);</a:t>
            </a:r>
            <a:endParaRPr lang="nn-NO" altLang="zh-CN" dirty="0" smtClean="0">
              <a:solidFill>
                <a:srgbClr val="FFC000"/>
              </a:solidFill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      if (</a:t>
            </a:r>
            <a:r>
              <a:rPr lang="en-US" altLang="zh-CN" dirty="0" err="1" smtClean="0"/>
              <a:t>i_max</a:t>
            </a:r>
            <a:r>
              <a:rPr lang="en-US" altLang="zh-CN" dirty="0" smtClean="0"/>
              <a:t> </a:t>
            </a:r>
            <a:r>
              <a:rPr lang="en-US" altLang="zh-CN" dirty="0"/>
              <a:t>!= </a:t>
            </a:r>
            <a:r>
              <a:rPr lang="en-US" altLang="zh-CN" dirty="0" smtClean="0"/>
              <a:t>n-1</a:t>
            </a:r>
            <a:r>
              <a:rPr lang="en-US" altLang="zh-CN" dirty="0"/>
              <a:t>) </a:t>
            </a:r>
            <a:r>
              <a:rPr lang="en-US" altLang="zh-CN" dirty="0" smtClean="0"/>
              <a:t>//</a:t>
            </a:r>
            <a:r>
              <a:rPr lang="zh-CN" altLang="en-US" dirty="0" smtClean="0"/>
              <a:t>最大者</a:t>
            </a:r>
            <a:r>
              <a:rPr lang="zh-CN" altLang="en-US" dirty="0"/>
              <a:t>不</a:t>
            </a:r>
            <a:r>
              <a:rPr lang="zh-CN" altLang="en-US" dirty="0" smtClean="0"/>
              <a:t>为</a:t>
            </a:r>
            <a:r>
              <a:rPr lang="en-US" altLang="zh-CN" dirty="0"/>
              <a:t>x[n-1]</a:t>
            </a:r>
            <a:r>
              <a:rPr lang="zh-CN" altLang="en-US" dirty="0"/>
              <a:t>（最后一个元素）</a:t>
            </a:r>
            <a:r>
              <a:rPr lang="zh-CN" altLang="en-US" dirty="0" smtClean="0"/>
              <a:t>时，</a:t>
            </a:r>
            <a:endParaRPr lang="en-US" altLang="zh-CN" dirty="0" smtClean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	</a:t>
            </a:r>
            <a:r>
              <a:rPr lang="en-US" altLang="zh-CN" dirty="0" smtClean="0"/>
              <a:t>		   //</a:t>
            </a:r>
            <a:r>
              <a:rPr lang="zh-CN" altLang="en-US" dirty="0" smtClean="0"/>
              <a:t>交换</a:t>
            </a:r>
            <a:r>
              <a:rPr lang="en-US" altLang="zh-CN" dirty="0"/>
              <a:t>x[</a:t>
            </a:r>
            <a:r>
              <a:rPr lang="en-US" altLang="zh-CN" dirty="0" err="1"/>
              <a:t>i_max</a:t>
            </a:r>
            <a:r>
              <a:rPr lang="en-US" altLang="zh-CN" dirty="0"/>
              <a:t>]</a:t>
            </a:r>
            <a:r>
              <a:rPr lang="zh-CN" altLang="en-US" dirty="0"/>
              <a:t>和</a:t>
            </a:r>
            <a:r>
              <a:rPr lang="en-US" altLang="zh-CN" dirty="0"/>
              <a:t>x[n-1]</a:t>
            </a:r>
            <a:r>
              <a:rPr lang="zh-CN" altLang="en-US" dirty="0"/>
              <a:t>的值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      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temp=x[n-1];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         x[n-1</a:t>
            </a:r>
            <a:r>
              <a:rPr lang="en-US" altLang="zh-CN" dirty="0"/>
              <a:t>] = </a:t>
            </a:r>
            <a:r>
              <a:rPr lang="en-US" altLang="zh-CN" dirty="0" smtClean="0"/>
              <a:t>x[</a:t>
            </a:r>
            <a:r>
              <a:rPr lang="en-US" altLang="zh-CN" dirty="0" err="1" smtClean="0"/>
              <a:t>i_max</a:t>
            </a:r>
            <a:r>
              <a:rPr lang="en-US" altLang="zh-CN" dirty="0" smtClean="0"/>
              <a:t>];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         x[</a:t>
            </a:r>
            <a:r>
              <a:rPr lang="en-US" altLang="zh-CN" dirty="0" err="1" smtClean="0"/>
              <a:t>i_max</a:t>
            </a:r>
            <a:r>
              <a:rPr lang="en-US" altLang="zh-CN" dirty="0" smtClean="0"/>
              <a:t>] </a:t>
            </a:r>
            <a:r>
              <a:rPr lang="en-US" altLang="zh-CN" dirty="0"/>
              <a:t>= temp;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       }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       n--;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/>
              <a:t>}  </a:t>
            </a:r>
            <a:endParaRPr lang="en-US" altLang="zh-CN" dirty="0" smtClean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return; 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}</a:t>
            </a:r>
            <a:r>
              <a:rPr lang="en-US" altLang="zh-CN" dirty="0"/>
              <a:t>	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519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N=20;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a[N];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   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&lt;N; </a:t>
            </a:r>
            <a:r>
              <a:rPr lang="en-US" altLang="zh-CN" dirty="0" err="1"/>
              <a:t>i</a:t>
            </a:r>
            <a:r>
              <a:rPr lang="en-US" altLang="zh-CN" dirty="0"/>
              <a:t>++) </a:t>
            </a:r>
            <a:r>
              <a:rPr lang="en-US" altLang="zh-CN" dirty="0" err="1"/>
              <a:t>cin</a:t>
            </a:r>
            <a:r>
              <a:rPr lang="en-US" altLang="zh-CN" dirty="0"/>
              <a:t> &gt;&gt; a[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   sort(</a:t>
            </a:r>
            <a:r>
              <a:rPr lang="en-US" altLang="zh-CN" dirty="0" err="1"/>
              <a:t>a,N</a:t>
            </a:r>
            <a:r>
              <a:rPr lang="en-US" altLang="zh-CN" dirty="0"/>
              <a:t>); //</a:t>
            </a:r>
            <a:r>
              <a:rPr lang="zh-CN" altLang="en-US" dirty="0">
                <a:solidFill>
                  <a:srgbClr val="FFC000"/>
                </a:solidFill>
              </a:rPr>
              <a:t>调用</a:t>
            </a:r>
            <a:r>
              <a:rPr lang="en-US" altLang="zh-CN" dirty="0">
                <a:solidFill>
                  <a:srgbClr val="FFC000"/>
                </a:solidFill>
              </a:rPr>
              <a:t>sort</a:t>
            </a:r>
            <a:r>
              <a:rPr lang="zh-CN" altLang="en-US" dirty="0">
                <a:solidFill>
                  <a:srgbClr val="FFC000"/>
                </a:solidFill>
              </a:rPr>
              <a:t>对</a:t>
            </a:r>
            <a:r>
              <a:rPr lang="en-US" altLang="zh-CN" dirty="0">
                <a:solidFill>
                  <a:srgbClr val="FFC000"/>
                </a:solidFill>
              </a:rPr>
              <a:t>a</a:t>
            </a:r>
            <a:r>
              <a:rPr lang="zh-CN" altLang="en-US" dirty="0">
                <a:solidFill>
                  <a:srgbClr val="FFC000"/>
                </a:solidFill>
              </a:rPr>
              <a:t>的元素进行排序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   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&lt;N; </a:t>
            </a:r>
            <a:r>
              <a:rPr lang="en-US" altLang="zh-CN" dirty="0" err="1"/>
              <a:t>i</a:t>
            </a:r>
            <a:r>
              <a:rPr lang="en-US" altLang="zh-CN" dirty="0"/>
              <a:t>++) </a:t>
            </a:r>
            <a:r>
              <a:rPr lang="en-US" altLang="zh-CN" dirty="0" err="1"/>
              <a:t>cout</a:t>
            </a:r>
            <a:r>
              <a:rPr lang="en-US" altLang="zh-CN" dirty="0"/>
              <a:t> &lt;&lt; a[</a:t>
            </a:r>
            <a:r>
              <a:rPr lang="en-US" altLang="zh-CN" dirty="0" err="1"/>
              <a:t>i</a:t>
            </a:r>
            <a:r>
              <a:rPr lang="en-US" altLang="zh-CN" dirty="0" smtClean="0"/>
              <a:t>] &lt;&lt; ' ';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}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注意：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因为</a:t>
            </a:r>
            <a:r>
              <a:rPr lang="zh-CN" altLang="en-US" dirty="0" smtClean="0"/>
              <a:t>调用</a:t>
            </a:r>
            <a:r>
              <a:rPr lang="en-US" altLang="zh-CN" dirty="0" smtClean="0"/>
              <a:t>sort</a:t>
            </a:r>
            <a:r>
              <a:rPr lang="zh-CN" altLang="en-US" dirty="0" smtClean="0"/>
              <a:t>时传的是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的地址，所以</a:t>
            </a:r>
            <a:r>
              <a:rPr lang="en-US" altLang="zh-CN" dirty="0" smtClean="0"/>
              <a:t>sort</a:t>
            </a:r>
            <a:r>
              <a:rPr lang="zh-CN" altLang="en-US" dirty="0" smtClean="0"/>
              <a:t>是在</a:t>
            </a:r>
            <a:r>
              <a:rPr lang="en-US" altLang="zh-CN" dirty="0" smtClean="0"/>
              <a:t>a</a:t>
            </a:r>
            <a:r>
              <a:rPr lang="zh-CN" altLang="en-US" dirty="0" smtClean="0"/>
              <a:t>中排序！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这</a:t>
            </a:r>
            <a:r>
              <a:rPr lang="zh-CN" altLang="en-US" dirty="0"/>
              <a:t>虽然</a:t>
            </a:r>
            <a:r>
              <a:rPr lang="zh-CN" altLang="en-US" dirty="0" smtClean="0"/>
              <a:t>属于函数的副作用，但它是我们需要的。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6794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dirty="0" smtClean="0"/>
              <a:t>为了防止数组参数带来的不必要的副作用，可以把数组形参指定为</a:t>
            </a:r>
            <a:r>
              <a:rPr lang="zh-CN" altLang="en-US" dirty="0" smtClean="0">
                <a:solidFill>
                  <a:srgbClr val="FFC000"/>
                </a:solidFill>
              </a:rPr>
              <a:t>常量数组类型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在函数中不能修改它的值</a:t>
            </a:r>
            <a:endParaRPr lang="en-US" altLang="zh-CN" dirty="0" smtClean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例如，对于前面的</a:t>
            </a:r>
            <a:r>
              <a:rPr lang="zh-CN" altLang="en-US" dirty="0"/>
              <a:t>函数</a:t>
            </a:r>
            <a:r>
              <a:rPr lang="en-US" altLang="zh-CN" dirty="0" smtClean="0"/>
              <a:t>max</a:t>
            </a:r>
            <a:r>
              <a:rPr lang="zh-CN" altLang="en-US" dirty="0" smtClean="0"/>
              <a:t>可以定义为：</a:t>
            </a:r>
            <a:endParaRPr lang="en-US" altLang="zh-CN" dirty="0" smtClean="0"/>
          </a:p>
          <a:p>
            <a:pPr marL="457200" lvl="1" indent="0">
              <a:lnSpc>
                <a:spcPct val="110000"/>
              </a:lnSpc>
              <a:buNone/>
            </a:pPr>
            <a:r>
              <a:rPr lang="fr-FR" altLang="zh-CN" dirty="0"/>
              <a:t>int </a:t>
            </a:r>
            <a:r>
              <a:rPr lang="fr-FR" altLang="zh-CN" dirty="0" smtClean="0"/>
              <a:t>max(</a:t>
            </a:r>
            <a:r>
              <a:rPr lang="en-US" altLang="zh-CN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dirty="0" smtClean="0"/>
              <a:t> </a:t>
            </a:r>
            <a:r>
              <a:rPr lang="fr-FR" altLang="zh-CN" dirty="0" smtClean="0"/>
              <a:t>int </a:t>
            </a:r>
            <a:r>
              <a:rPr lang="fr-FR" altLang="zh-CN" dirty="0"/>
              <a:t>x[],int n</a:t>
            </a:r>
            <a:r>
              <a:rPr lang="fr-FR" altLang="zh-CN" dirty="0" smtClean="0"/>
              <a:t>)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fr-FR" altLang="zh-CN" dirty="0" smtClean="0"/>
              <a:t>{ ......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fr-FR" altLang="zh-CN" dirty="0"/>
              <a:t> </a:t>
            </a:r>
            <a:r>
              <a:rPr lang="fr-FR" altLang="zh-CN" dirty="0" smtClean="0"/>
              <a:t>  x[i] = ...; //</a:t>
            </a:r>
            <a:r>
              <a:rPr lang="zh-CN" altLang="en-US" dirty="0" smtClean="0"/>
              <a:t>编译会报错：不能修改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的值！</a:t>
            </a:r>
            <a:endParaRPr lang="fr-FR" altLang="zh-CN" dirty="0" smtClean="0"/>
          </a:p>
          <a:p>
            <a:pPr marL="457200" lvl="1" indent="0">
              <a:lnSpc>
                <a:spcPct val="110000"/>
              </a:lnSpc>
              <a:buNone/>
            </a:pPr>
            <a:r>
              <a:rPr lang="fr-FR" altLang="zh-CN" dirty="0"/>
              <a:t> </a:t>
            </a:r>
            <a:r>
              <a:rPr lang="fr-FR" altLang="zh-CN" dirty="0" smtClean="0"/>
              <a:t>  </a:t>
            </a:r>
            <a:r>
              <a:rPr lang="en-US" altLang="zh-CN" dirty="0" smtClean="0"/>
              <a:t>......</a:t>
            </a:r>
            <a:endParaRPr lang="fr-FR" altLang="zh-CN" dirty="0" smtClean="0"/>
          </a:p>
          <a:p>
            <a:pPr marL="457200" lvl="1" indent="0">
              <a:lnSpc>
                <a:spcPct val="110000"/>
              </a:lnSpc>
              <a:buNone/>
            </a:pPr>
            <a:r>
              <a:rPr lang="fr-FR" altLang="zh-CN" dirty="0" smtClean="0"/>
              <a:t>}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874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34975" y="188913"/>
            <a:ext cx="8458200" cy="12238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字符串类型的实现－－</a:t>
            </a:r>
            <a:r>
              <a:rPr lang="en-US" altLang="zh-CN" sz="4000" dirty="0" smtClean="0"/>
              <a:t/>
            </a:r>
            <a:br>
              <a:rPr lang="en-US" altLang="zh-CN" sz="4000" dirty="0" smtClean="0"/>
            </a:br>
            <a:r>
              <a:rPr lang="zh-CN" altLang="en-US" sz="4000" dirty="0" smtClean="0"/>
              <a:t>一维字符数组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923728"/>
            <a:ext cx="8712646" cy="4889648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语言本身没有提供</a:t>
            </a:r>
            <a:r>
              <a:rPr lang="zh-CN" altLang="en-US" dirty="0" smtClean="0">
                <a:solidFill>
                  <a:srgbClr val="FFC000"/>
                </a:solidFill>
              </a:rPr>
              <a:t>字符串</a:t>
            </a:r>
            <a:r>
              <a:rPr lang="zh-CN" altLang="en-US" dirty="0" smtClean="0"/>
              <a:t>类型。在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中，通常用元素类型为</a:t>
            </a:r>
            <a:r>
              <a:rPr lang="en-US" altLang="zh-CN" dirty="0" smtClean="0"/>
              <a:t>char</a:t>
            </a:r>
            <a:r>
              <a:rPr lang="zh-CN" altLang="en-US" dirty="0" smtClean="0"/>
              <a:t>的一维数组（</a:t>
            </a:r>
            <a:r>
              <a:rPr lang="zh-CN" altLang="en-US" dirty="0" smtClean="0">
                <a:solidFill>
                  <a:srgbClr val="FFC000"/>
                </a:solidFill>
              </a:rPr>
              <a:t>字符数组</a:t>
            </a:r>
            <a:r>
              <a:rPr lang="zh-CN" altLang="en-US" dirty="0" smtClean="0"/>
              <a:t>）来表示字符串类型。例如：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/>
              <a:t>char s[10</a:t>
            </a:r>
            <a:r>
              <a:rPr lang="en-US" altLang="zh-CN" dirty="0" smtClean="0"/>
              <a:t>];  //s</a:t>
            </a:r>
            <a:r>
              <a:rPr lang="zh-CN" altLang="en-US" dirty="0" smtClean="0"/>
              <a:t>为一个字符串类型的变量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在定义一个存储字符串的字符数组时，其元素个数应比它能够存储的字符串的最大长度</a:t>
            </a:r>
            <a:r>
              <a:rPr lang="zh-CN" altLang="en-US" dirty="0" smtClean="0">
                <a:solidFill>
                  <a:srgbClr val="FFC000"/>
                </a:solidFill>
              </a:rPr>
              <a:t>多一个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通常</a:t>
            </a:r>
            <a:r>
              <a:rPr lang="zh-CN" altLang="en-US" dirty="0" smtClean="0"/>
              <a:t>要在字符串中最后一个字符的后面放置一个表示字符串结束的字符：</a:t>
            </a:r>
            <a:r>
              <a:rPr lang="en-US" altLang="zh-CN" dirty="0" smtClean="0">
                <a:solidFill>
                  <a:srgbClr val="FFC000"/>
                </a:solidFill>
              </a:rPr>
              <a:t>'\0'</a:t>
            </a:r>
            <a:r>
              <a:rPr lang="zh-CN" altLang="en-US" dirty="0" smtClean="0"/>
              <a:t>。例如：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char s[10];  //</a:t>
            </a:r>
            <a:r>
              <a:rPr lang="zh-CN" altLang="en-US" dirty="0" smtClean="0"/>
              <a:t>可表示最大长度为</a:t>
            </a:r>
            <a:r>
              <a:rPr lang="en-US" altLang="zh-CN" dirty="0" smtClean="0"/>
              <a:t>9</a:t>
            </a:r>
            <a:r>
              <a:rPr lang="zh-CN" altLang="en-US" dirty="0" smtClean="0"/>
              <a:t>的字符串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277813"/>
            <a:ext cx="7489825" cy="7604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字符数组的初始化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6592" y="1340768"/>
            <a:ext cx="8807896" cy="414982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000" dirty="0"/>
              <a:t>字符数组的初始化可以采用下面的形式：</a:t>
            </a:r>
            <a:endParaRPr lang="it-IT" altLang="zh-CN" sz="3000" dirty="0"/>
          </a:p>
          <a:p>
            <a:pPr marL="457200" lvl="1" indent="0" eaLnBrk="1" hangingPunct="1">
              <a:buNone/>
              <a:defRPr/>
            </a:pPr>
            <a:r>
              <a:rPr lang="it-IT" altLang="zh-CN" sz="2400" dirty="0" smtClean="0">
                <a:cs typeface="Courier New" pitchFamily="49" charset="0"/>
              </a:rPr>
              <a:t>char s[10]={'h','e','l','l','o'};</a:t>
            </a:r>
            <a:endParaRPr lang="en-US" altLang="zh-CN" sz="2400" dirty="0" smtClean="0">
              <a:cs typeface="Courier New" pitchFamily="49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>
                <a:cs typeface="Courier New" pitchFamily="49" charset="0"/>
              </a:rPr>
              <a:t>char s[10]={"hello"};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>
                <a:cs typeface="Courier New" pitchFamily="49" charset="0"/>
              </a:rPr>
              <a:t>char s[10]="hello";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600" dirty="0" smtClean="0"/>
              <a:t>在上面的字符数组初始化中</a:t>
            </a:r>
            <a:r>
              <a:rPr lang="zh-CN" altLang="en-US" sz="2600" dirty="0"/>
              <a:t>，当初始化的字符数小于数组元素个数时</a:t>
            </a:r>
            <a:r>
              <a:rPr lang="zh-CN" altLang="en-US" sz="2600" dirty="0" smtClean="0"/>
              <a:t>，初始化会</a:t>
            </a:r>
            <a:r>
              <a:rPr lang="zh-CN" altLang="en-US" sz="2600" dirty="0"/>
              <a:t>在最后一个字符的后面自动加上</a:t>
            </a:r>
            <a:r>
              <a:rPr lang="en-US" altLang="zh-CN" sz="2600" dirty="0"/>
              <a:t>'\0'</a:t>
            </a:r>
            <a:r>
              <a:rPr lang="zh-CN" altLang="en-US" sz="2600" dirty="0"/>
              <a:t>，否则不会加上</a:t>
            </a:r>
            <a:r>
              <a:rPr lang="en-US" altLang="zh-CN" sz="2600" dirty="0"/>
              <a:t>'\0'</a:t>
            </a:r>
            <a:r>
              <a:rPr lang="zh-CN" altLang="en-US" sz="2600" dirty="0" smtClean="0"/>
              <a:t>！</a:t>
            </a:r>
            <a:endParaRPr lang="en-US" altLang="zh-CN" sz="2600" dirty="0" smtClean="0"/>
          </a:p>
          <a:p>
            <a:pPr eaLnBrk="1" hangingPunct="1">
              <a:lnSpc>
                <a:spcPct val="120000"/>
              </a:lnSpc>
              <a:defRPr/>
            </a:pP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1409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000" dirty="0"/>
              <a:t>如果数组元素个数不写，会根据初始化的值自动确定元素个数：</a:t>
            </a:r>
            <a:endParaRPr lang="en-US" altLang="zh-CN" sz="3000" dirty="0"/>
          </a:p>
          <a:p>
            <a:pPr marL="457200" lvl="1" indent="0" eaLnBrk="1" hangingPunct="1">
              <a:buNone/>
              <a:defRPr/>
            </a:pPr>
            <a:r>
              <a:rPr lang="en-US" altLang="zh-CN" sz="2500" dirty="0">
                <a:cs typeface="Courier New" pitchFamily="49" charset="0"/>
              </a:rPr>
              <a:t>char s[]={'</a:t>
            </a:r>
            <a:r>
              <a:rPr lang="en-US" altLang="zh-CN" sz="2500" dirty="0" err="1">
                <a:cs typeface="Courier New" pitchFamily="49" charset="0"/>
              </a:rPr>
              <a:t>h','e','l','l','o</a:t>
            </a:r>
            <a:r>
              <a:rPr lang="en-US" altLang="zh-CN" sz="2500" dirty="0">
                <a:cs typeface="Courier New" pitchFamily="49" charset="0"/>
              </a:rPr>
              <a:t>',</a:t>
            </a:r>
            <a:r>
              <a:rPr lang="en-US" altLang="zh-CN" sz="2500" dirty="0">
                <a:solidFill>
                  <a:srgbClr val="FFC000"/>
                </a:solidFill>
                <a:cs typeface="Courier New" pitchFamily="49" charset="0"/>
              </a:rPr>
              <a:t>'\0'</a:t>
            </a:r>
            <a:r>
              <a:rPr lang="en-US" altLang="zh-CN" sz="2500" dirty="0">
                <a:cs typeface="Courier New" pitchFamily="49" charset="0"/>
              </a:rPr>
              <a:t>};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sz="2500" dirty="0">
                <a:cs typeface="Courier New" pitchFamily="49" charset="0"/>
              </a:rPr>
              <a:t>char s[]={"hello"};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sz="2500" dirty="0">
                <a:cs typeface="Courier New" pitchFamily="49" charset="0"/>
              </a:rPr>
              <a:t>char s[]="hello";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500" dirty="0">
                <a:cs typeface="Courier New" pitchFamily="49" charset="0"/>
              </a:rPr>
              <a:t>上面的字符数组的元素个数都为</a:t>
            </a:r>
            <a:r>
              <a:rPr lang="en-US" altLang="zh-CN" sz="2500" dirty="0">
                <a:cs typeface="Courier New" pitchFamily="49" charset="0"/>
              </a:rPr>
              <a:t>6</a:t>
            </a:r>
            <a:r>
              <a:rPr lang="zh-CN" altLang="en-US" sz="2500" dirty="0">
                <a:cs typeface="Courier New" pitchFamily="49" charset="0"/>
              </a:rPr>
              <a:t>。对于第</a:t>
            </a:r>
            <a:r>
              <a:rPr lang="en-US" altLang="zh-CN" sz="2500" dirty="0">
                <a:cs typeface="Courier New" pitchFamily="49" charset="0"/>
              </a:rPr>
              <a:t>2</a:t>
            </a:r>
            <a:r>
              <a:rPr lang="zh-CN" altLang="en-US" sz="2500" dirty="0">
                <a:cs typeface="Courier New" pitchFamily="49" charset="0"/>
              </a:rPr>
              <a:t>、</a:t>
            </a:r>
            <a:r>
              <a:rPr lang="en-US" altLang="zh-CN" sz="2500" dirty="0">
                <a:cs typeface="Courier New" pitchFamily="49" charset="0"/>
              </a:rPr>
              <a:t>3</a:t>
            </a:r>
            <a:r>
              <a:rPr lang="zh-CN" altLang="en-US" sz="2500" dirty="0">
                <a:cs typeface="Courier New" pitchFamily="49" charset="0"/>
              </a:rPr>
              <a:t>种形式，会自动加上</a:t>
            </a:r>
            <a:r>
              <a:rPr lang="en-US" altLang="zh-CN" sz="2500" dirty="0">
                <a:cs typeface="Courier New" pitchFamily="49" charset="0"/>
              </a:rPr>
              <a:t>'\0'</a:t>
            </a:r>
            <a:r>
              <a:rPr lang="zh-CN" altLang="en-US" sz="2500" dirty="0">
                <a:cs typeface="Courier New" pitchFamily="49" charset="0"/>
              </a:rPr>
              <a:t>；对于第</a:t>
            </a:r>
            <a:r>
              <a:rPr lang="en-US" altLang="zh-CN" sz="2500" dirty="0">
                <a:cs typeface="Courier New" pitchFamily="49" charset="0"/>
              </a:rPr>
              <a:t>1</a:t>
            </a:r>
            <a:r>
              <a:rPr lang="zh-CN" altLang="en-US" sz="2500" dirty="0">
                <a:cs typeface="Courier New" pitchFamily="49" charset="0"/>
              </a:rPr>
              <a:t>种形式，需要显式给出</a:t>
            </a:r>
            <a:r>
              <a:rPr lang="en-US" altLang="zh-CN" sz="2500" dirty="0">
                <a:cs typeface="Courier New" pitchFamily="49" charset="0"/>
              </a:rPr>
              <a:t>'\0'</a:t>
            </a:r>
            <a:r>
              <a:rPr lang="zh-CN" altLang="en-US" sz="2500" dirty="0" smtClean="0">
                <a:cs typeface="Courier New" pitchFamily="49" charset="0"/>
              </a:rPr>
              <a:t>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6047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字符串的操作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一维数组</a:t>
            </a:r>
            <a:r>
              <a:rPr lang="zh-CN" altLang="en-US" dirty="0" smtClean="0"/>
              <a:t>的</a:t>
            </a:r>
            <a:r>
              <a:rPr lang="zh-CN" altLang="en-US" dirty="0"/>
              <a:t>所有</a:t>
            </a:r>
            <a:r>
              <a:rPr lang="zh-CN" altLang="en-US" dirty="0" smtClean="0"/>
              <a:t>操作</a:t>
            </a:r>
            <a:r>
              <a:rPr lang="zh-CN" altLang="en-US" dirty="0"/>
              <a:t>都可以用于字符串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字符串</a:t>
            </a:r>
            <a:r>
              <a:rPr lang="zh-CN" altLang="en-US" dirty="0"/>
              <a:t>可以整体进行输入</a:t>
            </a:r>
            <a:r>
              <a:rPr lang="en-US" altLang="zh-CN" dirty="0"/>
              <a:t>/</a:t>
            </a:r>
            <a:r>
              <a:rPr lang="zh-CN" altLang="en-US" dirty="0"/>
              <a:t>输出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9557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44624"/>
            <a:ext cx="8856663" cy="1139825"/>
          </a:xfrm>
        </p:spPr>
        <p:txBody>
          <a:bodyPr>
            <a:normAutofit/>
          </a:bodyPr>
          <a:lstStyle/>
          <a:p>
            <a:pPr marL="993775" indent="-993775" algn="l" eaLnBrk="1" hangingPunct="1">
              <a:defRPr/>
            </a:pPr>
            <a:r>
              <a:rPr lang="zh-CN" altLang="en-US" sz="3200" dirty="0" smtClean="0"/>
              <a:t>例：从键盘输入一个字符串，把其中的大写字母转成小写字母，然后输出这个字符串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556792"/>
            <a:ext cx="8748464" cy="504056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buNone/>
              <a:defRPr/>
            </a:pPr>
            <a:r>
              <a:rPr lang="en-US" altLang="zh-CN" dirty="0"/>
              <a:t>#include &lt;</a:t>
            </a:r>
            <a:r>
              <a:rPr lang="en-US" altLang="zh-CN" dirty="0" err="1"/>
              <a:t>iostream</a:t>
            </a:r>
            <a:r>
              <a:rPr lang="en-US" altLang="zh-CN" dirty="0" smtClean="0"/>
              <a:t>&gt;</a:t>
            </a:r>
          </a:p>
          <a:p>
            <a:pPr eaLnBrk="1" hangingPunct="1">
              <a:buNone/>
              <a:defRPr/>
            </a:pPr>
            <a:r>
              <a:rPr lang="en-US" altLang="zh-CN" dirty="0"/>
              <a:t>#include &lt;</a:t>
            </a:r>
            <a:r>
              <a:rPr lang="en-US" altLang="zh-CN" dirty="0" err="1"/>
              <a:t>iomanip</a:t>
            </a:r>
            <a:r>
              <a:rPr lang="en-US" altLang="zh-CN" dirty="0"/>
              <a:t>&gt;</a:t>
            </a:r>
          </a:p>
          <a:p>
            <a:pPr eaLnBrk="1" hangingPunct="1">
              <a:buNone/>
              <a:defRPr/>
            </a:pPr>
            <a:r>
              <a:rPr lang="en-US" altLang="zh-CN" dirty="0" smtClean="0"/>
              <a:t>using </a:t>
            </a:r>
            <a:r>
              <a:rPr lang="en-US" altLang="zh-CN" dirty="0"/>
              <a:t>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main()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{ char a[10];</a:t>
            </a:r>
          </a:p>
          <a:p>
            <a:pPr eaLnBrk="1" hangingPunct="1"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err="1" smtClean="0">
                <a:solidFill>
                  <a:srgbClr val="FFC000"/>
                </a:solidFill>
              </a:rPr>
              <a:t>cin</a:t>
            </a:r>
            <a:r>
              <a:rPr lang="en-US" altLang="zh-CN" dirty="0" smtClean="0">
                <a:solidFill>
                  <a:srgbClr val="FFC000"/>
                </a:solidFill>
              </a:rPr>
              <a:t> &gt;&gt; a;</a:t>
            </a:r>
            <a:r>
              <a:rPr lang="en-US" altLang="zh-CN" dirty="0" smtClean="0"/>
              <a:t> //</a:t>
            </a:r>
            <a:r>
              <a:rPr lang="zh-CN" altLang="en-US" dirty="0" smtClean="0"/>
              <a:t>输入一个</a:t>
            </a:r>
            <a:r>
              <a:rPr lang="zh-CN" altLang="en-US" dirty="0"/>
              <a:t>字符串，末尾会自动加上</a:t>
            </a:r>
            <a:r>
              <a:rPr lang="en-US" altLang="zh-CN" dirty="0"/>
              <a:t>'\0'</a:t>
            </a:r>
            <a:endParaRPr lang="en-US" altLang="zh-CN" dirty="0" smtClean="0"/>
          </a:p>
          <a:p>
            <a:pPr eaLnBrk="1" hangingPunct="1"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 smtClean="0"/>
              <a:t>cin</a:t>
            </a:r>
            <a:r>
              <a:rPr lang="en-US" altLang="zh-CN" dirty="0" smtClean="0"/>
              <a:t> </a:t>
            </a:r>
            <a:r>
              <a:rPr lang="en-US" altLang="zh-CN" dirty="0"/>
              <a:t>&gt;&gt; </a:t>
            </a:r>
            <a:r>
              <a:rPr lang="en-US" altLang="zh-CN" dirty="0" err="1">
                <a:solidFill>
                  <a:srgbClr val="FFC000"/>
                </a:solidFill>
              </a:rPr>
              <a:t>setw</a:t>
            </a:r>
            <a:r>
              <a:rPr lang="en-US" altLang="zh-CN" dirty="0">
                <a:solidFill>
                  <a:srgbClr val="FFC000"/>
                </a:solidFill>
              </a:rPr>
              <a:t>(10)</a:t>
            </a:r>
            <a:r>
              <a:rPr lang="en-US" altLang="zh-CN" dirty="0"/>
              <a:t> &gt;&gt; a; </a:t>
            </a:r>
            <a:r>
              <a:rPr lang="en-US" altLang="zh-CN" dirty="0" smtClean="0"/>
              <a:t>//</a:t>
            </a:r>
            <a:r>
              <a:rPr lang="zh-CN" altLang="en-US" dirty="0" smtClean="0"/>
              <a:t>最多在</a:t>
            </a:r>
            <a:r>
              <a:rPr lang="en-US" altLang="zh-CN" dirty="0" smtClean="0"/>
              <a:t>a</a:t>
            </a:r>
            <a:r>
              <a:rPr lang="zh-CN" altLang="en-US" dirty="0" smtClean="0"/>
              <a:t>中存储</a:t>
            </a:r>
            <a:r>
              <a:rPr lang="en-US" altLang="zh-CN" dirty="0" smtClean="0"/>
              <a:t>9</a:t>
            </a:r>
            <a:r>
              <a:rPr lang="zh-CN" altLang="en-US" dirty="0" smtClean="0"/>
              <a:t>个字符</a:t>
            </a:r>
            <a:endParaRPr lang="en-US" altLang="zh-CN" dirty="0" smtClean="0"/>
          </a:p>
          <a:p>
            <a:pPr eaLnBrk="1" hangingPunct="1">
              <a:buNone/>
              <a:defRPr/>
            </a:pPr>
            <a:r>
              <a:rPr lang="en-US" altLang="zh-CN" dirty="0" smtClean="0"/>
              <a:t>	for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=0; 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!= '\0';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++)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if (a[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&gt;= 'A' &amp;&amp; 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&lt;= 'Z') //</a:t>
            </a:r>
            <a:r>
              <a:rPr lang="zh-CN" altLang="en-US" dirty="0" smtClean="0"/>
              <a:t>判断是否是大写字母</a:t>
            </a:r>
            <a:endParaRPr lang="en-US" altLang="zh-CN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= 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]-'</a:t>
            </a:r>
            <a:r>
              <a:rPr lang="en-US" altLang="zh-CN" dirty="0" err="1" smtClean="0"/>
              <a:t>A'+'a</a:t>
            </a:r>
            <a:r>
              <a:rPr lang="en-US" altLang="zh-CN" dirty="0" smtClean="0"/>
              <a:t>'; //</a:t>
            </a:r>
            <a:r>
              <a:rPr lang="zh-CN" altLang="en-US" dirty="0" smtClean="0"/>
              <a:t>大写转小写</a:t>
            </a:r>
            <a:endParaRPr lang="en-US" altLang="zh-CN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err="1" smtClean="0">
                <a:solidFill>
                  <a:srgbClr val="FFC000"/>
                </a:solidFill>
              </a:rPr>
              <a:t>cout</a:t>
            </a:r>
            <a:r>
              <a:rPr lang="en-US" altLang="zh-CN" dirty="0" smtClean="0">
                <a:solidFill>
                  <a:srgbClr val="FFC000"/>
                </a:solidFill>
              </a:rPr>
              <a:t> &lt;&lt; a</a:t>
            </a:r>
            <a:r>
              <a:rPr lang="en-US" altLang="zh-CN" dirty="0" smtClean="0"/>
              <a:t> &lt;&lt; </a:t>
            </a:r>
            <a:r>
              <a:rPr lang="en-US" altLang="zh-CN" dirty="0" err="1" smtClean="0"/>
              <a:t>endl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a</a:t>
            </a:r>
            <a:r>
              <a:rPr lang="zh-CN" altLang="en-US" dirty="0" smtClean="0"/>
              <a:t>中的字符串</a:t>
            </a:r>
            <a:endParaRPr lang="en-US" altLang="zh-CN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return 0;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24641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6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6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86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86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6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6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因为</a:t>
            </a:r>
            <a:r>
              <a:rPr lang="zh-CN" altLang="en-US" dirty="0" smtClean="0"/>
              <a:t>空白符是用于</a:t>
            </a:r>
            <a:r>
              <a:rPr lang="zh-CN" altLang="en-US" dirty="0"/>
              <a:t>分隔</a:t>
            </a:r>
            <a:r>
              <a:rPr lang="zh-CN" altLang="en-US" dirty="0" smtClean="0"/>
              <a:t>输入数据的，因此用</a:t>
            </a:r>
            <a:r>
              <a:rPr lang="en-US" altLang="zh-CN" dirty="0" err="1" smtClean="0"/>
              <a:t>cin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&gt;&gt;</a:t>
            </a:r>
            <a:r>
              <a:rPr lang="zh-CN" altLang="en-US" dirty="0" smtClean="0"/>
              <a:t>无法输入带空格的字符串。</a:t>
            </a:r>
            <a:endParaRPr lang="en-US" altLang="zh-CN" dirty="0" smtClean="0"/>
          </a:p>
          <a:p>
            <a:r>
              <a:rPr lang="zh-CN" altLang="en-US" dirty="0" smtClean="0"/>
              <a:t>解决办法是：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char s[10];</a:t>
            </a:r>
          </a:p>
          <a:p>
            <a:pPr marL="457200" lvl="1" indent="0">
              <a:buNone/>
            </a:pPr>
            <a:r>
              <a:rPr lang="en-US" altLang="zh-CN" dirty="0" err="1" smtClean="0"/>
              <a:t>cin</a:t>
            </a:r>
            <a:r>
              <a:rPr lang="en-US" altLang="zh-CN" dirty="0" err="1" smtClean="0">
                <a:solidFill>
                  <a:srgbClr val="FFC000"/>
                </a:solidFill>
              </a:rPr>
              <a:t>.get</a:t>
            </a:r>
            <a:r>
              <a:rPr lang="en-US" altLang="zh-CN" dirty="0" smtClean="0"/>
              <a:t>(s, 10); //</a:t>
            </a:r>
            <a:r>
              <a:rPr lang="zh-CN" altLang="en-US" dirty="0" smtClean="0"/>
              <a:t>输入以回车结束，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	</a:t>
            </a:r>
            <a:r>
              <a:rPr lang="en-US" altLang="zh-CN" dirty="0"/>
              <a:t> </a:t>
            </a:r>
            <a:r>
              <a:rPr lang="en-US" altLang="zh-CN" dirty="0" smtClean="0"/>
              <a:t>  //s</a:t>
            </a:r>
            <a:r>
              <a:rPr lang="zh-CN" altLang="en-US" dirty="0" smtClean="0"/>
              <a:t>最多获取</a:t>
            </a:r>
            <a:r>
              <a:rPr lang="en-US" altLang="zh-CN" dirty="0" smtClean="0"/>
              <a:t>9</a:t>
            </a:r>
            <a:r>
              <a:rPr lang="zh-CN" altLang="en-US" dirty="0" smtClean="0"/>
              <a:t>个字符，</a:t>
            </a:r>
            <a:r>
              <a:rPr lang="zh-CN" altLang="en-US" dirty="0"/>
              <a:t>最后</a:t>
            </a:r>
            <a:r>
              <a:rPr lang="zh-CN" altLang="en-US" dirty="0" smtClean="0"/>
              <a:t>加上一个</a:t>
            </a:r>
            <a:r>
              <a:rPr lang="en-US" altLang="zh-CN" dirty="0" smtClean="0"/>
              <a:t>'\0'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815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350" y="332656"/>
            <a:ext cx="8831263" cy="6409457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另外，由于输入操作是带缓存的，键盘的输入首先会放在</a:t>
            </a:r>
            <a:r>
              <a:rPr lang="zh-CN" altLang="en-US" sz="2800" dirty="0" smtClean="0">
                <a:solidFill>
                  <a:srgbClr val="FFC000"/>
                </a:solidFill>
              </a:rPr>
              <a:t>缓存</a:t>
            </a:r>
            <a:r>
              <a:rPr lang="zh-CN" altLang="en-US" sz="2800" dirty="0" smtClean="0"/>
              <a:t>里，输入数据从缓存中获得，这样可能带来下面的问题：</a:t>
            </a:r>
            <a:endParaRPr lang="en-US" altLang="zh-CN" sz="2400" dirty="0" smtClean="0"/>
          </a:p>
          <a:p>
            <a:pPr marL="0" lvl="1" indent="0" eaLnBrk="1" hangingPunct="1">
              <a:buClr>
                <a:schemeClr val="hlink"/>
              </a:buClr>
              <a:buSzPct val="60000"/>
              <a:buFontTx/>
              <a:buNone/>
              <a:defRPr/>
            </a:pPr>
            <a:r>
              <a:rPr lang="fr-FR" altLang="zh-CN" sz="2400" dirty="0">
                <a:cs typeface="Courier New" pitchFamily="49" charset="0"/>
              </a:rPr>
              <a:t> </a:t>
            </a:r>
            <a:r>
              <a:rPr lang="fr-FR" altLang="zh-CN" sz="2400" dirty="0" smtClean="0">
                <a:cs typeface="Courier New" pitchFamily="49" charset="0"/>
              </a:rPr>
              <a:t>   char str[5]; </a:t>
            </a:r>
            <a:r>
              <a:rPr lang="en-US" altLang="zh-CN" sz="2400" dirty="0" err="1" smtClean="0">
                <a:cs typeface="Courier New" pitchFamily="49" charset="0"/>
              </a:rPr>
              <a:t>int</a:t>
            </a:r>
            <a:r>
              <a:rPr lang="en-US" altLang="zh-CN" sz="2400" dirty="0" smtClean="0">
                <a:cs typeface="Courier New" pitchFamily="49" charset="0"/>
              </a:rPr>
              <a:t> x;</a:t>
            </a:r>
            <a:endParaRPr lang="fr-FR" altLang="zh-CN" sz="2400" dirty="0">
              <a:cs typeface="Courier New" pitchFamily="49" charset="0"/>
            </a:endParaRPr>
          </a:p>
          <a:p>
            <a:pPr marL="0" lvl="1" indent="0" eaLnBrk="1" hangingPunct="1">
              <a:buClr>
                <a:schemeClr val="hlink"/>
              </a:buClr>
              <a:buSzPct val="60000"/>
              <a:buFontTx/>
              <a:buNone/>
              <a:defRPr/>
            </a:pPr>
            <a:r>
              <a:rPr lang="fr-FR" altLang="zh-CN" sz="2400" dirty="0">
                <a:cs typeface="Courier New" pitchFamily="49" charset="0"/>
              </a:rPr>
              <a:t>    </a:t>
            </a:r>
            <a:r>
              <a:rPr lang="fr-FR" altLang="zh-CN" sz="2400" dirty="0" smtClean="0">
                <a:cs typeface="Courier New" pitchFamily="49" charset="0"/>
              </a:rPr>
              <a:t>cin.get(str,5); //</a:t>
            </a:r>
            <a:r>
              <a:rPr lang="zh-CN" altLang="en-US" sz="2400" dirty="0" smtClean="0">
                <a:cs typeface="Courier New" pitchFamily="49" charset="0"/>
              </a:rPr>
              <a:t>输入：</a:t>
            </a:r>
            <a:r>
              <a:rPr lang="en-US" altLang="zh-CN" sz="2400" dirty="0" err="1" smtClean="0">
                <a:cs typeface="Courier New" pitchFamily="49" charset="0"/>
              </a:rPr>
              <a:t>abcdefg</a:t>
            </a:r>
            <a:r>
              <a:rPr lang="zh-CN" altLang="zh-CN" sz="2400" dirty="0">
                <a:cs typeface="Courier New" pitchFamily="49" charset="0"/>
              </a:rPr>
              <a:t>↙</a:t>
            </a:r>
            <a:r>
              <a:rPr lang="zh-CN" altLang="en-US" sz="2400" dirty="0" smtClean="0">
                <a:cs typeface="Courier New" pitchFamily="49" charset="0"/>
              </a:rPr>
              <a:t>，放入缓存中</a:t>
            </a:r>
            <a:endParaRPr lang="en-US" altLang="zh-CN" sz="2400" dirty="0">
              <a:cs typeface="Courier New" pitchFamily="49" charset="0"/>
            </a:endParaRPr>
          </a:p>
          <a:p>
            <a:pPr marL="0" lvl="1" indent="0" eaLnBrk="1" hangingPunct="1">
              <a:buClr>
                <a:schemeClr val="hlink"/>
              </a:buClr>
              <a:buSzPct val="60000"/>
              <a:buFontTx/>
              <a:buNone/>
              <a:defRPr/>
            </a:pPr>
            <a:r>
              <a:rPr lang="en-US" altLang="zh-CN" sz="2400" dirty="0" smtClean="0"/>
              <a:t>   	   //</a:t>
            </a:r>
            <a:r>
              <a:rPr lang="zh-CN" altLang="en-US" sz="2400" dirty="0" smtClean="0"/>
              <a:t>本次输入操作</a:t>
            </a:r>
            <a:r>
              <a:rPr lang="zh-CN" altLang="en-US" sz="2400" dirty="0" smtClean="0">
                <a:cs typeface="Courier New" pitchFamily="49" charset="0"/>
              </a:rPr>
              <a:t>只</a:t>
            </a:r>
            <a:r>
              <a:rPr lang="zh-CN" altLang="en-US" sz="2400" dirty="0">
                <a:cs typeface="Courier New" pitchFamily="49" charset="0"/>
              </a:rPr>
              <a:t>读入</a:t>
            </a:r>
            <a:r>
              <a:rPr lang="en-US" altLang="zh-CN" sz="2400" dirty="0" err="1" smtClean="0">
                <a:cs typeface="Courier New" pitchFamily="49" charset="0"/>
              </a:rPr>
              <a:t>abcd</a:t>
            </a:r>
            <a:r>
              <a:rPr lang="zh-CN" altLang="en-US" sz="2400" dirty="0" smtClean="0">
                <a:cs typeface="Courier New" pitchFamily="49" charset="0"/>
              </a:rPr>
              <a:t>，</a:t>
            </a:r>
            <a:r>
              <a:rPr lang="zh-CN" altLang="en-US" sz="2400" dirty="0" smtClean="0">
                <a:solidFill>
                  <a:srgbClr val="FFC000"/>
                </a:solidFill>
                <a:cs typeface="Courier New" pitchFamily="49" charset="0"/>
              </a:rPr>
              <a:t>缓存中还遗留</a:t>
            </a:r>
            <a:r>
              <a:rPr lang="zh-CN" altLang="en-US" sz="2400" dirty="0" smtClean="0">
                <a:cs typeface="Courier New" pitchFamily="49" charset="0"/>
              </a:rPr>
              <a:t>：</a:t>
            </a:r>
            <a:r>
              <a:rPr lang="en-US" altLang="zh-CN" sz="2400" dirty="0" err="1">
                <a:cs typeface="Courier New" pitchFamily="49" charset="0"/>
              </a:rPr>
              <a:t>efg</a:t>
            </a:r>
            <a:r>
              <a:rPr lang="zh-CN" altLang="zh-CN" sz="2400" dirty="0">
                <a:cs typeface="Courier New" pitchFamily="49" charset="0"/>
              </a:rPr>
              <a:t>↙</a:t>
            </a:r>
            <a:endParaRPr lang="en-US" altLang="zh-CN" sz="2400" dirty="0">
              <a:cs typeface="Courier New" pitchFamily="49" charset="0"/>
            </a:endParaRPr>
          </a:p>
          <a:p>
            <a:pPr marL="0" lvl="1" indent="0" eaLnBrk="1" hangingPunct="1">
              <a:buClr>
                <a:schemeClr val="hlink"/>
              </a:buClr>
              <a:buSzPct val="60000"/>
              <a:buFontTx/>
              <a:buNone/>
              <a:defRPr/>
            </a:pPr>
            <a:r>
              <a:rPr lang="en-US" altLang="zh-CN" sz="2400" dirty="0" smtClean="0">
                <a:cs typeface="Courier New" pitchFamily="49" charset="0"/>
              </a:rPr>
              <a:t>    </a:t>
            </a:r>
            <a:r>
              <a:rPr lang="en-US" altLang="zh-CN" sz="2400" dirty="0" err="1" smtClean="0">
                <a:cs typeface="Courier New" pitchFamily="49" charset="0"/>
              </a:rPr>
              <a:t>cin</a:t>
            </a:r>
            <a:r>
              <a:rPr lang="en-US" altLang="zh-CN" sz="2400" dirty="0" smtClean="0">
                <a:cs typeface="Courier New" pitchFamily="49" charset="0"/>
              </a:rPr>
              <a:t> &gt;&gt; x; //</a:t>
            </a:r>
            <a:r>
              <a:rPr lang="zh-CN" altLang="en-US" sz="2400" dirty="0" smtClean="0">
                <a:cs typeface="Courier New" pitchFamily="49" charset="0"/>
              </a:rPr>
              <a:t>从缓存中遗留的</a:t>
            </a:r>
            <a:r>
              <a:rPr lang="en-US" altLang="zh-CN" sz="2400" dirty="0" err="1" smtClean="0">
                <a:cs typeface="Courier New" pitchFamily="49" charset="0"/>
              </a:rPr>
              <a:t>efg</a:t>
            </a:r>
            <a:r>
              <a:rPr lang="zh-CN" altLang="zh-CN" sz="2400" dirty="0">
                <a:cs typeface="Courier New" pitchFamily="49" charset="0"/>
              </a:rPr>
              <a:t>↙</a:t>
            </a:r>
            <a:r>
              <a:rPr lang="zh-CN" altLang="en-US" sz="2400" dirty="0" smtClean="0">
                <a:cs typeface="Courier New" pitchFamily="49" charset="0"/>
              </a:rPr>
              <a:t>开始读入，因此，出错！</a:t>
            </a:r>
            <a:endParaRPr lang="en-US" altLang="zh-CN" sz="2400" dirty="0" smtClean="0">
              <a:cs typeface="Courier New" pitchFamily="49" charset="0"/>
            </a:endParaRPr>
          </a:p>
          <a:p>
            <a:pPr eaLnBrk="1" hangingPunct="1">
              <a:defRPr/>
            </a:pPr>
            <a:r>
              <a:rPr lang="zh-CN" altLang="en-US" sz="2800" dirty="0"/>
              <a:t>可以用下面的成员</a:t>
            </a:r>
            <a:r>
              <a:rPr lang="zh-CN" altLang="en-US" sz="2800" dirty="0" smtClean="0"/>
              <a:t>函数跳</a:t>
            </a:r>
            <a:r>
              <a:rPr lang="zh-CN" altLang="en-US" sz="2800" dirty="0"/>
              <a:t>过输入缓存中的若干字符</a:t>
            </a:r>
            <a:r>
              <a:rPr lang="zh-CN" altLang="en-US" sz="2800" dirty="0" smtClean="0"/>
              <a:t>：</a:t>
            </a:r>
            <a:endParaRPr lang="en-US" altLang="zh-CN" sz="2800" dirty="0" smtClean="0"/>
          </a:p>
          <a:p>
            <a:pPr marL="457200" lvl="1" indent="0" eaLnBrk="1" hangingPunct="1">
              <a:buNone/>
              <a:defRPr/>
            </a:pPr>
            <a:r>
              <a:rPr lang="en-US" altLang="zh-CN" sz="2400" dirty="0" err="1"/>
              <a:t>cin.</a:t>
            </a:r>
            <a:r>
              <a:rPr lang="en-US" altLang="zh-CN" sz="2400" dirty="0" err="1">
                <a:solidFill>
                  <a:srgbClr val="FFC000"/>
                </a:solidFill>
              </a:rPr>
              <a:t>ignore</a:t>
            </a:r>
            <a:r>
              <a:rPr lang="en-US" altLang="zh-CN" sz="2400" dirty="0"/>
              <a:t>(n,'\n'); //</a:t>
            </a:r>
            <a:r>
              <a:rPr lang="zh-CN" altLang="en-US" sz="2400" dirty="0"/>
              <a:t>跳过输入缓存中</a:t>
            </a:r>
            <a:r>
              <a:rPr lang="en-US" altLang="zh-CN" sz="2400" dirty="0"/>
              <a:t>n</a:t>
            </a:r>
            <a:r>
              <a:rPr lang="zh-CN" altLang="en-US" sz="2400" dirty="0"/>
              <a:t>个字符，或碰到回车</a:t>
            </a:r>
            <a:endParaRPr lang="en-US" altLang="zh-CN" sz="24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这样前面的输入操作可写成：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fr-FR" altLang="zh-CN" sz="2400" dirty="0" smtClean="0">
                <a:cs typeface="Courier New" pitchFamily="49" charset="0"/>
              </a:rPr>
              <a:t>cin.get(str,5</a:t>
            </a:r>
            <a:r>
              <a:rPr lang="fr-FR" altLang="zh-CN" sz="2400" dirty="0">
                <a:cs typeface="Courier New" pitchFamily="49" charset="0"/>
              </a:rPr>
              <a:t>); //</a:t>
            </a:r>
            <a:r>
              <a:rPr lang="zh-CN" altLang="en-US" sz="2400" dirty="0">
                <a:cs typeface="Courier New" pitchFamily="49" charset="0"/>
              </a:rPr>
              <a:t>输入：</a:t>
            </a:r>
            <a:r>
              <a:rPr lang="en-US" altLang="zh-CN" sz="2400" dirty="0" err="1">
                <a:cs typeface="Courier New" pitchFamily="49" charset="0"/>
              </a:rPr>
              <a:t>abcdefg</a:t>
            </a:r>
            <a:r>
              <a:rPr lang="zh-CN" altLang="zh-CN" sz="2400" dirty="0">
                <a:cs typeface="Courier New" pitchFamily="49" charset="0"/>
              </a:rPr>
              <a:t>↙</a:t>
            </a:r>
            <a:r>
              <a:rPr lang="zh-CN" altLang="en-US" sz="2400" dirty="0" smtClean="0">
                <a:cs typeface="Courier New" pitchFamily="49" charset="0"/>
              </a:rPr>
              <a:t>，放</a:t>
            </a:r>
            <a:r>
              <a:rPr lang="zh-CN" altLang="en-US" sz="2400" dirty="0">
                <a:cs typeface="Courier New" pitchFamily="49" charset="0"/>
              </a:rPr>
              <a:t>入缓存中</a:t>
            </a:r>
            <a:endParaRPr lang="en-US" altLang="zh-CN" sz="2400" dirty="0" smtClean="0"/>
          </a:p>
          <a:p>
            <a:pPr marL="0" lvl="1" indent="0" eaLnBrk="1" hangingPunct="1">
              <a:buClr>
                <a:schemeClr val="hlink"/>
              </a:buClr>
              <a:buSzPct val="60000"/>
              <a:buFontTx/>
              <a:buNone/>
              <a:defRPr/>
            </a:pPr>
            <a:r>
              <a:rPr lang="en-US" altLang="zh-CN" sz="2400" dirty="0"/>
              <a:t> 	   //</a:t>
            </a:r>
            <a:r>
              <a:rPr lang="zh-CN" altLang="en-US" sz="2400" dirty="0"/>
              <a:t>本次输入操作</a:t>
            </a:r>
            <a:r>
              <a:rPr lang="zh-CN" altLang="en-US" sz="2400" dirty="0">
                <a:cs typeface="Courier New" pitchFamily="49" charset="0"/>
              </a:rPr>
              <a:t>只读入</a:t>
            </a:r>
            <a:r>
              <a:rPr lang="en-US" altLang="zh-CN" sz="2400" dirty="0" err="1">
                <a:cs typeface="Courier New" pitchFamily="49" charset="0"/>
              </a:rPr>
              <a:t>abcd</a:t>
            </a:r>
            <a:r>
              <a:rPr lang="zh-CN" altLang="en-US" sz="2400" dirty="0">
                <a:cs typeface="Courier New" pitchFamily="49" charset="0"/>
              </a:rPr>
              <a:t>，</a:t>
            </a:r>
            <a:r>
              <a:rPr lang="zh-CN" altLang="en-US" sz="2400" dirty="0">
                <a:solidFill>
                  <a:srgbClr val="FFC000"/>
                </a:solidFill>
                <a:cs typeface="Courier New" pitchFamily="49" charset="0"/>
              </a:rPr>
              <a:t>缓存中还遗留</a:t>
            </a:r>
            <a:r>
              <a:rPr lang="zh-CN" altLang="en-US" sz="2400" dirty="0">
                <a:cs typeface="Courier New" pitchFamily="49" charset="0"/>
              </a:rPr>
              <a:t>：</a:t>
            </a:r>
            <a:r>
              <a:rPr lang="en-US" altLang="zh-CN" sz="2400" dirty="0" err="1">
                <a:cs typeface="Courier New" pitchFamily="49" charset="0"/>
              </a:rPr>
              <a:t>efg</a:t>
            </a:r>
            <a:r>
              <a:rPr lang="zh-CN" altLang="zh-CN" sz="2400" dirty="0">
                <a:cs typeface="Courier New" pitchFamily="49" charset="0"/>
              </a:rPr>
              <a:t>↙</a:t>
            </a:r>
            <a:r>
              <a:rPr lang="en-US" altLang="zh-CN" sz="2400" dirty="0" smtClean="0"/>
              <a:t>       </a:t>
            </a:r>
          </a:p>
          <a:p>
            <a:pPr marL="0" lvl="1" indent="0" eaLnBrk="1" hangingPunct="1">
              <a:buClr>
                <a:schemeClr val="hlink"/>
              </a:buClr>
              <a:buSzPct val="60000"/>
              <a:buFontTx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</a:t>
            </a:r>
            <a:r>
              <a:rPr lang="en-US" altLang="zh-CN" sz="2400" dirty="0" err="1" smtClean="0"/>
              <a:t>cin.ignore</a:t>
            </a:r>
            <a:r>
              <a:rPr lang="en-US" altLang="zh-CN" sz="2400" dirty="0" smtClean="0"/>
              <a:t>(20</a:t>
            </a:r>
            <a:r>
              <a:rPr lang="en-US" altLang="zh-CN" sz="2400" dirty="0"/>
              <a:t>,'\n'); //</a:t>
            </a:r>
            <a:r>
              <a:rPr lang="zh-CN" altLang="en-US" sz="2400" dirty="0"/>
              <a:t>跳过输入</a:t>
            </a:r>
            <a:r>
              <a:rPr lang="zh-CN" altLang="en-US" sz="2400" dirty="0" smtClean="0"/>
              <a:t>缓</a:t>
            </a:r>
            <a:r>
              <a:rPr lang="zh-CN" altLang="en-US" sz="2400" dirty="0"/>
              <a:t>存</a:t>
            </a:r>
            <a:r>
              <a:rPr lang="zh-CN" altLang="en-US" sz="2400" dirty="0" smtClean="0"/>
              <a:t>中</a:t>
            </a:r>
            <a:r>
              <a:rPr lang="zh-CN" altLang="en-US" sz="2400" dirty="0"/>
              <a:t>遗留的</a:t>
            </a:r>
            <a:r>
              <a:rPr lang="en-US" altLang="zh-CN" sz="2400" dirty="0" err="1" smtClean="0"/>
              <a:t>efg</a:t>
            </a:r>
            <a:r>
              <a:rPr lang="zh-CN" altLang="zh-CN" sz="2400" dirty="0">
                <a:cs typeface="Courier New" pitchFamily="49" charset="0"/>
              </a:rPr>
              <a:t>↙</a:t>
            </a:r>
            <a:endParaRPr lang="en-US" altLang="zh-CN" sz="2400" dirty="0" smtClean="0"/>
          </a:p>
          <a:p>
            <a:pPr marL="0" lvl="1" indent="0" eaLnBrk="1" hangingPunct="1">
              <a:buClr>
                <a:schemeClr val="hlink"/>
              </a:buClr>
              <a:buSzPct val="60000"/>
              <a:buFontTx/>
              <a:buNone/>
              <a:defRPr/>
            </a:pPr>
            <a:r>
              <a:rPr lang="en-US" altLang="zh-CN" sz="2400" dirty="0" smtClean="0">
                <a:cs typeface="Courier New" pitchFamily="49" charset="0"/>
              </a:rPr>
              <a:t>    </a:t>
            </a:r>
            <a:r>
              <a:rPr lang="en-US" altLang="zh-CN" sz="2400" dirty="0" err="1" smtClean="0">
                <a:cs typeface="Courier New" pitchFamily="49" charset="0"/>
              </a:rPr>
              <a:t>cin</a:t>
            </a:r>
            <a:r>
              <a:rPr lang="en-US" altLang="zh-CN" sz="2400" dirty="0" smtClean="0">
                <a:cs typeface="Courier New" pitchFamily="49" charset="0"/>
              </a:rPr>
              <a:t> &gt;&gt; x; //</a:t>
            </a:r>
            <a:r>
              <a:rPr lang="zh-CN" altLang="en-US" sz="2400" dirty="0" smtClean="0">
                <a:cs typeface="Courier New" pitchFamily="49" charset="0"/>
              </a:rPr>
              <a:t>输入：</a:t>
            </a:r>
            <a:r>
              <a:rPr lang="en-US" altLang="zh-CN" sz="2400" dirty="0" smtClean="0">
                <a:effectLst/>
              </a:rPr>
              <a:t>12</a:t>
            </a:r>
            <a:r>
              <a:rPr lang="zh-CN" altLang="zh-CN" sz="2400" dirty="0" smtClean="0">
                <a:cs typeface="Courier New" pitchFamily="49" charset="0"/>
              </a:rPr>
              <a:t>↙</a:t>
            </a:r>
            <a:r>
              <a:rPr lang="zh-CN" altLang="en-US" sz="2400" dirty="0" smtClean="0">
                <a:cs typeface="Courier New" pitchFamily="49" charset="0"/>
              </a:rPr>
              <a:t>，放</a:t>
            </a:r>
            <a:r>
              <a:rPr lang="zh-CN" altLang="en-US" sz="2400" dirty="0">
                <a:cs typeface="Courier New" pitchFamily="49" charset="0"/>
              </a:rPr>
              <a:t>入缓存</a:t>
            </a:r>
            <a:r>
              <a:rPr lang="zh-CN" altLang="en-US" sz="2400" dirty="0" smtClean="0">
                <a:cs typeface="Courier New" pitchFamily="49" charset="0"/>
              </a:rPr>
              <a:t>中。</a:t>
            </a:r>
            <a:endParaRPr lang="en-US" altLang="zh-CN" sz="2400" dirty="0" smtClean="0">
              <a:cs typeface="Courier New" pitchFamily="49" charset="0"/>
            </a:endParaRPr>
          </a:p>
          <a:p>
            <a:pPr marL="0" lvl="1" indent="0" eaLnBrk="1" hangingPunct="1">
              <a:buClr>
                <a:schemeClr val="hlink"/>
              </a:buClr>
              <a:buSzPct val="60000"/>
              <a:buFontTx/>
              <a:buNone/>
              <a:defRPr/>
            </a:pPr>
            <a:r>
              <a:rPr lang="en-US" altLang="zh-CN" sz="2400" dirty="0">
                <a:cs typeface="Courier New" pitchFamily="49" charset="0"/>
              </a:rPr>
              <a:t>	</a:t>
            </a:r>
            <a:r>
              <a:rPr lang="en-US" altLang="zh-CN" sz="2400" dirty="0" smtClean="0">
                <a:cs typeface="Courier New" pitchFamily="49" charset="0"/>
              </a:rPr>
              <a:t>	  //</a:t>
            </a:r>
            <a:r>
              <a:rPr lang="zh-CN" altLang="en-US" sz="2400" dirty="0" smtClean="0">
                <a:cs typeface="Courier New" pitchFamily="49" charset="0"/>
              </a:rPr>
              <a:t>从缓存中读入</a:t>
            </a:r>
            <a:r>
              <a:rPr lang="en-US" altLang="zh-CN" sz="2400" dirty="0" smtClean="0">
                <a:cs typeface="Courier New" pitchFamily="49" charset="0"/>
              </a:rPr>
              <a:t>12</a:t>
            </a:r>
            <a:r>
              <a:rPr lang="zh-CN" altLang="en-US" sz="2400" dirty="0" smtClean="0">
                <a:cs typeface="Courier New" pitchFamily="49" charset="0"/>
              </a:rPr>
              <a:t>给</a:t>
            </a:r>
            <a:r>
              <a:rPr lang="en-US" altLang="zh-CN" sz="2400" dirty="0" smtClean="0">
                <a:cs typeface="Courier New" pitchFamily="49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5592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字符串作为函数参数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字符串作为函数参数传递时，只要给出一维字符数组这一个参数就够了，不需要给出元素个数</a:t>
            </a:r>
            <a:r>
              <a:rPr lang="zh-CN" altLang="en-US" dirty="0" smtClean="0"/>
              <a:t>（由</a:t>
            </a:r>
            <a:r>
              <a:rPr lang="zh-CN" altLang="en-US" dirty="0"/>
              <a:t>字符串</a:t>
            </a:r>
            <a:r>
              <a:rPr lang="zh-CN" altLang="en-US" dirty="0" smtClean="0"/>
              <a:t>结束标记</a:t>
            </a:r>
            <a:r>
              <a:rPr lang="en-US" altLang="zh-CN" dirty="0" smtClean="0"/>
              <a:t>'\0'</a:t>
            </a:r>
            <a:r>
              <a:rPr lang="zh-CN" altLang="en-US" dirty="0" smtClean="0"/>
              <a:t>来判断）。例如：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 smtClean="0"/>
              <a:t>strlen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 char </a:t>
            </a:r>
            <a:r>
              <a:rPr lang="en-US" altLang="zh-CN" dirty="0" err="1"/>
              <a:t>str</a:t>
            </a:r>
            <a:r>
              <a:rPr lang="en-US" altLang="zh-CN" dirty="0" smtClean="0"/>
              <a:t>[]) //</a:t>
            </a:r>
            <a:r>
              <a:rPr lang="zh-CN" altLang="en-US" smtClean="0"/>
              <a:t>计算字符串长度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=0;</a:t>
            </a:r>
            <a:r>
              <a:rPr lang="en-US" altLang="zh-CN" dirty="0"/>
              <a:t>	</a:t>
            </a:r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while (</a:t>
            </a:r>
            <a:r>
              <a:rPr lang="en-US" altLang="zh-CN" dirty="0" err="1" smtClean="0"/>
              <a:t>str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/>
              <a:t>] != </a:t>
            </a:r>
            <a:r>
              <a:rPr lang="en-US" altLang="zh-CN" dirty="0">
                <a:solidFill>
                  <a:srgbClr val="FFC000"/>
                </a:solidFill>
              </a:rPr>
              <a:t>'\0</a:t>
            </a:r>
            <a:r>
              <a:rPr lang="en-US" altLang="zh-CN" dirty="0" smtClean="0">
                <a:solidFill>
                  <a:srgbClr val="FFC000"/>
                </a:solidFill>
              </a:rPr>
              <a:t>'</a:t>
            </a:r>
            <a:r>
              <a:rPr lang="en-US" altLang="zh-CN" dirty="0" smtClean="0"/>
              <a:t>) </a:t>
            </a:r>
            <a:r>
              <a:rPr lang="en-US" altLang="zh-CN" dirty="0" err="1"/>
              <a:t>i</a:t>
            </a:r>
            <a:r>
              <a:rPr lang="en-US" altLang="zh-CN" dirty="0" smtClean="0"/>
              <a:t>++;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return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marL="457200" lvl="1" indent="0">
              <a:buNone/>
            </a:pPr>
            <a:r>
              <a:rPr lang="en-US" altLang="zh-CN" dirty="0"/>
              <a:t>}</a:t>
            </a:r>
          </a:p>
          <a:p>
            <a:pPr marL="457200" lvl="1" indent="0">
              <a:buNone/>
            </a:pPr>
            <a:r>
              <a:rPr lang="en-US" altLang="zh-CN" dirty="0"/>
              <a:t>......</a:t>
            </a:r>
          </a:p>
          <a:p>
            <a:pPr marL="457200" lvl="1" indent="0">
              <a:buNone/>
            </a:pP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strlen</a:t>
            </a:r>
            <a:r>
              <a:rPr lang="en-US" altLang="zh-CN" dirty="0"/>
              <a:t>("</a:t>
            </a:r>
            <a:r>
              <a:rPr lang="en-US" altLang="zh-CN" dirty="0" err="1"/>
              <a:t>abcdef</a:t>
            </a:r>
            <a:r>
              <a:rPr lang="en-US" altLang="zh-CN" dirty="0" smtClean="0"/>
              <a:t>"); //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6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8103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277813"/>
            <a:ext cx="8856663" cy="1139825"/>
          </a:xfrm>
        </p:spPr>
        <p:txBody>
          <a:bodyPr/>
          <a:lstStyle/>
          <a:p>
            <a:pPr marL="993775" indent="-993775" algn="l" eaLnBrk="1" hangingPunct="1">
              <a:defRPr/>
            </a:pPr>
            <a:r>
              <a:rPr lang="zh-CN" altLang="en-US" sz="4000" smtClean="0"/>
              <a:t>例：编写一个函数把一个由数字构成的字符串转换成一个整型数 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199" y="1772816"/>
            <a:ext cx="8507413" cy="4968552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dirty="0" smtClean="0"/>
              <a:t>算法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：</a:t>
            </a:r>
            <a:endParaRPr lang="en-US" altLang="zh-CN" sz="2800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"1234"--&gt;((</a:t>
            </a:r>
            <a:r>
              <a:rPr lang="en-US" altLang="zh-CN" sz="2800" dirty="0" smtClean="0">
                <a:solidFill>
                  <a:schemeClr val="folHlink"/>
                </a:solidFill>
              </a:rPr>
              <a:t>1</a:t>
            </a:r>
            <a:r>
              <a:rPr lang="en-US" altLang="zh-CN" sz="2800" dirty="0" smtClean="0"/>
              <a:t>*10+</a:t>
            </a:r>
            <a:r>
              <a:rPr lang="en-US" altLang="zh-CN" sz="2800" dirty="0" smtClean="0">
                <a:solidFill>
                  <a:schemeClr val="folHlink"/>
                </a:solidFill>
              </a:rPr>
              <a:t>2</a:t>
            </a:r>
            <a:r>
              <a:rPr lang="en-US" altLang="zh-CN" sz="2800" dirty="0" smtClean="0"/>
              <a:t>)*10+</a:t>
            </a:r>
            <a:r>
              <a:rPr lang="en-US" altLang="zh-CN" sz="2800" dirty="0" smtClean="0">
                <a:solidFill>
                  <a:schemeClr val="folHlink"/>
                </a:solidFill>
              </a:rPr>
              <a:t>3</a:t>
            </a:r>
            <a:r>
              <a:rPr lang="en-US" altLang="zh-CN" sz="2800" dirty="0" smtClean="0"/>
              <a:t>)*10+</a:t>
            </a:r>
            <a:r>
              <a:rPr lang="en-US" altLang="zh-CN" sz="2800" dirty="0" smtClean="0">
                <a:solidFill>
                  <a:schemeClr val="folHlink"/>
                </a:solidFill>
              </a:rPr>
              <a:t>4 </a:t>
            </a:r>
            <a:r>
              <a:rPr lang="en-US" altLang="zh-CN" sz="2800" dirty="0" smtClean="0"/>
              <a:t>= 1234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程序：</a:t>
            </a:r>
            <a:endParaRPr lang="en-US" altLang="zh-CN" sz="2800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str_to_int</a:t>
            </a:r>
            <a:r>
              <a:rPr lang="en-US" altLang="zh-CN" sz="2800" dirty="0" smtClean="0"/>
              <a:t>(</a:t>
            </a:r>
            <a:r>
              <a:rPr lang="en-US" altLang="zh-CN" sz="2800" dirty="0" err="1" smtClean="0"/>
              <a:t>const</a:t>
            </a:r>
            <a:r>
              <a:rPr lang="en-US" altLang="zh-CN" sz="2800" dirty="0" smtClean="0"/>
              <a:t> char </a:t>
            </a:r>
            <a:r>
              <a:rPr lang="en-US" altLang="zh-CN" sz="2800" dirty="0" err="1" smtClean="0"/>
              <a:t>str</a:t>
            </a:r>
            <a:r>
              <a:rPr lang="en-US" altLang="zh-CN" sz="2800" dirty="0" smtClean="0"/>
              <a:t>[])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{ if (</a:t>
            </a:r>
            <a:r>
              <a:rPr lang="en-US" altLang="zh-CN" sz="2800" dirty="0" err="1" smtClean="0"/>
              <a:t>str</a:t>
            </a:r>
            <a:r>
              <a:rPr lang="en-US" altLang="zh-CN" sz="2800" dirty="0" smtClean="0"/>
              <a:t>[0] == '\0') return 0;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n=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str</a:t>
            </a:r>
            <a:r>
              <a:rPr lang="en-US" altLang="zh-CN" sz="2800" dirty="0" smtClean="0">
                <a:solidFill>
                  <a:srgbClr val="FFC000"/>
                </a:solidFill>
              </a:rPr>
              <a:t>[0]-'0'</a:t>
            </a:r>
            <a:r>
              <a:rPr lang="en-US" altLang="zh-CN" sz="2800" dirty="0" smtClean="0"/>
              <a:t>; //</a:t>
            </a:r>
            <a:r>
              <a:rPr lang="zh-CN" altLang="en-US" sz="2800" dirty="0" smtClean="0"/>
              <a:t>把字符表示的数字转成数值：</a:t>
            </a:r>
            <a:r>
              <a:rPr lang="en-US" altLang="zh-CN" sz="2800" dirty="0" smtClean="0"/>
              <a:t>'1'-&gt;1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for (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=1; </a:t>
            </a:r>
            <a:r>
              <a:rPr lang="en-US" altLang="zh-CN" sz="2800" dirty="0" err="1" smtClean="0"/>
              <a:t>str</a:t>
            </a:r>
            <a:r>
              <a:rPr lang="en-US" altLang="zh-CN" sz="2800" dirty="0" smtClean="0"/>
              <a:t>[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] != '\0'; 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++)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	n = n*10+(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str</a:t>
            </a:r>
            <a:r>
              <a:rPr lang="en-US" altLang="zh-CN" sz="2800" dirty="0" smtClean="0">
                <a:solidFill>
                  <a:srgbClr val="FFC000"/>
                </a:solidFill>
              </a:rPr>
              <a:t>[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i</a:t>
            </a:r>
            <a:r>
              <a:rPr lang="en-US" altLang="zh-CN" sz="2800" dirty="0" smtClean="0">
                <a:solidFill>
                  <a:srgbClr val="FFC000"/>
                </a:solidFill>
              </a:rPr>
              <a:t>]-'0'</a:t>
            </a:r>
            <a:r>
              <a:rPr lang="en-US" altLang="zh-CN" sz="2800" dirty="0" smtClean="0"/>
              <a:t>);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return n;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}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......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 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=</a:t>
            </a:r>
            <a:r>
              <a:rPr lang="en-US" altLang="zh-CN" sz="2800" dirty="0" err="1" smtClean="0"/>
              <a:t>str_to_int</a:t>
            </a:r>
            <a:r>
              <a:rPr lang="en-US" altLang="zh-CN" sz="2800" dirty="0" smtClean="0"/>
              <a:t>("1234");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3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3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3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3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37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37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229600" cy="3096344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zh-CN" altLang="en-US" dirty="0" smtClean="0"/>
              <a:t>更精炼的版本</a:t>
            </a:r>
            <a:endParaRPr lang="en-US" altLang="zh-CN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str_to_int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 char </a:t>
            </a:r>
            <a:r>
              <a:rPr lang="en-US" altLang="zh-CN" dirty="0" err="1" smtClean="0"/>
              <a:t>str</a:t>
            </a:r>
            <a:r>
              <a:rPr lang="en-US" altLang="zh-CN" dirty="0" smtClean="0"/>
              <a:t>[])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n=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;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	for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</a:t>
            </a:r>
            <a:r>
              <a:rPr lang="en-US" altLang="zh-CN" dirty="0" smtClean="0">
                <a:solidFill>
                  <a:srgbClr val="FFC000"/>
                </a:solidFill>
              </a:rPr>
              <a:t>0</a:t>
            </a:r>
            <a:r>
              <a:rPr lang="en-US" altLang="zh-CN" dirty="0" smtClean="0"/>
              <a:t>; </a:t>
            </a:r>
            <a:r>
              <a:rPr lang="en-US" altLang="zh-CN" dirty="0" err="1" smtClean="0"/>
              <a:t>str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!= '\0';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++)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		n = n*10+(</a:t>
            </a:r>
            <a:r>
              <a:rPr lang="en-US" altLang="zh-CN" dirty="0" err="1" smtClean="0"/>
              <a:t>str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]-'0');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	return n;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600200"/>
            <a:ext cx="8579296" cy="45307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算法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"</a:t>
            </a:r>
            <a:r>
              <a:rPr lang="en-US" altLang="zh-CN" dirty="0"/>
              <a:t>1234"--&gt;</a:t>
            </a:r>
            <a:r>
              <a:rPr lang="en-US" altLang="zh-CN" dirty="0">
                <a:solidFill>
                  <a:srgbClr val="FFC000"/>
                </a:solidFill>
              </a:rPr>
              <a:t>4</a:t>
            </a:r>
            <a:r>
              <a:rPr lang="en-US" altLang="zh-CN" dirty="0"/>
              <a:t>+</a:t>
            </a:r>
            <a:r>
              <a:rPr lang="en-US" altLang="zh-CN" dirty="0">
                <a:solidFill>
                  <a:srgbClr val="FFC000"/>
                </a:solidFill>
              </a:rPr>
              <a:t>3</a:t>
            </a:r>
            <a:r>
              <a:rPr lang="en-US" altLang="zh-CN" dirty="0"/>
              <a:t>*10+</a:t>
            </a:r>
            <a:r>
              <a:rPr lang="en-US" altLang="zh-CN" dirty="0">
                <a:solidFill>
                  <a:srgbClr val="FFC000"/>
                </a:solidFill>
              </a:rPr>
              <a:t>2</a:t>
            </a:r>
            <a:r>
              <a:rPr lang="en-US" altLang="zh-CN" dirty="0"/>
              <a:t>*100+</a:t>
            </a:r>
            <a:r>
              <a:rPr lang="en-US" altLang="zh-CN" dirty="0">
                <a:solidFill>
                  <a:srgbClr val="FFC000"/>
                </a:solidFill>
              </a:rPr>
              <a:t>1</a:t>
            </a:r>
            <a:r>
              <a:rPr lang="en-US" altLang="zh-CN" dirty="0"/>
              <a:t>*1000 = 1234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程序：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 smtClean="0"/>
              <a:t>str_to_int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 char </a:t>
            </a:r>
            <a:r>
              <a:rPr lang="en-US" altLang="zh-CN" dirty="0" err="1"/>
              <a:t>str</a:t>
            </a:r>
            <a:r>
              <a:rPr lang="en-US" altLang="zh-CN" dirty="0"/>
              <a:t>[])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n=0;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   for 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</a:t>
            </a:r>
            <a:r>
              <a:rPr lang="en-US" altLang="zh-CN" dirty="0" err="1">
                <a:solidFill>
                  <a:srgbClr val="FFC000"/>
                </a:solidFill>
              </a:rPr>
              <a:t>strlen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dirty="0" err="1">
                <a:solidFill>
                  <a:srgbClr val="FFC000"/>
                </a:solidFill>
              </a:rPr>
              <a:t>str</a:t>
            </a:r>
            <a:r>
              <a:rPr lang="en-US" altLang="zh-CN" dirty="0">
                <a:solidFill>
                  <a:srgbClr val="FFC000"/>
                </a:solidFill>
              </a:rPr>
              <a:t>)-1</a:t>
            </a:r>
            <a:r>
              <a:rPr lang="en-US" altLang="zh-CN" dirty="0"/>
              <a:t>,b=1; </a:t>
            </a:r>
            <a:r>
              <a:rPr lang="en-US" altLang="zh-CN" dirty="0" err="1"/>
              <a:t>i</a:t>
            </a:r>
            <a:r>
              <a:rPr lang="en-US" altLang="zh-CN" dirty="0"/>
              <a:t>&gt;=0; </a:t>
            </a:r>
            <a:r>
              <a:rPr lang="en-US" altLang="zh-CN" dirty="0" err="1"/>
              <a:t>i</a:t>
            </a:r>
            <a:r>
              <a:rPr lang="en-US" altLang="zh-CN" dirty="0"/>
              <a:t>--,b*=10)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</a:t>
            </a:r>
            <a:r>
              <a:rPr lang="en-US" altLang="zh-CN" dirty="0" smtClean="0"/>
              <a:t>    n </a:t>
            </a:r>
            <a:r>
              <a:rPr lang="en-US" altLang="zh-CN" dirty="0"/>
              <a:t>+= (</a:t>
            </a:r>
            <a:r>
              <a:rPr lang="en-US" altLang="zh-CN" dirty="0" err="1"/>
              <a:t>str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]-'0')*b;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   return </a:t>
            </a:r>
            <a:r>
              <a:rPr lang="en-US" altLang="zh-CN" dirty="0"/>
              <a:t>n;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smtClean="0"/>
              <a:t>}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452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349079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键盘</a:t>
            </a:r>
            <a:r>
              <a:rPr lang="zh-CN" altLang="en-US" dirty="0"/>
              <a:t>的</a:t>
            </a:r>
            <a:r>
              <a:rPr lang="zh-CN" altLang="en-US" dirty="0" smtClean="0"/>
              <a:t>输入属于字符串，当把它们给算术类型（</a:t>
            </a:r>
            <a:r>
              <a:rPr lang="en-US" altLang="zh-CN" dirty="0" smtClean="0"/>
              <a:t>char</a:t>
            </a:r>
            <a:r>
              <a:rPr lang="zh-CN" altLang="en-US" dirty="0" smtClean="0"/>
              <a:t>除外）的变量时，输入操作会</a:t>
            </a:r>
            <a:r>
              <a:rPr lang="zh-CN" altLang="en-US" dirty="0"/>
              <a:t>自动</a:t>
            </a:r>
            <a:r>
              <a:rPr lang="zh-CN" altLang="en-US" dirty="0" smtClean="0"/>
              <a:t>进行</a:t>
            </a:r>
            <a:r>
              <a:rPr lang="zh-CN" altLang="en-US" dirty="0"/>
              <a:t>从</a:t>
            </a:r>
            <a:r>
              <a:rPr lang="zh-CN" altLang="en-US" dirty="0" smtClean="0"/>
              <a:t>字符串到相应</a:t>
            </a:r>
            <a:r>
              <a:rPr lang="zh-CN" altLang="en-US" dirty="0"/>
              <a:t>算术</a:t>
            </a:r>
            <a:r>
              <a:rPr lang="zh-CN" altLang="en-US" dirty="0" smtClean="0"/>
              <a:t>类型的转换。例如：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n;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cin</a:t>
            </a:r>
            <a:r>
              <a:rPr lang="en-US" altLang="zh-CN" dirty="0"/>
              <a:t> &gt;&gt; n; //</a:t>
            </a:r>
            <a:r>
              <a:rPr lang="zh-CN" altLang="en-US" dirty="0"/>
              <a:t>该操作会</a:t>
            </a:r>
            <a:r>
              <a:rPr lang="zh-CN" altLang="en-US" dirty="0" smtClean="0"/>
              <a:t>把输入</a:t>
            </a:r>
            <a:r>
              <a:rPr lang="zh-CN" altLang="en-US" dirty="0"/>
              <a:t>从字符串转成</a:t>
            </a:r>
            <a:r>
              <a:rPr lang="en-US" altLang="zh-CN" dirty="0" err="1"/>
              <a:t>int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double d;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cin</a:t>
            </a:r>
            <a:r>
              <a:rPr lang="en-US" altLang="zh-CN" dirty="0"/>
              <a:t> &gt;&gt; </a:t>
            </a:r>
            <a:r>
              <a:rPr lang="en-US" altLang="zh-CN" dirty="0" smtClean="0"/>
              <a:t>d; </a:t>
            </a:r>
            <a:r>
              <a:rPr lang="en-US" altLang="zh-CN" dirty="0"/>
              <a:t>//</a:t>
            </a:r>
            <a:r>
              <a:rPr lang="zh-CN" altLang="en-US" dirty="0"/>
              <a:t>该操作会把输入从字符串转</a:t>
            </a:r>
            <a:r>
              <a:rPr lang="zh-CN" altLang="en-US" dirty="0" smtClean="0"/>
              <a:t>成</a:t>
            </a:r>
            <a:r>
              <a:rPr lang="en-US" altLang="zh-CN" dirty="0" smtClean="0"/>
              <a:t>double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char </a:t>
            </a:r>
            <a:r>
              <a:rPr lang="en-US" altLang="zh-CN" dirty="0" err="1"/>
              <a:t>str</a:t>
            </a:r>
            <a:r>
              <a:rPr lang="en-US" altLang="zh-CN" dirty="0"/>
              <a:t>[10];</a:t>
            </a: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cin</a:t>
            </a:r>
            <a:r>
              <a:rPr lang="en-US" altLang="zh-CN" dirty="0"/>
              <a:t> &gt;&gt; </a:t>
            </a:r>
            <a:r>
              <a:rPr lang="en-US" altLang="zh-CN" dirty="0" err="1"/>
              <a:t>str</a:t>
            </a:r>
            <a:r>
              <a:rPr lang="en-US" altLang="zh-CN" dirty="0"/>
              <a:t>; //</a:t>
            </a:r>
            <a:r>
              <a:rPr lang="zh-CN" altLang="en-US" dirty="0"/>
              <a:t>该操作</a:t>
            </a:r>
            <a:r>
              <a:rPr lang="zh-CN" altLang="en-US" dirty="0" smtClean="0"/>
              <a:t>不对输入进行转换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011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15888"/>
            <a:ext cx="8532440" cy="936848"/>
          </a:xfrm>
        </p:spPr>
        <p:txBody>
          <a:bodyPr/>
          <a:lstStyle/>
          <a:p>
            <a:pPr marL="893763" indent="-893763" algn="l" eaLnBrk="1" hangingPunct="1">
              <a:defRPr/>
            </a:pPr>
            <a:r>
              <a:rPr lang="zh-CN" altLang="en-US" sz="3600" dirty="0" smtClean="0"/>
              <a:t>例：编写一个字符串查找函数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35758" y="3789040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主串：</a:t>
            </a: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38671" y="5148481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子串：</a:t>
            </a: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71054" y="3789040"/>
            <a:ext cx="3874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32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a1x</a:t>
            </a:r>
            <a:r>
              <a:rPr lang="en-US" altLang="zh-CN" sz="32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abcd</a:t>
            </a:r>
            <a:r>
              <a:rPr lang="en-US" altLang="zh-CN" sz="32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y34dhssd</a:t>
            </a:r>
            <a:endParaRPr lang="zh-CN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69066" y="5148481"/>
            <a:ext cx="1157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32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abcd</a:t>
            </a:r>
            <a:endParaRPr lang="zh-CN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 flipH="1">
            <a:off x="2956340" y="3272210"/>
            <a:ext cx="1188034" cy="61438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" name="直接箭头连接符 13"/>
          <p:cNvCxnSpPr/>
          <p:nvPr/>
        </p:nvCxnSpPr>
        <p:spPr bwMode="auto">
          <a:xfrm>
            <a:off x="4144374" y="3272210"/>
            <a:ext cx="1363730" cy="5569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>
            <a:off x="3995936" y="3685094"/>
            <a:ext cx="43204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7" name="直接连接符 26"/>
          <p:cNvCxnSpPr/>
          <p:nvPr/>
        </p:nvCxnSpPr>
        <p:spPr bwMode="auto">
          <a:xfrm>
            <a:off x="2956340" y="4373815"/>
            <a:ext cx="1188034" cy="927393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" name="直接连接符 28"/>
          <p:cNvCxnSpPr/>
          <p:nvPr/>
        </p:nvCxnSpPr>
        <p:spPr bwMode="auto">
          <a:xfrm>
            <a:off x="3635896" y="4373815"/>
            <a:ext cx="1224136" cy="927393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" name="直接连接符 29"/>
          <p:cNvCxnSpPr/>
          <p:nvPr/>
        </p:nvCxnSpPr>
        <p:spPr bwMode="auto">
          <a:xfrm flipH="1">
            <a:off x="4211961" y="4373815"/>
            <a:ext cx="1368151" cy="927393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" name="直接连接符 35"/>
          <p:cNvCxnSpPr/>
          <p:nvPr/>
        </p:nvCxnSpPr>
        <p:spPr bwMode="auto">
          <a:xfrm flipH="1">
            <a:off x="4932040" y="4386010"/>
            <a:ext cx="1296144" cy="915198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" name="直接连接符 46"/>
          <p:cNvCxnSpPr/>
          <p:nvPr/>
        </p:nvCxnSpPr>
        <p:spPr bwMode="auto">
          <a:xfrm>
            <a:off x="4415160" y="5877272"/>
            <a:ext cx="205351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6568441" y="3841884"/>
            <a:ext cx="2127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8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长度：</a:t>
            </a:r>
            <a:r>
              <a:rPr lang="en-US" altLang="zh-CN" sz="28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len</a:t>
            </a:r>
            <a:r>
              <a:rPr lang="en-US" altLang="zh-CN" sz="28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3693" y="5210036"/>
            <a:ext cx="299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8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长度：</a:t>
            </a:r>
            <a:r>
              <a:rPr lang="en-US" altLang="zh-CN" sz="28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sub_len</a:t>
            </a:r>
            <a:r>
              <a:rPr lang="en-US" altLang="zh-CN" sz="28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63688" y="2751311"/>
            <a:ext cx="5070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循环</a:t>
            </a:r>
            <a:r>
              <a:rPr lang="zh-CN" altLang="en-US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0   ...    </a:t>
            </a:r>
            <a:r>
              <a:rPr lang="en-US" altLang="zh-CN" b="0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...  </a:t>
            </a:r>
            <a:r>
              <a:rPr lang="en-US" altLang="zh-CN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len-sub_len</a:t>
            </a:r>
            <a:endParaRPr lang="zh-CN" alt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0" name="直接箭头连接符 19"/>
          <p:cNvCxnSpPr/>
          <p:nvPr/>
        </p:nvCxnSpPr>
        <p:spPr bwMode="auto">
          <a:xfrm>
            <a:off x="2843808" y="3212976"/>
            <a:ext cx="0" cy="67362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" name="直接箭头连接符 21"/>
          <p:cNvCxnSpPr/>
          <p:nvPr/>
        </p:nvCxnSpPr>
        <p:spPr bwMode="auto">
          <a:xfrm>
            <a:off x="5580112" y="3187428"/>
            <a:ext cx="0" cy="67362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5" name="直接箭头连接符 24"/>
          <p:cNvCxnSpPr/>
          <p:nvPr/>
        </p:nvCxnSpPr>
        <p:spPr bwMode="auto">
          <a:xfrm flipH="1" flipV="1">
            <a:off x="4211961" y="5733256"/>
            <a:ext cx="292453" cy="41927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" name="直接箭头连接符 25"/>
          <p:cNvCxnSpPr/>
          <p:nvPr/>
        </p:nvCxnSpPr>
        <p:spPr bwMode="auto">
          <a:xfrm flipV="1">
            <a:off x="4504414" y="5733256"/>
            <a:ext cx="355618" cy="419274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" name="TextBox 17"/>
          <p:cNvSpPr txBox="1"/>
          <p:nvPr/>
        </p:nvSpPr>
        <p:spPr>
          <a:xfrm>
            <a:off x="3035522" y="6207695"/>
            <a:ext cx="3624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循环</a:t>
            </a:r>
            <a:r>
              <a:rPr lang="zh-CN" altLang="en-US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0...</a:t>
            </a:r>
            <a:r>
              <a:rPr lang="en-US" altLang="zh-CN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</a:t>
            </a:r>
            <a:r>
              <a:rPr lang="en-US" altLang="zh-CN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...sub_len-1</a:t>
            </a:r>
            <a:endParaRPr lang="zh-CN" alt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3" name="直接箭头连接符 32"/>
          <p:cNvCxnSpPr/>
          <p:nvPr/>
        </p:nvCxnSpPr>
        <p:spPr bwMode="auto">
          <a:xfrm flipV="1">
            <a:off x="4139952" y="5733256"/>
            <a:ext cx="0" cy="4065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" name="直接箭头连接符 33"/>
          <p:cNvCxnSpPr/>
          <p:nvPr/>
        </p:nvCxnSpPr>
        <p:spPr bwMode="auto">
          <a:xfrm flipV="1">
            <a:off x="4932040" y="5733256"/>
            <a:ext cx="0" cy="4065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" name="TextBox 1"/>
          <p:cNvSpPr txBox="1"/>
          <p:nvPr/>
        </p:nvSpPr>
        <p:spPr>
          <a:xfrm>
            <a:off x="323528" y="1224159"/>
            <a:ext cx="8489198" cy="1772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zh-CN" altLang="en-US" sz="26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该函数在</a:t>
            </a:r>
            <a:r>
              <a:rPr lang="zh-CN" alt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一个字符串（主串）中</a:t>
            </a:r>
            <a:r>
              <a:rPr lang="zh-CN" altLang="en-US" sz="26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查找另一个字符串（子串），</a:t>
            </a:r>
            <a:r>
              <a:rPr lang="zh-CN" alt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如果找到，返回子串在主串中的位置，否则返回</a:t>
            </a:r>
            <a:r>
              <a:rPr lang="en-US" altLang="zh-CN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zh-CN" alt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2600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  <a:p>
            <a:pPr marL="342900" indent="-342900"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zh-CN" altLang="en-US" sz="26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算法</a:t>
            </a:r>
            <a:r>
              <a:rPr lang="zh-CN" altLang="en-US" sz="26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548680"/>
            <a:ext cx="8640960" cy="5904656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sz="4000" dirty="0"/>
              <a:t>程序</a:t>
            </a:r>
            <a:endParaRPr lang="en-US" altLang="zh-CN" sz="4000" dirty="0" smtClean="0"/>
          </a:p>
          <a:p>
            <a:pPr marL="0" indent="0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strlen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 char </a:t>
            </a:r>
            <a:r>
              <a:rPr lang="en-US" altLang="zh-CN" dirty="0" err="1"/>
              <a:t>str</a:t>
            </a:r>
            <a:r>
              <a:rPr lang="en-US" altLang="zh-CN" dirty="0" smtClean="0"/>
              <a:t>[]); //</a:t>
            </a:r>
            <a:r>
              <a:rPr lang="zh-CN" altLang="en-US" dirty="0" smtClean="0"/>
              <a:t>计算字符串长度的函数</a:t>
            </a:r>
            <a:r>
              <a:rPr lang="zh-CN" altLang="en-US" dirty="0"/>
              <a:t>声明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find_substr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 char </a:t>
            </a:r>
            <a:r>
              <a:rPr lang="en-US" altLang="zh-CN" dirty="0" err="1"/>
              <a:t>str</a:t>
            </a:r>
            <a:r>
              <a:rPr lang="en-US" altLang="zh-CN" dirty="0"/>
              <a:t>[], 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 char </a:t>
            </a:r>
            <a:r>
              <a:rPr lang="en-US" altLang="zh-CN" dirty="0" err="1"/>
              <a:t>sub_str</a:t>
            </a:r>
            <a:r>
              <a:rPr lang="en-US" altLang="zh-CN" dirty="0"/>
              <a:t>[])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 smtClean="0"/>
              <a:t>len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strlen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str</a:t>
            </a:r>
            <a:r>
              <a:rPr lang="en-US" altLang="zh-CN" dirty="0" smtClean="0"/>
              <a:t>), </a:t>
            </a:r>
            <a:r>
              <a:rPr lang="en-US" altLang="zh-CN" dirty="0"/>
              <a:t>//</a:t>
            </a:r>
            <a:r>
              <a:rPr lang="zh-CN" altLang="zh-CN" dirty="0"/>
              <a:t>主串长度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 smtClean="0"/>
              <a:t>sub_len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strlen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sub_str</a:t>
            </a:r>
            <a:r>
              <a:rPr lang="en-US" altLang="zh-CN" dirty="0" smtClean="0"/>
              <a:t>); </a:t>
            </a:r>
            <a:r>
              <a:rPr lang="en-US" altLang="zh-CN" dirty="0"/>
              <a:t>//</a:t>
            </a:r>
            <a:r>
              <a:rPr lang="zh-CN" altLang="zh-CN" dirty="0"/>
              <a:t>子串的长度</a:t>
            </a:r>
          </a:p>
          <a:p>
            <a:pPr marL="0" indent="0">
              <a:buNone/>
            </a:pPr>
            <a:r>
              <a:rPr lang="en-US" altLang="zh-CN" dirty="0" smtClean="0"/>
              <a:t>   for 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&lt;=</a:t>
            </a:r>
            <a:r>
              <a:rPr lang="en-US" altLang="zh-CN" dirty="0" err="1"/>
              <a:t>len-sub_len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++) //</a:t>
            </a:r>
            <a:r>
              <a:rPr lang="zh-CN" altLang="zh-CN" dirty="0"/>
              <a:t>从主串的头开始循环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    //</a:t>
            </a:r>
            <a:r>
              <a:rPr lang="zh-CN" altLang="zh-CN" dirty="0" smtClean="0"/>
              <a:t>查找</a:t>
            </a:r>
            <a:r>
              <a:rPr lang="zh-CN" altLang="zh-CN" dirty="0"/>
              <a:t>子</a:t>
            </a:r>
            <a:r>
              <a:rPr lang="zh-CN" altLang="zh-CN" dirty="0" smtClean="0"/>
              <a:t>串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是主串</a:t>
            </a:r>
            <a:r>
              <a:rPr lang="zh-CN" altLang="en-US" dirty="0"/>
              <a:t>的下标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 smtClean="0"/>
              <a:t>  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j; //</a:t>
            </a:r>
            <a:r>
              <a:rPr lang="zh-CN" altLang="en-US" dirty="0" smtClean="0"/>
              <a:t>子串的下标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for </a:t>
            </a:r>
            <a:r>
              <a:rPr lang="en-US" altLang="zh-CN" dirty="0"/>
              <a:t>(j=0</a:t>
            </a:r>
            <a:r>
              <a:rPr lang="en-US" altLang="zh-CN" dirty="0" smtClean="0"/>
              <a:t>; j&lt;</a:t>
            </a:r>
            <a:r>
              <a:rPr lang="en-US" altLang="zh-CN" dirty="0" err="1" smtClean="0"/>
              <a:t>sub_len</a:t>
            </a:r>
            <a:r>
              <a:rPr lang="en-US" altLang="zh-CN" dirty="0" smtClean="0"/>
              <a:t>; </a:t>
            </a:r>
            <a:r>
              <a:rPr lang="en-US" altLang="zh-CN" dirty="0" err="1" smtClean="0"/>
              <a:t>j</a:t>
            </a:r>
            <a:r>
              <a:rPr lang="en-US" altLang="zh-CN" dirty="0" err="1"/>
              <a:t>++</a:t>
            </a:r>
            <a:r>
              <a:rPr lang="en-US" altLang="zh-CN" dirty="0"/>
              <a:t>) </a:t>
            </a:r>
            <a:r>
              <a:rPr lang="en-US" altLang="zh-CN" dirty="0" smtClean="0"/>
              <a:t>//</a:t>
            </a:r>
            <a:r>
              <a:rPr lang="zh-CN" altLang="zh-CN" dirty="0"/>
              <a:t>子串中的</a:t>
            </a:r>
            <a:r>
              <a:rPr lang="zh-CN" altLang="zh-CN" dirty="0" smtClean="0"/>
              <a:t>字符与主</a:t>
            </a:r>
            <a:r>
              <a:rPr lang="zh-CN" altLang="zh-CN" dirty="0"/>
              <a:t>串中从位置</a:t>
            </a:r>
            <a:r>
              <a:rPr lang="en-US" altLang="zh-CN" dirty="0" err="1" smtClean="0"/>
              <a:t>i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en-US" altLang="zh-CN" dirty="0" smtClean="0"/>
              <a:t>				      //</a:t>
            </a:r>
            <a:r>
              <a:rPr lang="zh-CN" altLang="zh-CN" dirty="0"/>
              <a:t>开始</a:t>
            </a:r>
            <a:r>
              <a:rPr lang="zh-CN" altLang="en-US" dirty="0"/>
              <a:t>的字符</a:t>
            </a:r>
            <a:r>
              <a:rPr lang="zh-CN" altLang="zh-CN" dirty="0"/>
              <a:t>逐个进行比较</a:t>
            </a:r>
          </a:p>
          <a:p>
            <a:pPr marL="0" indent="0">
              <a:buNone/>
            </a:pPr>
            <a:r>
              <a:rPr lang="en-US" altLang="zh-CN" dirty="0" smtClean="0"/>
              <a:t>        if (</a:t>
            </a:r>
            <a:r>
              <a:rPr lang="en-US" altLang="zh-CN" dirty="0" err="1" smtClean="0"/>
              <a:t>sub_str</a:t>
            </a:r>
            <a:r>
              <a:rPr lang="en-US" altLang="zh-CN" dirty="0" smtClean="0"/>
              <a:t>[j</a:t>
            </a:r>
            <a:r>
              <a:rPr lang="en-US" altLang="zh-CN" dirty="0"/>
              <a:t>] </a:t>
            </a:r>
            <a:r>
              <a:rPr lang="en-US" altLang="zh-CN" dirty="0" smtClean="0"/>
              <a:t>!= </a:t>
            </a:r>
            <a:r>
              <a:rPr lang="en-US" altLang="zh-CN" dirty="0" err="1"/>
              <a:t>str</a:t>
            </a:r>
            <a:r>
              <a:rPr lang="en-US" altLang="zh-CN" dirty="0"/>
              <a:t>[</a:t>
            </a:r>
            <a:r>
              <a:rPr lang="en-US" altLang="zh-CN" dirty="0" err="1"/>
              <a:t>i+j</a:t>
            </a:r>
            <a:r>
              <a:rPr lang="en-US" altLang="zh-CN" dirty="0" smtClean="0"/>
              <a:t>]) break;</a:t>
            </a: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if </a:t>
            </a:r>
            <a:r>
              <a:rPr lang="en-US" altLang="zh-CN" dirty="0"/>
              <a:t>(j == </a:t>
            </a:r>
            <a:r>
              <a:rPr lang="en-US" altLang="zh-CN" dirty="0" err="1"/>
              <a:t>sub_len</a:t>
            </a:r>
            <a:r>
              <a:rPr lang="en-US" altLang="zh-CN" dirty="0"/>
              <a:t>) return </a:t>
            </a:r>
            <a:r>
              <a:rPr lang="en-US" altLang="zh-CN" dirty="0" err="1"/>
              <a:t>i</a:t>
            </a:r>
            <a:r>
              <a:rPr lang="en-US" altLang="zh-CN" dirty="0"/>
              <a:t>; //</a:t>
            </a:r>
            <a:r>
              <a:rPr lang="zh-CN" altLang="zh-CN" dirty="0"/>
              <a:t>匹配到子串，返回</a:t>
            </a:r>
            <a:r>
              <a:rPr lang="zh-CN" altLang="zh-CN" dirty="0" smtClean="0"/>
              <a:t>它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//</a:t>
            </a:r>
            <a:r>
              <a:rPr lang="zh-CN" altLang="zh-CN" dirty="0" smtClean="0"/>
              <a:t>在</a:t>
            </a:r>
            <a:r>
              <a:rPr lang="zh-CN" altLang="zh-CN" dirty="0"/>
              <a:t>主串中的位置</a:t>
            </a:r>
            <a:r>
              <a:rPr lang="en-US" altLang="zh-CN" dirty="0" err="1"/>
              <a:t>i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return </a:t>
            </a:r>
            <a:r>
              <a:rPr lang="en-US" altLang="zh-CN" dirty="0"/>
              <a:t>-1; //</a:t>
            </a:r>
            <a:r>
              <a:rPr lang="zh-CN" altLang="zh-CN" dirty="0"/>
              <a:t>未找到子串，返回</a:t>
            </a:r>
            <a:r>
              <a:rPr lang="en-US" altLang="zh-CN" dirty="0"/>
              <a:t>-1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61753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723312" cy="4962773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 smtClean="0"/>
              <a:t>查找子串的应用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编辑器在文本查找某个单词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判断某个人是否是南京人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   char </a:t>
            </a:r>
            <a:r>
              <a:rPr lang="en-US" altLang="zh-CN" dirty="0" err="1" smtClean="0"/>
              <a:t>birth_place</a:t>
            </a:r>
            <a:r>
              <a:rPr lang="en-US" altLang="zh-CN" dirty="0" smtClean="0"/>
              <a:t>[80];</a:t>
            </a:r>
          </a:p>
          <a:p>
            <a:pPr marL="457200" lvl="1" indent="0">
              <a:buNone/>
            </a:pPr>
            <a:r>
              <a:rPr lang="en-US" altLang="zh-CN" dirty="0" smtClean="0"/>
              <a:t>   ......</a:t>
            </a:r>
          </a:p>
          <a:p>
            <a:pPr marL="457200" lvl="1" indent="0">
              <a:buNone/>
            </a:pPr>
            <a:r>
              <a:rPr lang="en-US" altLang="zh-CN" dirty="0" smtClean="0"/>
              <a:t>   if (</a:t>
            </a:r>
            <a:r>
              <a:rPr lang="en-US" altLang="zh-CN" dirty="0" err="1" smtClean="0"/>
              <a:t>find_substr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birth_place</a:t>
            </a:r>
            <a:r>
              <a:rPr lang="en-US" altLang="zh-CN" dirty="0" smtClean="0"/>
              <a:t>,"</a:t>
            </a:r>
            <a:r>
              <a:rPr lang="zh-CN" altLang="en-US" dirty="0" smtClean="0"/>
              <a:t>南京</a:t>
            </a:r>
            <a:r>
              <a:rPr lang="en-US" altLang="zh-CN" dirty="0" smtClean="0"/>
              <a:t>") != -1)</a:t>
            </a:r>
          </a:p>
          <a:p>
            <a:pPr marL="457200" lvl="1" indent="0">
              <a:buNone/>
            </a:pPr>
            <a:r>
              <a:rPr lang="en-US" altLang="zh-CN" dirty="0" smtClean="0"/>
              <a:t>   { ....... //</a:t>
            </a:r>
            <a:r>
              <a:rPr lang="zh-CN" altLang="en-US" dirty="0" smtClean="0"/>
              <a:t>对南京人进行处理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   }</a:t>
            </a:r>
          </a:p>
          <a:p>
            <a:pPr lvl="1"/>
            <a:r>
              <a:rPr lang="en-US" altLang="zh-CN" dirty="0" smtClean="0"/>
              <a:t>......</a:t>
            </a:r>
          </a:p>
          <a:p>
            <a:r>
              <a:rPr lang="zh-CN" altLang="en-US" dirty="0" smtClean="0"/>
              <a:t>查找并替换字串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/>
              <a:t>find_replace_str</a:t>
            </a:r>
            <a:r>
              <a:rPr lang="en-US" altLang="zh-CN" dirty="0"/>
              <a:t>(char </a:t>
            </a:r>
            <a:r>
              <a:rPr lang="en-US" altLang="zh-CN" dirty="0" err="1"/>
              <a:t>str</a:t>
            </a:r>
            <a:r>
              <a:rPr lang="en-US" altLang="zh-CN" dirty="0"/>
              <a:t>[], </a:t>
            </a:r>
            <a:r>
              <a:rPr lang="en-US" altLang="zh-CN" dirty="0" err="1"/>
              <a:t>const</a:t>
            </a:r>
            <a:r>
              <a:rPr lang="en-US" altLang="zh-CN" dirty="0"/>
              <a:t> char </a:t>
            </a:r>
            <a:r>
              <a:rPr lang="en-US" altLang="zh-CN" dirty="0" err="1"/>
              <a:t>find_str</a:t>
            </a:r>
            <a:r>
              <a:rPr lang="en-US" altLang="zh-CN" dirty="0" smtClean="0"/>
              <a:t>[], </a:t>
            </a:r>
          </a:p>
          <a:p>
            <a:pPr marL="457200" lvl="1" indent="0">
              <a:buNone/>
            </a:pPr>
            <a:r>
              <a:rPr lang="en-US" altLang="zh-CN" dirty="0" smtClean="0"/>
              <a:t>           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 char </a:t>
            </a:r>
            <a:r>
              <a:rPr lang="en-US" altLang="zh-CN" dirty="0" err="1">
                <a:solidFill>
                  <a:srgbClr val="FFC000"/>
                </a:solidFill>
              </a:rPr>
              <a:t>replace_str</a:t>
            </a:r>
            <a:r>
              <a:rPr lang="en-US" altLang="zh-CN" dirty="0" smtClean="0">
                <a:solidFill>
                  <a:srgbClr val="FFC000"/>
                </a:solidFill>
              </a:rPr>
              <a:t>[]</a:t>
            </a:r>
            <a:r>
              <a:rPr lang="en-US" altLang="zh-CN" dirty="0" smtClean="0"/>
              <a:t>); //</a:t>
            </a:r>
            <a:r>
              <a:rPr lang="zh-CN" altLang="en-US" dirty="0" smtClean="0"/>
              <a:t>返回替换了多少次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0098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标准库中的字符串处理函数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413" y="1412776"/>
            <a:ext cx="8839200" cy="4968726"/>
          </a:xfrm>
        </p:spPr>
        <p:txBody>
          <a:bodyPr/>
          <a:lstStyle/>
          <a:p>
            <a:pPr algn="just" eaLnBrk="1" hangingPunct="1"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标准库中提供了基于字符数组</a:t>
            </a:r>
            <a:r>
              <a:rPr lang="zh-CN" altLang="en-US" sz="2800" dirty="0"/>
              <a:t>表示</a:t>
            </a:r>
            <a:r>
              <a:rPr lang="zh-CN" altLang="en-US" sz="2800" dirty="0" smtClean="0"/>
              <a:t>的字符串处理函数（从</a:t>
            </a:r>
            <a:r>
              <a:rPr lang="en-US" altLang="zh-CN" sz="2800" dirty="0" smtClean="0"/>
              <a:t>C</a:t>
            </a:r>
            <a:r>
              <a:rPr lang="zh-CN" altLang="en-US" sz="2800" dirty="0" smtClean="0"/>
              <a:t>语言标准库继承来的），需包含的头文件：</a:t>
            </a:r>
            <a:endParaRPr lang="en-US" altLang="zh-CN" sz="2800" dirty="0" smtClean="0"/>
          </a:p>
          <a:p>
            <a:pPr marL="457200" lvl="1" indent="0" algn="just" eaLnBrk="1" hangingPunct="1">
              <a:buNone/>
              <a:defRPr/>
            </a:pPr>
            <a:r>
              <a:rPr lang="en-US" altLang="zh-CN" sz="2400" dirty="0" smtClean="0"/>
              <a:t>   #include &lt;</a:t>
            </a:r>
            <a:r>
              <a:rPr lang="en-US" altLang="zh-CN" sz="2400" dirty="0" err="1" smtClean="0"/>
              <a:t>cstring</a:t>
            </a:r>
            <a:r>
              <a:rPr lang="en-US" altLang="zh-CN" sz="2400" dirty="0" smtClean="0"/>
              <a:t>&gt;</a:t>
            </a:r>
          </a:p>
          <a:p>
            <a:pPr algn="just" eaLnBrk="1" hangingPunct="1">
              <a:defRPr/>
            </a:pPr>
            <a:r>
              <a:rPr lang="zh-CN" altLang="en-US" sz="2800" dirty="0" smtClean="0"/>
              <a:t>计算字符串的长度</a:t>
            </a:r>
          </a:p>
          <a:p>
            <a:pPr marL="457200" lvl="1" indent="0" algn="just" eaLnBrk="1" hangingPunct="1">
              <a:buNone/>
              <a:defRPr/>
            </a:pPr>
            <a:r>
              <a:rPr lang="en-US" altLang="zh-CN" sz="2400" dirty="0" smtClean="0"/>
              <a:t>    unsigned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strlen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const</a:t>
            </a:r>
            <a:r>
              <a:rPr lang="en-US" altLang="zh-CN" sz="2400" dirty="0" smtClean="0"/>
              <a:t> char s[]); </a:t>
            </a:r>
          </a:p>
          <a:p>
            <a:pPr algn="just" eaLnBrk="1" hangingPunct="1">
              <a:defRPr/>
            </a:pPr>
            <a:r>
              <a:rPr lang="zh-CN" altLang="en-US" sz="2800" dirty="0" smtClean="0"/>
              <a:t>字符串复制</a:t>
            </a:r>
            <a:endParaRPr lang="zh-CN" altLang="en-US" sz="2800" dirty="0" smtClean="0">
              <a:cs typeface="Times New Roman" pitchFamily="18" charset="0"/>
            </a:endParaRPr>
          </a:p>
          <a:p>
            <a:pPr lvl="1" algn="just" eaLnBrk="1" hangingPunct="1">
              <a:defRPr/>
            </a:pPr>
            <a:r>
              <a:rPr lang="zh-CN" altLang="en-US" sz="2400" dirty="0" smtClean="0">
                <a:cs typeface="Courier New" pitchFamily="49" charset="0"/>
              </a:rPr>
              <a:t>把</a:t>
            </a:r>
            <a:r>
              <a:rPr lang="en-US" altLang="zh-CN" sz="2400" dirty="0" err="1" smtClean="0">
                <a:cs typeface="Courier New" pitchFamily="49" charset="0"/>
              </a:rPr>
              <a:t>src</a:t>
            </a:r>
            <a:r>
              <a:rPr lang="zh-CN" altLang="en-US" sz="2400" dirty="0" smtClean="0">
                <a:cs typeface="Courier New" pitchFamily="49" charset="0"/>
              </a:rPr>
              <a:t>中的字符串复制到</a:t>
            </a:r>
            <a:r>
              <a:rPr lang="en-US" altLang="zh-CN" sz="2400" dirty="0" err="1" smtClean="0">
                <a:cs typeface="Courier New" pitchFamily="49" charset="0"/>
              </a:rPr>
              <a:t>dst</a:t>
            </a:r>
            <a:r>
              <a:rPr lang="zh-CN" altLang="en-US" sz="2400" dirty="0" smtClean="0">
                <a:cs typeface="Courier New" pitchFamily="49" charset="0"/>
              </a:rPr>
              <a:t>中，最后加一个</a:t>
            </a:r>
            <a:r>
              <a:rPr lang="en-US" altLang="zh-CN" sz="2400" dirty="0" smtClean="0">
                <a:cs typeface="Courier New" pitchFamily="49" charset="0"/>
              </a:rPr>
              <a:t>'\0'</a:t>
            </a:r>
            <a:r>
              <a:rPr lang="zh-CN" altLang="en-US" sz="2400" dirty="0" smtClean="0">
                <a:cs typeface="Courier New" pitchFamily="49" charset="0"/>
              </a:rPr>
              <a:t>。</a:t>
            </a:r>
            <a:endParaRPr lang="en-US" altLang="zh-CN" sz="2400" dirty="0" smtClean="0">
              <a:cs typeface="Courier New" pitchFamily="49" charset="0"/>
            </a:endParaRPr>
          </a:p>
          <a:p>
            <a:pPr marL="457200" lvl="1" indent="0" algn="just" eaLnBrk="1" hangingPunct="1">
              <a:buNone/>
              <a:defRPr/>
            </a:pPr>
            <a:r>
              <a:rPr lang="en-US" altLang="zh-CN" sz="2400" dirty="0" smtClean="0">
                <a:cs typeface="Courier New" pitchFamily="49" charset="0"/>
              </a:rPr>
              <a:t>	char *</a:t>
            </a:r>
            <a:r>
              <a:rPr lang="en-US" altLang="zh-CN" sz="2400" dirty="0" err="1" smtClean="0">
                <a:cs typeface="Courier New" pitchFamily="49" charset="0"/>
              </a:rPr>
              <a:t>strcpy</a:t>
            </a:r>
            <a:r>
              <a:rPr lang="en-US" altLang="zh-CN" sz="2400" dirty="0" smtClean="0">
                <a:cs typeface="Courier New" pitchFamily="49" charset="0"/>
              </a:rPr>
              <a:t>(char </a:t>
            </a:r>
            <a:r>
              <a:rPr lang="en-US" altLang="zh-CN" sz="2400" dirty="0" err="1" smtClean="0">
                <a:cs typeface="Courier New" pitchFamily="49" charset="0"/>
              </a:rPr>
              <a:t>dst</a:t>
            </a:r>
            <a:r>
              <a:rPr lang="en-US" altLang="zh-CN" sz="2400" dirty="0" smtClean="0">
                <a:cs typeface="Courier New" pitchFamily="49" charset="0"/>
              </a:rPr>
              <a:t>[],</a:t>
            </a:r>
            <a:r>
              <a:rPr lang="en-US" altLang="zh-CN" sz="2400" dirty="0" err="1" smtClean="0">
                <a:cs typeface="Courier New" pitchFamily="49" charset="0"/>
              </a:rPr>
              <a:t>const</a:t>
            </a:r>
            <a:r>
              <a:rPr lang="en-US" altLang="zh-CN" sz="2400" dirty="0" smtClean="0">
                <a:cs typeface="Courier New" pitchFamily="49" charset="0"/>
              </a:rPr>
              <a:t> char </a:t>
            </a:r>
            <a:r>
              <a:rPr lang="en-US" altLang="zh-CN" sz="2400" dirty="0" err="1" smtClean="0">
                <a:cs typeface="Courier New" pitchFamily="49" charset="0"/>
              </a:rPr>
              <a:t>src</a:t>
            </a:r>
            <a:r>
              <a:rPr lang="en-US" altLang="zh-CN" sz="2400" dirty="0" smtClean="0">
                <a:cs typeface="Courier New" pitchFamily="49" charset="0"/>
              </a:rPr>
              <a:t>[])</a:t>
            </a:r>
            <a:r>
              <a:rPr lang="en-US" altLang="zh-CN" sz="24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 algn="just" eaLnBrk="1" hangingPunct="1">
              <a:defRPr/>
            </a:pPr>
            <a:r>
              <a:rPr lang="zh-CN" altLang="en-US" sz="2400" dirty="0" smtClean="0">
                <a:cs typeface="Courier New" pitchFamily="49" charset="0"/>
              </a:rPr>
              <a:t>把</a:t>
            </a:r>
            <a:r>
              <a:rPr lang="en-US" altLang="zh-CN" sz="2400" dirty="0" err="1">
                <a:cs typeface="Courier New" pitchFamily="49" charset="0"/>
              </a:rPr>
              <a:t>src</a:t>
            </a:r>
            <a:r>
              <a:rPr lang="zh-CN" altLang="en-US" sz="2400" dirty="0">
                <a:cs typeface="Courier New" pitchFamily="49" charset="0"/>
              </a:rPr>
              <a:t>中的字符串复制到</a:t>
            </a:r>
            <a:r>
              <a:rPr lang="en-US" altLang="zh-CN" sz="2400" dirty="0" err="1">
                <a:cs typeface="Courier New" pitchFamily="49" charset="0"/>
              </a:rPr>
              <a:t>dst</a:t>
            </a:r>
            <a:r>
              <a:rPr lang="zh-CN" altLang="en-US" sz="2400" dirty="0" smtClean="0">
                <a:cs typeface="Courier New" pitchFamily="49" charset="0"/>
              </a:rPr>
              <a:t>中，最多复制</a:t>
            </a:r>
            <a:r>
              <a:rPr lang="en-US" altLang="zh-CN" sz="2400" dirty="0" smtClean="0">
                <a:solidFill>
                  <a:srgbClr val="FFC000"/>
                </a:solidFill>
                <a:cs typeface="Courier New" pitchFamily="49" charset="0"/>
              </a:rPr>
              <a:t>n</a:t>
            </a:r>
            <a:r>
              <a:rPr lang="zh-CN" altLang="en-US" sz="2400" dirty="0" smtClean="0">
                <a:cs typeface="Courier New" pitchFamily="49" charset="0"/>
              </a:rPr>
              <a:t>个字符。复制的字符个数</a:t>
            </a:r>
            <a:r>
              <a:rPr lang="zh-CN" altLang="en-US" sz="2400" dirty="0" smtClean="0">
                <a:solidFill>
                  <a:srgbClr val="FFC000"/>
                </a:solidFill>
                <a:cs typeface="Courier New" pitchFamily="49" charset="0"/>
              </a:rPr>
              <a:t>少于</a:t>
            </a:r>
            <a:r>
              <a:rPr lang="en-US" altLang="zh-CN" sz="2400" dirty="0" smtClean="0">
                <a:solidFill>
                  <a:srgbClr val="FFC000"/>
                </a:solidFill>
                <a:cs typeface="Courier New" pitchFamily="49" charset="0"/>
              </a:rPr>
              <a:t>n</a:t>
            </a:r>
            <a:r>
              <a:rPr lang="zh-CN" altLang="en-US" sz="2400" dirty="0" smtClean="0">
                <a:cs typeface="Courier New" pitchFamily="49" charset="0"/>
              </a:rPr>
              <a:t>时会自动在最后加一个</a:t>
            </a:r>
            <a:r>
              <a:rPr lang="en-US" altLang="zh-CN" sz="2400" dirty="0" smtClean="0">
                <a:cs typeface="Courier New" pitchFamily="49" charset="0"/>
              </a:rPr>
              <a:t>'\0'</a:t>
            </a:r>
            <a:r>
              <a:rPr lang="zh-CN" altLang="en-US" sz="2400" dirty="0" smtClean="0">
                <a:cs typeface="Courier New" pitchFamily="49" charset="0"/>
              </a:rPr>
              <a:t>，否则不加！</a:t>
            </a:r>
            <a:endParaRPr lang="en-US" altLang="zh-CN" sz="2400" dirty="0" smtClean="0"/>
          </a:p>
          <a:p>
            <a:pPr marL="457200" lvl="1" indent="0" algn="just" eaLnBrk="1" hangingPunct="1">
              <a:buNone/>
              <a:defRPr/>
            </a:pPr>
            <a:r>
              <a:rPr lang="en-US" altLang="zh-CN" sz="2400" dirty="0" smtClean="0"/>
              <a:t>	char *</a:t>
            </a:r>
            <a:r>
              <a:rPr lang="en-US" altLang="zh-CN" sz="2400" dirty="0" err="1" smtClean="0"/>
              <a:t>strncpy</a:t>
            </a:r>
            <a:r>
              <a:rPr lang="en-US" altLang="zh-CN" sz="2400" dirty="0" smtClean="0"/>
              <a:t>(char </a:t>
            </a:r>
            <a:r>
              <a:rPr lang="en-US" altLang="zh-CN" sz="2400" dirty="0" err="1" smtClean="0"/>
              <a:t>dst</a:t>
            </a:r>
            <a:r>
              <a:rPr lang="en-US" altLang="zh-CN" sz="2400" dirty="0" smtClean="0"/>
              <a:t>[],</a:t>
            </a:r>
            <a:r>
              <a:rPr lang="en-US" altLang="zh-CN" sz="2400" dirty="0" err="1" smtClean="0"/>
              <a:t>const</a:t>
            </a:r>
            <a:r>
              <a:rPr lang="en-US" altLang="zh-CN" sz="2400" dirty="0" smtClean="0"/>
              <a:t> char </a:t>
            </a:r>
            <a:r>
              <a:rPr lang="en-US" altLang="zh-CN" sz="2400" dirty="0" err="1" smtClean="0"/>
              <a:t>src</a:t>
            </a:r>
            <a:r>
              <a:rPr lang="en-US" altLang="zh-CN" sz="2400" dirty="0" smtClean="0"/>
              <a:t>[],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C000"/>
                </a:solidFill>
              </a:rPr>
              <a:t>n</a:t>
            </a:r>
            <a:r>
              <a:rPr lang="en-US" altLang="zh-CN" sz="2400" dirty="0" smtClean="0"/>
              <a:t>);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484784"/>
            <a:ext cx="8579296" cy="5112568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2800" dirty="0"/>
              <a:t>字符串拼接</a:t>
            </a:r>
            <a:endParaRPr lang="zh-CN" altLang="en-US" sz="2800" dirty="0">
              <a:cs typeface="Times New Roman" pitchFamily="18" charset="0"/>
            </a:endParaRPr>
          </a:p>
          <a:p>
            <a:pPr lvl="1" algn="just" eaLnBrk="1" hangingPunct="1">
              <a:defRPr/>
            </a:pPr>
            <a:r>
              <a:rPr lang="zh-CN" altLang="en-US" sz="2400" dirty="0" smtClean="0">
                <a:cs typeface="Courier New" pitchFamily="49" charset="0"/>
              </a:rPr>
              <a:t>把</a:t>
            </a:r>
            <a:r>
              <a:rPr lang="en-US" altLang="zh-CN" sz="2400" dirty="0" err="1" smtClean="0">
                <a:cs typeface="Courier New" pitchFamily="49" charset="0"/>
              </a:rPr>
              <a:t>src</a:t>
            </a:r>
            <a:r>
              <a:rPr lang="zh-CN" altLang="en-US" sz="2400" dirty="0" smtClean="0">
                <a:cs typeface="Courier New" pitchFamily="49" charset="0"/>
              </a:rPr>
              <a:t>中的字符串拼接到</a:t>
            </a:r>
            <a:r>
              <a:rPr lang="en-US" altLang="zh-CN" sz="2400" dirty="0" err="1" smtClean="0">
                <a:cs typeface="Courier New" pitchFamily="49" charset="0"/>
              </a:rPr>
              <a:t>dst</a:t>
            </a:r>
            <a:r>
              <a:rPr lang="zh-CN" altLang="en-US" sz="2400" dirty="0" smtClean="0">
                <a:cs typeface="Courier New" pitchFamily="49" charset="0"/>
              </a:rPr>
              <a:t>中已有字符串的后面，最后加上</a:t>
            </a:r>
            <a:r>
              <a:rPr lang="en-US" altLang="zh-CN" sz="2400" dirty="0" smtClean="0">
                <a:cs typeface="Courier New" pitchFamily="49" charset="0"/>
              </a:rPr>
              <a:t>'\0'</a:t>
            </a:r>
            <a:r>
              <a:rPr lang="zh-CN" altLang="en-US" sz="2400" dirty="0" smtClean="0">
                <a:cs typeface="Courier New" pitchFamily="49" charset="0"/>
              </a:rPr>
              <a:t>。</a:t>
            </a:r>
            <a:endParaRPr lang="en-US" altLang="zh-CN" sz="2400" dirty="0" smtClean="0">
              <a:cs typeface="Courier New" pitchFamily="49" charset="0"/>
            </a:endParaRPr>
          </a:p>
          <a:p>
            <a:pPr marL="457200" lvl="1" indent="0" algn="just" eaLnBrk="1" hangingPunct="1">
              <a:buNone/>
              <a:defRPr/>
            </a:pPr>
            <a:r>
              <a:rPr lang="en-US" altLang="zh-CN" sz="2400" dirty="0" smtClean="0">
                <a:cs typeface="Courier New" pitchFamily="49" charset="0"/>
              </a:rPr>
              <a:t>	char </a:t>
            </a:r>
            <a:r>
              <a:rPr lang="en-US" altLang="zh-CN" sz="2400" dirty="0">
                <a:cs typeface="Courier New" pitchFamily="49" charset="0"/>
              </a:rPr>
              <a:t>*</a:t>
            </a:r>
            <a:r>
              <a:rPr lang="en-US" altLang="zh-CN" sz="2400" dirty="0" err="1">
                <a:cs typeface="Courier New" pitchFamily="49" charset="0"/>
              </a:rPr>
              <a:t>strcat</a:t>
            </a:r>
            <a:r>
              <a:rPr lang="en-US" altLang="zh-CN" sz="2400" dirty="0">
                <a:cs typeface="Courier New" pitchFamily="49" charset="0"/>
              </a:rPr>
              <a:t>(char </a:t>
            </a:r>
            <a:r>
              <a:rPr lang="en-US" altLang="zh-CN" sz="2400" dirty="0" err="1">
                <a:cs typeface="Courier New" pitchFamily="49" charset="0"/>
              </a:rPr>
              <a:t>dst</a:t>
            </a:r>
            <a:r>
              <a:rPr lang="en-US" altLang="zh-CN" sz="2400" dirty="0">
                <a:cs typeface="Courier New" pitchFamily="49" charset="0"/>
              </a:rPr>
              <a:t>[],</a:t>
            </a:r>
            <a:r>
              <a:rPr lang="en-US" altLang="zh-CN" sz="2400" dirty="0" err="1">
                <a:cs typeface="Courier New" pitchFamily="49" charset="0"/>
              </a:rPr>
              <a:t>const</a:t>
            </a:r>
            <a:r>
              <a:rPr lang="en-US" altLang="zh-CN" sz="2400" dirty="0">
                <a:cs typeface="Courier New" pitchFamily="49" charset="0"/>
              </a:rPr>
              <a:t> char </a:t>
            </a:r>
            <a:r>
              <a:rPr lang="en-US" altLang="zh-CN" sz="2400" dirty="0" err="1">
                <a:cs typeface="Courier New" pitchFamily="49" charset="0"/>
              </a:rPr>
              <a:t>src</a:t>
            </a:r>
            <a:r>
              <a:rPr lang="en-US" altLang="zh-CN" sz="2400" dirty="0">
                <a:cs typeface="Courier New" pitchFamily="49" charset="0"/>
              </a:rPr>
              <a:t>[]);</a:t>
            </a:r>
          </a:p>
          <a:p>
            <a:pPr lvl="1" algn="just" eaLnBrk="1" hangingPunct="1">
              <a:defRPr/>
            </a:pPr>
            <a:r>
              <a:rPr lang="zh-CN" altLang="en-US" sz="2400" dirty="0">
                <a:cs typeface="Courier New" pitchFamily="49" charset="0"/>
              </a:rPr>
              <a:t>把</a:t>
            </a:r>
            <a:r>
              <a:rPr lang="en-US" altLang="zh-CN" sz="2400" dirty="0" err="1">
                <a:cs typeface="Courier New" pitchFamily="49" charset="0"/>
              </a:rPr>
              <a:t>src</a:t>
            </a:r>
            <a:r>
              <a:rPr lang="zh-CN" altLang="en-US" sz="2400" dirty="0">
                <a:cs typeface="Courier New" pitchFamily="49" charset="0"/>
              </a:rPr>
              <a:t>中的字符串拼接到</a:t>
            </a:r>
            <a:r>
              <a:rPr lang="en-US" altLang="zh-CN" sz="2400" dirty="0" err="1">
                <a:cs typeface="Courier New" pitchFamily="49" charset="0"/>
              </a:rPr>
              <a:t>dst</a:t>
            </a:r>
            <a:r>
              <a:rPr lang="zh-CN" altLang="en-US" sz="2400" dirty="0">
                <a:cs typeface="Courier New" pitchFamily="49" charset="0"/>
              </a:rPr>
              <a:t>中已有字符串的后面</a:t>
            </a:r>
            <a:r>
              <a:rPr lang="zh-CN" altLang="en-US" sz="2400" dirty="0" smtClean="0">
                <a:cs typeface="Courier New" pitchFamily="49" charset="0"/>
              </a:rPr>
              <a:t>，最多拼接</a:t>
            </a:r>
            <a:r>
              <a:rPr lang="en-US" altLang="zh-CN" sz="2400" dirty="0" smtClean="0">
                <a:solidFill>
                  <a:srgbClr val="FFC000"/>
                </a:solidFill>
                <a:cs typeface="Courier New" pitchFamily="49" charset="0"/>
              </a:rPr>
              <a:t>n</a:t>
            </a:r>
            <a:r>
              <a:rPr lang="zh-CN" altLang="en-US" sz="2400" dirty="0" smtClean="0">
                <a:cs typeface="Courier New" pitchFamily="49" charset="0"/>
              </a:rPr>
              <a:t>个字符。拼接的字符个数</a:t>
            </a:r>
            <a:r>
              <a:rPr lang="zh-CN" altLang="en-US" sz="2400" dirty="0" smtClean="0">
                <a:solidFill>
                  <a:srgbClr val="FFC000"/>
                </a:solidFill>
                <a:cs typeface="Courier New" pitchFamily="49" charset="0"/>
              </a:rPr>
              <a:t>少于</a:t>
            </a:r>
            <a:r>
              <a:rPr lang="en-US" altLang="zh-CN" sz="2400" dirty="0" smtClean="0">
                <a:solidFill>
                  <a:srgbClr val="FFC000"/>
                </a:solidFill>
                <a:cs typeface="Courier New" pitchFamily="49" charset="0"/>
              </a:rPr>
              <a:t>n</a:t>
            </a:r>
            <a:r>
              <a:rPr lang="zh-CN" altLang="en-US" sz="2400" dirty="0" smtClean="0">
                <a:cs typeface="Courier New" pitchFamily="49" charset="0"/>
              </a:rPr>
              <a:t>时会自动在最后加一个</a:t>
            </a:r>
            <a:r>
              <a:rPr lang="en-US" altLang="zh-CN" sz="2400" dirty="0" smtClean="0">
                <a:cs typeface="Courier New" pitchFamily="49" charset="0"/>
              </a:rPr>
              <a:t>'\</a:t>
            </a:r>
            <a:r>
              <a:rPr lang="en-US" altLang="zh-CN" sz="2400" dirty="0">
                <a:cs typeface="Courier New" pitchFamily="49" charset="0"/>
              </a:rPr>
              <a:t>0</a:t>
            </a:r>
            <a:r>
              <a:rPr lang="en-US" altLang="zh-CN" sz="2400" dirty="0" smtClean="0">
                <a:cs typeface="Courier New" pitchFamily="49" charset="0"/>
              </a:rPr>
              <a:t>'</a:t>
            </a:r>
            <a:r>
              <a:rPr lang="zh-CN" altLang="en-US" sz="2400" dirty="0" smtClean="0">
                <a:cs typeface="Courier New" pitchFamily="49" charset="0"/>
              </a:rPr>
              <a:t>，否则不加！</a:t>
            </a:r>
            <a:endParaRPr lang="en-US" altLang="zh-CN" sz="2400" dirty="0" smtClean="0">
              <a:cs typeface="Courier New" pitchFamily="49" charset="0"/>
            </a:endParaRPr>
          </a:p>
          <a:p>
            <a:pPr marL="457200" lvl="1" indent="0" algn="just" eaLnBrk="1" hangingPunct="1">
              <a:buNone/>
              <a:defRPr/>
            </a:pPr>
            <a:r>
              <a:rPr lang="en-US" altLang="zh-CN" sz="2400" dirty="0" smtClean="0">
                <a:cs typeface="Courier New" pitchFamily="49" charset="0"/>
              </a:rPr>
              <a:t>	char </a:t>
            </a:r>
            <a:r>
              <a:rPr lang="en-US" altLang="zh-CN" sz="2400" dirty="0">
                <a:cs typeface="Courier New" pitchFamily="49" charset="0"/>
              </a:rPr>
              <a:t>*</a:t>
            </a:r>
            <a:r>
              <a:rPr lang="en-US" altLang="zh-CN" sz="2400" dirty="0" err="1">
                <a:cs typeface="Courier New" pitchFamily="49" charset="0"/>
              </a:rPr>
              <a:t>strncat</a:t>
            </a:r>
            <a:r>
              <a:rPr lang="en-US" altLang="zh-CN" sz="2400" dirty="0">
                <a:cs typeface="Courier New" pitchFamily="49" charset="0"/>
              </a:rPr>
              <a:t>(char </a:t>
            </a:r>
            <a:r>
              <a:rPr lang="en-US" altLang="zh-CN" sz="2400" dirty="0" err="1">
                <a:cs typeface="Courier New" pitchFamily="49" charset="0"/>
              </a:rPr>
              <a:t>dst</a:t>
            </a:r>
            <a:r>
              <a:rPr lang="en-US" altLang="zh-CN" sz="2400" dirty="0">
                <a:cs typeface="Courier New" pitchFamily="49" charset="0"/>
              </a:rPr>
              <a:t>[],</a:t>
            </a:r>
            <a:r>
              <a:rPr lang="en-US" altLang="zh-CN" sz="2400" dirty="0" err="1">
                <a:cs typeface="Courier New" pitchFamily="49" charset="0"/>
              </a:rPr>
              <a:t>const</a:t>
            </a:r>
            <a:r>
              <a:rPr lang="en-US" altLang="zh-CN" sz="2400" dirty="0">
                <a:cs typeface="Courier New" pitchFamily="49" charset="0"/>
              </a:rPr>
              <a:t> char </a:t>
            </a:r>
            <a:r>
              <a:rPr lang="en-US" altLang="zh-CN" sz="2400" dirty="0" err="1">
                <a:cs typeface="Courier New" pitchFamily="49" charset="0"/>
              </a:rPr>
              <a:t>src</a:t>
            </a:r>
            <a:r>
              <a:rPr lang="en-US" altLang="zh-CN" sz="2400" dirty="0">
                <a:cs typeface="Courier New" pitchFamily="49" charset="0"/>
              </a:rPr>
              <a:t>[],</a:t>
            </a:r>
            <a:r>
              <a:rPr lang="en-US" altLang="zh-CN" sz="2400" dirty="0" err="1">
                <a:cs typeface="Courier New" pitchFamily="49" charset="0"/>
              </a:rPr>
              <a:t>int</a:t>
            </a:r>
            <a:r>
              <a:rPr lang="en-US" altLang="zh-CN" sz="2400" dirty="0">
                <a:cs typeface="Courier New" pitchFamily="49" charset="0"/>
              </a:rPr>
              <a:t> n);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286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00200"/>
            <a:ext cx="8568952" cy="4530725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2800" dirty="0"/>
              <a:t>字符串比较</a:t>
            </a:r>
            <a:endParaRPr lang="zh-CN" altLang="en-US" sz="2800" dirty="0">
              <a:cs typeface="Times New Roman" pitchFamily="18" charset="0"/>
            </a:endParaRPr>
          </a:p>
          <a:p>
            <a:pPr lvl="1" algn="just" eaLnBrk="1" hangingPunct="1">
              <a:defRPr/>
            </a:pPr>
            <a:r>
              <a:rPr lang="zh-CN" altLang="en-US" sz="2400" dirty="0">
                <a:cs typeface="Courier New" pitchFamily="49" charset="0"/>
              </a:rPr>
              <a:t>比较两个字符串的大小</a:t>
            </a:r>
            <a:r>
              <a:rPr lang="zh-CN" altLang="en-US" sz="2400" dirty="0" smtClean="0">
                <a:cs typeface="Courier New" pitchFamily="49" charset="0"/>
              </a:rPr>
              <a:t>（基于编码和字典</a:t>
            </a:r>
            <a:r>
              <a:rPr lang="zh-CN" altLang="en-US" sz="2400" dirty="0">
                <a:cs typeface="Courier New" pitchFamily="49" charset="0"/>
              </a:rPr>
              <a:t>次序），返回值：</a:t>
            </a:r>
            <a:endParaRPr lang="en-US" altLang="zh-CN" sz="2400" dirty="0">
              <a:cs typeface="Courier New" pitchFamily="49" charset="0"/>
            </a:endParaRPr>
          </a:p>
          <a:p>
            <a:pPr lvl="2" algn="just" eaLnBrk="1" hangingPunct="1">
              <a:defRPr/>
            </a:pPr>
            <a:r>
              <a:rPr lang="en-US" altLang="zh-CN" sz="2000" dirty="0">
                <a:cs typeface="Courier New" pitchFamily="49" charset="0"/>
              </a:rPr>
              <a:t>0</a:t>
            </a:r>
            <a:r>
              <a:rPr lang="zh-CN" altLang="en-US" sz="2000" dirty="0">
                <a:cs typeface="Courier New" pitchFamily="49" charset="0"/>
              </a:rPr>
              <a:t>：相等；负数：</a:t>
            </a:r>
            <a:r>
              <a:rPr lang="en-US" altLang="zh-CN" sz="2000" dirty="0">
                <a:cs typeface="Courier New" pitchFamily="49" charset="0"/>
              </a:rPr>
              <a:t>s1</a:t>
            </a:r>
            <a:r>
              <a:rPr lang="zh-CN" altLang="en-US" sz="2000" dirty="0">
                <a:cs typeface="Courier New" pitchFamily="49" charset="0"/>
              </a:rPr>
              <a:t>小；正数：</a:t>
            </a:r>
            <a:r>
              <a:rPr lang="en-US" altLang="zh-CN" sz="2000" dirty="0">
                <a:cs typeface="Courier New" pitchFamily="49" charset="0"/>
              </a:rPr>
              <a:t>s1</a:t>
            </a:r>
            <a:r>
              <a:rPr lang="zh-CN" altLang="en-US" sz="2000" dirty="0">
                <a:cs typeface="Courier New" pitchFamily="49" charset="0"/>
              </a:rPr>
              <a:t>大</a:t>
            </a:r>
            <a:endParaRPr lang="en-US" altLang="zh-CN" sz="2000" dirty="0">
              <a:cs typeface="Courier New" pitchFamily="49" charset="0"/>
            </a:endParaRPr>
          </a:p>
          <a:p>
            <a:pPr marL="457200" lvl="1" indent="0" algn="just" eaLnBrk="1" hangingPunct="1">
              <a:buNone/>
              <a:defRPr/>
            </a:pPr>
            <a:r>
              <a:rPr lang="en-US" altLang="zh-CN" sz="2400" dirty="0">
                <a:cs typeface="Courier New" pitchFamily="49" charset="0"/>
              </a:rPr>
              <a:t>	</a:t>
            </a:r>
            <a:r>
              <a:rPr lang="en-US" altLang="zh-CN" sz="2400" dirty="0" err="1">
                <a:cs typeface="Courier New" pitchFamily="49" charset="0"/>
              </a:rPr>
              <a:t>int</a:t>
            </a:r>
            <a:r>
              <a:rPr lang="en-US" altLang="zh-CN" sz="2400" dirty="0">
                <a:cs typeface="Courier New" pitchFamily="49" charset="0"/>
              </a:rPr>
              <a:t>  </a:t>
            </a:r>
            <a:r>
              <a:rPr lang="en-US" altLang="zh-CN" sz="2400" dirty="0" err="1">
                <a:cs typeface="Courier New" pitchFamily="49" charset="0"/>
              </a:rPr>
              <a:t>strcmp</a:t>
            </a:r>
            <a:r>
              <a:rPr lang="en-US" altLang="zh-CN" sz="2400" dirty="0">
                <a:cs typeface="Courier New" pitchFamily="49" charset="0"/>
              </a:rPr>
              <a:t>(</a:t>
            </a:r>
            <a:r>
              <a:rPr lang="en-US" altLang="zh-CN" sz="2400" dirty="0" err="1">
                <a:cs typeface="Courier New" pitchFamily="49" charset="0"/>
              </a:rPr>
              <a:t>const</a:t>
            </a:r>
            <a:r>
              <a:rPr lang="en-US" altLang="zh-CN" sz="2400" dirty="0">
                <a:cs typeface="Courier New" pitchFamily="49" charset="0"/>
              </a:rPr>
              <a:t> char s1[],</a:t>
            </a:r>
            <a:r>
              <a:rPr lang="en-US" altLang="zh-CN" sz="2400" dirty="0" err="1">
                <a:cs typeface="Courier New" pitchFamily="49" charset="0"/>
              </a:rPr>
              <a:t>const</a:t>
            </a:r>
            <a:r>
              <a:rPr lang="en-US" altLang="zh-CN" sz="2400" dirty="0">
                <a:cs typeface="Courier New" pitchFamily="49" charset="0"/>
              </a:rPr>
              <a:t> char s2[]);</a:t>
            </a:r>
          </a:p>
          <a:p>
            <a:pPr lvl="1" algn="just" eaLnBrk="1" hangingPunct="1">
              <a:defRPr/>
            </a:pPr>
            <a:r>
              <a:rPr lang="zh-CN" altLang="en-US" sz="2400" dirty="0">
                <a:cs typeface="Courier New" pitchFamily="49" charset="0"/>
              </a:rPr>
              <a:t>比较两个字符串的大小，最多</a:t>
            </a:r>
            <a:r>
              <a:rPr lang="zh-CN" altLang="en-US" sz="2400" dirty="0" smtClean="0">
                <a:cs typeface="Courier New" pitchFamily="49" charset="0"/>
              </a:rPr>
              <a:t>比较前</a:t>
            </a:r>
            <a:r>
              <a:rPr lang="en-US" altLang="zh-CN" sz="2400" dirty="0" smtClean="0">
                <a:cs typeface="Courier New" pitchFamily="49" charset="0"/>
              </a:rPr>
              <a:t>n</a:t>
            </a:r>
            <a:r>
              <a:rPr lang="zh-CN" altLang="en-US" sz="2400" dirty="0">
                <a:cs typeface="Courier New" pitchFamily="49" charset="0"/>
              </a:rPr>
              <a:t>个字符。</a:t>
            </a:r>
            <a:endParaRPr lang="en-US" altLang="zh-CN" sz="2400" dirty="0">
              <a:cs typeface="Courier New" pitchFamily="49" charset="0"/>
            </a:endParaRPr>
          </a:p>
          <a:p>
            <a:pPr marL="457200" lvl="1" indent="0" algn="just" eaLnBrk="1" hangingPunct="1">
              <a:buNone/>
              <a:defRPr/>
            </a:pPr>
            <a:r>
              <a:rPr lang="en-US" altLang="zh-CN" sz="2400" dirty="0" err="1">
                <a:cs typeface="Courier New" pitchFamily="49" charset="0"/>
              </a:rPr>
              <a:t>int</a:t>
            </a:r>
            <a:r>
              <a:rPr lang="en-US" altLang="zh-CN" sz="2400" dirty="0">
                <a:cs typeface="Courier New" pitchFamily="49" charset="0"/>
              </a:rPr>
              <a:t>  </a:t>
            </a:r>
            <a:r>
              <a:rPr lang="en-US" altLang="zh-CN" sz="2400" dirty="0" err="1">
                <a:cs typeface="Courier New" pitchFamily="49" charset="0"/>
              </a:rPr>
              <a:t>strncmp</a:t>
            </a:r>
            <a:r>
              <a:rPr lang="en-US" altLang="zh-CN" sz="2400" dirty="0">
                <a:cs typeface="Courier New" pitchFamily="49" charset="0"/>
              </a:rPr>
              <a:t>(</a:t>
            </a:r>
            <a:r>
              <a:rPr lang="en-US" altLang="zh-CN" sz="2400" dirty="0" err="1">
                <a:cs typeface="Courier New" pitchFamily="49" charset="0"/>
              </a:rPr>
              <a:t>const</a:t>
            </a:r>
            <a:r>
              <a:rPr lang="en-US" altLang="zh-CN" sz="2400" dirty="0">
                <a:cs typeface="Courier New" pitchFamily="49" charset="0"/>
              </a:rPr>
              <a:t> char s1[],</a:t>
            </a:r>
            <a:r>
              <a:rPr lang="en-US" altLang="zh-CN" sz="2400" dirty="0" err="1">
                <a:cs typeface="Courier New" pitchFamily="49" charset="0"/>
              </a:rPr>
              <a:t>const</a:t>
            </a:r>
            <a:r>
              <a:rPr lang="en-US" altLang="zh-CN" sz="2400" dirty="0">
                <a:cs typeface="Courier New" pitchFamily="49" charset="0"/>
              </a:rPr>
              <a:t> char s2[],</a:t>
            </a:r>
            <a:r>
              <a:rPr lang="en-US" altLang="zh-CN" sz="2400" dirty="0" err="1">
                <a:cs typeface="Courier New" pitchFamily="49" charset="0"/>
              </a:rPr>
              <a:t>int</a:t>
            </a:r>
            <a:r>
              <a:rPr lang="en-US" altLang="zh-CN" sz="2400" dirty="0">
                <a:cs typeface="Courier New" pitchFamily="49" charset="0"/>
              </a:rPr>
              <a:t> n</a:t>
            </a:r>
            <a:r>
              <a:rPr lang="en-US" altLang="zh-CN" sz="2400" dirty="0" smtClean="0">
                <a:cs typeface="Courier New" pitchFamily="49" charset="0"/>
              </a:rPr>
              <a:t>);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08585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260648"/>
            <a:ext cx="8686800" cy="63813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sz="3100" dirty="0" err="1" smtClean="0"/>
              <a:t>cout</a:t>
            </a:r>
            <a:r>
              <a:rPr lang="en-US" altLang="zh-CN" sz="3100" dirty="0" smtClean="0"/>
              <a:t> &lt;&lt; </a:t>
            </a:r>
            <a:r>
              <a:rPr lang="en-US" altLang="zh-CN" sz="3100" dirty="0" err="1" smtClean="0"/>
              <a:t>strlen</a:t>
            </a:r>
            <a:r>
              <a:rPr lang="en-US" altLang="zh-CN" sz="3100" dirty="0" smtClean="0"/>
              <a:t>("1234"); //4</a:t>
            </a:r>
          </a:p>
          <a:p>
            <a:pPr marL="0" indent="0">
              <a:buNone/>
            </a:pPr>
            <a:r>
              <a:rPr lang="en-US" altLang="zh-CN" sz="3100" dirty="0"/>
              <a:t>char </a:t>
            </a:r>
            <a:r>
              <a:rPr lang="en-US" altLang="zh-CN" sz="3100" dirty="0" err="1"/>
              <a:t>str</a:t>
            </a:r>
            <a:r>
              <a:rPr lang="en-US" altLang="zh-CN" sz="3100" dirty="0"/>
              <a:t>[5];</a:t>
            </a:r>
          </a:p>
          <a:p>
            <a:pPr marL="0" indent="0">
              <a:buNone/>
            </a:pPr>
            <a:r>
              <a:rPr lang="en-US" altLang="zh-CN" sz="3100" dirty="0" err="1" smtClean="0"/>
              <a:t>strcpy</a:t>
            </a:r>
            <a:r>
              <a:rPr lang="en-US" altLang="zh-CN" sz="3100" dirty="0" smtClean="0"/>
              <a:t>(str,"1234"); //</a:t>
            </a:r>
            <a:r>
              <a:rPr lang="en-US" altLang="zh-CN" sz="3100" dirty="0" err="1" smtClean="0"/>
              <a:t>str</a:t>
            </a:r>
            <a:r>
              <a:rPr lang="en-US" altLang="zh-CN" sz="3100" dirty="0" smtClean="0"/>
              <a:t>[4] = '\0';</a:t>
            </a:r>
          </a:p>
          <a:p>
            <a:pPr marL="0" indent="0">
              <a:buNone/>
            </a:pPr>
            <a:r>
              <a:rPr lang="en-US" altLang="zh-CN" sz="3100" dirty="0" err="1" smtClean="0"/>
              <a:t>strcpy</a:t>
            </a:r>
            <a:r>
              <a:rPr lang="en-US" altLang="zh-CN" sz="3100" dirty="0" smtClean="0"/>
              <a:t>(str,"12345"); //</a:t>
            </a:r>
            <a:r>
              <a:rPr lang="zh-CN" altLang="en-US" sz="3100" dirty="0" smtClean="0">
                <a:solidFill>
                  <a:srgbClr val="FFC000"/>
                </a:solidFill>
              </a:rPr>
              <a:t>越界</a:t>
            </a:r>
            <a:r>
              <a:rPr lang="zh-CN" altLang="en-US" sz="3100" dirty="0">
                <a:solidFill>
                  <a:srgbClr val="FFC000"/>
                </a:solidFill>
              </a:rPr>
              <a:t>：会在</a:t>
            </a:r>
            <a:r>
              <a:rPr lang="en-US" altLang="zh-CN" sz="3100" dirty="0" err="1">
                <a:solidFill>
                  <a:srgbClr val="FFC000"/>
                </a:solidFill>
              </a:rPr>
              <a:t>str</a:t>
            </a:r>
            <a:r>
              <a:rPr lang="en-US" altLang="zh-CN" sz="3100" dirty="0">
                <a:solidFill>
                  <a:srgbClr val="FFC000"/>
                </a:solidFill>
              </a:rPr>
              <a:t>[5]</a:t>
            </a:r>
            <a:r>
              <a:rPr lang="zh-CN" altLang="en-US" sz="3100" dirty="0">
                <a:solidFill>
                  <a:srgbClr val="FFC000"/>
                </a:solidFill>
              </a:rPr>
              <a:t>放上</a:t>
            </a:r>
            <a:r>
              <a:rPr lang="en-US" altLang="zh-CN" sz="3100" dirty="0">
                <a:solidFill>
                  <a:srgbClr val="FFC000"/>
                </a:solidFill>
              </a:rPr>
              <a:t>'\0'</a:t>
            </a:r>
            <a:r>
              <a:rPr lang="zh-CN" altLang="en-US" sz="3100" dirty="0" smtClean="0">
                <a:solidFill>
                  <a:srgbClr val="FFC000"/>
                </a:solidFill>
              </a:rPr>
              <a:t>！</a:t>
            </a:r>
            <a:endParaRPr lang="en-US" altLang="zh-CN" sz="3100" dirty="0" smtClean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sz="3100" dirty="0" err="1"/>
              <a:t>strncpy</a:t>
            </a:r>
            <a:r>
              <a:rPr lang="en-US" altLang="zh-CN" sz="3100" dirty="0"/>
              <a:t>(str,"1234",5); //</a:t>
            </a:r>
            <a:r>
              <a:rPr lang="en-US" altLang="zh-CN" sz="3100" dirty="0" err="1"/>
              <a:t>str</a:t>
            </a:r>
            <a:r>
              <a:rPr lang="en-US" altLang="zh-CN" sz="3100" dirty="0"/>
              <a:t>[4] = '\0';</a:t>
            </a:r>
          </a:p>
          <a:p>
            <a:pPr marL="0" indent="0">
              <a:buNone/>
            </a:pPr>
            <a:r>
              <a:rPr lang="en-US" altLang="zh-CN" sz="3100" dirty="0" err="1" smtClean="0"/>
              <a:t>strncpy</a:t>
            </a:r>
            <a:r>
              <a:rPr lang="en-US" altLang="zh-CN" sz="3100" dirty="0" smtClean="0"/>
              <a:t>(str,"12345",5); //</a:t>
            </a:r>
            <a:r>
              <a:rPr lang="zh-CN" altLang="en-US" sz="3100" dirty="0">
                <a:solidFill>
                  <a:srgbClr val="FFC000"/>
                </a:solidFill>
              </a:rPr>
              <a:t>不会在</a:t>
            </a:r>
            <a:r>
              <a:rPr lang="en-US" altLang="zh-CN" sz="3100" dirty="0" err="1">
                <a:solidFill>
                  <a:srgbClr val="FFC000"/>
                </a:solidFill>
              </a:rPr>
              <a:t>str</a:t>
            </a:r>
            <a:r>
              <a:rPr lang="en-US" altLang="zh-CN" sz="3100" dirty="0">
                <a:solidFill>
                  <a:srgbClr val="FFC000"/>
                </a:solidFill>
              </a:rPr>
              <a:t>[5]</a:t>
            </a:r>
            <a:r>
              <a:rPr lang="zh-CN" altLang="en-US" sz="3100" dirty="0">
                <a:solidFill>
                  <a:srgbClr val="FFC000"/>
                </a:solidFill>
              </a:rPr>
              <a:t>放上</a:t>
            </a:r>
            <a:r>
              <a:rPr lang="en-US" altLang="zh-CN" sz="3100" dirty="0">
                <a:solidFill>
                  <a:srgbClr val="FFC000"/>
                </a:solidFill>
              </a:rPr>
              <a:t>'\0'</a:t>
            </a:r>
            <a:r>
              <a:rPr lang="zh-CN" altLang="en-US" sz="3100" dirty="0">
                <a:solidFill>
                  <a:srgbClr val="FFC000"/>
                </a:solidFill>
              </a:rPr>
              <a:t>！</a:t>
            </a:r>
            <a:endParaRPr lang="en-US" altLang="zh-CN" sz="3100" dirty="0" smtClean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zh-CN" sz="3100" dirty="0" smtClean="0"/>
          </a:p>
          <a:p>
            <a:pPr marL="0" indent="0">
              <a:buNone/>
            </a:pPr>
            <a:r>
              <a:rPr lang="en-US" altLang="zh-CN" sz="3100" dirty="0" err="1" smtClean="0"/>
              <a:t>strcpy</a:t>
            </a:r>
            <a:r>
              <a:rPr lang="en-US" altLang="zh-CN" sz="3100" dirty="0" smtClean="0"/>
              <a:t>(str,"12"); //</a:t>
            </a:r>
            <a:r>
              <a:rPr lang="zh-CN" altLang="en-US" sz="3100" dirty="0" smtClean="0"/>
              <a:t>使得</a:t>
            </a:r>
            <a:r>
              <a:rPr lang="en-US" altLang="zh-CN" sz="3100" dirty="0" err="1" smtClean="0"/>
              <a:t>str</a:t>
            </a:r>
            <a:r>
              <a:rPr lang="zh-CN" altLang="en-US" sz="3100" dirty="0" smtClean="0"/>
              <a:t>有</a:t>
            </a:r>
            <a:r>
              <a:rPr lang="en-US" altLang="zh-CN" sz="3100" dirty="0" smtClean="0"/>
              <a:t>2</a:t>
            </a:r>
            <a:r>
              <a:rPr lang="zh-CN" altLang="en-US" sz="3100" dirty="0" smtClean="0"/>
              <a:t>个字符</a:t>
            </a:r>
            <a:endParaRPr lang="en-US" altLang="zh-CN" sz="3100" dirty="0" smtClean="0"/>
          </a:p>
          <a:p>
            <a:pPr marL="0" indent="0">
              <a:buNone/>
            </a:pPr>
            <a:r>
              <a:rPr lang="en-US" altLang="zh-CN" sz="3100" dirty="0" err="1" smtClean="0"/>
              <a:t>cout</a:t>
            </a:r>
            <a:r>
              <a:rPr lang="en-US" altLang="zh-CN" sz="3100" dirty="0" smtClean="0"/>
              <a:t> &lt;&lt; </a:t>
            </a:r>
            <a:r>
              <a:rPr lang="en-US" altLang="zh-CN" sz="3100" dirty="0" err="1" smtClean="0"/>
              <a:t>str</a:t>
            </a:r>
            <a:r>
              <a:rPr lang="en-US" altLang="zh-CN" sz="3100" dirty="0" smtClean="0"/>
              <a:t>; //12</a:t>
            </a:r>
          </a:p>
          <a:p>
            <a:pPr marL="0" indent="0">
              <a:buNone/>
            </a:pPr>
            <a:r>
              <a:rPr lang="en-US" altLang="zh-CN" sz="3100" dirty="0" err="1" smtClean="0"/>
              <a:t>strcat</a:t>
            </a:r>
            <a:r>
              <a:rPr lang="en-US" altLang="zh-CN" sz="3100" dirty="0" smtClean="0"/>
              <a:t>(</a:t>
            </a:r>
            <a:r>
              <a:rPr lang="en-US" altLang="zh-CN" sz="3100" dirty="0" err="1" smtClean="0"/>
              <a:t>str</a:t>
            </a:r>
            <a:r>
              <a:rPr lang="en-US" altLang="zh-CN" sz="3100" dirty="0" smtClean="0"/>
              <a:t>,"ab"); //</a:t>
            </a:r>
            <a:r>
              <a:rPr lang="zh-CN" altLang="en-US" sz="3100" dirty="0" smtClean="0"/>
              <a:t>把</a:t>
            </a:r>
            <a:r>
              <a:rPr lang="en-US" altLang="zh-CN" sz="3100" dirty="0" smtClean="0"/>
              <a:t>ab</a:t>
            </a:r>
            <a:r>
              <a:rPr lang="zh-CN" altLang="en-US" sz="3100" dirty="0" smtClean="0"/>
              <a:t>拼接到</a:t>
            </a:r>
            <a:r>
              <a:rPr lang="en-US" altLang="zh-CN" sz="3100" dirty="0" err="1" smtClean="0"/>
              <a:t>str</a:t>
            </a:r>
            <a:r>
              <a:rPr lang="zh-CN" altLang="en-US" sz="3100" dirty="0" smtClean="0"/>
              <a:t>中</a:t>
            </a:r>
            <a:r>
              <a:rPr lang="en-US" altLang="zh-CN" sz="3100" dirty="0" smtClean="0"/>
              <a:t>12</a:t>
            </a:r>
            <a:r>
              <a:rPr lang="zh-CN" altLang="en-US" sz="3100" dirty="0" smtClean="0"/>
              <a:t>的后面，</a:t>
            </a:r>
            <a:r>
              <a:rPr lang="en-US" altLang="zh-CN" sz="3100" dirty="0" err="1" smtClean="0"/>
              <a:t>str</a:t>
            </a:r>
            <a:r>
              <a:rPr lang="en-US" altLang="zh-CN" sz="3100" dirty="0" smtClean="0"/>
              <a:t>[4]='\0'</a:t>
            </a:r>
          </a:p>
          <a:p>
            <a:pPr marL="0" indent="0">
              <a:buNone/>
            </a:pPr>
            <a:r>
              <a:rPr lang="en-US" altLang="zh-CN" sz="3100" dirty="0" err="1" smtClean="0"/>
              <a:t>cout</a:t>
            </a:r>
            <a:r>
              <a:rPr lang="en-US" altLang="zh-CN" sz="3100" dirty="0" smtClean="0"/>
              <a:t> &lt;&lt; </a:t>
            </a:r>
            <a:r>
              <a:rPr lang="en-US" altLang="zh-CN" sz="3100" dirty="0" err="1" smtClean="0"/>
              <a:t>str</a:t>
            </a:r>
            <a:r>
              <a:rPr lang="en-US" altLang="zh-CN" sz="3100" dirty="0" smtClean="0"/>
              <a:t>; //12ab</a:t>
            </a:r>
          </a:p>
          <a:p>
            <a:pPr marL="0" indent="0">
              <a:buNone/>
            </a:pPr>
            <a:r>
              <a:rPr lang="en-US" altLang="zh-CN" sz="3100" dirty="0" err="1" smtClean="0"/>
              <a:t>strcpy</a:t>
            </a:r>
            <a:r>
              <a:rPr lang="en-US" altLang="zh-CN" sz="3100" dirty="0" smtClean="0"/>
              <a:t>(str</a:t>
            </a:r>
            <a:r>
              <a:rPr lang="en-US" altLang="zh-CN" sz="3100" dirty="0"/>
              <a:t>,"12");</a:t>
            </a:r>
          </a:p>
          <a:p>
            <a:pPr marL="0" indent="0">
              <a:buNone/>
            </a:pPr>
            <a:r>
              <a:rPr lang="en-US" altLang="zh-CN" sz="3100" dirty="0" err="1" smtClean="0"/>
              <a:t>strcat</a:t>
            </a:r>
            <a:r>
              <a:rPr lang="en-US" altLang="zh-CN" sz="3100" dirty="0" smtClean="0"/>
              <a:t>(</a:t>
            </a:r>
            <a:r>
              <a:rPr lang="en-US" altLang="zh-CN" sz="3100" dirty="0" err="1" smtClean="0"/>
              <a:t>str</a:t>
            </a:r>
            <a:r>
              <a:rPr lang="en-US" altLang="zh-CN" sz="3100" dirty="0"/>
              <a:t>,"</a:t>
            </a:r>
            <a:r>
              <a:rPr lang="en-US" altLang="zh-CN" sz="3100" dirty="0" err="1"/>
              <a:t>abc</a:t>
            </a:r>
            <a:r>
              <a:rPr lang="en-US" altLang="zh-CN" sz="3100" dirty="0" smtClean="0"/>
              <a:t>"); //</a:t>
            </a:r>
            <a:r>
              <a:rPr lang="zh-CN" altLang="en-US" sz="3100" dirty="0" smtClean="0">
                <a:solidFill>
                  <a:srgbClr val="FFC000"/>
                </a:solidFill>
              </a:rPr>
              <a:t>越界</a:t>
            </a:r>
            <a:r>
              <a:rPr lang="zh-CN" altLang="en-US" sz="3100" dirty="0">
                <a:solidFill>
                  <a:srgbClr val="FFC000"/>
                </a:solidFill>
              </a:rPr>
              <a:t>：会在</a:t>
            </a:r>
            <a:r>
              <a:rPr lang="en-US" altLang="zh-CN" sz="3100" dirty="0" err="1">
                <a:solidFill>
                  <a:srgbClr val="FFC000"/>
                </a:solidFill>
              </a:rPr>
              <a:t>str</a:t>
            </a:r>
            <a:r>
              <a:rPr lang="en-US" altLang="zh-CN" sz="3100" dirty="0">
                <a:solidFill>
                  <a:srgbClr val="FFC000"/>
                </a:solidFill>
              </a:rPr>
              <a:t>[5]</a:t>
            </a:r>
            <a:r>
              <a:rPr lang="zh-CN" altLang="en-US" sz="3100" dirty="0">
                <a:solidFill>
                  <a:srgbClr val="FFC000"/>
                </a:solidFill>
              </a:rPr>
              <a:t>放上</a:t>
            </a:r>
            <a:r>
              <a:rPr lang="en-US" altLang="zh-CN" sz="3100" dirty="0">
                <a:solidFill>
                  <a:srgbClr val="FFC000"/>
                </a:solidFill>
              </a:rPr>
              <a:t>'\0'</a:t>
            </a:r>
            <a:r>
              <a:rPr lang="zh-CN" altLang="en-US" sz="3100" dirty="0">
                <a:solidFill>
                  <a:srgbClr val="FFC000"/>
                </a:solidFill>
              </a:rPr>
              <a:t>！</a:t>
            </a:r>
            <a:endParaRPr lang="en-US" altLang="zh-CN" sz="3100" dirty="0" smtClean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sz="3100" dirty="0" err="1"/>
              <a:t>strcpy</a:t>
            </a:r>
            <a:r>
              <a:rPr lang="en-US" altLang="zh-CN" sz="3100" dirty="0"/>
              <a:t>(str,"12");</a:t>
            </a:r>
          </a:p>
          <a:p>
            <a:pPr marL="0" indent="0">
              <a:buNone/>
            </a:pPr>
            <a:r>
              <a:rPr lang="en-US" altLang="zh-CN" sz="3100" dirty="0" err="1"/>
              <a:t>strncat</a:t>
            </a:r>
            <a:r>
              <a:rPr lang="en-US" altLang="zh-CN" sz="3100" dirty="0"/>
              <a:t>(str,"</a:t>
            </a:r>
            <a:r>
              <a:rPr lang="en-US" altLang="zh-CN" sz="3100" dirty="0" smtClean="0"/>
              <a:t>ab",</a:t>
            </a:r>
            <a:r>
              <a:rPr lang="en-US" altLang="zh-CN" sz="3100" dirty="0"/>
              <a:t>3); //</a:t>
            </a:r>
            <a:r>
              <a:rPr lang="en-US" altLang="zh-CN" sz="3100" dirty="0" err="1"/>
              <a:t>str</a:t>
            </a:r>
            <a:r>
              <a:rPr lang="en-US" altLang="zh-CN" sz="3100" dirty="0"/>
              <a:t>[4] = '\0';</a:t>
            </a:r>
          </a:p>
          <a:p>
            <a:pPr marL="0" indent="0">
              <a:buNone/>
            </a:pPr>
            <a:r>
              <a:rPr lang="en-US" altLang="zh-CN" sz="3100" dirty="0" err="1" smtClean="0"/>
              <a:t>strcpy</a:t>
            </a:r>
            <a:r>
              <a:rPr lang="en-US" altLang="zh-CN" sz="3100" dirty="0" smtClean="0"/>
              <a:t>(str</a:t>
            </a:r>
            <a:r>
              <a:rPr lang="en-US" altLang="zh-CN" sz="3100" dirty="0"/>
              <a:t>,"12");</a:t>
            </a:r>
          </a:p>
          <a:p>
            <a:pPr marL="0" indent="0">
              <a:buNone/>
            </a:pPr>
            <a:r>
              <a:rPr lang="en-US" altLang="zh-CN" sz="3100" dirty="0" err="1" smtClean="0"/>
              <a:t>strncat</a:t>
            </a:r>
            <a:r>
              <a:rPr lang="en-US" altLang="zh-CN" sz="3100" dirty="0" smtClean="0"/>
              <a:t>(str</a:t>
            </a:r>
            <a:r>
              <a:rPr lang="en-US" altLang="zh-CN" sz="3100" dirty="0"/>
              <a:t>,"abc",</a:t>
            </a:r>
            <a:r>
              <a:rPr lang="en-US" altLang="zh-CN" sz="3100" dirty="0" smtClean="0"/>
              <a:t>3); //</a:t>
            </a:r>
            <a:r>
              <a:rPr lang="zh-CN" altLang="en-US" sz="3100" dirty="0" smtClean="0">
                <a:solidFill>
                  <a:srgbClr val="FFC000"/>
                </a:solidFill>
              </a:rPr>
              <a:t>不会在</a:t>
            </a:r>
            <a:r>
              <a:rPr lang="en-US" altLang="zh-CN" sz="3100" dirty="0" err="1" smtClean="0">
                <a:solidFill>
                  <a:srgbClr val="FFC000"/>
                </a:solidFill>
              </a:rPr>
              <a:t>str</a:t>
            </a:r>
            <a:r>
              <a:rPr lang="en-US" altLang="zh-CN" sz="3100" dirty="0" smtClean="0">
                <a:solidFill>
                  <a:srgbClr val="FFC000"/>
                </a:solidFill>
              </a:rPr>
              <a:t>[5]</a:t>
            </a:r>
            <a:r>
              <a:rPr lang="zh-CN" altLang="en-US" sz="3100" dirty="0" smtClean="0">
                <a:solidFill>
                  <a:srgbClr val="FFC000"/>
                </a:solidFill>
              </a:rPr>
              <a:t>放上</a:t>
            </a:r>
            <a:r>
              <a:rPr lang="en-US" altLang="zh-CN" sz="3100" dirty="0" smtClean="0">
                <a:solidFill>
                  <a:srgbClr val="FFC000"/>
                </a:solidFill>
              </a:rPr>
              <a:t>'\0'</a:t>
            </a:r>
            <a:r>
              <a:rPr lang="zh-CN" altLang="en-US" sz="3100" dirty="0" smtClean="0">
                <a:solidFill>
                  <a:srgbClr val="FFC000"/>
                </a:solidFill>
              </a:rPr>
              <a:t>！</a:t>
            </a:r>
            <a:endParaRPr lang="en-US" altLang="zh-CN" sz="3100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4462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dirty="0"/>
              <a:t>标准库中的</a:t>
            </a:r>
            <a:r>
              <a:rPr lang="zh-CN" altLang="en-US" dirty="0" smtClean="0"/>
              <a:t>字符串类型</a:t>
            </a:r>
            <a:r>
              <a:rPr lang="en-US" altLang="zh-CN" dirty="0" smtClean="0"/>
              <a:t>string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84449"/>
            <a:ext cx="8856984" cy="5412903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标准库中还提供了一个基于字符数组实现的字符串类型</a:t>
            </a:r>
            <a:r>
              <a:rPr lang="en-US" altLang="zh-CN" dirty="0" smtClean="0"/>
              <a:t>string</a:t>
            </a:r>
            <a:r>
              <a:rPr lang="zh-CN" altLang="en-US" dirty="0" smtClean="0"/>
              <a:t>，需包含的头文件：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en-US" altLang="zh-CN" dirty="0" smtClean="0"/>
              <a:t>#include &lt;string&gt;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 smtClean="0"/>
              <a:t>string</a:t>
            </a:r>
            <a:r>
              <a:rPr lang="zh-CN" altLang="en-US" dirty="0" smtClean="0"/>
              <a:t>会自动管理字符串的</a:t>
            </a:r>
            <a:r>
              <a:rPr lang="zh-CN" altLang="en-US" dirty="0"/>
              <a:t>内存</a:t>
            </a:r>
            <a:r>
              <a:rPr lang="zh-CN" altLang="en-US" dirty="0" smtClean="0"/>
              <a:t>空间，并</a:t>
            </a:r>
            <a:r>
              <a:rPr lang="zh-CN" altLang="en-US" dirty="0"/>
              <a:t>提供</a:t>
            </a:r>
            <a:r>
              <a:rPr lang="zh-CN" altLang="en-US" dirty="0" smtClean="0"/>
              <a:t>了字符串的基本操作：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变量的定义和初始化</a:t>
            </a:r>
            <a:endParaRPr lang="en-US" altLang="zh-CN" dirty="0" smtClean="0"/>
          </a:p>
          <a:p>
            <a:pPr lvl="2">
              <a:lnSpc>
                <a:spcPct val="120000"/>
              </a:lnSpc>
            </a:pPr>
            <a:r>
              <a:rPr lang="en-US" altLang="zh-CN" dirty="0" smtClean="0"/>
              <a:t>string s1("1234"),s2(s1),s3; </a:t>
            </a:r>
            <a:endParaRPr lang="en-US" altLang="zh-CN" dirty="0"/>
          </a:p>
          <a:p>
            <a:pPr lvl="1"/>
            <a:r>
              <a:rPr lang="zh-CN" altLang="en-US" dirty="0"/>
              <a:t>取元素</a:t>
            </a:r>
            <a:endParaRPr lang="en-US" altLang="zh-CN" dirty="0"/>
          </a:p>
          <a:p>
            <a:pPr lvl="2"/>
            <a:r>
              <a:rPr lang="en-US" altLang="zh-CN" dirty="0"/>
              <a:t>s1[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</a:p>
          <a:p>
            <a:pPr lvl="1"/>
            <a:r>
              <a:rPr lang="zh-CN" altLang="en-US" dirty="0" smtClean="0"/>
              <a:t>取</a:t>
            </a:r>
            <a:r>
              <a:rPr lang="zh-CN" altLang="en-US" dirty="0"/>
              <a:t>长度</a:t>
            </a:r>
            <a:endParaRPr lang="en-US" altLang="zh-CN" dirty="0"/>
          </a:p>
          <a:p>
            <a:pPr lvl="2"/>
            <a:r>
              <a:rPr lang="en-US" altLang="zh-CN" dirty="0"/>
              <a:t>s1.length()</a:t>
            </a:r>
          </a:p>
          <a:p>
            <a:pPr lvl="2"/>
            <a:r>
              <a:rPr lang="en-US" altLang="zh-CN" dirty="0"/>
              <a:t>s1.size()</a:t>
            </a:r>
            <a:endParaRPr lang="zh-CN" altLang="en-US" dirty="0"/>
          </a:p>
          <a:p>
            <a:pPr lvl="1"/>
            <a:r>
              <a:rPr lang="zh-CN" altLang="en-US" dirty="0" smtClean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</a:t>
            </a:r>
            <a:endParaRPr lang="en-US" altLang="zh-CN" dirty="0"/>
          </a:p>
          <a:p>
            <a:pPr lvl="2"/>
            <a:r>
              <a:rPr lang="en-US" altLang="zh-CN" dirty="0" err="1"/>
              <a:t>cin</a:t>
            </a:r>
            <a:r>
              <a:rPr lang="en-US" altLang="zh-CN" dirty="0"/>
              <a:t> &gt;&gt; s1;</a:t>
            </a:r>
          </a:p>
          <a:p>
            <a:pPr lvl="2"/>
            <a:r>
              <a:rPr lang="en-US" altLang="zh-CN" dirty="0" err="1"/>
              <a:t>cout</a:t>
            </a:r>
            <a:r>
              <a:rPr lang="en-US" altLang="zh-CN" dirty="0"/>
              <a:t> &lt;&lt; s2</a:t>
            </a:r>
            <a:r>
              <a:rPr lang="en-US" altLang="zh-CN" dirty="0" smtClean="0"/>
              <a:t>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88002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476673"/>
            <a:ext cx="8712968" cy="5904656"/>
          </a:xfrm>
        </p:spPr>
        <p:txBody>
          <a:bodyPr>
            <a:normAutofit fontScale="85000" lnSpcReduction="20000"/>
          </a:bodyPr>
          <a:lstStyle/>
          <a:p>
            <a:pPr lvl="1">
              <a:lnSpc>
                <a:spcPct val="120000"/>
              </a:lnSpc>
            </a:pPr>
            <a:r>
              <a:rPr lang="zh-CN" altLang="en-US" dirty="0"/>
              <a:t>拷贝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en-US" altLang="zh-CN" dirty="0"/>
              <a:t>s3 = "</a:t>
            </a:r>
            <a:r>
              <a:rPr lang="en-US" altLang="zh-CN" dirty="0" err="1"/>
              <a:t>abcd</a:t>
            </a:r>
            <a:r>
              <a:rPr lang="en-US" altLang="zh-CN" dirty="0"/>
              <a:t>"; //</a:t>
            </a:r>
            <a:r>
              <a:rPr lang="zh-CN" altLang="en-US" dirty="0"/>
              <a:t>把</a:t>
            </a:r>
            <a:r>
              <a:rPr lang="en-US" altLang="zh-CN" dirty="0"/>
              <a:t>"</a:t>
            </a:r>
            <a:r>
              <a:rPr lang="en-US" altLang="zh-CN" dirty="0" err="1"/>
              <a:t>abcd</a:t>
            </a:r>
            <a:r>
              <a:rPr lang="en-US" altLang="zh-CN" dirty="0"/>
              <a:t>"</a:t>
            </a:r>
            <a:r>
              <a:rPr lang="zh-CN" altLang="en-US" dirty="0"/>
              <a:t>复制到</a:t>
            </a:r>
            <a:r>
              <a:rPr lang="en-US" altLang="zh-CN" dirty="0"/>
              <a:t>s3</a:t>
            </a:r>
            <a:r>
              <a:rPr lang="zh-CN" altLang="en-US" dirty="0"/>
              <a:t>中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拼接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en-US" altLang="zh-CN" dirty="0"/>
              <a:t>s1 += s3; //</a:t>
            </a:r>
            <a:r>
              <a:rPr lang="zh-CN" altLang="en-US" dirty="0"/>
              <a:t>把</a:t>
            </a:r>
            <a:r>
              <a:rPr lang="en-US" altLang="zh-CN" dirty="0"/>
              <a:t>s3</a:t>
            </a:r>
            <a:r>
              <a:rPr lang="zh-CN" altLang="en-US" dirty="0"/>
              <a:t>拼接到</a:t>
            </a:r>
            <a:r>
              <a:rPr lang="en-US" altLang="zh-CN" dirty="0"/>
              <a:t>s1</a:t>
            </a:r>
            <a:r>
              <a:rPr lang="zh-CN" altLang="en-US" dirty="0"/>
              <a:t>上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en-US" altLang="zh-CN" dirty="0"/>
              <a:t>s3 = s1 + s2; //</a:t>
            </a:r>
            <a:r>
              <a:rPr lang="zh-CN" altLang="en-US" dirty="0"/>
              <a:t>把</a:t>
            </a:r>
            <a:r>
              <a:rPr lang="en-US" altLang="zh-CN" dirty="0"/>
              <a:t>s1</a:t>
            </a:r>
            <a:r>
              <a:rPr lang="zh-CN" altLang="en-US" dirty="0"/>
              <a:t>和</a:t>
            </a:r>
            <a:r>
              <a:rPr lang="en-US" altLang="zh-CN" dirty="0"/>
              <a:t>s2</a:t>
            </a:r>
            <a:r>
              <a:rPr lang="zh-CN" altLang="en-US" dirty="0"/>
              <a:t>拼接起来给</a:t>
            </a:r>
            <a:r>
              <a:rPr lang="en-US" altLang="zh-CN" dirty="0"/>
              <a:t>s3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比较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en-US" altLang="zh-CN" dirty="0"/>
              <a:t>... s1 &lt; s2 ...</a:t>
            </a:r>
          </a:p>
          <a:p>
            <a:pPr lvl="1"/>
            <a:r>
              <a:rPr lang="zh-CN" altLang="en-US" dirty="0" smtClean="0"/>
              <a:t>子串查找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s1.find(s2)     //</a:t>
            </a:r>
            <a:r>
              <a:rPr lang="zh-CN" altLang="en-US" dirty="0" smtClean="0"/>
              <a:t>从</a:t>
            </a:r>
            <a:r>
              <a:rPr lang="en-US" altLang="zh-CN" dirty="0" smtClean="0"/>
              <a:t>s1</a:t>
            </a:r>
            <a:r>
              <a:rPr lang="zh-CN" altLang="en-US" dirty="0" smtClean="0"/>
              <a:t>的头开始查找</a:t>
            </a:r>
            <a:r>
              <a:rPr lang="en-US" altLang="zh-CN" dirty="0" smtClean="0"/>
              <a:t>s2</a:t>
            </a:r>
            <a:r>
              <a:rPr lang="zh-CN" altLang="en-US" dirty="0" smtClean="0"/>
              <a:t>，返回</a:t>
            </a:r>
            <a:r>
              <a:rPr lang="zh-CN" altLang="en-US" dirty="0"/>
              <a:t>找的</a:t>
            </a:r>
            <a:r>
              <a:rPr lang="zh-CN" altLang="en-US" dirty="0" smtClean="0"/>
              <a:t>位置</a:t>
            </a:r>
            <a:endParaRPr lang="en-US" altLang="zh-CN" dirty="0" smtClean="0"/>
          </a:p>
          <a:p>
            <a:pPr marL="914400" lvl="2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  //</a:t>
            </a:r>
            <a:r>
              <a:rPr lang="zh-CN" altLang="en-US" dirty="0" smtClean="0"/>
              <a:t>或</a:t>
            </a:r>
            <a:r>
              <a:rPr lang="en-US" altLang="zh-CN" dirty="0" smtClean="0"/>
              <a:t>string::</a:t>
            </a:r>
            <a:r>
              <a:rPr lang="en-US" altLang="zh-CN" dirty="0" err="1" smtClean="0"/>
              <a:t>npos</a:t>
            </a:r>
            <a:r>
              <a:rPr lang="zh-CN" altLang="en-US" dirty="0" smtClean="0"/>
              <a:t>（未找到）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s1.find(s2,i)   //</a:t>
            </a:r>
            <a:r>
              <a:rPr lang="zh-CN" altLang="en-US" dirty="0"/>
              <a:t>从</a:t>
            </a:r>
            <a:r>
              <a:rPr lang="en-US" altLang="zh-CN" dirty="0"/>
              <a:t>s1</a:t>
            </a:r>
            <a:r>
              <a:rPr lang="zh-CN" altLang="en-US" dirty="0" smtClean="0"/>
              <a:t>的位置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开始查找</a:t>
            </a:r>
            <a:r>
              <a:rPr lang="en-US" altLang="zh-CN" dirty="0" smtClean="0"/>
              <a:t>s2</a:t>
            </a:r>
            <a:r>
              <a:rPr lang="zh-CN" altLang="en-US" dirty="0" smtClean="0"/>
              <a:t>，返回</a:t>
            </a:r>
            <a:r>
              <a:rPr lang="zh-CN" altLang="en-US" dirty="0"/>
              <a:t>找到的</a:t>
            </a:r>
            <a:r>
              <a:rPr lang="zh-CN" altLang="en-US" dirty="0" smtClean="0"/>
              <a:t>位置</a:t>
            </a:r>
            <a:endParaRPr lang="en-US" altLang="zh-CN" dirty="0" smtClean="0"/>
          </a:p>
          <a:p>
            <a:pPr marL="914400" lvl="2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  //</a:t>
            </a:r>
            <a:r>
              <a:rPr lang="zh-CN" altLang="en-US" dirty="0" smtClean="0"/>
              <a:t>或</a:t>
            </a:r>
            <a:r>
              <a:rPr lang="en-US" altLang="zh-CN" dirty="0"/>
              <a:t>string::</a:t>
            </a:r>
            <a:r>
              <a:rPr lang="en-US" altLang="zh-CN" dirty="0" err="1"/>
              <a:t>npos</a:t>
            </a:r>
            <a:r>
              <a:rPr lang="zh-CN" altLang="en-US" dirty="0"/>
              <a:t>（未找到）</a:t>
            </a:r>
            <a:endParaRPr lang="en-US" altLang="zh-CN" dirty="0"/>
          </a:p>
          <a:p>
            <a:pPr lvl="1"/>
            <a:r>
              <a:rPr lang="zh-CN" altLang="en-US" dirty="0"/>
              <a:t>子串替换</a:t>
            </a:r>
            <a:endParaRPr lang="en-US" altLang="zh-CN" dirty="0"/>
          </a:p>
          <a:p>
            <a:pPr lvl="2"/>
            <a:r>
              <a:rPr lang="en-US" altLang="zh-CN" dirty="0"/>
              <a:t>s1.replace(i,count,s2) //</a:t>
            </a:r>
            <a:r>
              <a:rPr lang="zh-CN" altLang="en-US" dirty="0"/>
              <a:t>把</a:t>
            </a:r>
            <a:r>
              <a:rPr lang="en-US" altLang="zh-CN" dirty="0"/>
              <a:t>s1</a:t>
            </a:r>
            <a:r>
              <a:rPr lang="zh-CN" altLang="en-US" dirty="0"/>
              <a:t>中从位置</a:t>
            </a:r>
            <a:r>
              <a:rPr lang="en-US" altLang="zh-CN" dirty="0" err="1"/>
              <a:t>i</a:t>
            </a:r>
            <a:r>
              <a:rPr lang="zh-CN" altLang="en-US" dirty="0"/>
              <a:t>开始的</a:t>
            </a:r>
            <a:r>
              <a:rPr lang="en-US" altLang="zh-CN" dirty="0"/>
              <a:t>count</a:t>
            </a:r>
            <a:r>
              <a:rPr lang="zh-CN" altLang="en-US" dirty="0"/>
              <a:t>个字符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			    //</a:t>
            </a:r>
            <a:r>
              <a:rPr lang="zh-CN" altLang="en-US" dirty="0"/>
              <a:t>替换成</a:t>
            </a:r>
            <a:r>
              <a:rPr lang="en-US" altLang="zh-CN" dirty="0"/>
              <a:t>s2</a:t>
            </a:r>
          </a:p>
          <a:p>
            <a:pPr lvl="1"/>
            <a:r>
              <a:rPr lang="en-US" altLang="zh-CN" dirty="0" smtClean="0"/>
              <a:t>......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63297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实数的精确表示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C++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float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double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long double</a:t>
            </a:r>
            <a:r>
              <a:rPr lang="zh-CN" altLang="en-US" dirty="0" smtClean="0"/>
              <a:t>类型不能精确表示一些十进制实数，如</a:t>
            </a:r>
            <a:r>
              <a:rPr lang="en-US" altLang="zh-CN" dirty="0" smtClean="0"/>
              <a:t>0.1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r>
              <a:rPr lang="zh-CN" altLang="en-US" dirty="0" smtClean="0"/>
              <a:t>如何在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中精确表示十进制实数？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45542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1274539"/>
            <a:ext cx="8686800" cy="4530725"/>
          </a:xfrm>
        </p:spPr>
        <p:txBody>
          <a:bodyPr>
            <a:normAutofit fontScale="85000" lnSpcReduction="10000"/>
          </a:bodyPr>
          <a:lstStyle/>
          <a:p>
            <a:pPr defTabSz="939800" eaLnBrk="1" hangingPunct="1">
              <a:lnSpc>
                <a:spcPct val="110000"/>
              </a:lnSpc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zh-CN" altLang="en-US" dirty="0" smtClean="0"/>
              <a:t>可以</a:t>
            </a:r>
            <a:r>
              <a:rPr lang="zh-CN" altLang="en-US" dirty="0"/>
              <a:t>用一维字符数组（字符串）来表示</a:t>
            </a:r>
            <a:r>
              <a:rPr lang="zh-CN" altLang="en-US" dirty="0" smtClean="0"/>
              <a:t>十进制数，其中的字符只能是下面的字符：</a:t>
            </a:r>
            <a:endParaRPr lang="en-US" altLang="zh-CN" dirty="0" smtClean="0"/>
          </a:p>
          <a:p>
            <a:pPr lvl="1" defTabSz="939800" eaLnBrk="1" hangingPunct="1">
              <a:lnSpc>
                <a:spcPct val="110000"/>
              </a:lnSpc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dirty="0" smtClean="0"/>
              <a:t>'0'~'9'</a:t>
            </a:r>
            <a:r>
              <a:rPr lang="zh-CN" altLang="en-US" dirty="0" smtClean="0"/>
              <a:t>、</a:t>
            </a:r>
            <a:r>
              <a:rPr lang="en-US" altLang="zh-CN" dirty="0" smtClean="0"/>
              <a:t>'.'</a:t>
            </a:r>
            <a:r>
              <a:rPr lang="zh-CN" altLang="en-US" dirty="0" smtClean="0"/>
              <a:t>、</a:t>
            </a:r>
            <a:r>
              <a:rPr lang="en-US" altLang="zh-CN" dirty="0" smtClean="0"/>
              <a:t>'+'</a:t>
            </a:r>
            <a:r>
              <a:rPr lang="zh-CN" altLang="en-US" dirty="0" smtClean="0"/>
              <a:t>、</a:t>
            </a:r>
            <a:r>
              <a:rPr lang="en-US" altLang="zh-CN" dirty="0" smtClean="0"/>
              <a:t>'-'</a:t>
            </a:r>
            <a:r>
              <a:rPr lang="zh-CN" altLang="en-US" dirty="0" smtClean="0"/>
              <a:t>。例如：</a:t>
            </a:r>
            <a:r>
              <a:rPr lang="en-US" altLang="zh-CN" dirty="0" smtClean="0"/>
              <a:t>"-123.4"</a:t>
            </a:r>
          </a:p>
          <a:p>
            <a:pPr defTabSz="939800" eaLnBrk="1" hangingPunct="1">
              <a:lnSpc>
                <a:spcPct val="110000"/>
              </a:lnSpc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zh-CN" altLang="en-US" dirty="0" smtClean="0"/>
              <a:t>对于基于一维字符数组表示的十进制数，其算术运算需要自己实现（</a:t>
            </a:r>
            <a:r>
              <a:rPr lang="en-US" altLang="zh-CN" dirty="0" smtClean="0"/>
              <a:t>CPU</a:t>
            </a:r>
            <a:r>
              <a:rPr lang="zh-CN" altLang="en-US" dirty="0" smtClean="0"/>
              <a:t>没有指令对它们直接进行操作）：</a:t>
            </a:r>
            <a:endParaRPr lang="en-US" altLang="zh-CN" dirty="0" smtClean="0"/>
          </a:p>
          <a:p>
            <a:pPr lvl="1" defTabSz="939800" eaLnBrk="1" hangingPunct="1">
              <a:lnSpc>
                <a:spcPct val="110000"/>
              </a:lnSpc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add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 char n1[],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 char n2[],char n[]);</a:t>
            </a:r>
          </a:p>
          <a:p>
            <a:pPr lvl="1" defTabSz="939800" eaLnBrk="1" hangingPunct="1">
              <a:lnSpc>
                <a:spcPct val="110000"/>
              </a:lnSpc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subtract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 char </a:t>
            </a:r>
            <a:r>
              <a:rPr lang="en-US" altLang="zh-CN" dirty="0"/>
              <a:t>n1</a:t>
            </a:r>
            <a:r>
              <a:rPr lang="en-US" altLang="zh-CN" dirty="0" smtClean="0"/>
              <a:t>[],</a:t>
            </a:r>
            <a:r>
              <a:rPr lang="en-US" altLang="zh-CN" dirty="0" err="1" smtClean="0"/>
              <a:t>const</a:t>
            </a:r>
            <a:r>
              <a:rPr lang="en-US" altLang="zh-CN" dirty="0" smtClean="0"/>
              <a:t> char </a:t>
            </a:r>
            <a:r>
              <a:rPr lang="en-US" altLang="zh-CN" dirty="0"/>
              <a:t>n2[],char n</a:t>
            </a:r>
            <a:r>
              <a:rPr lang="en-US" altLang="zh-CN" dirty="0" smtClean="0"/>
              <a:t>[]);</a:t>
            </a:r>
          </a:p>
          <a:p>
            <a:pPr lvl="1" defTabSz="939800" eaLnBrk="1" hangingPunct="1">
              <a:lnSpc>
                <a:spcPct val="110000"/>
              </a:lnSpc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en-US" altLang="zh-CN" dirty="0" smtClean="0"/>
              <a:t>......</a:t>
            </a:r>
            <a:endParaRPr lang="en-US" altLang="zh-CN" dirty="0"/>
          </a:p>
          <a:p>
            <a:pPr defTabSz="939800" eaLnBrk="1" hangingPunct="1">
              <a:lnSpc>
                <a:spcPct val="110000"/>
              </a:lnSpc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zh-CN" altLang="en-US" dirty="0" smtClean="0"/>
              <a:t>为了节省空间，可采用压缩形式存贮：</a:t>
            </a:r>
            <a:endParaRPr lang="en-US" altLang="zh-CN" dirty="0" smtClean="0"/>
          </a:p>
          <a:p>
            <a:pPr lvl="1" defTabSz="939800" eaLnBrk="1" hangingPunct="1">
              <a:lnSpc>
                <a:spcPct val="110000"/>
              </a:lnSpc>
              <a:tabLst>
                <a:tab pos="2159000" algn="ctr"/>
                <a:tab pos="2959100" algn="ctr"/>
                <a:tab pos="3683000" algn="ctr"/>
              </a:tabLst>
              <a:defRPr/>
            </a:pPr>
            <a:r>
              <a:rPr lang="zh-CN" altLang="en-US" smtClean="0"/>
              <a:t>可用</a:t>
            </a:r>
            <a:r>
              <a:rPr lang="zh-CN" altLang="en-US" dirty="0" smtClean="0"/>
              <a:t>一个字符（字节）存储二个十进制数字（</a:t>
            </a:r>
            <a:r>
              <a:rPr lang="en-US" altLang="zh-CN" dirty="0" smtClean="0"/>
              <a:t>BCD</a:t>
            </a:r>
            <a:r>
              <a:rPr lang="zh-CN" altLang="en-US" dirty="0" smtClean="0"/>
              <a:t>码）。</a:t>
            </a:r>
            <a:endParaRPr lang="en-US" altLang="zh-CN" sz="2000" dirty="0" smtClean="0">
              <a:latin typeface="Times New Roman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727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二维数组 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63216"/>
            <a:ext cx="8659813" cy="4874096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二维数组通常用于表示由</a:t>
            </a:r>
            <a:r>
              <a:rPr lang="zh-CN" altLang="en-US" dirty="0" smtClean="0">
                <a:solidFill>
                  <a:schemeClr val="folHlink"/>
                </a:solidFill>
              </a:rPr>
              <a:t>固定</a:t>
            </a:r>
            <a:r>
              <a:rPr lang="zh-CN" altLang="en-US" dirty="0" smtClean="0"/>
              <a:t>多个</a:t>
            </a:r>
            <a:r>
              <a:rPr lang="zh-CN" altLang="en-US" dirty="0" smtClean="0">
                <a:solidFill>
                  <a:srgbClr val="FFC000"/>
                </a:solidFill>
              </a:rPr>
              <a:t>同类型</a:t>
            </a:r>
            <a:r>
              <a:rPr lang="zh-CN" altLang="en-US" dirty="0" smtClean="0"/>
              <a:t>的具有</a:t>
            </a:r>
            <a:r>
              <a:rPr lang="zh-CN" altLang="en-US" dirty="0" smtClean="0">
                <a:solidFill>
                  <a:srgbClr val="FFC000"/>
                </a:solidFill>
              </a:rPr>
              <a:t>行、列结构</a:t>
            </a:r>
            <a:r>
              <a:rPr lang="zh-CN" altLang="en-US" dirty="0" smtClean="0"/>
              <a:t>的数据所构成的复合数据，如：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矩阵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棋盘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迷宫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......</a:t>
            </a:r>
            <a:endParaRPr lang="zh-CN" altLang="en-US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二维数组所表示的是一种具有两维结构的数据，第一维称为二维数组的行，第二维称为二维数组的列。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二维数组的每个元素由其所在的行和列唯一确定。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二维数组类型定义</a:t>
            </a:r>
            <a:endParaRPr lang="zh-CN" altLang="zh-CN" dirty="0" smtClean="0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00200"/>
            <a:ext cx="8712968" cy="453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二维数组类型定义格式：</a:t>
            </a:r>
            <a:endParaRPr lang="en-US" altLang="zh-CN" dirty="0" smtClean="0"/>
          </a:p>
          <a:p>
            <a:pPr marL="0" indent="0" eaLnBrk="1" hangingPunct="1">
              <a:buNone/>
              <a:defRPr/>
            </a:pPr>
            <a:r>
              <a:rPr lang="en-US" altLang="zh-CN" sz="2200" dirty="0" smtClean="0">
                <a:cs typeface="Courier New" pitchFamily="49" charset="0"/>
              </a:rPr>
              <a:t>  </a:t>
            </a:r>
            <a:r>
              <a:rPr lang="en-US" altLang="zh-CN" sz="2200" dirty="0" err="1" smtClean="0">
                <a:solidFill>
                  <a:srgbClr val="FFC000"/>
                </a:solidFill>
                <a:cs typeface="Courier New" pitchFamily="49" charset="0"/>
              </a:rPr>
              <a:t>typedef</a:t>
            </a:r>
            <a:r>
              <a:rPr lang="en-US" altLang="zh-CN" sz="2200" dirty="0" smtClean="0">
                <a:cs typeface="Courier New" pitchFamily="49" charset="0"/>
              </a:rPr>
              <a:t> &lt;</a:t>
            </a:r>
            <a:r>
              <a:rPr lang="zh-CN" altLang="en-US" sz="2200" dirty="0" smtClean="0"/>
              <a:t>元素类型</a:t>
            </a:r>
            <a:r>
              <a:rPr lang="en-US" altLang="zh-CN" sz="2200" dirty="0" smtClean="0">
                <a:cs typeface="Courier New" pitchFamily="49" charset="0"/>
              </a:rPr>
              <a:t>&gt; </a:t>
            </a:r>
            <a:r>
              <a:rPr lang="en-US" altLang="zh-CN" sz="2200" u="sng" dirty="0"/>
              <a:t>&lt;</a:t>
            </a:r>
            <a:r>
              <a:rPr lang="zh-CN" altLang="en-US" sz="2200" u="sng" dirty="0"/>
              <a:t>二维数组类型名</a:t>
            </a:r>
            <a:r>
              <a:rPr lang="en-US" altLang="zh-CN" sz="2200" u="sng" dirty="0"/>
              <a:t>&gt;</a:t>
            </a:r>
            <a:r>
              <a:rPr lang="en-US" altLang="zh-CN" sz="2200" dirty="0" smtClean="0">
                <a:solidFill>
                  <a:srgbClr val="FFC000"/>
                </a:solidFill>
                <a:cs typeface="Courier New" pitchFamily="49" charset="0"/>
              </a:rPr>
              <a:t>[</a:t>
            </a:r>
            <a:r>
              <a:rPr lang="en-US" altLang="zh-CN" sz="2200" dirty="0" smtClean="0">
                <a:cs typeface="Courier New" pitchFamily="49" charset="0"/>
              </a:rPr>
              <a:t>&lt;</a:t>
            </a:r>
            <a:r>
              <a:rPr lang="zh-CN" altLang="en-US" sz="2200" dirty="0" smtClean="0"/>
              <a:t>行数</a:t>
            </a:r>
            <a:r>
              <a:rPr lang="en-US" altLang="zh-CN" sz="2200" dirty="0" smtClean="0">
                <a:cs typeface="Courier New" pitchFamily="49" charset="0"/>
              </a:rPr>
              <a:t>&gt;</a:t>
            </a:r>
            <a:r>
              <a:rPr lang="en-US" altLang="zh-CN" sz="2200" dirty="0" smtClean="0">
                <a:solidFill>
                  <a:srgbClr val="FFC000"/>
                </a:solidFill>
                <a:cs typeface="Courier New" pitchFamily="49" charset="0"/>
              </a:rPr>
              <a:t>][</a:t>
            </a:r>
            <a:r>
              <a:rPr lang="en-US" altLang="zh-CN" sz="2200" dirty="0" smtClean="0">
                <a:cs typeface="Courier New" pitchFamily="49" charset="0"/>
              </a:rPr>
              <a:t>&lt;</a:t>
            </a:r>
            <a:r>
              <a:rPr lang="zh-CN" altLang="en-US" sz="2200" dirty="0" smtClean="0"/>
              <a:t>列数</a:t>
            </a:r>
            <a:r>
              <a:rPr lang="en-US" altLang="zh-CN" sz="2200" dirty="0" smtClean="0">
                <a:cs typeface="Courier New" pitchFamily="49" charset="0"/>
              </a:rPr>
              <a:t>&gt;</a:t>
            </a:r>
            <a:r>
              <a:rPr lang="en-US" altLang="zh-CN" sz="2200" dirty="0" smtClean="0">
                <a:solidFill>
                  <a:srgbClr val="FFC000"/>
                </a:solidFill>
                <a:cs typeface="Courier New" pitchFamily="49" charset="0"/>
              </a:rPr>
              <a:t>];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altLang="zh-CN" sz="2400" dirty="0"/>
              <a:t>&lt;</a:t>
            </a:r>
            <a:r>
              <a:rPr lang="zh-CN" altLang="en-US" sz="2400" dirty="0"/>
              <a:t>二维数组类型名</a:t>
            </a:r>
            <a:r>
              <a:rPr lang="en-US" altLang="zh-CN" sz="2400" dirty="0" smtClean="0"/>
              <a:t>&gt;</a:t>
            </a:r>
            <a:r>
              <a:rPr lang="zh-CN" altLang="en-US" sz="2400" dirty="0" smtClean="0"/>
              <a:t>为二维数组类型的名字</a:t>
            </a:r>
            <a:endParaRPr lang="en-US" altLang="zh-CN" sz="2400" dirty="0" smtClean="0">
              <a:cs typeface="Courier New" pitchFamily="49" charset="0"/>
            </a:endParaRP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>
                <a:cs typeface="Courier New" pitchFamily="49" charset="0"/>
              </a:rPr>
              <a:t>元素类型</a:t>
            </a:r>
            <a:r>
              <a:rPr lang="en-US" altLang="zh-CN" sz="2400" dirty="0" smtClean="0">
                <a:cs typeface="Courier New" pitchFamily="49" charset="0"/>
              </a:rPr>
              <a:t>&gt;</a:t>
            </a:r>
            <a:r>
              <a:rPr lang="zh-CN" altLang="en-US" sz="2400" dirty="0" smtClean="0">
                <a:cs typeface="Courier New" pitchFamily="49" charset="0"/>
              </a:rPr>
              <a:t>为任意</a:t>
            </a:r>
            <a:r>
              <a:rPr lang="en-US" altLang="zh-CN" sz="2400" dirty="0" smtClean="0">
                <a:cs typeface="Courier New" pitchFamily="49" charset="0"/>
              </a:rPr>
              <a:t>C++</a:t>
            </a:r>
            <a:r>
              <a:rPr lang="zh-CN" altLang="en-US" sz="2400" dirty="0" smtClean="0">
                <a:cs typeface="Courier New" pitchFamily="49" charset="0"/>
              </a:rPr>
              <a:t>类型（</a:t>
            </a:r>
            <a:r>
              <a:rPr lang="en-US" altLang="zh-CN" sz="2400" dirty="0" smtClean="0">
                <a:cs typeface="Courier New" pitchFamily="49" charset="0"/>
              </a:rPr>
              <a:t>void</a:t>
            </a:r>
            <a:r>
              <a:rPr lang="zh-CN" altLang="en-US" sz="2400" dirty="0" smtClean="0">
                <a:cs typeface="Courier New" pitchFamily="49" charset="0"/>
              </a:rPr>
              <a:t>除外）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/>
              <a:t>行数</a:t>
            </a:r>
            <a:r>
              <a:rPr lang="en-US" altLang="zh-CN" sz="2400" dirty="0" smtClean="0">
                <a:cs typeface="Courier New" pitchFamily="49" charset="0"/>
              </a:rPr>
              <a:t>&gt;</a:t>
            </a:r>
            <a:r>
              <a:rPr lang="zh-CN" altLang="en-US" sz="2400" dirty="0" smtClean="0">
                <a:cs typeface="Courier New" pitchFamily="49" charset="0"/>
              </a:rPr>
              <a:t>和</a:t>
            </a: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/>
              <a:t>列数</a:t>
            </a:r>
            <a:r>
              <a:rPr lang="en-US" altLang="zh-CN" sz="2400" dirty="0" smtClean="0">
                <a:cs typeface="Courier New" pitchFamily="49" charset="0"/>
              </a:rPr>
              <a:t>&gt;</a:t>
            </a:r>
            <a:r>
              <a:rPr lang="zh-CN" altLang="en-US" sz="2400" dirty="0" smtClean="0">
                <a:cs typeface="Courier New" pitchFamily="49" charset="0"/>
              </a:rPr>
              <a:t>为</a:t>
            </a:r>
            <a:r>
              <a:rPr lang="zh-CN" altLang="en-US" sz="2400" dirty="0" smtClean="0">
                <a:solidFill>
                  <a:schemeClr val="folHlink"/>
                </a:solidFill>
                <a:cs typeface="Courier New" pitchFamily="49" charset="0"/>
              </a:rPr>
              <a:t>整型常量表达式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zh-CN" altLang="en-US" dirty="0"/>
              <a:t>例如：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dirty="0" err="1" smtClean="0"/>
              <a:t>typedef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A</a:t>
            </a:r>
            <a:r>
              <a:rPr lang="en-US" altLang="zh-CN" dirty="0" smtClean="0"/>
              <a:t>[10][5]; //</a:t>
            </a:r>
            <a:r>
              <a:rPr lang="zh-CN" altLang="en-US" dirty="0" smtClean="0"/>
              <a:t>由</a:t>
            </a:r>
            <a:r>
              <a:rPr lang="en-US" altLang="zh-CN" dirty="0" smtClean="0"/>
              <a:t>10</a:t>
            </a:r>
            <a:r>
              <a:rPr lang="zh-CN" altLang="en-US" dirty="0" smtClean="0"/>
              <a:t>行、</a:t>
            </a:r>
            <a:r>
              <a:rPr lang="en-US" altLang="zh-CN" dirty="0" smtClean="0"/>
              <a:t>5</a:t>
            </a:r>
            <a:r>
              <a:rPr lang="zh-CN" altLang="en-US" dirty="0" smtClean="0"/>
              <a:t>列</a:t>
            </a:r>
            <a:r>
              <a:rPr lang="en-US" altLang="zh-CN" dirty="0" err="1" smtClean="0"/>
              <a:t>int</a:t>
            </a:r>
            <a:r>
              <a:rPr lang="zh-CN" altLang="en-US" dirty="0" smtClean="0"/>
              <a:t>型元素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zh-CN" altLang="en-US" dirty="0" smtClean="0"/>
              <a:t> 			             </a:t>
            </a:r>
            <a:r>
              <a:rPr lang="en-US" altLang="zh-CN" dirty="0" smtClean="0"/>
              <a:t>//</a:t>
            </a:r>
            <a:r>
              <a:rPr lang="zh-CN" altLang="en-US" dirty="0" smtClean="0"/>
              <a:t>所构成的二维数组类型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二维数组类型变量的定义</a:t>
            </a:r>
            <a:endParaRPr lang="zh-CN" altLang="zh-CN" dirty="0" smtClean="0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00200"/>
            <a:ext cx="8425184" cy="49244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二维数组类型变量的定义格式：</a:t>
            </a:r>
          </a:p>
          <a:p>
            <a:pPr marL="457200" lvl="1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/>
              <a:t>二维数组类型名</a:t>
            </a:r>
            <a:r>
              <a:rPr lang="en-US" altLang="zh-CN" sz="2400" dirty="0" smtClean="0">
                <a:cs typeface="Courier New" pitchFamily="49" charset="0"/>
              </a:rPr>
              <a:t>&gt; </a:t>
            </a:r>
            <a:r>
              <a:rPr lang="en-US" altLang="zh-CN" sz="2400" u="sng" dirty="0"/>
              <a:t>&lt;</a:t>
            </a:r>
            <a:r>
              <a:rPr lang="zh-CN" altLang="en-US" sz="2400" u="sng" dirty="0"/>
              <a:t>二维数组变量名</a:t>
            </a:r>
            <a:r>
              <a:rPr lang="en-US" altLang="zh-CN" sz="2400" u="sng" dirty="0"/>
              <a:t>&gt;</a:t>
            </a:r>
            <a:r>
              <a:rPr lang="en-US" altLang="zh-CN" sz="2400" dirty="0" smtClean="0">
                <a:solidFill>
                  <a:srgbClr val="FFC000"/>
                </a:solidFill>
                <a:cs typeface="Courier New" pitchFamily="49" charset="0"/>
              </a:rPr>
              <a:t>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 smtClean="0">
                <a:cs typeface="Courier New" pitchFamily="49" charset="0"/>
              </a:rPr>
              <a:t>或</a:t>
            </a:r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/>
              <a:t>元素类型</a:t>
            </a:r>
            <a:r>
              <a:rPr lang="en-US" altLang="zh-CN" sz="2400" dirty="0" smtClean="0">
                <a:cs typeface="Courier New" pitchFamily="49" charset="0"/>
              </a:rPr>
              <a:t>&gt; </a:t>
            </a:r>
            <a:r>
              <a:rPr lang="en-US" altLang="zh-CN" sz="2400" u="sng" dirty="0"/>
              <a:t>&lt;</a:t>
            </a:r>
            <a:r>
              <a:rPr lang="zh-CN" altLang="en-US" sz="2400" u="sng" dirty="0"/>
              <a:t>二维数组变量名</a:t>
            </a:r>
            <a:r>
              <a:rPr lang="en-US" altLang="zh-CN" sz="2400" u="sng" dirty="0"/>
              <a:t>&gt;</a:t>
            </a:r>
            <a:r>
              <a:rPr lang="en-US" altLang="zh-CN" sz="2400" dirty="0" smtClean="0">
                <a:solidFill>
                  <a:srgbClr val="FFC000"/>
                </a:solidFill>
                <a:cs typeface="Courier New" pitchFamily="49" charset="0"/>
              </a:rPr>
              <a:t>[</a:t>
            </a: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/>
              <a:t>行数</a:t>
            </a:r>
            <a:r>
              <a:rPr lang="en-US" altLang="zh-CN" sz="2400" dirty="0" smtClean="0">
                <a:cs typeface="Courier New" pitchFamily="49" charset="0"/>
              </a:rPr>
              <a:t>&gt;</a:t>
            </a:r>
            <a:r>
              <a:rPr lang="en-US" altLang="zh-CN" sz="2400" dirty="0" smtClean="0">
                <a:solidFill>
                  <a:srgbClr val="FFC000"/>
                </a:solidFill>
                <a:cs typeface="Courier New" pitchFamily="49" charset="0"/>
              </a:rPr>
              <a:t>][</a:t>
            </a: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/>
              <a:t>列数</a:t>
            </a:r>
            <a:r>
              <a:rPr lang="en-US" altLang="zh-CN" sz="2400" dirty="0" smtClean="0">
                <a:cs typeface="Courier New" pitchFamily="49" charset="0"/>
              </a:rPr>
              <a:t>&gt;</a:t>
            </a:r>
            <a:r>
              <a:rPr lang="en-US" altLang="zh-CN" sz="2400" dirty="0" smtClean="0">
                <a:solidFill>
                  <a:srgbClr val="FFC000"/>
                </a:solidFill>
                <a:cs typeface="Courier New" pitchFamily="49" charset="0"/>
              </a:rPr>
              <a:t>];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400" dirty="0" smtClean="0">
                <a:cs typeface="Courier New" pitchFamily="49" charset="0"/>
              </a:rPr>
              <a:t>或</a:t>
            </a:r>
          </a:p>
          <a:p>
            <a:pPr marL="457200" lvl="1" indent="0" eaLnBrk="1" hangingPunct="1">
              <a:lnSpc>
                <a:spcPct val="130000"/>
              </a:lnSpc>
              <a:buNone/>
              <a:defRPr/>
            </a:pP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>
                <a:cs typeface="Courier New" pitchFamily="49" charset="0"/>
              </a:rPr>
              <a:t>一维数组类型名</a:t>
            </a:r>
            <a:r>
              <a:rPr lang="en-US" altLang="zh-CN" sz="2400" dirty="0" smtClean="0">
                <a:cs typeface="Courier New" pitchFamily="49" charset="0"/>
              </a:rPr>
              <a:t>&gt; </a:t>
            </a:r>
            <a:r>
              <a:rPr lang="en-US" altLang="zh-CN" sz="2400" u="sng" dirty="0" smtClean="0">
                <a:cs typeface="Courier New" pitchFamily="49" charset="0"/>
              </a:rPr>
              <a:t>&lt;</a:t>
            </a:r>
            <a:r>
              <a:rPr lang="zh-CN" altLang="en-US" sz="2400" u="sng" dirty="0" smtClean="0">
                <a:cs typeface="Courier New" pitchFamily="49" charset="0"/>
              </a:rPr>
              <a:t>二</a:t>
            </a:r>
            <a:r>
              <a:rPr lang="zh-CN" altLang="en-US" sz="2400" u="sng" dirty="0" smtClean="0"/>
              <a:t>维数组变量名</a:t>
            </a:r>
            <a:r>
              <a:rPr lang="en-US" altLang="zh-CN" sz="2400" u="sng" dirty="0" smtClean="0">
                <a:cs typeface="Courier New" pitchFamily="49" charset="0"/>
              </a:rPr>
              <a:t>&gt;</a:t>
            </a:r>
            <a:r>
              <a:rPr lang="en-US" altLang="zh-CN" sz="2400" dirty="0" smtClean="0">
                <a:solidFill>
                  <a:srgbClr val="FFC000"/>
                </a:solidFill>
                <a:cs typeface="Courier New" pitchFamily="49" charset="0"/>
              </a:rPr>
              <a:t>[</a:t>
            </a: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/>
              <a:t>元素个数</a:t>
            </a:r>
            <a:r>
              <a:rPr lang="en-US" altLang="zh-CN" sz="2400" dirty="0" smtClean="0">
                <a:cs typeface="Courier New" pitchFamily="49" charset="0"/>
              </a:rPr>
              <a:t>&gt;</a:t>
            </a:r>
            <a:r>
              <a:rPr lang="en-US" altLang="zh-CN" sz="2400" dirty="0" smtClean="0">
                <a:solidFill>
                  <a:srgbClr val="FFC000"/>
                </a:solidFill>
                <a:cs typeface="Courier New" pitchFamily="49" charset="0"/>
              </a:rPr>
              <a:t>];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altLang="zh-CN" sz="2400" dirty="0"/>
              <a:t>&lt;</a:t>
            </a:r>
            <a:r>
              <a:rPr lang="zh-CN" altLang="en-US" sz="2400" dirty="0"/>
              <a:t>二维数组变量名</a:t>
            </a:r>
            <a:r>
              <a:rPr lang="en-US" altLang="zh-CN" sz="2400" dirty="0" smtClean="0"/>
              <a:t>&gt;</a:t>
            </a:r>
            <a:r>
              <a:rPr lang="zh-CN" altLang="en-US" sz="2400" dirty="0" smtClean="0"/>
              <a:t>为二维数组变量的名字</a:t>
            </a:r>
            <a:endParaRPr lang="en-US" altLang="zh-CN" sz="2400" dirty="0" smtClean="0">
              <a:cs typeface="Courier New" pitchFamily="49" charset="0"/>
            </a:endParaRP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/>
              <a:t>元素类型</a:t>
            </a:r>
            <a:r>
              <a:rPr lang="en-US" altLang="zh-CN" sz="2400" dirty="0" smtClean="0">
                <a:cs typeface="Courier New" pitchFamily="49" charset="0"/>
              </a:rPr>
              <a:t>&gt;</a:t>
            </a:r>
            <a:r>
              <a:rPr lang="zh-CN" altLang="en-US" sz="2400" dirty="0" smtClean="0">
                <a:cs typeface="Courier New" pitchFamily="49" charset="0"/>
              </a:rPr>
              <a:t>为任意</a:t>
            </a:r>
            <a:r>
              <a:rPr lang="en-US" altLang="zh-CN" sz="2400" dirty="0" smtClean="0">
                <a:cs typeface="Courier New" pitchFamily="49" charset="0"/>
              </a:rPr>
              <a:t>C++</a:t>
            </a:r>
            <a:r>
              <a:rPr lang="zh-CN" altLang="en-US" sz="2400" dirty="0" smtClean="0">
                <a:cs typeface="Courier New" pitchFamily="49" charset="0"/>
              </a:rPr>
              <a:t>类型（</a:t>
            </a:r>
            <a:r>
              <a:rPr lang="en-US" altLang="zh-CN" sz="2400" dirty="0" smtClean="0">
                <a:cs typeface="Courier New" pitchFamily="49" charset="0"/>
              </a:rPr>
              <a:t>void</a:t>
            </a:r>
            <a:r>
              <a:rPr lang="zh-CN" altLang="en-US" sz="2400" dirty="0" smtClean="0">
                <a:cs typeface="Courier New" pitchFamily="49" charset="0"/>
              </a:rPr>
              <a:t>除外）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/>
              <a:t>行数</a:t>
            </a:r>
            <a:r>
              <a:rPr lang="en-US" altLang="zh-CN" sz="2400" dirty="0" smtClean="0">
                <a:cs typeface="Courier New" pitchFamily="49" charset="0"/>
              </a:rPr>
              <a:t>&gt;</a:t>
            </a:r>
            <a:r>
              <a:rPr lang="zh-CN" altLang="en-US" sz="2400" dirty="0" smtClean="0">
                <a:cs typeface="Courier New" pitchFamily="49" charset="0"/>
              </a:rPr>
              <a:t>、</a:t>
            </a: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/>
              <a:t>列数</a:t>
            </a:r>
            <a:r>
              <a:rPr lang="en-US" altLang="zh-CN" sz="2400" dirty="0" smtClean="0">
                <a:cs typeface="Courier New" pitchFamily="49" charset="0"/>
              </a:rPr>
              <a:t>&gt;</a:t>
            </a:r>
            <a:r>
              <a:rPr lang="zh-CN" altLang="en-US" sz="2400" dirty="0" smtClean="0">
                <a:cs typeface="Courier New" pitchFamily="49" charset="0"/>
              </a:rPr>
              <a:t>和</a:t>
            </a:r>
            <a:r>
              <a:rPr lang="en-US" altLang="zh-CN" sz="2400" dirty="0" smtClean="0">
                <a:cs typeface="Courier New" pitchFamily="49" charset="0"/>
              </a:rPr>
              <a:t>&lt;</a:t>
            </a:r>
            <a:r>
              <a:rPr lang="zh-CN" altLang="en-US" sz="2400" dirty="0" smtClean="0"/>
              <a:t>元素个数</a:t>
            </a:r>
            <a:r>
              <a:rPr lang="en-US" altLang="zh-CN" sz="2400" dirty="0" smtClean="0">
                <a:cs typeface="Courier New" pitchFamily="49" charset="0"/>
              </a:rPr>
              <a:t>&gt;</a:t>
            </a:r>
            <a:r>
              <a:rPr lang="zh-CN" altLang="en-US" sz="2400" dirty="0" smtClean="0">
                <a:cs typeface="Courier New" pitchFamily="49" charset="0"/>
              </a:rPr>
              <a:t>为</a:t>
            </a:r>
            <a:r>
              <a:rPr lang="zh-CN" altLang="en-US" sz="2400" dirty="0" smtClean="0">
                <a:solidFill>
                  <a:schemeClr val="folHlink"/>
                </a:solidFill>
                <a:cs typeface="Courier New" pitchFamily="49" charset="0"/>
              </a:rPr>
              <a:t>整型常量表达式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smtClean="0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184"/>
            <a:ext cx="8229600" cy="506916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例如，下面定义了一个</a:t>
            </a:r>
            <a:r>
              <a:rPr lang="en-US" altLang="zh-CN" dirty="0" smtClean="0"/>
              <a:t>10</a:t>
            </a:r>
            <a:r>
              <a:rPr lang="zh-CN" altLang="en-US" dirty="0" smtClean="0"/>
              <a:t>行</a:t>
            </a:r>
            <a:r>
              <a:rPr lang="en-US" altLang="zh-CN" dirty="0" smtClean="0"/>
              <a:t>5</a:t>
            </a:r>
            <a:r>
              <a:rPr lang="zh-CN" altLang="en-US" dirty="0" smtClean="0"/>
              <a:t>列的二维数组变量</a:t>
            </a:r>
            <a:r>
              <a:rPr lang="en-US" altLang="zh-CN" dirty="0" smtClean="0"/>
              <a:t>a</a:t>
            </a:r>
            <a:r>
              <a:rPr lang="zh-CN" altLang="en-US" dirty="0" smtClean="0"/>
              <a:t>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3200" dirty="0" err="1" smtClean="0"/>
              <a:t>typedef</a:t>
            </a:r>
            <a:r>
              <a:rPr lang="en-US" altLang="zh-CN" sz="3200" dirty="0" smtClean="0"/>
              <a:t> </a:t>
            </a:r>
            <a:r>
              <a:rPr lang="en-US" altLang="zh-CN" sz="3200" dirty="0" err="1" smtClean="0"/>
              <a:t>int</a:t>
            </a:r>
            <a:r>
              <a:rPr lang="en-US" altLang="zh-CN" sz="3200" dirty="0" smtClean="0"/>
              <a:t> A[10][5]; 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3200" dirty="0" smtClean="0"/>
              <a:t>A 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a</a:t>
            </a:r>
            <a:r>
              <a:rPr lang="en-US" altLang="zh-CN" sz="3200" dirty="0" smtClean="0"/>
              <a:t>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3200" dirty="0" smtClean="0"/>
              <a:t>或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3200" dirty="0" err="1" smtClean="0"/>
              <a:t>int</a:t>
            </a:r>
            <a:r>
              <a:rPr lang="en-US" altLang="zh-CN" sz="3200" dirty="0" smtClean="0"/>
              <a:t> </a:t>
            </a:r>
            <a:r>
              <a:rPr lang="en-US" altLang="zh-CN" sz="3200" dirty="0" smtClean="0">
                <a:solidFill>
                  <a:srgbClr val="FFC000"/>
                </a:solidFill>
              </a:rPr>
              <a:t>a</a:t>
            </a:r>
            <a:r>
              <a:rPr lang="en-US" altLang="zh-CN" sz="3200" dirty="0" smtClean="0"/>
              <a:t>[10][5]; //</a:t>
            </a:r>
            <a:r>
              <a:rPr lang="zh-CN" altLang="en-US" sz="3200" dirty="0" smtClean="0"/>
              <a:t>常用的形式</a:t>
            </a:r>
            <a:endParaRPr lang="en-US" altLang="zh-CN" sz="3200" dirty="0" smtClean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3200" dirty="0" smtClean="0"/>
              <a:t>或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3200" dirty="0" err="1" smtClean="0"/>
              <a:t>typedef</a:t>
            </a:r>
            <a:r>
              <a:rPr lang="en-US" altLang="zh-CN" sz="3200" dirty="0" smtClean="0"/>
              <a:t> </a:t>
            </a:r>
            <a:r>
              <a:rPr lang="en-US" altLang="zh-CN" sz="3200" dirty="0" err="1" smtClean="0"/>
              <a:t>int</a:t>
            </a:r>
            <a:r>
              <a:rPr lang="en-US" altLang="zh-CN" sz="3200" dirty="0" smtClean="0"/>
              <a:t> B[5];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3200" dirty="0" smtClean="0"/>
              <a:t>B</a:t>
            </a:r>
            <a:r>
              <a:rPr lang="en-US" altLang="zh-CN" sz="3200" dirty="0" smtClean="0">
                <a:solidFill>
                  <a:schemeClr val="folHlink"/>
                </a:solidFill>
              </a:rPr>
              <a:t> a</a:t>
            </a:r>
            <a:r>
              <a:rPr lang="en-US" altLang="zh-CN" sz="3200" dirty="0" smtClean="0"/>
              <a:t>[10]; //a</a:t>
            </a:r>
            <a:r>
              <a:rPr lang="zh-CN" altLang="en-US" sz="3200" dirty="0" smtClean="0"/>
              <a:t>是</a:t>
            </a:r>
            <a:r>
              <a:rPr lang="en-US" altLang="zh-CN" sz="3200" dirty="0" smtClean="0"/>
              <a:t>10</a:t>
            </a:r>
            <a:r>
              <a:rPr lang="zh-CN" altLang="en-US" sz="3200" dirty="0" smtClean="0"/>
              <a:t>个元素构成的一维数组，</a:t>
            </a:r>
            <a:endParaRPr lang="en-US" altLang="zh-CN" sz="3200" dirty="0" smtClean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sz="3200" dirty="0"/>
              <a:t>	</a:t>
            </a:r>
            <a:r>
              <a:rPr lang="en-US" altLang="zh-CN" sz="3200" dirty="0" smtClean="0"/>
              <a:t>	   //</a:t>
            </a:r>
            <a:r>
              <a:rPr lang="zh-CN" altLang="en-US" sz="3200" dirty="0" smtClean="0"/>
              <a:t>但每个元素又是一个一维数组</a:t>
            </a:r>
            <a:r>
              <a:rPr lang="zh-CN" altLang="en-US" sz="3200" dirty="0"/>
              <a:t>。</a:t>
            </a:r>
            <a:endParaRPr lang="en-US" altLang="zh-CN" sz="3200" dirty="0" smtClean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sz="3200" dirty="0" smtClean="0"/>
              <a:t>		   //</a:t>
            </a:r>
            <a:r>
              <a:rPr lang="zh-CN" altLang="en-US" sz="3200" dirty="0" smtClean="0"/>
              <a:t>这里，</a:t>
            </a:r>
            <a:r>
              <a:rPr lang="en-US" altLang="zh-CN" sz="3200" dirty="0" smtClean="0"/>
              <a:t>a</a:t>
            </a:r>
            <a:r>
              <a:rPr lang="zh-CN" altLang="en-US" sz="3200" dirty="0" smtClean="0"/>
              <a:t>语法上是一维数组，</a:t>
            </a:r>
            <a:endParaRPr lang="en-US" altLang="zh-CN" sz="3200" dirty="0" smtClean="0"/>
          </a:p>
          <a:p>
            <a:pPr marL="45720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sz="3200" dirty="0"/>
              <a:t>	</a:t>
            </a:r>
            <a:r>
              <a:rPr lang="en-US" altLang="zh-CN" sz="3200" dirty="0" smtClean="0"/>
              <a:t>	   //</a:t>
            </a:r>
            <a:r>
              <a:rPr lang="zh-CN" altLang="en-US" sz="3200" dirty="0" smtClean="0"/>
              <a:t>实际</a:t>
            </a:r>
            <a:r>
              <a:rPr lang="zh-CN" altLang="en-US" sz="3200" dirty="0"/>
              <a:t>上</a:t>
            </a:r>
            <a:r>
              <a:rPr lang="zh-CN" altLang="en-US" sz="3200" dirty="0" smtClean="0"/>
              <a:t>是一个二维数组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二维数组的初始化 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688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a[2][3]={{1,2,3},{4,5,6}};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a[2][3]={1,2,3,4,5,6};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//</a:t>
            </a:r>
            <a:r>
              <a:rPr lang="zh-CN" altLang="en-US" sz="2400" dirty="0" smtClean="0"/>
              <a:t>以上初始化按照数组的行依次来进行 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a[2][3]={1,2,3,4};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//</a:t>
            </a:r>
            <a:r>
              <a:rPr lang="zh-CN" altLang="en-US" sz="2400" dirty="0" smtClean="0"/>
              <a:t>第</a:t>
            </a:r>
            <a:r>
              <a:rPr lang="zh-CN" altLang="en-US" sz="2400" dirty="0"/>
              <a:t>一行初始化为</a:t>
            </a:r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3</a:t>
            </a:r>
            <a:r>
              <a:rPr lang="zh-CN" altLang="en-US" sz="2400" dirty="0"/>
              <a:t>，第二行初始化为</a:t>
            </a:r>
            <a:r>
              <a:rPr lang="en-US" altLang="zh-CN" sz="2400" dirty="0"/>
              <a:t>4</a:t>
            </a:r>
            <a:r>
              <a:rPr lang="zh-CN" altLang="en-US" sz="2400" dirty="0"/>
              <a:t>、</a:t>
            </a:r>
            <a:r>
              <a:rPr lang="en-US" altLang="zh-CN" sz="2400" dirty="0"/>
              <a:t>0</a:t>
            </a:r>
            <a:r>
              <a:rPr lang="zh-CN" altLang="en-US" sz="2400" dirty="0"/>
              <a:t>、</a:t>
            </a:r>
            <a:r>
              <a:rPr lang="en-US" altLang="zh-CN" sz="2400" dirty="0"/>
              <a:t>0</a:t>
            </a:r>
            <a:r>
              <a:rPr lang="zh-CN" altLang="en-US" sz="2400" dirty="0" smtClean="0"/>
              <a:t> 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zh-CN" altLang="en-US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a[2][3]={{1,2},{3,4}};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//</a:t>
            </a:r>
            <a:r>
              <a:rPr lang="zh-CN" altLang="en-US" sz="2400" dirty="0" smtClean="0"/>
              <a:t>第一行初始化为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，第二行初始化为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a[][3]={{1,2,3},{4,5,6},{7,8,9}};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//</a:t>
            </a:r>
            <a:r>
              <a:rPr lang="zh-CN" altLang="en-US" sz="2400" dirty="0" smtClean="0"/>
              <a:t>行数为</a:t>
            </a:r>
            <a:r>
              <a:rPr lang="en-US" altLang="zh-CN" sz="2400" dirty="0" smtClean="0"/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95275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smtClean="0"/>
              <a:t>二维数组的操作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84313"/>
            <a:ext cx="8458200" cy="53736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访问二维数组元素，格式是：</a:t>
            </a:r>
            <a:endParaRPr lang="zh-CN" altLang="en-US" sz="2800" dirty="0" smtClean="0">
              <a:latin typeface="宋体" charset="-122"/>
              <a:cs typeface="Times New Roman" pitchFamily="18" charset="0"/>
            </a:endParaRP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 dirty="0" smtClean="0"/>
              <a:t>&lt;</a:t>
            </a:r>
            <a:r>
              <a:rPr lang="zh-CN" altLang="en-US" sz="2400" dirty="0" smtClean="0">
                <a:latin typeface="宋体" charset="-122"/>
              </a:rPr>
              <a:t>二维数组变量名</a:t>
            </a:r>
            <a:r>
              <a:rPr lang="en-US" altLang="zh-CN" sz="2400" dirty="0" smtClean="0"/>
              <a:t>&gt;</a:t>
            </a:r>
            <a:r>
              <a:rPr lang="en-US" altLang="zh-CN" sz="2400" dirty="0" smtClean="0">
                <a:solidFill>
                  <a:srgbClr val="FFC000"/>
                </a:solidFill>
              </a:rPr>
              <a:t>[</a:t>
            </a:r>
            <a:r>
              <a:rPr lang="en-US" altLang="zh-CN" sz="2400" dirty="0" smtClean="0"/>
              <a:t>&lt;</a:t>
            </a:r>
            <a:r>
              <a:rPr lang="zh-CN" altLang="en-US" sz="2400" dirty="0" smtClean="0">
                <a:latin typeface="宋体" charset="-122"/>
              </a:rPr>
              <a:t>下标</a:t>
            </a:r>
            <a:r>
              <a:rPr lang="en-US" altLang="zh-CN" sz="2400" dirty="0" smtClean="0"/>
              <a:t>1&gt;</a:t>
            </a:r>
            <a:r>
              <a:rPr lang="en-US" altLang="zh-CN" sz="2400" dirty="0" smtClean="0">
                <a:solidFill>
                  <a:srgbClr val="FFC000"/>
                </a:solidFill>
              </a:rPr>
              <a:t>][</a:t>
            </a:r>
            <a:r>
              <a:rPr lang="en-US" altLang="zh-CN" sz="2400" dirty="0" smtClean="0"/>
              <a:t>&lt;</a:t>
            </a:r>
            <a:r>
              <a:rPr lang="zh-CN" altLang="en-US" sz="2400" dirty="0" smtClean="0">
                <a:latin typeface="宋体" charset="-122"/>
              </a:rPr>
              <a:t>下标</a:t>
            </a:r>
            <a:r>
              <a:rPr lang="en-US" altLang="zh-CN" sz="2400" dirty="0" smtClean="0"/>
              <a:t>2&gt;</a:t>
            </a:r>
            <a:r>
              <a:rPr lang="en-US" altLang="zh-CN" sz="2400" dirty="0" smtClean="0">
                <a:solidFill>
                  <a:srgbClr val="FFC000"/>
                </a:solidFill>
              </a:rPr>
              <a:t>]</a:t>
            </a:r>
            <a:r>
              <a:rPr lang="en-US" altLang="zh-CN" sz="2400" dirty="0" smtClean="0"/>
              <a:t>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400" dirty="0" smtClean="0"/>
              <a:t>&lt;</a:t>
            </a:r>
            <a:r>
              <a:rPr lang="zh-CN" altLang="en-US" sz="2400" dirty="0" smtClean="0">
                <a:latin typeface="宋体" charset="-122"/>
              </a:rPr>
              <a:t>下标</a:t>
            </a:r>
            <a:r>
              <a:rPr lang="en-US" altLang="zh-CN" sz="2400" dirty="0" smtClean="0"/>
              <a:t>1&gt;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&lt;</a:t>
            </a:r>
            <a:r>
              <a:rPr lang="zh-CN" altLang="en-US" sz="2400" dirty="0" smtClean="0">
                <a:latin typeface="宋体" charset="-122"/>
              </a:rPr>
              <a:t>下标</a:t>
            </a:r>
            <a:r>
              <a:rPr lang="en-US" altLang="zh-CN" sz="2400" dirty="0" smtClean="0"/>
              <a:t>2&gt;</a:t>
            </a:r>
            <a:r>
              <a:rPr lang="zh-CN" altLang="en-US" sz="2400" dirty="0" smtClean="0"/>
              <a:t>为</a:t>
            </a:r>
            <a:r>
              <a:rPr lang="zh-CN" altLang="en-US" sz="2400" dirty="0" smtClean="0">
                <a:solidFill>
                  <a:srgbClr val="FFC000"/>
                </a:solidFill>
              </a:rPr>
              <a:t>整型表达式</a:t>
            </a:r>
            <a:r>
              <a:rPr lang="zh-CN" altLang="en-US" sz="2400" dirty="0" smtClean="0"/>
              <a:t>，均从</a:t>
            </a:r>
            <a:r>
              <a:rPr lang="en-US" altLang="zh-CN" sz="2400" dirty="0" smtClean="0">
                <a:solidFill>
                  <a:srgbClr val="FFC000"/>
                </a:solidFill>
              </a:rPr>
              <a:t>0</a:t>
            </a:r>
            <a:r>
              <a:rPr lang="zh-CN" altLang="en-US" sz="2400" dirty="0" smtClean="0"/>
              <a:t>开始。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zh-CN" altLang="en-US" sz="2400" dirty="0" smtClean="0"/>
              <a:t>例如：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a[10][5];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400" dirty="0" smtClean="0"/>
              <a:t>a[0][0]</a:t>
            </a:r>
            <a:r>
              <a:rPr lang="zh-CN" altLang="en-US" sz="2400" dirty="0" smtClean="0"/>
              <a:t>、</a:t>
            </a:r>
            <a:r>
              <a:rPr lang="en-US" altLang="zh-CN" sz="2400" dirty="0"/>
              <a:t>...</a:t>
            </a:r>
            <a:r>
              <a:rPr lang="zh-CN" altLang="en-US" sz="2400" dirty="0"/>
              <a:t>、</a:t>
            </a:r>
            <a:r>
              <a:rPr lang="en-US" altLang="zh-CN" sz="2400" dirty="0" smtClean="0"/>
              <a:t>a[0][4]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...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a[9][0]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...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a[9][4]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dirty="0" smtClean="0"/>
              <a:t>访问二维数组的行（只要一个下标）。例如：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a[10][5];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400" dirty="0" smtClean="0"/>
              <a:t>a[0]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a[1]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...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a[9]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上面每一个都为一个一维数组，代表二维数组中的一行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33375"/>
            <a:ext cx="8229600" cy="57975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对二维数组的操作通常是通过其元素来进行。例如：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a[10][5],sum=0;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...... //</a:t>
            </a:r>
            <a:r>
              <a:rPr lang="zh-CN" altLang="en-US" dirty="0" smtClean="0"/>
              <a:t>二维数组获得了值</a:t>
            </a:r>
            <a:endParaRPr lang="en-US" altLang="zh-CN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//</a:t>
            </a:r>
            <a:r>
              <a:rPr lang="zh-CN" altLang="en-US" dirty="0" smtClean="0"/>
              <a:t>计算所有元素的和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for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&lt;10;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++)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	for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j=0; j&lt;5; </a:t>
            </a:r>
            <a:r>
              <a:rPr lang="en-US" altLang="zh-CN" dirty="0" err="1" smtClean="0"/>
              <a:t>j++</a:t>
            </a:r>
            <a:r>
              <a:rPr lang="en-US" altLang="zh-CN" dirty="0" smtClean="0"/>
              <a:t>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 smtClean="0"/>
              <a:t>		sum += 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][j];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smtClean="0"/>
              <a:t>例：从键盘输入一个</a:t>
            </a:r>
            <a:r>
              <a:rPr lang="en-US" altLang="zh-CN" sz="4000" smtClean="0"/>
              <a:t>N×N</a:t>
            </a:r>
            <a:r>
              <a:rPr lang="zh-CN" altLang="en-US" sz="4000" smtClean="0"/>
              <a:t>的矩阵，把它转置后输出 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544418" y="2395527"/>
            <a:ext cx="2163486" cy="204158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wrap="square" anchor="b" anchorCtr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1  1  1  1  1</a:t>
            </a:r>
          </a:p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2  2  2  2  2</a:t>
            </a:r>
          </a:p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3  3  3  3  3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4  4  4  4  4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5  5  5  5  5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000802" y="2395527"/>
            <a:ext cx="2163486" cy="204158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wrap="square" anchor="b" anchorCtr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1  2  3  4  5</a:t>
            </a:r>
          </a:p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1  2  3  4  5</a:t>
            </a:r>
          </a:p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1  2  3  4  5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1  2  3  4  5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1  2  3  4  5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3995936" y="3284984"/>
            <a:ext cx="792088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200602" y="4581128"/>
            <a:ext cx="2163486" cy="204158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wrap="square" anchor="b" anchorCtr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  1  1  1  1</a:t>
            </a:r>
          </a:p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 x  2  2  2</a:t>
            </a:r>
          </a:p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 3  x  3  3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 4  4  x  4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ts val="200"/>
              </a:spcBef>
              <a:buClrTx/>
              <a:buSzTx/>
              <a:buFontTx/>
              <a:buNone/>
            </a:pPr>
            <a:r>
              <a:rPr lang="en-US" altLang="zh-C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 5  5  5  x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直接箭头连接符 7"/>
          <p:cNvCxnSpPr/>
          <p:nvPr/>
        </p:nvCxnSpPr>
        <p:spPr bwMode="auto">
          <a:xfrm flipH="1">
            <a:off x="3419872" y="4941168"/>
            <a:ext cx="288032" cy="216024"/>
          </a:xfrm>
          <a:prstGeom prst="straightConnector1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" name="直接箭头连接符 11"/>
          <p:cNvCxnSpPr/>
          <p:nvPr/>
        </p:nvCxnSpPr>
        <p:spPr bwMode="auto">
          <a:xfrm flipH="1">
            <a:off x="3419872" y="4941168"/>
            <a:ext cx="720080" cy="660752"/>
          </a:xfrm>
          <a:prstGeom prst="straightConnector1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" name="直接箭头连接符 14"/>
          <p:cNvCxnSpPr/>
          <p:nvPr/>
        </p:nvCxnSpPr>
        <p:spPr bwMode="auto">
          <a:xfrm flipH="1">
            <a:off x="3851920" y="5301208"/>
            <a:ext cx="288032" cy="216024"/>
          </a:xfrm>
          <a:prstGeom prst="straightConnector1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110113" y="5085184"/>
            <a:ext cx="30059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以主对角线为对称轴</a:t>
            </a:r>
            <a:endParaRPr lang="en-US" altLang="zh-CN" sz="2000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zh-CN" altLang="en-US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交换对称位置上的元素：</a:t>
            </a:r>
            <a:endParaRPr lang="en-US" altLang="zh-CN" sz="2000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20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i,j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&lt;--&gt; (</a:t>
            </a:r>
            <a:r>
              <a:rPr lang="en-US" altLang="zh-CN" sz="20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j,i</a:t>
            </a:r>
            <a:r>
              <a:rPr lang="en-US" altLang="zh-CN" sz="20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3"/>
          <p:cNvSpPr txBox="1"/>
          <p:nvPr/>
        </p:nvSpPr>
        <p:spPr>
          <a:xfrm>
            <a:off x="451492" y="1780300"/>
            <a:ext cx="1612942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rPr>
              <a:t>算法：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24744"/>
            <a:ext cx="8686800" cy="5006181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程序如下：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#include &lt;</a:t>
            </a:r>
            <a:r>
              <a:rPr lang="en-US" altLang="zh-CN" sz="2400" dirty="0" err="1" smtClean="0"/>
              <a:t>iostream</a:t>
            </a:r>
            <a:r>
              <a:rPr lang="en-US" altLang="zh-CN" sz="2400" dirty="0" smtClean="0"/>
              <a:t>&gt;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using namespace </a:t>
            </a:r>
            <a:r>
              <a:rPr lang="en-US" altLang="zh-CN" sz="2400" dirty="0" err="1" smtClean="0"/>
              <a:t>std</a:t>
            </a:r>
            <a:r>
              <a:rPr lang="en-US" altLang="zh-CN" sz="2400" dirty="0" smtClean="0"/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main()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	</a:t>
            </a:r>
            <a:r>
              <a:rPr lang="en-US" altLang="zh-CN" sz="2400" dirty="0" err="1" smtClean="0"/>
              <a:t>const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N=3;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a[N][N];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i,j</a:t>
            </a:r>
            <a:r>
              <a:rPr lang="en-US" altLang="zh-CN" sz="2400" dirty="0" smtClean="0"/>
              <a:t>; //</a:t>
            </a:r>
            <a:r>
              <a:rPr lang="zh-CN" altLang="en-US" sz="2400" dirty="0" smtClean="0"/>
              <a:t>用于表示行、列的下标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//</a:t>
            </a:r>
            <a:r>
              <a:rPr lang="zh-CN" altLang="en-US" sz="2400" dirty="0" smtClean="0"/>
              <a:t>输入矩阵数据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"</a:t>
            </a:r>
            <a:r>
              <a:rPr lang="zh-CN" altLang="en-US" sz="2400" dirty="0" smtClean="0"/>
              <a:t>请输入</a:t>
            </a:r>
            <a:r>
              <a:rPr lang="en-US" altLang="zh-CN" sz="2400" dirty="0" smtClean="0"/>
              <a:t>" &lt;&lt; N &lt;&lt; "×" &lt;&lt; N &lt;&lt; "</a:t>
            </a:r>
            <a:r>
              <a:rPr lang="zh-CN" altLang="en-US" sz="2400" dirty="0" smtClean="0"/>
              <a:t>矩阵：</a:t>
            </a:r>
            <a:r>
              <a:rPr lang="en-US" altLang="zh-CN" sz="2400" dirty="0" smtClean="0"/>
              <a:t>\n";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for 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&lt;N;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++)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for (j=0; j&lt;N; j++)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    </a:t>
            </a:r>
            <a:r>
              <a:rPr lang="en-US" altLang="zh-CN" sz="2400" dirty="0" err="1" smtClean="0"/>
              <a:t>cin</a:t>
            </a:r>
            <a:r>
              <a:rPr lang="en-US" altLang="zh-CN" sz="2400" dirty="0" smtClean="0"/>
              <a:t> &gt;&gt; a[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][j];</a:t>
            </a:r>
          </a:p>
        </p:txBody>
      </p:sp>
    </p:spTree>
    <p:extLst>
      <p:ext uri="{BB962C8B-B14F-4D97-AF65-F5344CB8AC3E}">
        <p14:creationId xmlns:p14="http://schemas.microsoft.com/office/powerpoint/2010/main" val="291271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288032"/>
            <a:ext cx="8964612" cy="630932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//</a:t>
            </a:r>
            <a:r>
              <a:rPr lang="zh-CN" altLang="en-US" sz="2400" dirty="0" smtClean="0"/>
              <a:t>矩阵转置：</a:t>
            </a:r>
            <a:r>
              <a:rPr lang="zh-CN" altLang="en-US" sz="2000" dirty="0" smtClean="0"/>
              <a:t>交换</a:t>
            </a:r>
            <a:r>
              <a:rPr lang="en-US" altLang="zh-CN" sz="2000" dirty="0" smtClean="0"/>
              <a:t>a[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][j]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a[j][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]</a:t>
            </a:r>
            <a:r>
              <a:rPr lang="zh-CN" altLang="en-US" sz="2000" dirty="0" smtClean="0"/>
              <a:t>的值，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=0~N-1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j=i+1~N-1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for 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&lt;N;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++)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for (j=i+1; j&lt;N; j++)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{	//</a:t>
            </a:r>
            <a:r>
              <a:rPr lang="zh-CN" altLang="en-US" sz="2400" dirty="0" smtClean="0"/>
              <a:t>交换</a:t>
            </a:r>
            <a:r>
              <a:rPr lang="en-US" altLang="zh-CN" sz="2400" dirty="0" smtClean="0">
                <a:solidFill>
                  <a:srgbClr val="FFC000"/>
                </a:solidFill>
              </a:rPr>
              <a:t>a[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i</a:t>
            </a:r>
            <a:r>
              <a:rPr lang="en-US" altLang="zh-CN" sz="2400" dirty="0" smtClean="0">
                <a:solidFill>
                  <a:srgbClr val="FFC000"/>
                </a:solidFill>
              </a:rPr>
              <a:t>][j]</a:t>
            </a:r>
            <a:r>
              <a:rPr lang="zh-CN" altLang="en-US" sz="2400" dirty="0" smtClean="0"/>
              <a:t>与</a:t>
            </a:r>
            <a:r>
              <a:rPr lang="en-US" altLang="zh-CN" sz="2400" dirty="0" smtClean="0"/>
              <a:t>a[j][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</a:t>
            </a:r>
            <a:r>
              <a:rPr lang="zh-CN" altLang="en-US" sz="2400" dirty="0" smtClean="0"/>
              <a:t>的值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		</a:t>
            </a:r>
            <a:r>
              <a:rPr lang="it-IT" altLang="zh-CN" sz="2400" dirty="0" smtClean="0"/>
              <a:t>int temp=a[i][j];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it-IT" altLang="zh-CN" sz="2400" dirty="0" smtClean="0"/>
              <a:t>			a[i][j] = a[j][i];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it-IT" altLang="zh-CN" sz="2400" dirty="0" smtClean="0"/>
              <a:t>			a[j][i] = temp;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it-IT" altLang="zh-CN" sz="2400" dirty="0" smtClean="0"/>
              <a:t>		</a:t>
            </a:r>
            <a:r>
              <a:rPr lang="en-US" altLang="zh-CN" sz="2400" dirty="0" smtClean="0"/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//</a:t>
            </a:r>
            <a:r>
              <a:rPr lang="zh-CN" altLang="en-US" sz="2400" dirty="0" smtClean="0"/>
              <a:t>输出转置后的矩阵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	"</a:t>
            </a:r>
            <a:r>
              <a:rPr lang="zh-CN" altLang="en-US" sz="2400" dirty="0" smtClean="0"/>
              <a:t>转置后为：</a:t>
            </a:r>
            <a:r>
              <a:rPr lang="en-US" altLang="zh-CN" sz="2400" dirty="0" smtClean="0"/>
              <a:t>\n";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for 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=0;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&lt;N;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++)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{	for (j=0; j&lt;N; </a:t>
            </a:r>
            <a:r>
              <a:rPr lang="en-US" altLang="zh-CN" sz="2400" dirty="0" err="1" smtClean="0"/>
              <a:t>j++</a:t>
            </a:r>
            <a:r>
              <a:rPr lang="en-US" altLang="zh-CN" sz="2400" dirty="0" smtClean="0"/>
              <a:t>) //</a:t>
            </a:r>
            <a:r>
              <a:rPr lang="zh-CN" altLang="en-US" sz="2400" dirty="0" smtClean="0"/>
              <a:t>输出第</a:t>
            </a:r>
            <a:r>
              <a:rPr lang="en-US" altLang="zh-CN" sz="2400" dirty="0" err="1" smtClean="0"/>
              <a:t>i</a:t>
            </a:r>
            <a:r>
              <a:rPr lang="zh-CN" altLang="en-US" sz="2400" dirty="0" smtClean="0"/>
              <a:t>行</a:t>
            </a:r>
            <a:endParaRPr lang="en-US" altLang="zh-CN" sz="24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  </a:t>
            </a: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a[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][j] &lt;&lt; '\t';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</a:t>
            </a: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return 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</a:p>
        </p:txBody>
      </p:sp>
      <p:sp>
        <p:nvSpPr>
          <p:cNvPr id="44035" name="Text Box 4"/>
          <p:cNvSpPr txBox="1">
            <a:spLocks noChangeArrowheads="1"/>
          </p:cNvSpPr>
          <p:nvPr/>
        </p:nvSpPr>
        <p:spPr bwMode="auto">
          <a:xfrm>
            <a:off x="6888163" y="1338263"/>
            <a:ext cx="1644650" cy="13700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smtClean="0"/>
              <a:t>x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x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x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x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x</a:t>
            </a:r>
            <a:endParaRPr lang="en-US" altLang="zh-CN" sz="2400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   </a:t>
            </a:r>
            <a:r>
              <a:rPr lang="en-US" altLang="zh-CN" sz="2400" dirty="0" smtClean="0"/>
              <a:t>x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x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x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x</a:t>
            </a:r>
            <a:endParaRPr lang="en-US" altLang="zh-CN" sz="2400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      </a:t>
            </a:r>
            <a:r>
              <a:rPr lang="en-US" altLang="zh-CN" sz="2400" dirty="0" smtClean="0"/>
              <a:t>x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x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x</a:t>
            </a:r>
            <a:endParaRPr lang="en-US" altLang="zh-CN" sz="2400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         </a:t>
            </a:r>
            <a:r>
              <a:rPr lang="en-US" altLang="zh-CN" sz="2400" dirty="0" smtClean="0"/>
              <a:t>x 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x</a:t>
            </a:r>
            <a:endParaRPr lang="en-US" altLang="zh-CN" sz="2400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            </a:t>
            </a:r>
            <a:r>
              <a:rPr lang="en-US" altLang="zh-CN" sz="2400" dirty="0" smtClean="0"/>
              <a:t>x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例：矩阵与向量相乘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92500"/>
          </a:bodyPr>
          <a:lstStyle/>
          <a:p>
            <a:r>
              <a:rPr lang="zh-CN" altLang="en-US" dirty="0" smtClean="0"/>
              <a:t>矩阵用二维数组表示，向量用一维数组表示；</a:t>
            </a:r>
            <a:endParaRPr lang="en-US" altLang="zh-CN" dirty="0" smtClean="0"/>
          </a:p>
          <a:p>
            <a:r>
              <a:rPr lang="zh-CN" altLang="en-US" dirty="0" smtClean="0"/>
              <a:t>矩阵</a:t>
            </a:r>
            <a:r>
              <a:rPr lang="en-US" altLang="zh-CN" dirty="0" smtClean="0"/>
              <a:t>a</a:t>
            </a:r>
            <a:r>
              <a:rPr lang="zh-CN" altLang="en-US" dirty="0" smtClean="0"/>
              <a:t>与向量</a:t>
            </a:r>
            <a:r>
              <a:rPr lang="en-US" altLang="zh-CN" dirty="0" smtClean="0"/>
              <a:t>b</a:t>
            </a:r>
            <a:r>
              <a:rPr lang="zh-CN" altLang="en-US" dirty="0" smtClean="0"/>
              <a:t>相乘时，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矩阵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的列数应与向量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的分量个数相同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相乘的结果为一个向量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</a:t>
            </a:r>
            <a:r>
              <a:rPr lang="zh-CN" altLang="en-US" dirty="0"/>
              <a:t>其</a:t>
            </a:r>
            <a:r>
              <a:rPr lang="zh-CN" altLang="en-US" dirty="0" smtClean="0"/>
              <a:t>分量个数与矩阵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的行数相同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设矩阵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的列数为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，则结果向量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个分量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i</a:t>
            </a:r>
            <a:r>
              <a:rPr lang="zh-CN" altLang="en-US" dirty="0" smtClean="0"/>
              <a:t>为：</a:t>
            </a:r>
            <a:endParaRPr lang="en-US" altLang="zh-CN" dirty="0" smtClean="0"/>
          </a:p>
          <a:p>
            <a:pPr lvl="2" eaLnBrk="1" hangingPunct="1"/>
            <a:r>
              <a:rPr lang="zh-CN" altLang="en-US" dirty="0" smtClean="0"/>
              <a:t>矩阵</a:t>
            </a:r>
            <a:r>
              <a:rPr lang="en-US" altLang="zh-CN" dirty="0" smtClean="0"/>
              <a:t>a</a:t>
            </a:r>
            <a:r>
              <a:rPr lang="zh-CN" altLang="en-US" dirty="0" smtClean="0"/>
              <a:t>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行的每个元素分别与向量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的每个元素乘积的和</a:t>
            </a:r>
            <a:endParaRPr lang="en-US" altLang="zh-CN" dirty="0" smtClean="0"/>
          </a:p>
          <a:p>
            <a:pPr marL="914400" lvl="2" indent="0">
              <a:buNone/>
            </a:pPr>
            <a:r>
              <a:rPr lang="en-US" altLang="zh-CN" dirty="0" smtClean="0"/>
              <a:t>c</a:t>
            </a:r>
            <a:r>
              <a:rPr lang="en-US" altLang="zh-CN" baseline="-25000" dirty="0" smtClean="0"/>
              <a:t>i</a:t>
            </a:r>
            <a:r>
              <a:rPr lang="en-US" altLang="zh-CN" dirty="0" smtClean="0"/>
              <a:t> = 0;</a:t>
            </a:r>
          </a:p>
          <a:p>
            <a:pPr marL="914400" lvl="2" indent="0">
              <a:buNone/>
            </a:pPr>
            <a:r>
              <a:rPr lang="en-US" altLang="zh-CN" dirty="0" smtClean="0"/>
              <a:t>for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k=0; k&lt;N; k++)</a:t>
            </a:r>
          </a:p>
          <a:p>
            <a:pPr marL="914400" lvl="2" indent="0">
              <a:buNone/>
            </a:pPr>
            <a:r>
              <a:rPr lang="en-US" altLang="zh-CN" dirty="0" smtClean="0"/>
              <a:t>  c</a:t>
            </a:r>
            <a:r>
              <a:rPr lang="en-US" altLang="zh-CN" baseline="-25000" dirty="0"/>
              <a:t>i</a:t>
            </a:r>
            <a:r>
              <a:rPr lang="en-US" altLang="zh-CN" dirty="0" smtClean="0"/>
              <a:t> += </a:t>
            </a:r>
            <a:r>
              <a:rPr lang="en-US" altLang="zh-CN" dirty="0" err="1" smtClean="0"/>
              <a:t>a</a:t>
            </a:r>
            <a:r>
              <a:rPr lang="en-US" altLang="zh-CN" baseline="-25000" dirty="0" err="1" smtClean="0"/>
              <a:t>ik</a:t>
            </a:r>
            <a:r>
              <a:rPr lang="en-US" altLang="zh-CN" dirty="0" smtClean="0"/>
              <a:t>*</a:t>
            </a:r>
            <a:r>
              <a:rPr lang="en-US" altLang="zh-CN" dirty="0" err="1" smtClean="0"/>
              <a:t>b</a:t>
            </a:r>
            <a:r>
              <a:rPr lang="en-US" altLang="zh-CN" baseline="-25000" dirty="0" err="1" smtClean="0"/>
              <a:t>k</a:t>
            </a:r>
            <a:r>
              <a:rPr lang="en-US" altLang="zh-CN" dirty="0" smtClean="0"/>
              <a:t>;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304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184" y="188640"/>
            <a:ext cx="8579296" cy="6552728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 smtClean="0"/>
              <a:t>程序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 smtClean="0"/>
              <a:t>#</a:t>
            </a:r>
            <a:r>
              <a:rPr lang="en-US" altLang="zh-CN" dirty="0"/>
              <a:t>include 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M=4,N=3;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a[M][N],b[N],c[M]; 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main()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{	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</a:t>
            </a:r>
            <a:r>
              <a:rPr lang="en-US" altLang="zh-CN" dirty="0"/>
              <a:t>&lt;&lt; "</a:t>
            </a:r>
            <a:r>
              <a:rPr lang="zh-CN" altLang="en-US" dirty="0"/>
              <a:t>请</a:t>
            </a:r>
            <a:r>
              <a:rPr lang="zh-CN" altLang="en-US" dirty="0" smtClean="0"/>
              <a:t>输入矩阵</a:t>
            </a:r>
            <a:r>
              <a:rPr lang="en-US" altLang="zh-CN" dirty="0" smtClean="0"/>
              <a:t>(" </a:t>
            </a:r>
            <a:r>
              <a:rPr lang="en-US" altLang="zh-CN" dirty="0"/>
              <a:t>&lt;&lt; </a:t>
            </a:r>
            <a:r>
              <a:rPr lang="en-US" altLang="zh-CN" dirty="0" smtClean="0"/>
              <a:t>M </a:t>
            </a:r>
            <a:r>
              <a:rPr lang="en-US" altLang="zh-CN" dirty="0"/>
              <a:t>&lt;&lt; "×" &lt;&lt; N &lt;&lt; </a:t>
            </a:r>
            <a:r>
              <a:rPr lang="en-US" altLang="zh-CN" dirty="0" smtClean="0"/>
              <a:t>")</a:t>
            </a:r>
            <a:r>
              <a:rPr lang="zh-CN" altLang="en-US" dirty="0" smtClean="0"/>
              <a:t>：</a:t>
            </a:r>
            <a:r>
              <a:rPr lang="en-US" altLang="zh-CN" dirty="0"/>
              <a:t>\n";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	for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</a:t>
            </a:r>
            <a:r>
              <a:rPr lang="en-US" altLang="zh-CN" dirty="0"/>
              <a:t>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&lt;M; </a:t>
            </a:r>
            <a:r>
              <a:rPr lang="en-US" altLang="zh-CN" dirty="0" err="1"/>
              <a:t>i</a:t>
            </a:r>
            <a:r>
              <a:rPr lang="en-US" altLang="zh-CN" dirty="0" smtClean="0"/>
              <a:t>++)</a:t>
            </a:r>
            <a:r>
              <a:rPr lang="en-US" altLang="zh-CN" dirty="0"/>
              <a:t> //</a:t>
            </a:r>
            <a:r>
              <a:rPr lang="zh-CN" altLang="en-US" dirty="0"/>
              <a:t>输入矩阵数据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		for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j=0</a:t>
            </a:r>
            <a:r>
              <a:rPr lang="en-US" altLang="zh-CN" dirty="0"/>
              <a:t>; j&lt;N; </a:t>
            </a:r>
            <a:r>
              <a:rPr lang="en-US" altLang="zh-CN" dirty="0" err="1"/>
              <a:t>j++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		    </a:t>
            </a:r>
            <a:r>
              <a:rPr lang="en-US" altLang="zh-CN" dirty="0" err="1"/>
              <a:t>cin</a:t>
            </a:r>
            <a:r>
              <a:rPr lang="en-US" altLang="zh-CN" dirty="0"/>
              <a:t> &gt;&gt; a[</a:t>
            </a:r>
            <a:r>
              <a:rPr lang="en-US" altLang="zh-CN" dirty="0" err="1"/>
              <a:t>i</a:t>
            </a:r>
            <a:r>
              <a:rPr lang="en-US" altLang="zh-CN" dirty="0"/>
              <a:t>][j</a:t>
            </a:r>
            <a:r>
              <a:rPr lang="en-US" altLang="zh-CN" dirty="0" smtClean="0"/>
              <a:t>];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 smtClean="0"/>
              <a:t>   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</a:t>
            </a:r>
            <a:r>
              <a:rPr lang="en-US" altLang="zh-CN" dirty="0"/>
              <a:t>&lt;&lt; "</a:t>
            </a:r>
            <a:r>
              <a:rPr lang="zh-CN" altLang="en-US" dirty="0"/>
              <a:t>请</a:t>
            </a:r>
            <a:r>
              <a:rPr lang="zh-CN" altLang="en-US" dirty="0" smtClean="0"/>
              <a:t>输入向量</a:t>
            </a:r>
            <a:r>
              <a:rPr lang="en-US" altLang="zh-CN" dirty="0" smtClean="0"/>
              <a:t>(" </a:t>
            </a:r>
            <a:r>
              <a:rPr lang="en-US" altLang="zh-CN" dirty="0"/>
              <a:t>&lt;&lt; </a:t>
            </a:r>
            <a:r>
              <a:rPr lang="en-US" altLang="zh-CN" dirty="0" smtClean="0"/>
              <a:t>N </a:t>
            </a:r>
            <a:r>
              <a:rPr lang="en-US" altLang="zh-CN" dirty="0"/>
              <a:t>&lt;&lt; </a:t>
            </a:r>
            <a:r>
              <a:rPr lang="en-US" altLang="zh-CN" dirty="0" smtClean="0"/>
              <a:t>")</a:t>
            </a:r>
            <a:r>
              <a:rPr lang="zh-CN" altLang="en-US" dirty="0" smtClean="0"/>
              <a:t>：</a:t>
            </a:r>
            <a:r>
              <a:rPr lang="en-US" altLang="zh-CN" dirty="0"/>
              <a:t>\n";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	for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j=0</a:t>
            </a:r>
            <a:r>
              <a:rPr lang="en-US" altLang="zh-CN" dirty="0"/>
              <a:t>; </a:t>
            </a:r>
            <a:r>
              <a:rPr lang="en-US" altLang="zh-CN" dirty="0" smtClean="0"/>
              <a:t>j&lt;N; </a:t>
            </a:r>
            <a:r>
              <a:rPr lang="en-US" altLang="zh-CN" dirty="0" err="1" smtClean="0"/>
              <a:t>j++</a:t>
            </a:r>
            <a:r>
              <a:rPr lang="en-US" altLang="zh-CN" dirty="0" smtClean="0"/>
              <a:t>)</a:t>
            </a:r>
            <a:r>
              <a:rPr lang="en-US" altLang="zh-CN" dirty="0"/>
              <a:t> //</a:t>
            </a:r>
            <a:r>
              <a:rPr lang="zh-CN" altLang="en-US" dirty="0"/>
              <a:t>输入向量数据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		</a:t>
            </a:r>
            <a:r>
              <a:rPr lang="en-US" altLang="zh-CN" dirty="0" err="1" smtClean="0"/>
              <a:t>cin</a:t>
            </a:r>
            <a:r>
              <a:rPr lang="en-US" altLang="zh-CN" dirty="0" smtClean="0"/>
              <a:t> </a:t>
            </a:r>
            <a:r>
              <a:rPr lang="en-US" altLang="zh-CN" dirty="0"/>
              <a:t>&gt;&gt; </a:t>
            </a:r>
            <a:r>
              <a:rPr lang="en-US" altLang="zh-CN" dirty="0" smtClean="0"/>
              <a:t>b[j];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 smtClean="0"/>
              <a:t> 	for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&lt;M;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++)</a:t>
            </a:r>
            <a:r>
              <a:rPr lang="en-US" altLang="zh-CN" dirty="0"/>
              <a:t> //</a:t>
            </a:r>
            <a:r>
              <a:rPr lang="zh-CN" altLang="en-US" dirty="0"/>
              <a:t>计算向量</a:t>
            </a:r>
            <a:r>
              <a:rPr lang="en-US" altLang="zh-CN" dirty="0"/>
              <a:t>c</a:t>
            </a:r>
            <a:r>
              <a:rPr lang="zh-CN" altLang="en-US" dirty="0"/>
              <a:t>的值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	</a:t>
            </a:r>
            <a:r>
              <a:rPr lang="en-US" altLang="zh-CN" dirty="0" smtClean="0"/>
              <a:t>{ c[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= 0;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	   for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j=0; j&lt;N; </a:t>
            </a:r>
            <a:r>
              <a:rPr lang="en-US" altLang="zh-CN" dirty="0" err="1" smtClean="0"/>
              <a:t>j++</a:t>
            </a:r>
            <a:r>
              <a:rPr lang="en-US" altLang="zh-CN" dirty="0"/>
              <a:t>) //</a:t>
            </a:r>
            <a:r>
              <a:rPr lang="zh-CN" altLang="en-US" dirty="0"/>
              <a:t>计算</a:t>
            </a:r>
            <a:r>
              <a:rPr lang="zh-CN" altLang="en-US" dirty="0" smtClean="0"/>
              <a:t>向量</a:t>
            </a:r>
            <a:r>
              <a:rPr lang="zh-CN" altLang="en-US" dirty="0"/>
              <a:t>分量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i</a:t>
            </a:r>
            <a:r>
              <a:rPr lang="zh-CN" altLang="en-US" dirty="0" smtClean="0"/>
              <a:t>的</a:t>
            </a:r>
            <a:r>
              <a:rPr lang="zh-CN" altLang="en-US" dirty="0"/>
              <a:t>值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  c[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+= 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][j]*b[j];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	</a:t>
            </a:r>
            <a:r>
              <a:rPr lang="en-US" altLang="zh-CN" dirty="0" smtClean="0"/>
              <a:t>}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 smtClean="0"/>
              <a:t>	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</a:t>
            </a:r>
            <a:r>
              <a:rPr lang="en-US" altLang="zh-CN" dirty="0"/>
              <a:t>&lt;&lt; </a:t>
            </a:r>
            <a:r>
              <a:rPr lang="en-US" altLang="zh-CN" dirty="0" smtClean="0"/>
              <a:t>"</a:t>
            </a:r>
            <a:r>
              <a:rPr lang="zh-CN" altLang="en-US" dirty="0" smtClean="0"/>
              <a:t>结果向量为：</a:t>
            </a:r>
            <a:r>
              <a:rPr lang="en-US" altLang="zh-CN" dirty="0" smtClean="0"/>
              <a:t>\n";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 smtClean="0"/>
              <a:t>	for 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=0;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&lt;M;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++) </a:t>
            </a:r>
            <a:r>
              <a:rPr lang="en-US" altLang="zh-CN" dirty="0"/>
              <a:t>//</a:t>
            </a:r>
            <a:r>
              <a:rPr lang="zh-CN" altLang="en-US" dirty="0"/>
              <a:t>输出向量</a:t>
            </a:r>
            <a:r>
              <a:rPr lang="en-US" altLang="zh-CN" dirty="0"/>
              <a:t>c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	</a:t>
            </a:r>
            <a:r>
              <a:rPr lang="en-US" altLang="zh-CN" dirty="0" smtClean="0"/>
              <a:t>	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&lt;&lt; c[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&lt;&lt; ' ';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dirty="0" smtClean="0"/>
              <a:t>	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&lt;&lt; </a:t>
            </a:r>
            <a:r>
              <a:rPr lang="en-US" altLang="zh-CN" dirty="0" err="1" smtClean="0"/>
              <a:t>endl</a:t>
            </a:r>
            <a:r>
              <a:rPr lang="en-US" altLang="zh-CN" dirty="0" smtClean="0"/>
              <a:t>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6133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二维数组的存贮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300" y="1124744"/>
            <a:ext cx="8723188" cy="5616624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中，二维数组占用一块连续的空间，元素是按照行的次序存储在这块空间中，即先是第一行的元素；再是第二行的元素；</a:t>
            </a:r>
            <a:r>
              <a:rPr lang="en-US" altLang="zh-CN" dirty="0" smtClean="0"/>
              <a:t>... </a:t>
            </a:r>
            <a:r>
              <a:rPr lang="zh-CN" altLang="en-US" dirty="0" smtClean="0"/>
              <a:t>。例如，对于下面的数组</a:t>
            </a:r>
            <a:r>
              <a:rPr lang="en-US" altLang="zh-CN" dirty="0" smtClean="0"/>
              <a:t>a</a:t>
            </a:r>
            <a:r>
              <a:rPr lang="zh-CN" altLang="en-US" dirty="0" smtClean="0"/>
              <a:t>：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a[10][5];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其内存空间分配如下：</a:t>
            </a:r>
            <a:endParaRPr lang="en-US" altLang="zh-CN" dirty="0" smtClean="0"/>
          </a:p>
          <a:p>
            <a:pPr>
              <a:lnSpc>
                <a:spcPct val="110000"/>
              </a:lnSpc>
              <a:defRPr/>
            </a:pPr>
            <a:endParaRPr lang="en-US" altLang="zh-CN" sz="2800" dirty="0" smtClean="0"/>
          </a:p>
          <a:p>
            <a:pPr>
              <a:lnSpc>
                <a:spcPct val="110000"/>
              </a:lnSpc>
              <a:defRPr/>
            </a:pPr>
            <a:endParaRPr lang="en-US" altLang="zh-CN" sz="2800" dirty="0"/>
          </a:p>
          <a:p>
            <a:pPr>
              <a:lnSpc>
                <a:spcPct val="110000"/>
              </a:lnSpc>
              <a:defRPr/>
            </a:pPr>
            <a:endParaRPr lang="en-US" altLang="zh-CN" sz="28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二维数组所占的内存空间大小可以用</a:t>
            </a:r>
            <a:r>
              <a:rPr lang="en-US" altLang="zh-CN" dirty="0" err="1"/>
              <a:t>sizeof</a:t>
            </a:r>
            <a:r>
              <a:rPr lang="zh-CN" altLang="en-US" dirty="0"/>
              <a:t>操作符来计算。例如：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sizeof</a:t>
            </a:r>
            <a:r>
              <a:rPr lang="en-US" altLang="zh-CN" dirty="0"/>
              <a:t>(a); //</a:t>
            </a:r>
            <a:r>
              <a:rPr lang="zh-CN" altLang="en-US" dirty="0"/>
              <a:t>输出数组</a:t>
            </a:r>
            <a:r>
              <a:rPr lang="en-US" altLang="zh-CN" dirty="0"/>
              <a:t>a</a:t>
            </a:r>
            <a:r>
              <a:rPr lang="zh-CN" altLang="en-US" dirty="0"/>
              <a:t>所占的内存字节数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10000"/>
              </a:lnSpc>
              <a:defRPr/>
            </a:pPr>
            <a:r>
              <a:rPr lang="en-US" altLang="zh-CN" dirty="0" smtClean="0"/>
              <a:t>a[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][j]</a:t>
            </a:r>
            <a:r>
              <a:rPr lang="zh-CN" altLang="en-US" dirty="0" smtClean="0"/>
              <a:t>的内存地址可以按下面的公式计算：</a:t>
            </a:r>
            <a:endParaRPr lang="en-US" altLang="zh-CN" dirty="0" smtClean="0"/>
          </a:p>
          <a:p>
            <a:pPr lvl="1">
              <a:lnSpc>
                <a:spcPct val="110000"/>
              </a:lnSpc>
              <a:defRPr/>
            </a:pPr>
            <a:r>
              <a:rPr lang="en-US" altLang="zh-CN" dirty="0" smtClean="0"/>
              <a:t>a</a:t>
            </a:r>
            <a:r>
              <a:rPr lang="zh-CN" altLang="en-US" dirty="0" smtClean="0"/>
              <a:t>的首地址</a:t>
            </a:r>
            <a:r>
              <a:rPr lang="en-US" altLang="zh-CN" dirty="0" smtClean="0"/>
              <a:t>+(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*</a:t>
            </a:r>
            <a:r>
              <a:rPr lang="en-US" altLang="zh-CN" dirty="0" smtClean="0">
                <a:solidFill>
                  <a:srgbClr val="FFC000"/>
                </a:solidFill>
              </a:rPr>
              <a:t>5</a:t>
            </a:r>
            <a:r>
              <a:rPr lang="en-US" altLang="zh-CN" dirty="0" smtClean="0"/>
              <a:t>+j)*</a:t>
            </a:r>
            <a:r>
              <a:rPr lang="en-US" altLang="zh-CN" dirty="0" err="1" smtClean="0"/>
              <a:t>sizeof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)</a:t>
            </a:r>
            <a:endParaRPr lang="zh-CN" altLang="en-US" dirty="0"/>
          </a:p>
          <a:p>
            <a:pPr eaLnBrk="1" hangingPunct="1">
              <a:defRPr/>
            </a:pPr>
            <a:endParaRPr lang="zh-CN" altLang="en-US" dirty="0" smtClean="0"/>
          </a:p>
        </p:txBody>
      </p:sp>
      <p:grpSp>
        <p:nvGrpSpPr>
          <p:cNvPr id="45060" name="Group 15"/>
          <p:cNvGrpSpPr>
            <a:grpSpLocks/>
          </p:cNvGrpSpPr>
          <p:nvPr/>
        </p:nvGrpSpPr>
        <p:grpSpPr bwMode="auto">
          <a:xfrm>
            <a:off x="395288" y="3284984"/>
            <a:ext cx="8459787" cy="901700"/>
            <a:chOff x="1097" y="2953"/>
            <a:chExt cx="2736" cy="250"/>
          </a:xfrm>
        </p:grpSpPr>
        <p:sp>
          <p:nvSpPr>
            <p:cNvPr id="45062" name="Rectangle 5"/>
            <p:cNvSpPr>
              <a:spLocks noChangeArrowheads="1"/>
            </p:cNvSpPr>
            <p:nvPr/>
          </p:nvSpPr>
          <p:spPr bwMode="auto">
            <a:xfrm>
              <a:off x="1097" y="3078"/>
              <a:ext cx="2736" cy="1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algn="l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45063" name="Line 6"/>
            <p:cNvSpPr>
              <a:spLocks noChangeShapeType="1"/>
            </p:cNvSpPr>
            <p:nvPr/>
          </p:nvSpPr>
          <p:spPr bwMode="auto">
            <a:xfrm>
              <a:off x="1385" y="3078"/>
              <a:ext cx="0" cy="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4" name="Line 7"/>
            <p:cNvSpPr>
              <a:spLocks noChangeShapeType="1"/>
            </p:cNvSpPr>
            <p:nvPr/>
          </p:nvSpPr>
          <p:spPr bwMode="auto">
            <a:xfrm>
              <a:off x="1673" y="3078"/>
              <a:ext cx="0" cy="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5" name="Line 8"/>
            <p:cNvSpPr>
              <a:spLocks noChangeShapeType="1"/>
            </p:cNvSpPr>
            <p:nvPr/>
          </p:nvSpPr>
          <p:spPr bwMode="auto">
            <a:xfrm>
              <a:off x="2249" y="3078"/>
              <a:ext cx="0" cy="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6" name="Line 9"/>
            <p:cNvSpPr>
              <a:spLocks noChangeShapeType="1"/>
            </p:cNvSpPr>
            <p:nvPr/>
          </p:nvSpPr>
          <p:spPr bwMode="auto">
            <a:xfrm>
              <a:off x="1961" y="2953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7" name="Line 10"/>
            <p:cNvSpPr>
              <a:spLocks noChangeShapeType="1"/>
            </p:cNvSpPr>
            <p:nvPr/>
          </p:nvSpPr>
          <p:spPr bwMode="auto">
            <a:xfrm>
              <a:off x="2465" y="3078"/>
              <a:ext cx="0" cy="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8" name="Line 11"/>
            <p:cNvSpPr>
              <a:spLocks noChangeShapeType="1"/>
            </p:cNvSpPr>
            <p:nvPr/>
          </p:nvSpPr>
          <p:spPr bwMode="auto">
            <a:xfrm>
              <a:off x="2753" y="2953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9" name="Line 12"/>
            <p:cNvSpPr>
              <a:spLocks noChangeShapeType="1"/>
            </p:cNvSpPr>
            <p:nvPr/>
          </p:nvSpPr>
          <p:spPr bwMode="auto">
            <a:xfrm>
              <a:off x="3041" y="2953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0" name="Line 13"/>
            <p:cNvSpPr>
              <a:spLocks noChangeShapeType="1"/>
            </p:cNvSpPr>
            <p:nvPr/>
          </p:nvSpPr>
          <p:spPr bwMode="auto">
            <a:xfrm>
              <a:off x="3329" y="3078"/>
              <a:ext cx="0" cy="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1" name="Line 14"/>
            <p:cNvSpPr>
              <a:spLocks noChangeShapeType="1"/>
            </p:cNvSpPr>
            <p:nvPr/>
          </p:nvSpPr>
          <p:spPr bwMode="auto">
            <a:xfrm>
              <a:off x="3545" y="3078"/>
              <a:ext cx="0" cy="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0784" name="Text Box 16"/>
          <p:cNvSpPr txBox="1">
            <a:spLocks noChangeArrowheads="1"/>
          </p:cNvSpPr>
          <p:nvPr/>
        </p:nvSpPr>
        <p:spPr bwMode="auto">
          <a:xfrm>
            <a:off x="66675" y="3299271"/>
            <a:ext cx="88360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79388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kumimoji="0" lang="en-US" altLang="zh-CN" sz="1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 a[0][0]    ...    a[0][4]  a[1][0]  ...  a[1][4]   ......    a[9][0]  ...   a[9][4]</a:t>
            </a:r>
            <a:endParaRPr kumimoji="0" lang="en-US" altLang="zh-CN" sz="1800" b="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404664"/>
            <a:ext cx="8686800" cy="6264424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zh-CN" sz="3500" dirty="0" smtClean="0"/>
              <a:t>了解二维数组的存储方式，在某些情况下有利于设计出高效的程序。例如，对于一个</a:t>
            </a:r>
            <a:r>
              <a:rPr lang="zh-CN" altLang="zh-CN" sz="3500" dirty="0" smtClean="0">
                <a:solidFill>
                  <a:srgbClr val="FFC000"/>
                </a:solidFill>
              </a:rPr>
              <a:t>很大的</a:t>
            </a:r>
            <a:r>
              <a:rPr lang="zh-CN" altLang="zh-CN" sz="3500" dirty="0">
                <a:solidFill>
                  <a:srgbClr val="FFC000"/>
                </a:solidFill>
              </a:rPr>
              <a:t>按行存储</a:t>
            </a:r>
            <a:r>
              <a:rPr lang="zh-CN" altLang="zh-CN" sz="3500" dirty="0"/>
              <a:t>的二</a:t>
            </a:r>
            <a:r>
              <a:rPr lang="zh-CN" altLang="zh-CN" sz="3500" dirty="0" smtClean="0"/>
              <a:t>维数组</a:t>
            </a:r>
            <a:r>
              <a:rPr lang="en-US" altLang="zh-CN" sz="3500" dirty="0" smtClean="0"/>
              <a:t>a</a:t>
            </a:r>
            <a:r>
              <a:rPr lang="zh-CN" altLang="en-US" sz="3500" dirty="0" smtClean="0"/>
              <a:t>（</a:t>
            </a:r>
            <a:r>
              <a:rPr lang="en-US" altLang="zh-CN" sz="3500" dirty="0" smtClean="0"/>
              <a:t>M</a:t>
            </a:r>
            <a:r>
              <a:rPr lang="zh-CN" altLang="en-US" sz="3500" dirty="0" smtClean="0"/>
              <a:t>行、</a:t>
            </a:r>
            <a:r>
              <a:rPr lang="en-US" altLang="zh-CN" sz="3500" dirty="0" smtClean="0"/>
              <a:t>N</a:t>
            </a:r>
            <a:r>
              <a:rPr lang="zh-CN" altLang="en-US" sz="3500" dirty="0" smtClean="0"/>
              <a:t>列）</a:t>
            </a:r>
            <a:r>
              <a:rPr lang="zh-CN" altLang="zh-CN" sz="3500" dirty="0" smtClean="0"/>
              <a:t>，下面</a:t>
            </a:r>
            <a:r>
              <a:rPr lang="zh-CN" altLang="zh-CN" sz="3500" dirty="0" smtClean="0">
                <a:solidFill>
                  <a:srgbClr val="FFC000"/>
                </a:solidFill>
              </a:rPr>
              <a:t>按列来访问</a:t>
            </a:r>
            <a:r>
              <a:rPr lang="zh-CN" altLang="zh-CN" sz="3500" dirty="0" smtClean="0"/>
              <a:t>数组元素的程序效率可能会不高：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zh-CN" altLang="en-US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为什么？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按行访问</a:t>
            </a:r>
            <a:endParaRPr lang="zh-CN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  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 smtClean="0"/>
              <a:t>lin</a:t>
            </a:r>
            <a:r>
              <a:rPr lang="en-US" altLang="zh-CN" dirty="0" smtClean="0"/>
              <a:t>=0</a:t>
            </a:r>
            <a:r>
              <a:rPr lang="en-US" altLang="zh-CN" dirty="0"/>
              <a:t>; </a:t>
            </a:r>
            <a:r>
              <a:rPr lang="en-US" altLang="zh-CN" dirty="0" err="1" smtClean="0"/>
              <a:t>lin</a:t>
            </a:r>
            <a:r>
              <a:rPr lang="en-US" altLang="zh-CN" dirty="0" smtClean="0"/>
              <a:t>&lt;M; </a:t>
            </a:r>
            <a:r>
              <a:rPr lang="en-US" altLang="zh-CN" dirty="0" err="1" smtClean="0"/>
              <a:t>lin</a:t>
            </a:r>
            <a:r>
              <a:rPr lang="en-US" altLang="zh-CN" dirty="0" smtClean="0"/>
              <a:t>++)</a:t>
            </a:r>
            <a:endParaRPr lang="zh-CN" altLang="zh-CN" dirty="0"/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	 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col=0</a:t>
            </a:r>
            <a:r>
              <a:rPr lang="en-US" altLang="zh-CN" dirty="0"/>
              <a:t>; </a:t>
            </a:r>
            <a:r>
              <a:rPr lang="en-US" altLang="zh-CN" dirty="0" smtClean="0"/>
              <a:t>col&lt;N; col++)</a:t>
            </a:r>
            <a:endParaRPr lang="zh-CN" altLang="zh-CN" dirty="0"/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		...a[</a:t>
            </a:r>
            <a:r>
              <a:rPr lang="en-US" altLang="zh-CN" dirty="0" err="1"/>
              <a:t>lin</a:t>
            </a:r>
            <a:r>
              <a:rPr lang="en-US" altLang="zh-CN" dirty="0"/>
              <a:t>][col]...</a:t>
            </a:r>
            <a:endParaRPr lang="zh-CN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按列访问</a:t>
            </a:r>
            <a:endParaRPr lang="zh-CN" altLang="zh-CN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  for (</a:t>
            </a:r>
            <a:r>
              <a:rPr lang="en-US" altLang="zh-CN" dirty="0" err="1"/>
              <a:t>int</a:t>
            </a:r>
            <a:r>
              <a:rPr lang="en-US" altLang="zh-CN" dirty="0"/>
              <a:t> col=0; </a:t>
            </a:r>
            <a:r>
              <a:rPr lang="en-US" altLang="zh-CN" dirty="0" smtClean="0"/>
              <a:t>col&lt;N</a:t>
            </a:r>
            <a:r>
              <a:rPr lang="en-US" altLang="zh-CN" dirty="0"/>
              <a:t>; </a:t>
            </a:r>
            <a:r>
              <a:rPr lang="en-US" altLang="zh-CN" dirty="0" smtClean="0"/>
              <a:t>col++)</a:t>
            </a:r>
            <a:endParaRPr lang="zh-CN" altLang="zh-CN" dirty="0"/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	 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lin</a:t>
            </a:r>
            <a:r>
              <a:rPr lang="en-US" altLang="zh-CN" dirty="0"/>
              <a:t>=0; </a:t>
            </a:r>
            <a:r>
              <a:rPr lang="en-US" altLang="zh-CN" dirty="0" err="1" smtClean="0"/>
              <a:t>lin</a:t>
            </a:r>
            <a:r>
              <a:rPr lang="en-US" altLang="zh-CN" dirty="0" smtClean="0"/>
              <a:t>&lt;M</a:t>
            </a:r>
            <a:r>
              <a:rPr lang="en-US" altLang="zh-CN" dirty="0"/>
              <a:t>; </a:t>
            </a:r>
            <a:r>
              <a:rPr lang="en-US" altLang="zh-CN" dirty="0" err="1" smtClean="0"/>
              <a:t>lin</a:t>
            </a:r>
            <a:r>
              <a:rPr lang="en-US" altLang="zh-CN" dirty="0" smtClean="0"/>
              <a:t>++)</a:t>
            </a:r>
            <a:endParaRPr lang="zh-CN" altLang="zh-CN" dirty="0"/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		...a[</a:t>
            </a:r>
            <a:r>
              <a:rPr lang="en-US" altLang="zh-CN" dirty="0" err="1"/>
              <a:t>lin</a:t>
            </a:r>
            <a:r>
              <a:rPr lang="en-US" altLang="zh-CN" dirty="0"/>
              <a:t>][col</a:t>
            </a:r>
            <a:r>
              <a:rPr lang="en-US" altLang="zh-CN" dirty="0" smtClean="0"/>
              <a:t>]...</a:t>
            </a:r>
            <a:endParaRPr lang="zh-CN" altLang="zh-CN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007026" y="3124125"/>
            <a:ext cx="1659429" cy="13849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smtClean="0">
                <a:solidFill>
                  <a:srgbClr val="FFC000"/>
                </a:solidFill>
              </a:rPr>
              <a:t>x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>
                <a:solidFill>
                  <a:srgbClr val="FFC000"/>
                </a:solidFill>
              </a:rPr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>
                <a:solidFill>
                  <a:srgbClr val="FFC000"/>
                </a:solidFill>
              </a:rPr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>
                <a:solidFill>
                  <a:srgbClr val="FFC000"/>
                </a:solidFill>
              </a:rPr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endParaRPr lang="en-US" altLang="zh-CN" sz="2400" dirty="0">
              <a:solidFill>
                <a:srgbClr val="FFC000"/>
              </a:solidFill>
            </a:endParaRP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smtClean="0">
                <a:solidFill>
                  <a:srgbClr val="FFC000"/>
                </a:solidFill>
              </a:rPr>
              <a:t>x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>
                <a:solidFill>
                  <a:srgbClr val="FFC000"/>
                </a:solidFill>
              </a:rPr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>
                <a:solidFill>
                  <a:srgbClr val="FFC000"/>
                </a:solidFill>
              </a:rPr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>
                <a:solidFill>
                  <a:srgbClr val="FFC000"/>
                </a:solidFill>
              </a:rPr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endParaRPr lang="en-US" altLang="zh-CN" sz="2400" dirty="0">
              <a:solidFill>
                <a:srgbClr val="FFC000"/>
              </a:solidFill>
            </a:endParaRP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smtClean="0"/>
              <a:t>x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endParaRPr lang="en-US" altLang="zh-CN" sz="2400" dirty="0"/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smtClean="0"/>
              <a:t>x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endParaRPr lang="en-US" altLang="zh-CN" sz="2400" dirty="0"/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smtClean="0"/>
              <a:t>x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endParaRPr lang="en-US" altLang="zh-CN" sz="240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020272" y="5068341"/>
            <a:ext cx="1633781" cy="14210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endParaRPr lang="en-US" altLang="zh-CN" sz="2400" dirty="0"/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endParaRPr lang="en-US" altLang="zh-CN" sz="2400" dirty="0"/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endParaRPr lang="en-US" altLang="zh-CN" sz="2400" dirty="0"/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endParaRPr lang="en-US" altLang="zh-CN" sz="2400" dirty="0"/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另外，</a:t>
            </a:r>
            <a:r>
              <a:rPr lang="zh-CN" altLang="zh-CN" dirty="0"/>
              <a:t>有些语言（如</a:t>
            </a:r>
            <a:r>
              <a:rPr lang="en-US" altLang="zh-CN" dirty="0"/>
              <a:t>FORTRAN</a:t>
            </a:r>
            <a:r>
              <a:rPr lang="zh-CN" altLang="zh-CN" dirty="0"/>
              <a:t>）中的二维数组是按列来存储的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 eaLnBrk="1" hangingPunct="1"/>
            <a:r>
              <a:rPr lang="zh-CN" altLang="zh-CN" dirty="0" smtClean="0"/>
              <a:t>在</a:t>
            </a:r>
            <a:r>
              <a:rPr lang="zh-CN" altLang="zh-CN" dirty="0">
                <a:solidFill>
                  <a:srgbClr val="FFC000"/>
                </a:solidFill>
              </a:rPr>
              <a:t>混合语言编程</a:t>
            </a:r>
            <a:r>
              <a:rPr lang="zh-CN" altLang="zh-CN" dirty="0"/>
              <a:t>中，如果一个二维数组被各种语言的</a:t>
            </a:r>
            <a:r>
              <a:rPr lang="zh-CN" altLang="zh-CN" dirty="0" smtClean="0"/>
              <a:t>程序</a:t>
            </a:r>
            <a:r>
              <a:rPr lang="zh-CN" altLang="en-US" dirty="0" smtClean="0"/>
              <a:t>代码</a:t>
            </a:r>
            <a:r>
              <a:rPr lang="zh-CN" altLang="zh-CN" dirty="0" smtClean="0"/>
              <a:t>所</a:t>
            </a:r>
            <a:r>
              <a:rPr lang="zh-CN" altLang="zh-CN" dirty="0"/>
              <a:t>共享，那么就必须给出专门的处理，否则会产生错误的结果。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39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向函数传递二维数组 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412776"/>
            <a:ext cx="8785101" cy="50688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被调用函数的形参应为</a:t>
            </a:r>
            <a:r>
              <a:rPr lang="zh-CN" altLang="en-US" sz="2800" dirty="0" smtClean="0">
                <a:solidFill>
                  <a:srgbClr val="FFC000"/>
                </a:solidFill>
              </a:rPr>
              <a:t>不带行数</a:t>
            </a:r>
            <a:r>
              <a:rPr lang="zh-CN" altLang="en-US" sz="2800" dirty="0" smtClean="0"/>
              <a:t>的二维数组定义（</a:t>
            </a:r>
            <a:r>
              <a:rPr lang="zh-CN" altLang="en-US" sz="2800" smtClean="0">
                <a:solidFill>
                  <a:srgbClr val="FFC000"/>
                </a:solidFill>
              </a:rPr>
              <a:t>列数必须要有，并且为</a:t>
            </a:r>
            <a:r>
              <a:rPr lang="zh-CN" altLang="en-US" sz="2800" dirty="0" smtClean="0">
                <a:solidFill>
                  <a:srgbClr val="FFC000"/>
                </a:solidFill>
              </a:rPr>
              <a:t>常量</a:t>
            </a:r>
            <a:r>
              <a:rPr lang="zh-CN" altLang="en-US" sz="2800" dirty="0" smtClean="0"/>
              <a:t>）及其行数。例如：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sum(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x[][</a:t>
            </a:r>
            <a:r>
              <a:rPr lang="en-US" altLang="zh-CN" sz="2000" dirty="0" smtClean="0">
                <a:solidFill>
                  <a:schemeClr val="folHlink"/>
                </a:solidFill>
              </a:rPr>
              <a:t>5</a:t>
            </a:r>
            <a:r>
              <a:rPr lang="en-US" altLang="zh-CN" sz="2000" dirty="0" smtClean="0"/>
              <a:t>],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>
                <a:solidFill>
                  <a:srgbClr val="FFC000"/>
                </a:solidFill>
              </a:rPr>
              <a:t>lin</a:t>
            </a:r>
            <a:r>
              <a:rPr lang="en-US" altLang="zh-CN" sz="2000" dirty="0" smtClean="0"/>
              <a:t>) //</a:t>
            </a:r>
            <a:r>
              <a:rPr lang="zh-CN" altLang="en-US" sz="2000" dirty="0" smtClean="0"/>
              <a:t>对</a:t>
            </a:r>
            <a:r>
              <a:rPr lang="en-US" altLang="zh-CN" sz="2000" dirty="0" err="1" smtClean="0"/>
              <a:t>lin</a:t>
            </a:r>
            <a:r>
              <a:rPr lang="zh-CN" altLang="en-US" sz="2000" dirty="0" smtClean="0"/>
              <a:t>行、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列的二维数组求和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{	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s=0;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	for 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i=0; i&lt;</a:t>
            </a:r>
            <a:r>
              <a:rPr lang="en-US" altLang="zh-CN" sz="2000" dirty="0" err="1" smtClean="0"/>
              <a:t>lin</a:t>
            </a:r>
            <a:r>
              <a:rPr lang="en-US" altLang="zh-CN" sz="2000" dirty="0" smtClean="0"/>
              <a:t>; i++)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		for 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j=0; j&lt;5; j++)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		   s += x[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][j];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	return s;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}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solidFill>
                  <a:srgbClr val="FFC000"/>
                </a:solidFill>
              </a:rPr>
              <a:t>注意</a:t>
            </a:r>
            <a:r>
              <a:rPr lang="zh-CN" altLang="en-US" sz="2400" dirty="0" smtClean="0"/>
              <a:t>：作为形参的二</a:t>
            </a:r>
            <a:r>
              <a:rPr lang="zh-CN" altLang="en-US" sz="2400" dirty="0"/>
              <a:t>维数</a:t>
            </a:r>
            <a:r>
              <a:rPr lang="zh-CN" altLang="en-US" sz="2400" dirty="0" smtClean="0"/>
              <a:t>组，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列</a:t>
            </a:r>
            <a:r>
              <a:rPr lang="zh-CN" altLang="en-US" sz="2400" dirty="0">
                <a:solidFill>
                  <a:schemeClr val="folHlink"/>
                </a:solidFill>
              </a:rPr>
              <a:t>数</a:t>
            </a:r>
            <a:r>
              <a:rPr lang="zh-CN" altLang="en-US" sz="2400" dirty="0"/>
              <a:t>必须要</a:t>
            </a:r>
            <a:r>
              <a:rPr lang="zh-CN" altLang="en-US" sz="2400" dirty="0" smtClean="0"/>
              <a:t>写！因为，二维数组作为函数参数传递时实际传递的是数组的</a:t>
            </a:r>
            <a:r>
              <a:rPr lang="zh-CN" altLang="en-US" sz="2400" dirty="0" smtClean="0">
                <a:solidFill>
                  <a:schemeClr val="folHlink"/>
                </a:solidFill>
              </a:rPr>
              <a:t>首地址</a:t>
            </a:r>
            <a:r>
              <a:rPr lang="zh-CN" altLang="en-US" sz="2400" dirty="0" smtClean="0"/>
              <a:t>，函数中</a:t>
            </a:r>
            <a:r>
              <a:rPr lang="en-US" altLang="zh-CN" sz="2400" dirty="0" smtClean="0"/>
              <a:t>x[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][j]</a:t>
            </a:r>
            <a:r>
              <a:rPr lang="zh-CN" altLang="en-US" sz="2400" dirty="0" smtClean="0"/>
              <a:t>的地址则是按下</a:t>
            </a:r>
            <a:r>
              <a:rPr lang="zh-CN" altLang="en-US" sz="2400" dirty="0"/>
              <a:t>面公式</a:t>
            </a:r>
            <a:r>
              <a:rPr lang="zh-CN" altLang="en-US" sz="2400" dirty="0" smtClean="0"/>
              <a:t>计算的：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000" dirty="0" smtClean="0"/>
              <a:t>x</a:t>
            </a:r>
            <a:r>
              <a:rPr lang="zh-CN" altLang="en-US" sz="2000" dirty="0" smtClean="0"/>
              <a:t>的首地址 </a:t>
            </a:r>
            <a:r>
              <a:rPr lang="en-US" altLang="zh-CN" sz="2000" dirty="0" smtClean="0"/>
              <a:t>+ (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*</a:t>
            </a:r>
            <a:r>
              <a:rPr lang="en-US" altLang="zh-CN" sz="2000" b="1" i="1" u="sng" dirty="0">
                <a:solidFill>
                  <a:srgbClr val="FFC000"/>
                </a:solidFill>
              </a:rPr>
              <a:t>5</a:t>
            </a:r>
            <a:r>
              <a:rPr lang="zh-CN" altLang="en-US" sz="2000" dirty="0" smtClean="0"/>
              <a:t> </a:t>
            </a:r>
            <a:r>
              <a:rPr lang="en-US" altLang="zh-CN" sz="2000" dirty="0"/>
              <a:t>+</a:t>
            </a:r>
            <a:r>
              <a:rPr lang="en-US" altLang="zh-CN" sz="2000" dirty="0" smtClean="0"/>
              <a:t> j)*</a:t>
            </a:r>
            <a:r>
              <a:rPr lang="en-US" altLang="zh-CN" sz="2000" dirty="0" err="1" smtClean="0"/>
              <a:t>sizeof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48680"/>
            <a:ext cx="8640763" cy="597594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调用者需要提供一个二维数组变量（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列数要与形参相同</a:t>
            </a:r>
            <a:r>
              <a:rPr lang="zh-CN" altLang="en-US" sz="2800" dirty="0" smtClean="0"/>
              <a:t>）和行数。例如： 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sum(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x[][</a:t>
            </a:r>
            <a:r>
              <a:rPr lang="en-US" altLang="zh-CN" sz="2400" dirty="0">
                <a:solidFill>
                  <a:schemeClr val="folHlink"/>
                </a:solidFill>
              </a:rPr>
              <a:t>5</a:t>
            </a:r>
            <a:r>
              <a:rPr lang="en-US" altLang="zh-CN" sz="2400" dirty="0"/>
              <a:t>],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lin</a:t>
            </a:r>
            <a:r>
              <a:rPr lang="en-US" altLang="zh-CN" sz="2400" dirty="0" smtClean="0"/>
              <a:t>);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......</a:t>
            </a:r>
            <a:endParaRPr lang="en-US" altLang="zh-CN" sz="2400" dirty="0"/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a[10][</a:t>
            </a:r>
            <a:r>
              <a:rPr lang="en-US" altLang="zh-CN" sz="2400" dirty="0" smtClean="0">
                <a:solidFill>
                  <a:schemeClr val="folHlink"/>
                </a:solidFill>
              </a:rPr>
              <a:t>5</a:t>
            </a:r>
            <a:r>
              <a:rPr lang="en-US" altLang="zh-CN" sz="2400" dirty="0" smtClean="0"/>
              <a:t>],b[20][</a:t>
            </a:r>
            <a:r>
              <a:rPr lang="en-US" altLang="zh-CN" sz="2400" dirty="0" smtClean="0">
                <a:solidFill>
                  <a:schemeClr val="folHlink"/>
                </a:solidFill>
              </a:rPr>
              <a:t>5</a:t>
            </a:r>
            <a:r>
              <a:rPr lang="en-US" altLang="zh-CN" sz="2400" dirty="0" smtClean="0"/>
              <a:t>];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......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"a</a:t>
            </a:r>
            <a:r>
              <a:rPr lang="zh-CN" altLang="en-US" sz="2400" dirty="0" smtClean="0"/>
              <a:t>的元素之和为：</a:t>
            </a:r>
            <a:r>
              <a:rPr lang="en-US" altLang="zh-CN" sz="2400" dirty="0" smtClean="0"/>
              <a:t>" &lt;&lt; sum(</a:t>
            </a:r>
            <a:r>
              <a:rPr lang="en-US" altLang="zh-CN" sz="2400" dirty="0" smtClean="0">
                <a:solidFill>
                  <a:srgbClr val="FFC000"/>
                </a:solidFill>
              </a:rPr>
              <a:t>a</a:t>
            </a:r>
            <a:r>
              <a:rPr lang="en-US" altLang="zh-CN" sz="2400" dirty="0" smtClean="0"/>
              <a:t>,</a:t>
            </a:r>
            <a:r>
              <a:rPr lang="en-US" altLang="zh-CN" sz="2400" dirty="0" smtClean="0">
                <a:solidFill>
                  <a:srgbClr val="FFC000"/>
                </a:solidFill>
              </a:rPr>
              <a:t>10</a:t>
            </a:r>
            <a:r>
              <a:rPr lang="en-US" altLang="zh-CN" sz="2400" dirty="0" smtClean="0"/>
              <a:t>) &lt;&lt; 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"b</a:t>
            </a:r>
            <a:r>
              <a:rPr lang="zh-CN" altLang="en-US" sz="2400" dirty="0" smtClean="0"/>
              <a:t>的元素之和为：</a:t>
            </a:r>
            <a:r>
              <a:rPr lang="en-US" altLang="zh-CN" sz="2400" dirty="0" smtClean="0"/>
              <a:t>" &lt;&lt; sum(</a:t>
            </a:r>
            <a:r>
              <a:rPr lang="en-US" altLang="zh-CN" sz="2400" dirty="0" smtClean="0">
                <a:solidFill>
                  <a:srgbClr val="FFC000"/>
                </a:solidFill>
              </a:rPr>
              <a:t>b</a:t>
            </a:r>
            <a:r>
              <a:rPr lang="en-US" altLang="zh-CN" sz="2400" dirty="0" smtClean="0"/>
              <a:t>,</a:t>
            </a:r>
            <a:r>
              <a:rPr lang="en-US" altLang="zh-CN" sz="2400" dirty="0" smtClean="0">
                <a:solidFill>
                  <a:srgbClr val="FFC000"/>
                </a:solidFill>
              </a:rPr>
              <a:t>20</a:t>
            </a:r>
            <a:r>
              <a:rPr lang="en-US" altLang="zh-CN" sz="2400" dirty="0" smtClean="0"/>
              <a:t>) &lt;&lt; 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下面的二维数组</a:t>
            </a:r>
            <a:r>
              <a:rPr lang="en-US" altLang="zh-CN" sz="2800" dirty="0" smtClean="0"/>
              <a:t>c</a:t>
            </a:r>
            <a:r>
              <a:rPr lang="zh-CN" altLang="en-US" sz="2800" dirty="0" smtClean="0"/>
              <a:t>就不能调用函数</a:t>
            </a:r>
            <a:r>
              <a:rPr lang="en-US" altLang="zh-CN" sz="2800" dirty="0" smtClean="0"/>
              <a:t>sum</a:t>
            </a:r>
            <a:r>
              <a:rPr lang="zh-CN" altLang="en-US" sz="2800" dirty="0" smtClean="0"/>
              <a:t>来计算其元素的和，因为</a:t>
            </a:r>
            <a:r>
              <a:rPr lang="en-US" altLang="zh-CN" sz="2800" dirty="0" smtClean="0"/>
              <a:t>c</a:t>
            </a:r>
            <a:r>
              <a:rPr lang="zh-CN" altLang="en-US" sz="2800" dirty="0" smtClean="0"/>
              <a:t>的列数与函数</a:t>
            </a:r>
            <a:r>
              <a:rPr lang="en-US" altLang="zh-CN" sz="2800" dirty="0" smtClean="0"/>
              <a:t>sum</a:t>
            </a:r>
            <a:r>
              <a:rPr lang="zh-CN" altLang="en-US" sz="2800" dirty="0" smtClean="0"/>
              <a:t>要求的列数不符：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c[40][</a:t>
            </a:r>
            <a:r>
              <a:rPr lang="en-US" altLang="zh-CN" sz="2400" dirty="0" smtClean="0">
                <a:solidFill>
                  <a:schemeClr val="folHlink"/>
                </a:solidFill>
              </a:rPr>
              <a:t>20</a:t>
            </a:r>
            <a:r>
              <a:rPr lang="en-US" altLang="zh-CN" sz="2400" dirty="0" smtClean="0"/>
              <a:t>];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......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... sum(</a:t>
            </a:r>
            <a:r>
              <a:rPr lang="en-US" altLang="zh-CN" sz="2400" dirty="0" smtClean="0">
                <a:solidFill>
                  <a:srgbClr val="FFC000"/>
                </a:solidFill>
              </a:rPr>
              <a:t>c</a:t>
            </a:r>
            <a:r>
              <a:rPr lang="en-US" altLang="zh-CN" sz="2400" dirty="0" smtClean="0"/>
              <a:t>,40) ... //</a:t>
            </a:r>
            <a:r>
              <a:rPr lang="en-US" altLang="zh-CN" sz="2400" dirty="0" smtClean="0">
                <a:solidFill>
                  <a:schemeClr val="folHlink"/>
                </a:solidFill>
              </a:rPr>
              <a:t>Error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二维数组降为一维数组处理 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184" y="1340768"/>
            <a:ext cx="8507288" cy="5400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600" dirty="0" smtClean="0"/>
              <a:t>要把任意列数的二维数组传给函数，需要把二维数组降为一维数组来处理，该一维数组由原二维数组的各行拼接而成。</a:t>
            </a:r>
            <a:endParaRPr lang="en-US" altLang="zh-CN" sz="26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600" dirty="0" smtClean="0"/>
              <a:t>例如，下面函数</a:t>
            </a:r>
            <a:r>
              <a:rPr lang="en-US" altLang="zh-CN" sz="2600" dirty="0" smtClean="0"/>
              <a:t>sum</a:t>
            </a:r>
            <a:r>
              <a:rPr lang="zh-CN" altLang="en-US" sz="2600" dirty="0" smtClean="0"/>
              <a:t>的数组参数为一维数组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sum(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x[],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num</a:t>
            </a:r>
            <a:r>
              <a:rPr lang="en-US" altLang="zh-CN" sz="2000" dirty="0"/>
              <a:t>) //</a:t>
            </a:r>
            <a:r>
              <a:rPr lang="zh-CN" altLang="en-US" sz="2000" dirty="0"/>
              <a:t>一维数组元素求和函数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{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s=0;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	for 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&lt;</a:t>
            </a:r>
            <a:r>
              <a:rPr lang="en-US" altLang="zh-CN" sz="2000" dirty="0" err="1"/>
              <a:t>num</a:t>
            </a:r>
            <a:r>
              <a:rPr lang="en-US" altLang="zh-CN" sz="2000" dirty="0"/>
              <a:t>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 s += x[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	return s;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}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 err="1"/>
              <a:t>int</a:t>
            </a:r>
            <a:r>
              <a:rPr lang="en-US" altLang="zh-CN" sz="2000" dirty="0"/>
              <a:t> main()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{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a[10][5],b[20][5],c[40][20];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   ......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   //</a:t>
            </a:r>
            <a:r>
              <a:rPr lang="zh-CN" altLang="en-US" sz="2000" dirty="0"/>
              <a:t>把二维数组的第一行传给函数</a:t>
            </a:r>
            <a:r>
              <a:rPr lang="en-US" altLang="zh-CN" sz="2000" dirty="0"/>
              <a:t>sum</a:t>
            </a:r>
            <a:r>
              <a:rPr lang="zh-CN" altLang="en-US" sz="2000" dirty="0"/>
              <a:t>（其它的行接在后面</a:t>
            </a:r>
            <a:endParaRPr lang="en-US" altLang="zh-CN" sz="2000" dirty="0"/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   //</a:t>
            </a:r>
            <a:r>
              <a:rPr lang="zh-CN" altLang="en-US" sz="2000" dirty="0"/>
              <a:t>也传进去了！），元素个数为二维数组的所有元素</a:t>
            </a:r>
            <a:endParaRPr lang="en-US" altLang="zh-CN" sz="20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sum(</a:t>
            </a:r>
            <a:r>
              <a:rPr lang="en-US" altLang="zh-CN" sz="2000" dirty="0">
                <a:solidFill>
                  <a:srgbClr val="FFC000"/>
                </a:solidFill>
              </a:rPr>
              <a:t>a[0]</a:t>
            </a:r>
            <a:r>
              <a:rPr lang="en-US" altLang="zh-CN" sz="2000" dirty="0"/>
              <a:t>,</a:t>
            </a:r>
            <a:r>
              <a:rPr lang="en-US" altLang="zh-CN" sz="2000" dirty="0">
                <a:solidFill>
                  <a:schemeClr val="folHlink"/>
                </a:solidFill>
              </a:rPr>
              <a:t>10*5</a:t>
            </a:r>
            <a:r>
              <a:rPr lang="en-US" altLang="zh-CN" sz="2000" dirty="0"/>
              <a:t>)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sum(</a:t>
            </a:r>
            <a:r>
              <a:rPr lang="en-US" altLang="zh-CN" sz="2000" dirty="0">
                <a:solidFill>
                  <a:srgbClr val="FFC000"/>
                </a:solidFill>
              </a:rPr>
              <a:t>b[0]</a:t>
            </a:r>
            <a:r>
              <a:rPr lang="en-US" altLang="zh-CN" sz="2000" dirty="0"/>
              <a:t>,</a:t>
            </a:r>
            <a:r>
              <a:rPr lang="en-US" altLang="zh-CN" sz="2000" dirty="0">
                <a:solidFill>
                  <a:schemeClr val="folHlink"/>
                </a:solidFill>
              </a:rPr>
              <a:t>20*5</a:t>
            </a:r>
            <a:r>
              <a:rPr lang="en-US" altLang="zh-CN" sz="2000" dirty="0"/>
              <a:t>)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sum(</a:t>
            </a:r>
            <a:r>
              <a:rPr lang="en-US" altLang="zh-CN" sz="2000" dirty="0">
                <a:solidFill>
                  <a:srgbClr val="FFC000"/>
                </a:solidFill>
              </a:rPr>
              <a:t>c[0]</a:t>
            </a:r>
            <a:r>
              <a:rPr lang="en-US" altLang="zh-CN" sz="2000" dirty="0"/>
              <a:t>,</a:t>
            </a:r>
            <a:r>
              <a:rPr lang="en-US" altLang="zh-CN" sz="2000" dirty="0">
                <a:solidFill>
                  <a:schemeClr val="folHlink"/>
                </a:solidFill>
              </a:rPr>
              <a:t>40*20</a:t>
            </a:r>
            <a:r>
              <a:rPr lang="en-US" altLang="zh-CN" sz="2000" dirty="0"/>
              <a:t>)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</a:p>
          <a:p>
            <a:pPr marL="457200" lvl="1" indent="0">
              <a:buNone/>
            </a:pPr>
            <a:r>
              <a:rPr lang="en-US" altLang="zh-CN" sz="2000" dirty="0" smtClean="0"/>
              <a:t>}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620688"/>
            <a:ext cx="8686800" cy="6048672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 smtClean="0"/>
              <a:t>再例如：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void</a:t>
            </a:r>
            <a:r>
              <a:rPr lang="en-US" altLang="zh-CN" dirty="0"/>
              <a:t> </a:t>
            </a:r>
            <a:r>
              <a:rPr lang="en-US" altLang="zh-CN" dirty="0" smtClean="0"/>
              <a:t>display(</a:t>
            </a:r>
            <a:r>
              <a:rPr lang="en-US" altLang="zh-CN" dirty="0" err="1" smtClean="0"/>
              <a:t>int</a:t>
            </a:r>
            <a:r>
              <a:rPr lang="en-US" altLang="zh-CN" dirty="0"/>
              <a:t> x[], </a:t>
            </a:r>
            <a:r>
              <a:rPr lang="en-US" altLang="zh-CN" dirty="0" err="1"/>
              <a:t>int</a:t>
            </a:r>
            <a:r>
              <a:rPr lang="en-US" altLang="zh-CN" dirty="0"/>
              <a:t> </a:t>
            </a:r>
            <a:r>
              <a:rPr lang="en-US" altLang="zh-CN" dirty="0" err="1"/>
              <a:t>lin</a:t>
            </a:r>
            <a:r>
              <a:rPr lang="en-US" altLang="zh-CN" dirty="0"/>
              <a:t>, </a:t>
            </a:r>
            <a:r>
              <a:rPr lang="en-US" altLang="zh-CN" dirty="0" err="1"/>
              <a:t>int</a:t>
            </a:r>
            <a:r>
              <a:rPr lang="en-US" altLang="zh-CN" dirty="0"/>
              <a:t> </a:t>
            </a:r>
            <a:r>
              <a:rPr lang="en-US" altLang="zh-CN" dirty="0">
                <a:solidFill>
                  <a:srgbClr val="FFC000"/>
                </a:solidFill>
              </a:rPr>
              <a:t>col</a:t>
            </a:r>
            <a:r>
              <a:rPr lang="en-US" altLang="zh-CN" dirty="0"/>
              <a:t>) </a:t>
            </a:r>
            <a:r>
              <a:rPr lang="en-US" altLang="zh-CN" dirty="0" smtClean="0"/>
              <a:t>//</a:t>
            </a:r>
            <a:r>
              <a:rPr lang="zh-CN" altLang="en-US" dirty="0" smtClean="0"/>
              <a:t>显示</a:t>
            </a:r>
            <a:r>
              <a:rPr lang="en-US" altLang="zh-CN" dirty="0" err="1" smtClean="0"/>
              <a:t>lin</a:t>
            </a:r>
            <a:r>
              <a:rPr lang="zh-CN" altLang="en-US" dirty="0"/>
              <a:t>行、</a:t>
            </a:r>
            <a:r>
              <a:rPr lang="en-US" altLang="zh-CN" dirty="0"/>
              <a:t>col</a:t>
            </a:r>
            <a:r>
              <a:rPr lang="zh-CN" altLang="en-US" dirty="0"/>
              <a:t>列的二维数</a:t>
            </a:r>
            <a:r>
              <a:rPr lang="zh-CN" altLang="en-US" dirty="0" smtClean="0"/>
              <a:t>组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{ 	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</a:t>
            </a:r>
            <a:r>
              <a:rPr lang="en-US" altLang="zh-CN" dirty="0" err="1"/>
              <a:t>lin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++) 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smtClean="0"/>
              <a:t>{ for 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j=0; j&lt;col; </a:t>
            </a:r>
            <a:r>
              <a:rPr lang="en-US" altLang="zh-CN" dirty="0" err="1"/>
              <a:t>j++</a:t>
            </a:r>
            <a:r>
              <a:rPr lang="en-US" altLang="zh-CN" dirty="0"/>
              <a:t>)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		  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</a:t>
            </a:r>
            <a:r>
              <a:rPr lang="en-US" altLang="zh-CN" dirty="0"/>
              <a:t>&lt;&lt; '\t</a:t>
            </a:r>
            <a:r>
              <a:rPr lang="en-US" altLang="zh-CN" dirty="0" smtClean="0"/>
              <a:t>' &lt;&lt; </a:t>
            </a:r>
            <a:r>
              <a:rPr lang="en-US" altLang="zh-CN" dirty="0"/>
              <a:t>x[</a:t>
            </a:r>
            <a:r>
              <a:rPr lang="en-US" altLang="zh-CN" dirty="0" err="1"/>
              <a:t>i</a:t>
            </a:r>
            <a:r>
              <a:rPr lang="en-US" altLang="zh-CN" dirty="0"/>
              <a:t>*</a:t>
            </a:r>
            <a:r>
              <a:rPr lang="en-US" altLang="zh-CN" dirty="0" err="1">
                <a:solidFill>
                  <a:srgbClr val="FFC000"/>
                </a:solidFill>
              </a:rPr>
              <a:t>col</a:t>
            </a:r>
            <a:r>
              <a:rPr lang="en-US" altLang="zh-CN" dirty="0" err="1"/>
              <a:t>+j</a:t>
            </a:r>
            <a:r>
              <a:rPr lang="en-US" altLang="zh-CN" dirty="0" smtClean="0"/>
              <a:t>];</a:t>
            </a:r>
            <a:r>
              <a:rPr lang="en-US" altLang="zh-CN" dirty="0"/>
              <a:t> //</a:t>
            </a:r>
            <a:r>
              <a:rPr lang="zh-CN" altLang="en-US" dirty="0"/>
              <a:t>访问二维数组</a:t>
            </a:r>
            <a:r>
              <a:rPr lang="zh-CN" altLang="en-US" dirty="0">
                <a:solidFill>
                  <a:srgbClr val="FFC000"/>
                </a:solidFill>
              </a:rPr>
              <a:t>第</a:t>
            </a:r>
            <a:r>
              <a:rPr lang="en-US" altLang="zh-CN" dirty="0" err="1">
                <a:solidFill>
                  <a:srgbClr val="FFC000"/>
                </a:solidFill>
              </a:rPr>
              <a:t>i</a:t>
            </a:r>
            <a:r>
              <a:rPr lang="zh-CN" altLang="en-US" dirty="0">
                <a:solidFill>
                  <a:srgbClr val="FFC000"/>
                </a:solidFill>
              </a:rPr>
              <a:t>行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C000"/>
                </a:solidFill>
              </a:rPr>
              <a:t>第</a:t>
            </a:r>
            <a:r>
              <a:rPr lang="en-US" altLang="zh-CN" dirty="0">
                <a:solidFill>
                  <a:srgbClr val="FFC000"/>
                </a:solidFill>
              </a:rPr>
              <a:t>j</a:t>
            </a:r>
            <a:r>
              <a:rPr lang="zh-CN" altLang="en-US" dirty="0" smtClean="0">
                <a:solidFill>
                  <a:srgbClr val="FFC000"/>
                </a:solidFill>
              </a:rPr>
              <a:t>列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&lt;&lt; </a:t>
            </a:r>
            <a:r>
              <a:rPr lang="en-US" altLang="zh-CN" dirty="0" err="1" smtClean="0"/>
              <a:t>endl</a:t>
            </a:r>
            <a:r>
              <a:rPr lang="en-US" altLang="zh-CN" dirty="0" smtClean="0"/>
              <a:t>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}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}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 a[10][5],b[20][5],c[40][20];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   ......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smtClean="0"/>
              <a:t>display(a[0</a:t>
            </a:r>
            <a:r>
              <a:rPr lang="en-US" altLang="zh-CN" dirty="0"/>
              <a:t>],10,5</a:t>
            </a:r>
            <a:r>
              <a:rPr lang="en-US" altLang="zh-CN" dirty="0" smtClean="0"/>
              <a:t>);</a:t>
            </a:r>
            <a:r>
              <a:rPr lang="en-US" altLang="zh-CN" dirty="0"/>
              <a:t>  //</a:t>
            </a:r>
            <a:r>
              <a:rPr lang="zh-CN" altLang="en-US" dirty="0"/>
              <a:t>把</a:t>
            </a:r>
            <a:r>
              <a:rPr lang="en-US" altLang="zh-CN" dirty="0"/>
              <a:t>a</a:t>
            </a:r>
            <a:r>
              <a:rPr lang="zh-CN" altLang="en-US" dirty="0"/>
              <a:t>的第一行传进去（其它的行接在后面）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smtClean="0"/>
              <a:t>display(b[0</a:t>
            </a:r>
            <a:r>
              <a:rPr lang="en-US" altLang="zh-CN" dirty="0"/>
              <a:t>],20,5</a:t>
            </a:r>
            <a:r>
              <a:rPr lang="en-US" altLang="zh-CN" dirty="0" smtClean="0"/>
              <a:t>);  </a:t>
            </a:r>
            <a:r>
              <a:rPr lang="en-US" altLang="zh-CN" dirty="0"/>
              <a:t>//</a:t>
            </a:r>
            <a:r>
              <a:rPr lang="zh-CN" altLang="en-US" dirty="0"/>
              <a:t>把</a:t>
            </a:r>
            <a:r>
              <a:rPr lang="en-US" altLang="zh-CN" dirty="0"/>
              <a:t>b</a:t>
            </a:r>
            <a:r>
              <a:rPr lang="zh-CN" altLang="en-US" dirty="0"/>
              <a:t>的第一行传进去（其它的行接在后面）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smtClean="0"/>
              <a:t>display(c[0</a:t>
            </a:r>
            <a:r>
              <a:rPr lang="en-US" altLang="zh-CN" dirty="0"/>
              <a:t>],40,20</a:t>
            </a:r>
            <a:r>
              <a:rPr lang="en-US" altLang="zh-CN" dirty="0" smtClean="0"/>
              <a:t>); </a:t>
            </a:r>
            <a:r>
              <a:rPr lang="en-US" altLang="zh-CN" dirty="0"/>
              <a:t>//</a:t>
            </a:r>
            <a:r>
              <a:rPr lang="zh-CN" altLang="en-US" dirty="0"/>
              <a:t>把</a:t>
            </a:r>
            <a:r>
              <a:rPr lang="en-US" altLang="zh-CN" dirty="0"/>
              <a:t>c</a:t>
            </a:r>
            <a:r>
              <a:rPr lang="zh-CN" altLang="en-US" dirty="0"/>
              <a:t>的第一行传进去（其它的行接在后面）</a:t>
            </a:r>
            <a:endParaRPr lang="en-US" altLang="zh-CN" dirty="0"/>
          </a:p>
          <a:p>
            <a:pPr marL="400050" lvl="1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}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0731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marL="342900" indent="-342900" algn="just">
          <a:buFont typeface="Arial" panose="020B0604020202020204" pitchFamily="34" charset="0"/>
          <a:buChar char="•"/>
          <a:defRPr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39408</TotalTime>
  <Words>7763</Words>
  <Application>Microsoft Office PowerPoint</Application>
  <PresentationFormat>全屏显示(4:3)</PresentationFormat>
  <Paragraphs>747</Paragraphs>
  <Slides>73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1" baseType="lpstr">
      <vt:lpstr>宋体</vt:lpstr>
      <vt:lpstr>Arial</vt:lpstr>
      <vt:lpstr>Calibri</vt:lpstr>
      <vt:lpstr>Courier New</vt:lpstr>
      <vt:lpstr>Times New Roman</vt:lpstr>
      <vt:lpstr>Verdana</vt:lpstr>
      <vt:lpstr>Wingdings</vt:lpstr>
      <vt:lpstr>Globe</vt:lpstr>
      <vt:lpstr>数组类型</vt:lpstr>
      <vt:lpstr>主要内容</vt:lpstr>
      <vt:lpstr>数组类型概述</vt:lpstr>
      <vt:lpstr>PowerPoint 演示文稿</vt:lpstr>
      <vt:lpstr>一维数组 </vt:lpstr>
      <vt:lpstr>一维数组类型定义</vt:lpstr>
      <vt:lpstr>一维数组类型变量定义</vt:lpstr>
      <vt:lpstr>PowerPoint 演示文稿</vt:lpstr>
      <vt:lpstr>一维数组变量的初始化</vt:lpstr>
      <vt:lpstr>一维数组的操作</vt:lpstr>
      <vt:lpstr>PowerPoint 演示文稿</vt:lpstr>
      <vt:lpstr>例：用一维数组实现求前n个费波那契(Fibonacci)数 </vt:lpstr>
      <vt:lpstr>例：从键盘输入n个数并把它们从小到大输出</vt:lpstr>
      <vt:lpstr>PowerPoint 演示文稿</vt:lpstr>
      <vt:lpstr>PowerPoint 演示文稿</vt:lpstr>
      <vt:lpstr>例：求解约瑟夫（Josephus）问题</vt:lpstr>
      <vt:lpstr>PowerPoint 演示文稿</vt:lpstr>
      <vt:lpstr>PowerPoint 演示文稿</vt:lpstr>
      <vt:lpstr>PowerPoint 演示文稿</vt:lpstr>
      <vt:lpstr>PowerPoint 演示文稿</vt:lpstr>
      <vt:lpstr>一维数组的存储分配</vt:lpstr>
      <vt:lpstr>数组下标越界问题</vt:lpstr>
      <vt:lpstr>基于范围的for语句</vt:lpstr>
      <vt:lpstr>向函数传递一维数组 </vt:lpstr>
      <vt:lpstr>PowerPoint 演示文稿</vt:lpstr>
      <vt:lpstr>PowerPoint 演示文稿</vt:lpstr>
      <vt:lpstr>例：用选择排序法编写一个排序函数</vt:lpstr>
      <vt:lpstr>PowerPoint 演示文稿</vt:lpstr>
      <vt:lpstr>PowerPoint 演示文稿</vt:lpstr>
      <vt:lpstr>PowerPoint 演示文稿</vt:lpstr>
      <vt:lpstr>PowerPoint 演示文稿</vt:lpstr>
      <vt:lpstr>字符串类型的实现－－ 一维字符数组</vt:lpstr>
      <vt:lpstr>字符数组的初始化</vt:lpstr>
      <vt:lpstr>PowerPoint 演示文稿</vt:lpstr>
      <vt:lpstr>字符串的操作</vt:lpstr>
      <vt:lpstr>例：从键盘输入一个字符串，把其中的大写字母转成小写字母，然后输出这个字符串</vt:lpstr>
      <vt:lpstr>PowerPoint 演示文稿</vt:lpstr>
      <vt:lpstr>PowerPoint 演示文稿</vt:lpstr>
      <vt:lpstr>字符串作为函数参数</vt:lpstr>
      <vt:lpstr>例：编写一个函数把一个由数字构成的字符串转换成一个整型数 </vt:lpstr>
      <vt:lpstr>PowerPoint 演示文稿</vt:lpstr>
      <vt:lpstr>PowerPoint 演示文稿</vt:lpstr>
      <vt:lpstr>PowerPoint 演示文稿</vt:lpstr>
      <vt:lpstr>例：编写一个字符串查找函数</vt:lpstr>
      <vt:lpstr>PowerPoint 演示文稿</vt:lpstr>
      <vt:lpstr>PowerPoint 演示文稿</vt:lpstr>
      <vt:lpstr>标准库中的字符串处理函数</vt:lpstr>
      <vt:lpstr>PowerPoint 演示文稿</vt:lpstr>
      <vt:lpstr>PowerPoint 演示文稿</vt:lpstr>
      <vt:lpstr>PowerPoint 演示文稿</vt:lpstr>
      <vt:lpstr>标准库中的字符串类型string</vt:lpstr>
      <vt:lpstr>PowerPoint 演示文稿</vt:lpstr>
      <vt:lpstr>实数的精确表示</vt:lpstr>
      <vt:lpstr>PowerPoint 演示文稿</vt:lpstr>
      <vt:lpstr>二维数组 </vt:lpstr>
      <vt:lpstr>二维数组类型定义</vt:lpstr>
      <vt:lpstr>二维数组类型变量的定义</vt:lpstr>
      <vt:lpstr>PowerPoint 演示文稿</vt:lpstr>
      <vt:lpstr>二维数组的初始化 </vt:lpstr>
      <vt:lpstr>二维数组的操作</vt:lpstr>
      <vt:lpstr>PowerPoint 演示文稿</vt:lpstr>
      <vt:lpstr>例：从键盘输入一个N×N的矩阵，把它转置后输出 </vt:lpstr>
      <vt:lpstr>PowerPoint 演示文稿</vt:lpstr>
      <vt:lpstr>PowerPoint 演示文稿</vt:lpstr>
      <vt:lpstr>例：矩阵与向量相乘</vt:lpstr>
      <vt:lpstr>PowerPoint 演示文稿</vt:lpstr>
      <vt:lpstr>二维数组的存贮</vt:lpstr>
      <vt:lpstr>PowerPoint 演示文稿</vt:lpstr>
      <vt:lpstr>PowerPoint 演示文稿</vt:lpstr>
      <vt:lpstr>向函数传递二维数组 </vt:lpstr>
      <vt:lpstr>PowerPoint 演示文稿</vt:lpstr>
      <vt:lpstr>二维数组降为一维数组处理 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构造数据类型</dc:title>
  <dc:creator>Chen Jiajun</dc:creator>
  <cp:lastModifiedBy>Chen Jiajun</cp:lastModifiedBy>
  <cp:revision>1095</cp:revision>
  <dcterms:created xsi:type="dcterms:W3CDTF">2004-12-03T07:36:08Z</dcterms:created>
  <dcterms:modified xsi:type="dcterms:W3CDTF">2026-07-23T08:03:23Z</dcterms:modified>
</cp:coreProperties>
</file>